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B7791F"/>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73</c:v>
                </c:pt>
                <c:pt idx="1">
                  <c:v>27</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Match</c:v>
                </c:pt>
              </c:strCache>
            </c:strRef>
          </c:tx>
          <c:spPr>
            <a:solidFill>
              <a:schemeClr val="accent1"/>
            </a:solidFill>
            <a:ln w="9525" cap="flat">
              <a:solidFill>
                <a:srgbClr val="F9F9F9"/>
              </a:solidFill>
              <a:prstDash val="solid"/>
              <a:round/>
            </a:ln>
            <a:effectLst/>
          </c:spPr>
          <c:dPt>
            <c:idx val="0"/>
            <c:bubble3D val="0"/>
            <c:spPr>
              <a:solidFill>
                <a:srgbClr val="0F9D6B"/>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Match</c:v>
                </c:pt>
                <c:pt idx="1">
                  <c:v>Rest</c:v>
                </c:pt>
              </c:strCache>
            </c:strRef>
          </c:cat>
          <c:val>
            <c:numRef>
              <c:f>Sheet1!$B$2:$B$3</c:f>
              <c:numCache>
                <c:ptCount val="2"/>
                <c:pt idx="0">
                  <c:v>93</c:v>
                </c:pt>
                <c:pt idx="1">
                  <c:v>7</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proposal is for Samsung India (samsung.com). The left side names the engagement; the right shows their homepage today and the concept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score 73 out of 100, grade C. The three biggest opportunities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measured: Lighthouse for speed, axe-core for accessibility, a phone-sized browser for mobile, a vision model for UX and tool checks plus a model judgement for AI search. Findings and evidence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Detected from 83 network requests, response headers, cookies, page markup and script globals. Each technology is coloured by how well our people cover it. Detection is a strong hint, not a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 each detected technology to our skills inventory. 77 percent of the platform stack has capacity today. Gaps are shown honestly with a plan to cover them. Skills data is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built from Samsung India's own colours, fonts and content, then re-checked by the same inspectors. It is a concept for discussion, not a final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visitors arrive on a phone. These are phone-sized screenshots of the live site and of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in the concept answers a specific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organisation match score is 93 out of 100: how well our skills cover what this work needs, weighted by importance and availability. It uses the detected technology stack and the audit findings. Skills are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people who are available. Fit blends their level and how much of the needed skill weight they cover. This is sample talent data until connected to the real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person-days over 3 weeks. The timeline is an indicative picture of the effort, to be fixed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range until discovery is complete, with every assumption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steps. Nothing is sent or committed until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audience and agree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limits, for anyone who wants to check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7315017" y="0"/>
            <a:ext cx="4876678" cy="6858000"/>
          </a:xfrm>
          <a:prstGeom prst="rect">
            <a:avLst/>
          </a:prstGeom>
          <a:solidFill>
            <a:srgbClr val="F4F6FB"/>
          </a:solidFill>
          <a:ln w="12700">
            <a:solidFill>
              <a:srgbClr val="F4F6FB"/>
            </a:solidFill>
            <a:prstDash val="solid"/>
          </a:ln>
        </p:spPr>
      </p:sp>
      <p:sp>
        <p:nvSpPr>
          <p:cNvPr id="3" name="Shape 1"/>
          <p:cNvSpPr/>
          <p:nvPr/>
        </p:nvSpPr>
        <p:spPr>
          <a:xfrm>
            <a:off x="548640" y="502920"/>
            <a:ext cx="1474013" cy="499262"/>
          </a:xfrm>
          <a:prstGeom prst="ellipse">
            <a:avLst/>
          </a:prstGeom>
          <a:solidFill>
            <a:srgbClr val="FFFFFF"/>
          </a:solidFill>
          <a:ln w="12700">
            <a:solidFill>
              <a:srgbClr val="FFFFFF"/>
            </a:solidFill>
            <a:prstDash val="solid"/>
          </a:ln>
        </p:spPr>
      </p:sp>
      <p:sp>
        <p:nvSpPr>
          <p:cNvPr id="4" name="Text 2"/>
          <p:cNvSpPr/>
          <p:nvPr/>
        </p:nvSpPr>
        <p:spPr>
          <a:xfrm>
            <a:off x="548640" y="502920"/>
            <a:ext cx="1474013" cy="499262"/>
          </a:xfrm>
          <a:prstGeom prst="rect">
            <a:avLst/>
          </a:prstGeom>
          <a:noFill/>
          <a:ln/>
        </p:spPr>
        <p:txBody>
          <a:bodyPr wrap="square" lIns="0" tIns="0" rIns="0" bIns="0" rtlCol="0" anchor="ctr"/>
          <a:lstStyle/>
          <a:p>
            <a:pPr algn="ctr" indent="0" marL="0">
              <a:buNone/>
            </a:pPr>
            <a:r>
              <a:rPr lang="en-US" sz="1404" b="1" spc="100" kern="0" dirty="0">
                <a:solidFill>
                  <a:srgbClr val="1428A0"/>
                </a:solidFill>
                <a:latin typeface="Calibri" pitchFamily="34" charset="0"/>
                <a:ea typeface="Calibri" pitchFamily="34" charset="-122"/>
                <a:cs typeface="Calibri" pitchFamily="34" charset="-120"/>
              </a:rPr>
              <a:t>SAMSUNG</a:t>
            </a:r>
            <a:endParaRPr lang="en-US" sz="1404" dirty="0"/>
          </a:p>
        </p:txBody>
      </p:sp>
      <p:sp>
        <p:nvSpPr>
          <p:cNvPr id="5" name="Text 3"/>
          <p:cNvSpPr/>
          <p:nvPr/>
        </p:nvSpPr>
        <p:spPr>
          <a:xfrm>
            <a:off x="2141525" y="502920"/>
            <a:ext cx="784555" cy="499262"/>
          </a:xfrm>
          <a:prstGeom prst="rect">
            <a:avLst/>
          </a:prstGeom>
          <a:noFill/>
          <a:ln/>
        </p:spPr>
        <p:txBody>
          <a:bodyPr wrap="square" lIns="0" tIns="0" rIns="0" bIns="0" rtlCol="0" anchor="ctr"/>
          <a:lstStyle/>
          <a:p>
            <a:pPr indent="0" marL="0">
              <a:buNone/>
            </a:pPr>
            <a:r>
              <a:rPr lang="en-US" sz="2340" b="1" spc="200" kern="0" dirty="0">
                <a:solidFill>
                  <a:srgbClr val="FFFFFF"/>
                </a:solidFill>
                <a:latin typeface="Calibri" pitchFamily="34" charset="0"/>
                <a:ea typeface="Calibri" pitchFamily="34" charset="-122"/>
                <a:cs typeface="Calibri" pitchFamily="34" charset="-120"/>
              </a:rPr>
              <a:t>SDS</a:t>
            </a:r>
            <a:endParaRPr lang="en-US" sz="2340" dirty="0"/>
          </a:p>
        </p:txBody>
      </p:sp>
      <p:sp>
        <p:nvSpPr>
          <p:cNvPr id="6" name="Text 4"/>
          <p:cNvSpPr/>
          <p:nvPr/>
        </p:nvSpPr>
        <p:spPr>
          <a:xfrm>
            <a:off x="548640" y="1828800"/>
            <a:ext cx="6400800" cy="320040"/>
          </a:xfrm>
          <a:prstGeom prst="rect">
            <a:avLst/>
          </a:prstGeom>
          <a:noFill/>
          <a:ln/>
        </p:spPr>
        <p:txBody>
          <a:bodyPr wrap="square" lIns="0" tIns="0" rIns="0" bIns="0" rtlCol="0" anchor="t"/>
          <a:lstStyle/>
          <a:p>
            <a:pPr indent="0" marL="0">
              <a:buNone/>
            </a:pPr>
            <a:r>
              <a:rPr lang="en-US" sz="1300" b="1" spc="400" kern="0" dirty="0">
                <a:solidFill>
                  <a:srgbClr val="B7C4FF"/>
                </a:solidFill>
                <a:latin typeface="Calibri" pitchFamily="34" charset="0"/>
                <a:ea typeface="Calibri" pitchFamily="34" charset="-122"/>
                <a:cs typeface="Calibri" pitchFamily="34" charset="-120"/>
              </a:rPr>
              <a:t>WEBSITE IMPROVEMENT PROPOSAL</a:t>
            </a:r>
            <a:endParaRPr lang="en-US" sz="1300" dirty="0"/>
          </a:p>
        </p:txBody>
      </p:sp>
      <p:sp>
        <p:nvSpPr>
          <p:cNvPr id="7" name="Text 5"/>
          <p:cNvSpPr/>
          <p:nvPr/>
        </p:nvSpPr>
        <p:spPr>
          <a:xfrm>
            <a:off x="548640" y="2240280"/>
            <a:ext cx="6583680" cy="182880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A better Samsung India homepage</a:t>
            </a:r>
            <a:endParaRPr lang="en-US" sz="4400" dirty="0"/>
          </a:p>
        </p:txBody>
      </p:sp>
      <p:sp>
        <p:nvSpPr>
          <p:cNvPr id="8" name="Text 6"/>
          <p:cNvSpPr/>
          <p:nvPr/>
        </p:nvSpPr>
        <p:spPr>
          <a:xfrm>
            <a:off x="548640" y="4160520"/>
            <a:ext cx="6309360" cy="822960"/>
          </a:xfrm>
          <a:prstGeom prst="rect">
            <a:avLst/>
          </a:prstGeom>
          <a:noFill/>
          <a:ln/>
        </p:spPr>
        <p:txBody>
          <a:bodyPr wrap="square" lIns="0" tIns="0" rIns="0" bIns="0" rtlCol="0" anchor="t"/>
          <a:lstStyle/>
          <a:p>
            <a:pPr indent="0" marL="0">
              <a:buNone/>
            </a:pPr>
            <a:r>
              <a:rPr lang="en-US" sz="1800" dirty="0">
                <a:solidFill>
                  <a:srgbClr val="DCE3FF"/>
                </a:solidFill>
                <a:latin typeface="Calibri" pitchFamily="34" charset="0"/>
                <a:ea typeface="Calibri" pitchFamily="34" charset="-122"/>
                <a:cs typeface="Calibri" pitchFamily="34" charset="-120"/>
              </a:rPr>
              <a:t>Audit, technology review, concept redesign and delivery plan for Samsung India</a:t>
            </a:r>
            <a:endParaRPr lang="en-US" sz="1800" dirty="0"/>
          </a:p>
        </p:txBody>
      </p:sp>
      <p:sp>
        <p:nvSpPr>
          <p:cNvPr id="9" name="Text 7"/>
          <p:cNvSpPr/>
          <p:nvPr/>
        </p:nvSpPr>
        <p:spPr>
          <a:xfrm>
            <a:off x="548640" y="5577840"/>
            <a:ext cx="6583680" cy="640080"/>
          </a:xfrm>
          <a:prstGeom prst="rect">
            <a:avLst/>
          </a:prstGeom>
          <a:noFill/>
          <a:ln/>
        </p:spPr>
        <p:txBody>
          <a:bodyPr wrap="square" lIns="0" tIns="0" rIns="0" bIns="0" rtlCol="0" anchor="t"/>
          <a:lstStyle/>
          <a:p>
            <a:pPr indent="0" marL="0">
              <a:buNone/>
            </a:pPr>
            <a:r>
              <a:rPr lang="en-US" sz="1300" b="1" dirty="0">
                <a:solidFill>
                  <a:srgbClr val="B7C4FF"/>
                </a:solidFill>
                <a:latin typeface="Calibri" pitchFamily="34" charset="0"/>
                <a:ea typeface="Calibri" pitchFamily="34" charset="-122"/>
                <a:cs typeface="Calibri" pitchFamily="34" charset="-120"/>
              </a:rPr>
              <a:t>samsung.com</a:t>
            </a:r>
            <a:endParaRPr lang="en-US" sz="1300" dirty="0"/>
          </a:p>
          <a:p>
            <a:pPr indent="0" marL="0">
              <a:buNone/>
            </a:pPr>
            <a:r>
              <a:rPr lang="en-US" sz="1300" dirty="0">
                <a:solidFill>
                  <a:srgbClr val="B7C4FF"/>
                </a:solidFill>
                <a:latin typeface="Calibri" pitchFamily="34" charset="0"/>
                <a:ea typeface="Calibri" pitchFamily="34" charset="-122"/>
                <a:cs typeface="Calibri" pitchFamily="34" charset="-120"/>
              </a:rPr>
              <a:t>Prepared 2026-10-25 by Samsung SDS · Digital Engineering</a:t>
            </a:r>
            <a:endParaRPr lang="en-US" sz="1300" dirty="0"/>
          </a:p>
        </p:txBody>
      </p:sp>
      <p:sp>
        <p:nvSpPr>
          <p:cNvPr id="10" name="Shape 8"/>
          <p:cNvSpPr/>
          <p:nvPr/>
        </p:nvSpPr>
        <p:spPr>
          <a:xfrm>
            <a:off x="7635057" y="822960"/>
            <a:ext cx="4206240" cy="2514600"/>
          </a:xfrm>
          <a:prstGeom prst="roundRect">
            <a:avLst>
              <a:gd name="adj" fmla="val 3636"/>
            </a:avLst>
          </a:prstGeom>
          <a:solidFill>
            <a:srgbClr val="FFFFFF"/>
          </a:solidFill>
          <a:ln w="12700">
            <a:solidFill>
              <a:srgbClr val="DDE2EE"/>
            </a:solidFill>
            <a:prstDash val="solid"/>
          </a:ln>
        </p:spPr>
      </p:sp>
      <p:pic>
        <p:nvPicPr>
          <p:cNvPr id="11" name="Image 0" descr="/Users/manish/Development/Workspace/samsung/digithon-2026/.worktrees/ppt-eval/runs/mvo3fiyy51e2/shot-desktop.png">    </p:cNvPr>
          <p:cNvPicPr>
            <a:picLocks noChangeAspect="1"/>
          </p:cNvPicPr>
          <p:nvPr/>
        </p:nvPicPr>
        <p:blipFill>
          <a:blip r:embed="rId1"/>
          <a:srcRect l="0" r="0" t="0" b="0"/>
          <a:stretch/>
        </p:blipFill>
        <p:spPr>
          <a:xfrm>
            <a:off x="7680777" y="868680"/>
            <a:ext cx="4114800" cy="2423160"/>
          </a:xfrm>
          <a:prstGeom prst="rect">
            <a:avLst/>
          </a:prstGeom>
        </p:spPr>
      </p:pic>
      <p:sp>
        <p:nvSpPr>
          <p:cNvPr id="12" name="Text 9"/>
          <p:cNvSpPr/>
          <p:nvPr/>
        </p:nvSpPr>
        <p:spPr>
          <a:xfrm>
            <a:off x="7635057" y="3401568"/>
            <a:ext cx="4206240" cy="274320"/>
          </a:xfrm>
          <a:prstGeom prst="rect">
            <a:avLst/>
          </a:prstGeom>
          <a:noFill/>
          <a:ln/>
        </p:spPr>
        <p:txBody>
          <a:bodyPr wrap="square" lIns="0" tIns="0" rIns="0" bIns="0" rtlCol="0" anchor="t"/>
          <a:lstStyle/>
          <a:p>
            <a:pPr algn="ctr" indent="0" marL="0">
              <a:buNone/>
            </a:pPr>
            <a:r>
              <a:rPr lang="en-US" sz="1100" b="1" dirty="0">
                <a:solidFill>
                  <a:srgbClr val="5B6477"/>
                </a:solidFill>
                <a:latin typeface="Calibri" pitchFamily="34" charset="0"/>
                <a:ea typeface="Calibri" pitchFamily="34" charset="-122"/>
                <a:cs typeface="Calibri" pitchFamily="34" charset="-120"/>
              </a:rPr>
              <a:t>Samsung India today</a:t>
            </a:r>
            <a:endParaRPr lang="en-US" sz="1100" dirty="0"/>
          </a:p>
        </p:txBody>
      </p:sp>
      <p:sp>
        <p:nvSpPr>
          <p:cNvPr id="13" name="Shape 10"/>
          <p:cNvSpPr/>
          <p:nvPr/>
        </p:nvSpPr>
        <p:spPr>
          <a:xfrm>
            <a:off x="7817937" y="3749040"/>
            <a:ext cx="4206240" cy="2514600"/>
          </a:xfrm>
          <a:prstGeom prst="roundRect">
            <a:avLst>
              <a:gd name="adj" fmla="val 3636"/>
            </a:avLst>
          </a:prstGeom>
          <a:solidFill>
            <a:srgbClr val="FFFFFF"/>
          </a:solidFill>
          <a:ln w="12700">
            <a:solidFill>
              <a:srgbClr val="1428A0"/>
            </a:solidFill>
            <a:prstDash val="solid"/>
          </a:ln>
        </p:spPr>
      </p:sp>
      <p:pic>
        <p:nvPicPr>
          <p:cNvPr id="14" name="Image 1" descr="/Users/manish/Development/Workspace/samsung/digithon-2026/.worktrees/ppt-eval/runs/mvo3fiyy51e2/shot-after.png">    </p:cNvPr>
          <p:cNvPicPr>
            <a:picLocks noChangeAspect="1"/>
          </p:cNvPicPr>
          <p:nvPr/>
        </p:nvPicPr>
        <p:blipFill>
          <a:blip r:embed="rId2"/>
          <a:srcRect l="0" r="0" t="0" b="0"/>
          <a:stretch/>
        </p:blipFill>
        <p:spPr>
          <a:xfrm>
            <a:off x="7863657" y="3794760"/>
            <a:ext cx="4114800" cy="2423160"/>
          </a:xfrm>
          <a:prstGeom prst="rect">
            <a:avLst/>
          </a:prstGeom>
        </p:spPr>
      </p:pic>
      <p:sp>
        <p:nvSpPr>
          <p:cNvPr id="15" name="Shape 11"/>
          <p:cNvSpPr/>
          <p:nvPr/>
        </p:nvSpPr>
        <p:spPr>
          <a:xfrm>
            <a:off x="10972617" y="3886200"/>
            <a:ext cx="914400" cy="246888"/>
          </a:xfrm>
          <a:prstGeom prst="roundRect">
            <a:avLst>
              <a:gd name="adj" fmla="val 37037"/>
            </a:avLst>
          </a:prstGeom>
          <a:solidFill>
            <a:srgbClr val="1428A0"/>
          </a:solidFill>
          <a:ln w="12700">
            <a:solidFill>
              <a:srgbClr val="1428A0"/>
            </a:solidFill>
            <a:prstDash val="solid"/>
          </a:ln>
        </p:spPr>
      </p:sp>
      <p:sp>
        <p:nvSpPr>
          <p:cNvPr id="16" name="Text 12"/>
          <p:cNvSpPr/>
          <p:nvPr/>
        </p:nvSpPr>
        <p:spPr>
          <a:xfrm>
            <a:off x="10972617" y="3886200"/>
            <a:ext cx="9144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Where you stand, and what we recommend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2</a:t>
            </a:r>
            <a:endParaRPr lang="en-US" sz="1000" dirty="0"/>
          </a:p>
        </p:txBody>
      </p:sp>
      <p:sp>
        <p:nvSpPr>
          <p:cNvPr id="11" name="Shape 8"/>
          <p:cNvSpPr/>
          <p:nvPr/>
        </p:nvSpPr>
        <p:spPr>
          <a:xfrm>
            <a:off x="548640" y="1508760"/>
            <a:ext cx="3200400" cy="3017520"/>
          </a:xfrm>
          <a:prstGeom prst="roundRect">
            <a:avLst>
              <a:gd name="adj" fmla="val 3030"/>
            </a:avLst>
          </a:prstGeom>
          <a:solidFill>
            <a:srgbClr val="FFFFFF"/>
          </a:solidFill>
          <a:ln w="12700">
            <a:solidFill>
              <a:srgbClr val="DDE2EE"/>
            </a:solidFill>
            <a:prstDash val="solid"/>
          </a:ln>
        </p:spPr>
      </p:sp>
      <p:graphicFrame>
        <p:nvGraphicFramePr>
          <p:cNvPr id="12" name="Chart 0" descr=""/>
          <p:cNvGraphicFramePr/>
          <p:nvPr/>
        </p:nvGraphicFramePr>
        <p:xfrm>
          <a:off x="868680" y="1645920"/>
          <a:ext cx="2560320" cy="22860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331720"/>
            <a:ext cx="3200400" cy="822960"/>
          </a:xfrm>
          <a:prstGeom prst="rect">
            <a:avLst/>
          </a:prstGeom>
          <a:noFill/>
          <a:ln/>
        </p:spPr>
        <p:txBody>
          <a:bodyPr wrap="square" lIns="0" tIns="0" rIns="0" bIns="0" rtlCol="0" anchor="ctr"/>
          <a:lstStyle/>
          <a:p>
            <a:pPr algn="ctr" indent="0" marL="0">
              <a:buNone/>
            </a:pPr>
            <a:r>
              <a:rPr lang="en-US" sz="4800" b="1" dirty="0">
                <a:solidFill>
                  <a:srgbClr val="B7791F"/>
                </a:solidFill>
                <a:latin typeface="Calibri" pitchFamily="34" charset="0"/>
                <a:ea typeface="Calibri" pitchFamily="34" charset="-122"/>
                <a:cs typeface="Calibri" pitchFamily="34" charset="-120"/>
              </a:rPr>
              <a:t>73</a:t>
            </a:r>
            <a:endParaRPr lang="en-US" sz="4800" dirty="0"/>
          </a:p>
        </p:txBody>
      </p:sp>
      <p:sp>
        <p:nvSpPr>
          <p:cNvPr id="14" name="Text 10"/>
          <p:cNvSpPr/>
          <p:nvPr/>
        </p:nvSpPr>
        <p:spPr>
          <a:xfrm>
            <a:off x="548640" y="3977640"/>
            <a:ext cx="3200400" cy="274320"/>
          </a:xfrm>
          <a:prstGeom prst="rect">
            <a:avLst/>
          </a:prstGeom>
          <a:noFill/>
          <a:ln/>
        </p:spPr>
        <p:txBody>
          <a:bodyPr wrap="square" lIns="0" tIns="0" rIns="0" bIns="0" rtlCol="0" anchor="t"/>
          <a:lstStyle/>
          <a:p>
            <a:pPr algn="ctr" indent="0" marL="0">
              <a:buNone/>
            </a:pPr>
            <a:r>
              <a:rPr lang="en-US" sz="1300" dirty="0">
                <a:solidFill>
                  <a:srgbClr val="5B6477"/>
                </a:solidFill>
                <a:latin typeface="Calibri" pitchFamily="34" charset="0"/>
                <a:ea typeface="Calibri" pitchFamily="34" charset="-122"/>
                <a:cs typeface="Calibri" pitchFamily="34" charset="-120"/>
              </a:rPr>
              <a:t>out of 100 · grade C</a:t>
            </a:r>
            <a:endParaRPr lang="en-US" sz="1300" dirty="0"/>
          </a:p>
        </p:txBody>
      </p:sp>
      <p:sp>
        <p:nvSpPr>
          <p:cNvPr id="15" name="Text 11"/>
          <p:cNvSpPr/>
          <p:nvPr/>
        </p:nvSpPr>
        <p:spPr>
          <a:xfrm>
            <a:off x="548640" y="4224528"/>
            <a:ext cx="3200400" cy="274320"/>
          </a:xfrm>
          <a:prstGeom prst="rect">
            <a:avLst/>
          </a:prstGeom>
          <a:noFill/>
          <a:ln/>
        </p:spPr>
        <p:txBody>
          <a:bodyPr wrap="square" lIns="0" tIns="0" rIns="0" bIns="0" rtlCol="0" anchor="t"/>
          <a:lstStyle/>
          <a:p>
            <a:pPr algn="ctr" indent="0" marL="0">
              <a:buNone/>
            </a:pPr>
            <a:r>
              <a:rPr lang="en-US" sz="1100" dirty="0">
                <a:solidFill>
                  <a:srgbClr val="5B6477"/>
                </a:solidFill>
                <a:latin typeface="Calibri" pitchFamily="34" charset="0"/>
                <a:ea typeface="Calibri" pitchFamily="34" charset="-122"/>
                <a:cs typeface="Calibri" pitchFamily="34" charset="-120"/>
              </a:rPr>
              <a:t>samsung.com today</a:t>
            </a:r>
            <a:endParaRPr lang="en-US" sz="1100" dirty="0"/>
          </a:p>
        </p:txBody>
      </p:sp>
      <p:sp>
        <p:nvSpPr>
          <p:cNvPr id="16" name="Text 12"/>
          <p:cNvSpPr/>
          <p:nvPr/>
        </p:nvSpPr>
        <p:spPr>
          <a:xfrm>
            <a:off x="4114800" y="1508760"/>
            <a:ext cx="7315200" cy="274320"/>
          </a:xfrm>
          <a:prstGeom prst="rect">
            <a:avLst/>
          </a:prstGeom>
          <a:noFill/>
          <a:ln/>
        </p:spPr>
        <p:txBody>
          <a:bodyPr wrap="square" lIns="0" tIns="0" rIns="0" bIns="0" rtlCol="0" anchor="t"/>
          <a:lstStyle/>
          <a:p>
            <a:pPr indent="0" marL="0">
              <a:buNone/>
            </a:pPr>
            <a:r>
              <a:rPr lang="en-US" sz="1100" b="1" spc="200" kern="0" dirty="0">
                <a:solidFill>
                  <a:srgbClr val="5B6477"/>
                </a:solidFill>
                <a:latin typeface="Calibri" pitchFamily="34" charset="0"/>
                <a:ea typeface="Calibri" pitchFamily="34" charset="-122"/>
                <a:cs typeface="Calibri" pitchFamily="34" charset="-120"/>
              </a:rPr>
              <a:t>THE BIGGEST OPPORTUNITIES</a:t>
            </a:r>
            <a:endParaRPr lang="en-US" sz="1100" dirty="0"/>
          </a:p>
        </p:txBody>
      </p:sp>
      <p:sp>
        <p:nvSpPr>
          <p:cNvPr id="17" name="Shape 13"/>
          <p:cNvSpPr/>
          <p:nvPr/>
        </p:nvSpPr>
        <p:spPr>
          <a:xfrm>
            <a:off x="4114800" y="1874520"/>
            <a:ext cx="7498080" cy="804672"/>
          </a:xfrm>
          <a:prstGeom prst="roundRect">
            <a:avLst>
              <a:gd name="adj" fmla="val 11364"/>
            </a:avLst>
          </a:prstGeom>
          <a:solidFill>
            <a:srgbClr val="FFFFFF"/>
          </a:solidFill>
          <a:ln w="12700">
            <a:solidFill>
              <a:srgbClr val="DDE2EE"/>
            </a:solidFill>
            <a:prstDash val="solid"/>
          </a:ln>
        </p:spPr>
      </p:sp>
      <p:sp>
        <p:nvSpPr>
          <p:cNvPr id="18" name="Text 14"/>
          <p:cNvSpPr/>
          <p:nvPr/>
        </p:nvSpPr>
        <p:spPr>
          <a:xfrm>
            <a:off x="4251960" y="19842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1</a:t>
            </a:r>
            <a:endParaRPr lang="en-US" sz="2600" dirty="0"/>
          </a:p>
        </p:txBody>
      </p:sp>
      <p:sp>
        <p:nvSpPr>
          <p:cNvPr id="19" name="Text 15"/>
          <p:cNvSpPr/>
          <p:nvPr/>
        </p:nvSpPr>
        <p:spPr>
          <a:xfrm>
            <a:off x="4800600" y="19659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Certain ARIA roles must contain particular children</a:t>
            </a:r>
            <a:endParaRPr lang="en-US" sz="1500" dirty="0"/>
          </a:p>
        </p:txBody>
      </p:sp>
      <p:sp>
        <p:nvSpPr>
          <p:cNvPr id="20" name="Text 16"/>
          <p:cNvSpPr/>
          <p:nvPr/>
        </p:nvSpPr>
        <p:spPr>
          <a:xfrm>
            <a:off x="4800600" y="23042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Inaccessible sites exclude users, invite legal risk (ADA / EAA) and lose search visibility.</a:t>
            </a:r>
            <a:endParaRPr lang="en-US" sz="1100" dirty="0"/>
          </a:p>
        </p:txBody>
      </p:sp>
      <p:sp>
        <p:nvSpPr>
          <p:cNvPr id="21" name="Shape 17"/>
          <p:cNvSpPr/>
          <p:nvPr/>
        </p:nvSpPr>
        <p:spPr>
          <a:xfrm>
            <a:off x="4114800" y="2788920"/>
            <a:ext cx="7498080" cy="804672"/>
          </a:xfrm>
          <a:prstGeom prst="roundRect">
            <a:avLst>
              <a:gd name="adj" fmla="val 11364"/>
            </a:avLst>
          </a:prstGeom>
          <a:solidFill>
            <a:srgbClr val="FFFFFF"/>
          </a:solidFill>
          <a:ln w="12700">
            <a:solidFill>
              <a:srgbClr val="DDE2EE"/>
            </a:solidFill>
            <a:prstDash val="solid"/>
          </a:ln>
        </p:spPr>
      </p:sp>
      <p:sp>
        <p:nvSpPr>
          <p:cNvPr id="22" name="Text 18"/>
          <p:cNvSpPr/>
          <p:nvPr/>
        </p:nvSpPr>
        <p:spPr>
          <a:xfrm>
            <a:off x="4251960" y="28986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2</a:t>
            </a:r>
            <a:endParaRPr lang="en-US" sz="2600" dirty="0"/>
          </a:p>
        </p:txBody>
      </p:sp>
      <p:sp>
        <p:nvSpPr>
          <p:cNvPr id="23" name="Text 19"/>
          <p:cNvSpPr/>
          <p:nvPr/>
        </p:nvSpPr>
        <p:spPr>
          <a:xfrm>
            <a:off x="4800600" y="28803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Certain ARIA roles must be contained by particular parents</a:t>
            </a:r>
            <a:endParaRPr lang="en-US" sz="1500" dirty="0"/>
          </a:p>
        </p:txBody>
      </p:sp>
      <p:sp>
        <p:nvSpPr>
          <p:cNvPr id="24" name="Text 20"/>
          <p:cNvSpPr/>
          <p:nvPr/>
        </p:nvSpPr>
        <p:spPr>
          <a:xfrm>
            <a:off x="4800600" y="32186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Inaccessible sites exclude users, invite legal risk (ADA / EAA) and lose search visibility.</a:t>
            </a:r>
            <a:endParaRPr lang="en-US" sz="1100" dirty="0"/>
          </a:p>
        </p:txBody>
      </p:sp>
      <p:sp>
        <p:nvSpPr>
          <p:cNvPr id="25" name="Shape 21"/>
          <p:cNvSpPr/>
          <p:nvPr/>
        </p:nvSpPr>
        <p:spPr>
          <a:xfrm>
            <a:off x="4114800" y="3703320"/>
            <a:ext cx="7498080" cy="804672"/>
          </a:xfrm>
          <a:prstGeom prst="roundRect">
            <a:avLst>
              <a:gd name="adj" fmla="val 11364"/>
            </a:avLst>
          </a:prstGeom>
          <a:solidFill>
            <a:srgbClr val="FFFFFF"/>
          </a:solidFill>
          <a:ln w="12700">
            <a:solidFill>
              <a:srgbClr val="DDE2EE"/>
            </a:solidFill>
            <a:prstDash val="solid"/>
          </a:ln>
        </p:spPr>
      </p:sp>
      <p:sp>
        <p:nvSpPr>
          <p:cNvPr id="26" name="Text 22"/>
          <p:cNvSpPr/>
          <p:nvPr/>
        </p:nvSpPr>
        <p:spPr>
          <a:xfrm>
            <a:off x="4251960" y="38130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3</a:t>
            </a:r>
            <a:endParaRPr lang="en-US" sz="2600" dirty="0"/>
          </a:p>
        </p:txBody>
      </p:sp>
      <p:sp>
        <p:nvSpPr>
          <p:cNvPr id="27" name="Text 23"/>
          <p:cNvSpPr/>
          <p:nvPr/>
        </p:nvSpPr>
        <p:spPr>
          <a:xfrm>
            <a:off x="4800600" y="37947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Navigation has 8 items</a:t>
            </a:r>
            <a:endParaRPr lang="en-US" sz="1500" dirty="0"/>
          </a:p>
        </p:txBody>
      </p:sp>
      <p:sp>
        <p:nvSpPr>
          <p:cNvPr id="28" name="Text 24"/>
          <p:cNvSpPr/>
          <p:nvPr/>
        </p:nvSpPr>
        <p:spPr>
          <a:xfrm>
            <a:off x="4800600" y="41330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Visitors decide in seconds; unclear hierarchy and actions send them to a competitor.</a:t>
            </a:r>
            <a:endParaRPr lang="en-US" sz="1100" dirty="0"/>
          </a:p>
        </p:txBody>
      </p:sp>
      <p:sp>
        <p:nvSpPr>
          <p:cNvPr id="29" name="Shape 25"/>
          <p:cNvSpPr/>
          <p:nvPr/>
        </p:nvSpPr>
        <p:spPr>
          <a:xfrm>
            <a:off x="548640" y="4800600"/>
            <a:ext cx="2072579" cy="1371600"/>
          </a:xfrm>
          <a:prstGeom prst="roundRect">
            <a:avLst>
              <a:gd name="adj" fmla="val 6667"/>
            </a:avLst>
          </a:prstGeom>
          <a:solidFill>
            <a:srgbClr val="FFFFFF"/>
          </a:solidFill>
          <a:ln w="12700">
            <a:solidFill>
              <a:srgbClr val="DDE2EE"/>
            </a:solidFill>
            <a:prstDash val="solid"/>
          </a:ln>
        </p:spPr>
      </p:sp>
      <p:sp>
        <p:nvSpPr>
          <p:cNvPr id="30" name="Text 26"/>
          <p:cNvSpPr/>
          <p:nvPr/>
        </p:nvSpPr>
        <p:spPr>
          <a:xfrm>
            <a:off x="731520"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11</a:t>
            </a:r>
            <a:endParaRPr lang="en-US" sz="2800" dirty="0"/>
          </a:p>
        </p:txBody>
      </p:sp>
      <p:sp>
        <p:nvSpPr>
          <p:cNvPr id="31" name="Text 27"/>
          <p:cNvSpPr/>
          <p:nvPr/>
        </p:nvSpPr>
        <p:spPr>
          <a:xfrm>
            <a:off x="731520"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found</a:t>
            </a:r>
            <a:endParaRPr lang="en-US" sz="1100" dirty="0"/>
          </a:p>
        </p:txBody>
      </p:sp>
      <p:sp>
        <p:nvSpPr>
          <p:cNvPr id="32" name="Shape 28"/>
          <p:cNvSpPr/>
          <p:nvPr/>
        </p:nvSpPr>
        <p:spPr>
          <a:xfrm>
            <a:off x="2804099" y="4800600"/>
            <a:ext cx="2072579" cy="1371600"/>
          </a:xfrm>
          <a:prstGeom prst="roundRect">
            <a:avLst>
              <a:gd name="adj" fmla="val 6667"/>
            </a:avLst>
          </a:prstGeom>
          <a:solidFill>
            <a:srgbClr val="FFFFFF"/>
          </a:solidFill>
          <a:ln w="12700">
            <a:solidFill>
              <a:srgbClr val="DDE2EE"/>
            </a:solidFill>
            <a:prstDash val="solid"/>
          </a:ln>
        </p:spPr>
      </p:sp>
      <p:sp>
        <p:nvSpPr>
          <p:cNvPr id="33" name="Text 29"/>
          <p:cNvSpPr/>
          <p:nvPr/>
        </p:nvSpPr>
        <p:spPr>
          <a:xfrm>
            <a:off x="2986979" y="4910328"/>
            <a:ext cx="1706819" cy="75438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93/100</a:t>
            </a:r>
            <a:endParaRPr lang="en-US" sz="2800" dirty="0"/>
          </a:p>
        </p:txBody>
      </p:sp>
      <p:sp>
        <p:nvSpPr>
          <p:cNvPr id="34" name="Text 30"/>
          <p:cNvSpPr/>
          <p:nvPr/>
        </p:nvSpPr>
        <p:spPr>
          <a:xfrm>
            <a:off x="2986979"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Organisation match</a:t>
            </a:r>
            <a:endParaRPr lang="en-US" sz="1100" dirty="0"/>
          </a:p>
        </p:txBody>
      </p:sp>
      <p:sp>
        <p:nvSpPr>
          <p:cNvPr id="35" name="Shape 31"/>
          <p:cNvSpPr/>
          <p:nvPr/>
        </p:nvSpPr>
        <p:spPr>
          <a:xfrm>
            <a:off x="5059558" y="4800600"/>
            <a:ext cx="2072579" cy="1371600"/>
          </a:xfrm>
          <a:prstGeom prst="roundRect">
            <a:avLst>
              <a:gd name="adj" fmla="val 6667"/>
            </a:avLst>
          </a:prstGeom>
          <a:solidFill>
            <a:srgbClr val="FFFFFF"/>
          </a:solidFill>
          <a:ln w="12700">
            <a:solidFill>
              <a:srgbClr val="DDE2EE"/>
            </a:solidFill>
            <a:prstDash val="solid"/>
          </a:ln>
        </p:spPr>
      </p:sp>
      <p:sp>
        <p:nvSpPr>
          <p:cNvPr id="36" name="Text 32"/>
          <p:cNvSpPr/>
          <p:nvPr/>
        </p:nvSpPr>
        <p:spPr>
          <a:xfrm>
            <a:off x="5242438"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 people</a:t>
            </a:r>
            <a:endParaRPr lang="en-US" sz="2800" dirty="0"/>
          </a:p>
        </p:txBody>
      </p:sp>
      <p:sp>
        <p:nvSpPr>
          <p:cNvPr id="37" name="Text 33"/>
          <p:cNvSpPr/>
          <p:nvPr/>
        </p:nvSpPr>
        <p:spPr>
          <a:xfrm>
            <a:off x="5242438"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Team</a:t>
            </a:r>
            <a:endParaRPr lang="en-US" sz="1100" dirty="0"/>
          </a:p>
        </p:txBody>
      </p:sp>
      <p:sp>
        <p:nvSpPr>
          <p:cNvPr id="38" name="Shape 34"/>
          <p:cNvSpPr/>
          <p:nvPr/>
        </p:nvSpPr>
        <p:spPr>
          <a:xfrm>
            <a:off x="7315017" y="4800600"/>
            <a:ext cx="2072579" cy="1371600"/>
          </a:xfrm>
          <a:prstGeom prst="roundRect">
            <a:avLst>
              <a:gd name="adj" fmla="val 6667"/>
            </a:avLst>
          </a:prstGeom>
          <a:solidFill>
            <a:srgbClr val="FFFFFF"/>
          </a:solidFill>
          <a:ln w="12700">
            <a:solidFill>
              <a:srgbClr val="DDE2EE"/>
            </a:solidFill>
            <a:prstDash val="solid"/>
          </a:ln>
        </p:spPr>
      </p:sp>
      <p:sp>
        <p:nvSpPr>
          <p:cNvPr id="39" name="Text 35"/>
          <p:cNvSpPr/>
          <p:nvPr/>
        </p:nvSpPr>
        <p:spPr>
          <a:xfrm>
            <a:off x="7497897"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3 weeks</a:t>
            </a:r>
            <a:endParaRPr lang="en-US" sz="2800" dirty="0"/>
          </a:p>
        </p:txBody>
      </p:sp>
      <p:sp>
        <p:nvSpPr>
          <p:cNvPr id="40" name="Text 36"/>
          <p:cNvSpPr/>
          <p:nvPr/>
        </p:nvSpPr>
        <p:spPr>
          <a:xfrm>
            <a:off x="7497897"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Timeline</a:t>
            </a:r>
            <a:endParaRPr lang="en-US" sz="1100" dirty="0"/>
          </a:p>
        </p:txBody>
      </p:sp>
      <p:sp>
        <p:nvSpPr>
          <p:cNvPr id="41" name="Shape 37"/>
          <p:cNvSpPr/>
          <p:nvPr/>
        </p:nvSpPr>
        <p:spPr>
          <a:xfrm>
            <a:off x="9570476" y="4800600"/>
            <a:ext cx="2072579" cy="1371600"/>
          </a:xfrm>
          <a:prstGeom prst="roundRect">
            <a:avLst>
              <a:gd name="adj" fmla="val 6667"/>
            </a:avLst>
          </a:prstGeom>
          <a:solidFill>
            <a:srgbClr val="FFFFFF"/>
          </a:solidFill>
          <a:ln w="12700">
            <a:solidFill>
              <a:srgbClr val="DDE2EE"/>
            </a:solidFill>
            <a:prstDash val="solid"/>
          </a:ln>
        </p:spPr>
      </p:sp>
      <p:sp>
        <p:nvSpPr>
          <p:cNvPr id="42" name="Text 38"/>
          <p:cNvSpPr/>
          <p:nvPr/>
        </p:nvSpPr>
        <p:spPr>
          <a:xfrm>
            <a:off x="9753356" y="4910328"/>
            <a:ext cx="1706819" cy="7543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₹7.3–9.3 lakh</a:t>
            </a:r>
            <a:endParaRPr lang="en-US" sz="2000" dirty="0"/>
          </a:p>
        </p:txBody>
      </p:sp>
      <p:sp>
        <p:nvSpPr>
          <p:cNvPr id="43" name="Text 39"/>
          <p:cNvSpPr/>
          <p:nvPr/>
        </p:nvSpPr>
        <p:spPr>
          <a:xfrm>
            <a:off x="9753356"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Investment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India scores today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3</a:t>
            </a:r>
            <a:endParaRPr lang="en-US" sz="1000" dirty="0"/>
          </a:p>
        </p:txBody>
      </p:sp>
      <p:sp>
        <p:nvSpPr>
          <p:cNvPr id="11" name="Shape 8"/>
          <p:cNvSpPr/>
          <p:nvPr/>
        </p:nvSpPr>
        <p:spPr>
          <a:xfrm>
            <a:off x="548640" y="1508760"/>
            <a:ext cx="2072579" cy="4206240"/>
          </a:xfrm>
          <a:prstGeom prst="roundRect">
            <a:avLst>
              <a:gd name="adj" fmla="val 4412"/>
            </a:avLst>
          </a:prstGeom>
          <a:solidFill>
            <a:srgbClr val="FFFFFF"/>
          </a:solidFill>
          <a:ln w="12700">
            <a:solidFill>
              <a:srgbClr val="DDE2EE"/>
            </a:solidFill>
            <a:prstDash val="solid"/>
          </a:ln>
        </p:spPr>
      </p:sp>
      <p:sp>
        <p:nvSpPr>
          <p:cNvPr id="12" name="Shape 9"/>
          <p:cNvSpPr/>
          <p:nvPr/>
        </p:nvSpPr>
        <p:spPr>
          <a:xfrm>
            <a:off x="548640" y="1508760"/>
            <a:ext cx="2072579" cy="64008"/>
          </a:xfrm>
          <a:prstGeom prst="rect">
            <a:avLst/>
          </a:prstGeom>
          <a:solidFill>
            <a:srgbClr val="0F9D6B"/>
          </a:solidFill>
          <a:ln w="12700">
            <a:solidFill>
              <a:srgbClr val="0F9D6B"/>
            </a:solidFill>
            <a:prstDash val="solid"/>
          </a:ln>
        </p:spPr>
      </p:sp>
      <p:sp>
        <p:nvSpPr>
          <p:cNvPr id="13" name="Text 10"/>
          <p:cNvSpPr/>
          <p:nvPr/>
        </p:nvSpPr>
        <p:spPr>
          <a:xfrm>
            <a:off x="731520"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Speed</a:t>
            </a:r>
            <a:endParaRPr lang="en-US" sz="1500" dirty="0"/>
          </a:p>
        </p:txBody>
      </p:sp>
      <p:sp>
        <p:nvSpPr>
          <p:cNvPr id="14" name="Text 11"/>
          <p:cNvSpPr/>
          <p:nvPr/>
        </p:nvSpPr>
        <p:spPr>
          <a:xfrm>
            <a:off x="731520"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93</a:t>
            </a:r>
            <a:endParaRPr lang="en-US" sz="4400" dirty="0"/>
          </a:p>
        </p:txBody>
      </p:sp>
      <p:sp>
        <p:nvSpPr>
          <p:cNvPr id="15" name="Shape 12"/>
          <p:cNvSpPr/>
          <p:nvPr/>
        </p:nvSpPr>
        <p:spPr>
          <a:xfrm>
            <a:off x="1569659" y="2286000"/>
            <a:ext cx="868680" cy="246888"/>
          </a:xfrm>
          <a:prstGeom prst="roundRect">
            <a:avLst>
              <a:gd name="adj" fmla="val 37037"/>
            </a:avLst>
          </a:prstGeom>
          <a:solidFill>
            <a:srgbClr val="DFF5EA"/>
          </a:solidFill>
          <a:ln w="12700">
            <a:solidFill>
              <a:srgbClr val="DFF5EA"/>
            </a:solidFill>
            <a:prstDash val="solid"/>
          </a:ln>
        </p:spPr>
      </p:sp>
      <p:sp>
        <p:nvSpPr>
          <p:cNvPr id="16" name="Text 13"/>
          <p:cNvSpPr/>
          <p:nvPr/>
        </p:nvSpPr>
        <p:spPr>
          <a:xfrm>
            <a:off x="1569659"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A</a:t>
            </a:r>
            <a:endParaRPr lang="en-US" sz="1000" dirty="0"/>
          </a:p>
        </p:txBody>
      </p:sp>
      <p:sp>
        <p:nvSpPr>
          <p:cNvPr id="17" name="Shape 14"/>
          <p:cNvSpPr/>
          <p:nvPr/>
        </p:nvSpPr>
        <p:spPr>
          <a:xfrm>
            <a:off x="731520" y="2926080"/>
            <a:ext cx="1706819" cy="109728"/>
          </a:xfrm>
          <a:prstGeom prst="roundRect">
            <a:avLst>
              <a:gd name="adj" fmla="val 83333"/>
            </a:avLst>
          </a:prstGeom>
          <a:solidFill>
            <a:srgbClr val="E6E9F3"/>
          </a:solidFill>
          <a:ln w="12700">
            <a:solidFill>
              <a:srgbClr val="E6E9F3"/>
            </a:solidFill>
            <a:prstDash val="solid"/>
          </a:ln>
        </p:spPr>
      </p:sp>
      <p:sp>
        <p:nvSpPr>
          <p:cNvPr id="18" name="Shape 15"/>
          <p:cNvSpPr/>
          <p:nvPr/>
        </p:nvSpPr>
        <p:spPr>
          <a:xfrm>
            <a:off x="731520" y="2926080"/>
            <a:ext cx="1587342" cy="109728"/>
          </a:xfrm>
          <a:prstGeom prst="roundRect">
            <a:avLst>
              <a:gd name="adj" fmla="val 83333"/>
            </a:avLst>
          </a:prstGeom>
          <a:solidFill>
            <a:srgbClr val="0F9D6B"/>
          </a:solidFill>
          <a:ln w="12700">
            <a:solidFill>
              <a:srgbClr val="0F9D6B"/>
            </a:solidFill>
            <a:prstDash val="solid"/>
          </a:ln>
        </p:spPr>
      </p:sp>
      <p:sp>
        <p:nvSpPr>
          <p:cNvPr id="19" name="Text 16"/>
          <p:cNvSpPr/>
          <p:nvPr/>
        </p:nvSpPr>
        <p:spPr>
          <a:xfrm>
            <a:off x="731520"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Main content shows in 0.8s; 2.1 MB over 95 requests.</a:t>
            </a:r>
            <a:endParaRPr lang="en-US" sz="1100" dirty="0"/>
          </a:p>
        </p:txBody>
      </p:sp>
      <p:sp>
        <p:nvSpPr>
          <p:cNvPr id="20" name="Text 17"/>
          <p:cNvSpPr/>
          <p:nvPr/>
        </p:nvSpPr>
        <p:spPr>
          <a:xfrm>
            <a:off x="731520"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LCP</a:t>
            </a:r>
            <a:endParaRPr lang="en-US" sz="900" dirty="0"/>
          </a:p>
        </p:txBody>
      </p:sp>
      <p:sp>
        <p:nvSpPr>
          <p:cNvPr id="21" name="Text 18"/>
          <p:cNvSpPr/>
          <p:nvPr/>
        </p:nvSpPr>
        <p:spPr>
          <a:xfrm>
            <a:off x="731520"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0.8s</a:t>
            </a:r>
            <a:endParaRPr lang="en-US" sz="1200" dirty="0"/>
          </a:p>
        </p:txBody>
      </p:sp>
      <p:sp>
        <p:nvSpPr>
          <p:cNvPr id="22" name="Text 19"/>
          <p:cNvSpPr/>
          <p:nvPr/>
        </p:nvSpPr>
        <p:spPr>
          <a:xfrm>
            <a:off x="731520"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CLS</a:t>
            </a:r>
            <a:endParaRPr lang="en-US" sz="900" dirty="0"/>
          </a:p>
        </p:txBody>
      </p:sp>
      <p:sp>
        <p:nvSpPr>
          <p:cNvPr id="23" name="Text 20"/>
          <p:cNvSpPr/>
          <p:nvPr/>
        </p:nvSpPr>
        <p:spPr>
          <a:xfrm>
            <a:off x="731520"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0.074</a:t>
            </a:r>
            <a:endParaRPr lang="en-US" sz="1200" dirty="0"/>
          </a:p>
        </p:txBody>
      </p:sp>
      <p:sp>
        <p:nvSpPr>
          <p:cNvPr id="24" name="Text 21"/>
          <p:cNvSpPr/>
          <p:nvPr/>
        </p:nvSpPr>
        <p:spPr>
          <a:xfrm>
            <a:off x="731520"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Page weight</a:t>
            </a:r>
            <a:endParaRPr lang="en-US" sz="900" dirty="0"/>
          </a:p>
        </p:txBody>
      </p:sp>
      <p:sp>
        <p:nvSpPr>
          <p:cNvPr id="25" name="Text 22"/>
          <p:cNvSpPr/>
          <p:nvPr/>
        </p:nvSpPr>
        <p:spPr>
          <a:xfrm>
            <a:off x="731520"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2.1 MB</a:t>
            </a:r>
            <a:endParaRPr lang="en-US" sz="1200" dirty="0"/>
          </a:p>
        </p:txBody>
      </p:sp>
      <p:sp>
        <p:nvSpPr>
          <p:cNvPr id="26" name="Shape 23"/>
          <p:cNvSpPr/>
          <p:nvPr/>
        </p:nvSpPr>
        <p:spPr>
          <a:xfrm>
            <a:off x="2804099" y="1508760"/>
            <a:ext cx="2072579" cy="4206240"/>
          </a:xfrm>
          <a:prstGeom prst="roundRect">
            <a:avLst>
              <a:gd name="adj" fmla="val 4412"/>
            </a:avLst>
          </a:prstGeom>
          <a:solidFill>
            <a:srgbClr val="FFFFFF"/>
          </a:solidFill>
          <a:ln w="12700">
            <a:solidFill>
              <a:srgbClr val="DDE2EE"/>
            </a:solidFill>
            <a:prstDash val="solid"/>
          </a:ln>
        </p:spPr>
      </p:sp>
      <p:sp>
        <p:nvSpPr>
          <p:cNvPr id="27" name="Shape 24"/>
          <p:cNvSpPr/>
          <p:nvPr/>
        </p:nvSpPr>
        <p:spPr>
          <a:xfrm>
            <a:off x="2804099" y="1508760"/>
            <a:ext cx="2072579" cy="64008"/>
          </a:xfrm>
          <a:prstGeom prst="rect">
            <a:avLst/>
          </a:prstGeom>
          <a:solidFill>
            <a:srgbClr val="0F9D6B"/>
          </a:solidFill>
          <a:ln w="12700">
            <a:solidFill>
              <a:srgbClr val="0F9D6B"/>
            </a:solidFill>
            <a:prstDash val="solid"/>
          </a:ln>
        </p:spPr>
      </p:sp>
      <p:sp>
        <p:nvSpPr>
          <p:cNvPr id="28" name="Text 25"/>
          <p:cNvSpPr/>
          <p:nvPr/>
        </p:nvSpPr>
        <p:spPr>
          <a:xfrm>
            <a:off x="2986979"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Mobile</a:t>
            </a:r>
            <a:endParaRPr lang="en-US" sz="1500" dirty="0"/>
          </a:p>
        </p:txBody>
      </p:sp>
      <p:sp>
        <p:nvSpPr>
          <p:cNvPr id="29" name="Text 26"/>
          <p:cNvSpPr/>
          <p:nvPr/>
        </p:nvSpPr>
        <p:spPr>
          <a:xfrm>
            <a:off x="2986979"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81</a:t>
            </a:r>
            <a:endParaRPr lang="en-US" sz="4400" dirty="0"/>
          </a:p>
        </p:txBody>
      </p:sp>
      <p:sp>
        <p:nvSpPr>
          <p:cNvPr id="30" name="Shape 27"/>
          <p:cNvSpPr/>
          <p:nvPr/>
        </p:nvSpPr>
        <p:spPr>
          <a:xfrm>
            <a:off x="3825118" y="2286000"/>
            <a:ext cx="868680" cy="246888"/>
          </a:xfrm>
          <a:prstGeom prst="roundRect">
            <a:avLst>
              <a:gd name="adj" fmla="val 37037"/>
            </a:avLst>
          </a:prstGeom>
          <a:solidFill>
            <a:srgbClr val="DFF5EA"/>
          </a:solidFill>
          <a:ln w="12700">
            <a:solidFill>
              <a:srgbClr val="DFF5EA"/>
            </a:solidFill>
            <a:prstDash val="solid"/>
          </a:ln>
        </p:spPr>
      </p:sp>
      <p:sp>
        <p:nvSpPr>
          <p:cNvPr id="31" name="Text 28"/>
          <p:cNvSpPr/>
          <p:nvPr/>
        </p:nvSpPr>
        <p:spPr>
          <a:xfrm>
            <a:off x="3825118"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B</a:t>
            </a:r>
            <a:endParaRPr lang="en-US" sz="1000" dirty="0"/>
          </a:p>
        </p:txBody>
      </p:sp>
      <p:sp>
        <p:nvSpPr>
          <p:cNvPr id="32" name="Shape 29"/>
          <p:cNvSpPr/>
          <p:nvPr/>
        </p:nvSpPr>
        <p:spPr>
          <a:xfrm>
            <a:off x="2986979" y="2926080"/>
            <a:ext cx="1706819" cy="109728"/>
          </a:xfrm>
          <a:prstGeom prst="roundRect">
            <a:avLst>
              <a:gd name="adj" fmla="val 83333"/>
            </a:avLst>
          </a:prstGeom>
          <a:solidFill>
            <a:srgbClr val="E6E9F3"/>
          </a:solidFill>
          <a:ln w="12700">
            <a:solidFill>
              <a:srgbClr val="E6E9F3"/>
            </a:solidFill>
            <a:prstDash val="solid"/>
          </a:ln>
        </p:spPr>
      </p:sp>
      <p:sp>
        <p:nvSpPr>
          <p:cNvPr id="33" name="Shape 30"/>
          <p:cNvSpPr/>
          <p:nvPr/>
        </p:nvSpPr>
        <p:spPr>
          <a:xfrm>
            <a:off x="2986979" y="2926080"/>
            <a:ext cx="1382523" cy="109728"/>
          </a:xfrm>
          <a:prstGeom prst="roundRect">
            <a:avLst>
              <a:gd name="adj" fmla="val 83333"/>
            </a:avLst>
          </a:prstGeom>
          <a:solidFill>
            <a:srgbClr val="0F9D6B"/>
          </a:solidFill>
          <a:ln w="12700">
            <a:solidFill>
              <a:srgbClr val="0F9D6B"/>
            </a:solidFill>
            <a:prstDash val="solid"/>
          </a:ln>
        </p:spPr>
      </p:sp>
      <p:sp>
        <p:nvSpPr>
          <p:cNvPr id="34" name="Text 31"/>
          <p:cNvSpPr/>
          <p:nvPr/>
        </p:nvSpPr>
        <p:spPr>
          <a:xfrm>
            <a:off x="2986979"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19 of 268 tap targets are too small on mobile.</a:t>
            </a:r>
            <a:endParaRPr lang="en-US" sz="1100" dirty="0"/>
          </a:p>
        </p:txBody>
      </p:sp>
      <p:sp>
        <p:nvSpPr>
          <p:cNvPr id="35" name="Text 32"/>
          <p:cNvSpPr/>
          <p:nvPr/>
        </p:nvSpPr>
        <p:spPr>
          <a:xfrm>
            <a:off x="2986979"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Horizontal overflow</a:t>
            </a:r>
            <a:endParaRPr lang="en-US" sz="900" dirty="0"/>
          </a:p>
        </p:txBody>
      </p:sp>
      <p:sp>
        <p:nvSpPr>
          <p:cNvPr id="36" name="Text 33"/>
          <p:cNvSpPr/>
          <p:nvPr/>
        </p:nvSpPr>
        <p:spPr>
          <a:xfrm>
            <a:off x="2986979"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0px</a:t>
            </a:r>
            <a:endParaRPr lang="en-US" sz="1200" dirty="0"/>
          </a:p>
        </p:txBody>
      </p:sp>
      <p:sp>
        <p:nvSpPr>
          <p:cNvPr id="37" name="Text 34"/>
          <p:cNvSpPr/>
          <p:nvPr/>
        </p:nvSpPr>
        <p:spPr>
          <a:xfrm>
            <a:off x="2986979"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Small tap targets</a:t>
            </a:r>
            <a:endParaRPr lang="en-US" sz="900" dirty="0"/>
          </a:p>
        </p:txBody>
      </p:sp>
      <p:sp>
        <p:nvSpPr>
          <p:cNvPr id="38" name="Text 35"/>
          <p:cNvSpPr/>
          <p:nvPr/>
        </p:nvSpPr>
        <p:spPr>
          <a:xfrm>
            <a:off x="2986979"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19/268</a:t>
            </a:r>
            <a:endParaRPr lang="en-US" sz="1200" dirty="0"/>
          </a:p>
        </p:txBody>
      </p:sp>
      <p:sp>
        <p:nvSpPr>
          <p:cNvPr id="39" name="Text 36"/>
          <p:cNvSpPr/>
          <p:nvPr/>
        </p:nvSpPr>
        <p:spPr>
          <a:xfrm>
            <a:off x="2986979"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Tiny text blocks</a:t>
            </a:r>
            <a:endParaRPr lang="en-US" sz="900" dirty="0"/>
          </a:p>
        </p:txBody>
      </p:sp>
      <p:sp>
        <p:nvSpPr>
          <p:cNvPr id="40" name="Text 37"/>
          <p:cNvSpPr/>
          <p:nvPr/>
        </p:nvSpPr>
        <p:spPr>
          <a:xfrm>
            <a:off x="2986979"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21</a:t>
            </a:r>
            <a:endParaRPr lang="en-US" sz="1200" dirty="0"/>
          </a:p>
        </p:txBody>
      </p:sp>
      <p:sp>
        <p:nvSpPr>
          <p:cNvPr id="41" name="Shape 38"/>
          <p:cNvSpPr/>
          <p:nvPr/>
        </p:nvSpPr>
        <p:spPr>
          <a:xfrm>
            <a:off x="5059558" y="1508760"/>
            <a:ext cx="2072579" cy="4206240"/>
          </a:xfrm>
          <a:prstGeom prst="roundRect">
            <a:avLst>
              <a:gd name="adj" fmla="val 4412"/>
            </a:avLst>
          </a:prstGeom>
          <a:solidFill>
            <a:srgbClr val="FFFFFF"/>
          </a:solidFill>
          <a:ln w="12700">
            <a:solidFill>
              <a:srgbClr val="DDE2EE"/>
            </a:solidFill>
            <a:prstDash val="solid"/>
          </a:ln>
        </p:spPr>
      </p:sp>
      <p:sp>
        <p:nvSpPr>
          <p:cNvPr id="42" name="Shape 39"/>
          <p:cNvSpPr/>
          <p:nvPr/>
        </p:nvSpPr>
        <p:spPr>
          <a:xfrm>
            <a:off x="5059558" y="1508760"/>
            <a:ext cx="2072579" cy="64008"/>
          </a:xfrm>
          <a:prstGeom prst="rect">
            <a:avLst/>
          </a:prstGeom>
          <a:solidFill>
            <a:srgbClr val="D64545"/>
          </a:solidFill>
          <a:ln w="12700">
            <a:solidFill>
              <a:srgbClr val="D64545"/>
            </a:solidFill>
            <a:prstDash val="solid"/>
          </a:ln>
        </p:spPr>
      </p:sp>
      <p:sp>
        <p:nvSpPr>
          <p:cNvPr id="43" name="Text 40"/>
          <p:cNvSpPr/>
          <p:nvPr/>
        </p:nvSpPr>
        <p:spPr>
          <a:xfrm>
            <a:off x="5242438"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Accessibility</a:t>
            </a:r>
            <a:endParaRPr lang="en-US" sz="1500" dirty="0"/>
          </a:p>
        </p:txBody>
      </p:sp>
      <p:sp>
        <p:nvSpPr>
          <p:cNvPr id="44" name="Text 41"/>
          <p:cNvSpPr/>
          <p:nvPr/>
        </p:nvSpPr>
        <p:spPr>
          <a:xfrm>
            <a:off x="5242438"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35</a:t>
            </a:r>
            <a:endParaRPr lang="en-US" sz="4400" dirty="0"/>
          </a:p>
        </p:txBody>
      </p:sp>
      <p:sp>
        <p:nvSpPr>
          <p:cNvPr id="45" name="Shape 42"/>
          <p:cNvSpPr/>
          <p:nvPr/>
        </p:nvSpPr>
        <p:spPr>
          <a:xfrm>
            <a:off x="6080577" y="2286000"/>
            <a:ext cx="868680" cy="246888"/>
          </a:xfrm>
          <a:prstGeom prst="roundRect">
            <a:avLst>
              <a:gd name="adj" fmla="val 37037"/>
            </a:avLst>
          </a:prstGeom>
          <a:solidFill>
            <a:srgbClr val="FDE4E4"/>
          </a:solidFill>
          <a:ln w="12700">
            <a:solidFill>
              <a:srgbClr val="FDE4E4"/>
            </a:solidFill>
            <a:prstDash val="solid"/>
          </a:ln>
        </p:spPr>
      </p:sp>
      <p:sp>
        <p:nvSpPr>
          <p:cNvPr id="46" name="Text 43"/>
          <p:cNvSpPr/>
          <p:nvPr/>
        </p:nvSpPr>
        <p:spPr>
          <a:xfrm>
            <a:off x="6080577"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47" name="Shape 44"/>
          <p:cNvSpPr/>
          <p:nvPr/>
        </p:nvSpPr>
        <p:spPr>
          <a:xfrm>
            <a:off x="5242438" y="2926080"/>
            <a:ext cx="1706819" cy="109728"/>
          </a:xfrm>
          <a:prstGeom prst="roundRect">
            <a:avLst>
              <a:gd name="adj" fmla="val 83333"/>
            </a:avLst>
          </a:prstGeom>
          <a:solidFill>
            <a:srgbClr val="E6E9F3"/>
          </a:solidFill>
          <a:ln w="12700">
            <a:solidFill>
              <a:srgbClr val="E6E9F3"/>
            </a:solidFill>
            <a:prstDash val="solid"/>
          </a:ln>
        </p:spPr>
      </p:sp>
      <p:sp>
        <p:nvSpPr>
          <p:cNvPr id="48" name="Shape 45"/>
          <p:cNvSpPr/>
          <p:nvPr/>
        </p:nvSpPr>
        <p:spPr>
          <a:xfrm>
            <a:off x="5242438" y="2926080"/>
            <a:ext cx="597387" cy="109728"/>
          </a:xfrm>
          <a:prstGeom prst="roundRect">
            <a:avLst>
              <a:gd name="adj" fmla="val 83333"/>
            </a:avLst>
          </a:prstGeom>
          <a:solidFill>
            <a:srgbClr val="D64545"/>
          </a:solidFill>
          <a:ln w="12700">
            <a:solidFill>
              <a:srgbClr val="D64545"/>
            </a:solidFill>
            <a:prstDash val="solid"/>
          </a:ln>
        </p:spPr>
      </p:sp>
      <p:sp>
        <p:nvSpPr>
          <p:cNvPr id="49" name="Text 46"/>
          <p:cNvSpPr/>
          <p:nvPr/>
        </p:nvSpPr>
        <p:spPr>
          <a:xfrm>
            <a:off x="5242438"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5 accessibility rules failed (5 serious or critical).</a:t>
            </a:r>
            <a:endParaRPr lang="en-US" sz="1100" dirty="0"/>
          </a:p>
        </p:txBody>
      </p:sp>
      <p:sp>
        <p:nvSpPr>
          <p:cNvPr id="50" name="Text 47"/>
          <p:cNvSpPr/>
          <p:nvPr/>
        </p:nvSpPr>
        <p:spPr>
          <a:xfrm>
            <a:off x="5242438"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Rules failed</a:t>
            </a:r>
            <a:endParaRPr lang="en-US" sz="900" dirty="0"/>
          </a:p>
        </p:txBody>
      </p:sp>
      <p:sp>
        <p:nvSpPr>
          <p:cNvPr id="51" name="Text 48"/>
          <p:cNvSpPr/>
          <p:nvPr/>
        </p:nvSpPr>
        <p:spPr>
          <a:xfrm>
            <a:off x="5242438"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5</a:t>
            </a:r>
            <a:endParaRPr lang="en-US" sz="1200" dirty="0"/>
          </a:p>
        </p:txBody>
      </p:sp>
      <p:sp>
        <p:nvSpPr>
          <p:cNvPr id="52" name="Text 49"/>
          <p:cNvSpPr/>
          <p:nvPr/>
        </p:nvSpPr>
        <p:spPr>
          <a:xfrm>
            <a:off x="5242438"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Critical</a:t>
            </a:r>
            <a:endParaRPr lang="en-US" sz="900" dirty="0"/>
          </a:p>
        </p:txBody>
      </p:sp>
      <p:sp>
        <p:nvSpPr>
          <p:cNvPr id="53" name="Text 50"/>
          <p:cNvSpPr/>
          <p:nvPr/>
        </p:nvSpPr>
        <p:spPr>
          <a:xfrm>
            <a:off x="5242438"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54" name="Text 51"/>
          <p:cNvSpPr/>
          <p:nvPr/>
        </p:nvSpPr>
        <p:spPr>
          <a:xfrm>
            <a:off x="5242438"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Serious</a:t>
            </a:r>
            <a:endParaRPr lang="en-US" sz="900" dirty="0"/>
          </a:p>
        </p:txBody>
      </p:sp>
      <p:sp>
        <p:nvSpPr>
          <p:cNvPr id="55" name="Text 52"/>
          <p:cNvSpPr/>
          <p:nvPr/>
        </p:nvSpPr>
        <p:spPr>
          <a:xfrm>
            <a:off x="5242438"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56" name="Shape 53"/>
          <p:cNvSpPr/>
          <p:nvPr/>
        </p:nvSpPr>
        <p:spPr>
          <a:xfrm>
            <a:off x="7315017" y="1508760"/>
            <a:ext cx="2072579" cy="4206240"/>
          </a:xfrm>
          <a:prstGeom prst="roundRect">
            <a:avLst>
              <a:gd name="adj" fmla="val 4412"/>
            </a:avLst>
          </a:prstGeom>
          <a:solidFill>
            <a:srgbClr val="FFFFFF"/>
          </a:solidFill>
          <a:ln w="12700">
            <a:solidFill>
              <a:srgbClr val="DDE2EE"/>
            </a:solidFill>
            <a:prstDash val="solid"/>
          </a:ln>
        </p:spPr>
      </p:sp>
      <p:sp>
        <p:nvSpPr>
          <p:cNvPr id="57" name="Shape 54"/>
          <p:cNvSpPr/>
          <p:nvPr/>
        </p:nvSpPr>
        <p:spPr>
          <a:xfrm>
            <a:off x="7315017" y="1508760"/>
            <a:ext cx="2072579" cy="64008"/>
          </a:xfrm>
          <a:prstGeom prst="rect">
            <a:avLst/>
          </a:prstGeom>
          <a:solidFill>
            <a:srgbClr val="B7791F"/>
          </a:solidFill>
          <a:ln w="12700">
            <a:solidFill>
              <a:srgbClr val="B7791F"/>
            </a:solidFill>
            <a:prstDash val="solid"/>
          </a:ln>
        </p:spPr>
      </p:sp>
      <p:sp>
        <p:nvSpPr>
          <p:cNvPr id="58" name="Text 55"/>
          <p:cNvSpPr/>
          <p:nvPr/>
        </p:nvSpPr>
        <p:spPr>
          <a:xfrm>
            <a:off x="7497897"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UX</a:t>
            </a:r>
            <a:endParaRPr lang="en-US" sz="1500" dirty="0"/>
          </a:p>
        </p:txBody>
      </p:sp>
      <p:sp>
        <p:nvSpPr>
          <p:cNvPr id="59" name="Text 56"/>
          <p:cNvSpPr/>
          <p:nvPr/>
        </p:nvSpPr>
        <p:spPr>
          <a:xfrm>
            <a:off x="7497897" y="2057400"/>
            <a:ext cx="1249619" cy="777240"/>
          </a:xfrm>
          <a:prstGeom prst="rect">
            <a:avLst/>
          </a:prstGeom>
          <a:noFill/>
          <a:ln/>
        </p:spPr>
        <p:txBody>
          <a:bodyPr wrap="square" lIns="0" tIns="0" rIns="0" bIns="0" rtlCol="0" anchor="ctr"/>
          <a:lstStyle/>
          <a:p>
            <a:pPr indent="0" marL="0">
              <a:buNone/>
            </a:pPr>
            <a:r>
              <a:rPr lang="en-US" sz="4400" b="1" dirty="0">
                <a:solidFill>
                  <a:srgbClr val="B7791F"/>
                </a:solidFill>
                <a:latin typeface="Calibri" pitchFamily="34" charset="0"/>
                <a:ea typeface="Calibri" pitchFamily="34" charset="-122"/>
                <a:cs typeface="Calibri" pitchFamily="34" charset="-120"/>
              </a:rPr>
              <a:t>68</a:t>
            </a:r>
            <a:endParaRPr lang="en-US" sz="4400" dirty="0"/>
          </a:p>
        </p:txBody>
      </p:sp>
      <p:sp>
        <p:nvSpPr>
          <p:cNvPr id="60" name="Shape 57"/>
          <p:cNvSpPr/>
          <p:nvPr/>
        </p:nvSpPr>
        <p:spPr>
          <a:xfrm>
            <a:off x="8336036" y="2286000"/>
            <a:ext cx="868680" cy="246888"/>
          </a:xfrm>
          <a:prstGeom prst="roundRect">
            <a:avLst>
              <a:gd name="adj" fmla="val 37037"/>
            </a:avLst>
          </a:prstGeom>
          <a:solidFill>
            <a:srgbClr val="FDF0D5"/>
          </a:solidFill>
          <a:ln w="12700">
            <a:solidFill>
              <a:srgbClr val="FDF0D5"/>
            </a:solidFill>
            <a:prstDash val="solid"/>
          </a:ln>
        </p:spPr>
      </p:sp>
      <p:sp>
        <p:nvSpPr>
          <p:cNvPr id="61" name="Text 58"/>
          <p:cNvSpPr/>
          <p:nvPr/>
        </p:nvSpPr>
        <p:spPr>
          <a:xfrm>
            <a:off x="8336036" y="228600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Grade C</a:t>
            </a:r>
            <a:endParaRPr lang="en-US" sz="1000" dirty="0"/>
          </a:p>
        </p:txBody>
      </p:sp>
      <p:sp>
        <p:nvSpPr>
          <p:cNvPr id="62" name="Shape 59"/>
          <p:cNvSpPr/>
          <p:nvPr/>
        </p:nvSpPr>
        <p:spPr>
          <a:xfrm>
            <a:off x="7497897" y="2926080"/>
            <a:ext cx="1706819" cy="109728"/>
          </a:xfrm>
          <a:prstGeom prst="roundRect">
            <a:avLst>
              <a:gd name="adj" fmla="val 83333"/>
            </a:avLst>
          </a:prstGeom>
          <a:solidFill>
            <a:srgbClr val="E6E9F3"/>
          </a:solidFill>
          <a:ln w="12700">
            <a:solidFill>
              <a:srgbClr val="E6E9F3"/>
            </a:solidFill>
            <a:prstDash val="solid"/>
          </a:ln>
        </p:spPr>
      </p:sp>
      <p:sp>
        <p:nvSpPr>
          <p:cNvPr id="63" name="Shape 60"/>
          <p:cNvSpPr/>
          <p:nvPr/>
        </p:nvSpPr>
        <p:spPr>
          <a:xfrm>
            <a:off x="7497897" y="2926080"/>
            <a:ext cx="1160637" cy="109728"/>
          </a:xfrm>
          <a:prstGeom prst="roundRect">
            <a:avLst>
              <a:gd name="adj" fmla="val 83333"/>
            </a:avLst>
          </a:prstGeom>
          <a:solidFill>
            <a:srgbClr val="B7791F"/>
          </a:solidFill>
          <a:ln w="12700">
            <a:solidFill>
              <a:srgbClr val="B7791F"/>
            </a:solidFill>
            <a:prstDash val="solid"/>
          </a:ln>
        </p:spPr>
      </p:sp>
      <p:sp>
        <p:nvSpPr>
          <p:cNvPr id="64" name="Text 61"/>
          <p:cNvSpPr/>
          <p:nvPr/>
        </p:nvSpPr>
        <p:spPr>
          <a:xfrm>
            <a:off x="7497897"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Weakest area: navigation (2/5).</a:t>
            </a:r>
            <a:endParaRPr lang="en-US" sz="1100" dirty="0"/>
          </a:p>
        </p:txBody>
      </p:sp>
      <p:sp>
        <p:nvSpPr>
          <p:cNvPr id="65" name="Text 62"/>
          <p:cNvSpPr/>
          <p:nvPr/>
        </p:nvSpPr>
        <p:spPr>
          <a:xfrm>
            <a:off x="7497897"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Visual hierarchy</a:t>
            </a:r>
            <a:endParaRPr lang="en-US" sz="900" dirty="0"/>
          </a:p>
        </p:txBody>
      </p:sp>
      <p:sp>
        <p:nvSpPr>
          <p:cNvPr id="66" name="Text 63"/>
          <p:cNvSpPr/>
          <p:nvPr/>
        </p:nvSpPr>
        <p:spPr>
          <a:xfrm>
            <a:off x="7497897"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67" name="Text 64"/>
          <p:cNvSpPr/>
          <p:nvPr/>
        </p:nvSpPr>
        <p:spPr>
          <a:xfrm>
            <a:off x="7497897"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CTA clarity</a:t>
            </a:r>
            <a:endParaRPr lang="en-US" sz="900" dirty="0"/>
          </a:p>
        </p:txBody>
      </p:sp>
      <p:sp>
        <p:nvSpPr>
          <p:cNvPr id="68" name="Text 65"/>
          <p:cNvSpPr/>
          <p:nvPr/>
        </p:nvSpPr>
        <p:spPr>
          <a:xfrm>
            <a:off x="7497897"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69" name="Text 66"/>
          <p:cNvSpPr/>
          <p:nvPr/>
        </p:nvSpPr>
        <p:spPr>
          <a:xfrm>
            <a:off x="7497897"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Navigation</a:t>
            </a:r>
            <a:endParaRPr lang="en-US" sz="900" dirty="0"/>
          </a:p>
        </p:txBody>
      </p:sp>
      <p:sp>
        <p:nvSpPr>
          <p:cNvPr id="70" name="Text 67"/>
          <p:cNvSpPr/>
          <p:nvPr/>
        </p:nvSpPr>
        <p:spPr>
          <a:xfrm>
            <a:off x="7497897"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71" name="Shape 68"/>
          <p:cNvSpPr/>
          <p:nvPr/>
        </p:nvSpPr>
        <p:spPr>
          <a:xfrm>
            <a:off x="9570476" y="1508760"/>
            <a:ext cx="2072579" cy="4206240"/>
          </a:xfrm>
          <a:prstGeom prst="roundRect">
            <a:avLst>
              <a:gd name="adj" fmla="val 4412"/>
            </a:avLst>
          </a:prstGeom>
          <a:solidFill>
            <a:srgbClr val="FFFFFF"/>
          </a:solidFill>
          <a:ln w="12700">
            <a:solidFill>
              <a:srgbClr val="DDE2EE"/>
            </a:solidFill>
            <a:prstDash val="solid"/>
          </a:ln>
        </p:spPr>
      </p:sp>
      <p:sp>
        <p:nvSpPr>
          <p:cNvPr id="72" name="Shape 69"/>
          <p:cNvSpPr/>
          <p:nvPr/>
        </p:nvSpPr>
        <p:spPr>
          <a:xfrm>
            <a:off x="9570476" y="1508760"/>
            <a:ext cx="2072579" cy="64008"/>
          </a:xfrm>
          <a:prstGeom prst="rect">
            <a:avLst/>
          </a:prstGeom>
          <a:solidFill>
            <a:srgbClr val="0F9D6B"/>
          </a:solidFill>
          <a:ln w="12700">
            <a:solidFill>
              <a:srgbClr val="0F9D6B"/>
            </a:solidFill>
            <a:prstDash val="solid"/>
          </a:ln>
        </p:spPr>
      </p:sp>
      <p:sp>
        <p:nvSpPr>
          <p:cNvPr id="73" name="Text 70"/>
          <p:cNvSpPr/>
          <p:nvPr/>
        </p:nvSpPr>
        <p:spPr>
          <a:xfrm>
            <a:off x="9753356"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AI search</a:t>
            </a:r>
            <a:endParaRPr lang="en-US" sz="1500" dirty="0"/>
          </a:p>
        </p:txBody>
      </p:sp>
      <p:sp>
        <p:nvSpPr>
          <p:cNvPr id="74" name="Text 71"/>
          <p:cNvSpPr/>
          <p:nvPr/>
        </p:nvSpPr>
        <p:spPr>
          <a:xfrm>
            <a:off x="9753356"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97</a:t>
            </a:r>
            <a:endParaRPr lang="en-US" sz="4400" dirty="0"/>
          </a:p>
        </p:txBody>
      </p:sp>
      <p:sp>
        <p:nvSpPr>
          <p:cNvPr id="75" name="Shape 72"/>
          <p:cNvSpPr/>
          <p:nvPr/>
        </p:nvSpPr>
        <p:spPr>
          <a:xfrm>
            <a:off x="10591495" y="2286000"/>
            <a:ext cx="868680" cy="246888"/>
          </a:xfrm>
          <a:prstGeom prst="roundRect">
            <a:avLst>
              <a:gd name="adj" fmla="val 37037"/>
            </a:avLst>
          </a:prstGeom>
          <a:solidFill>
            <a:srgbClr val="DFF5EA"/>
          </a:solidFill>
          <a:ln w="12700">
            <a:solidFill>
              <a:srgbClr val="DFF5EA"/>
            </a:solidFill>
            <a:prstDash val="solid"/>
          </a:ln>
        </p:spPr>
      </p:sp>
      <p:sp>
        <p:nvSpPr>
          <p:cNvPr id="76" name="Text 73"/>
          <p:cNvSpPr/>
          <p:nvPr/>
        </p:nvSpPr>
        <p:spPr>
          <a:xfrm>
            <a:off x="10591495"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A</a:t>
            </a:r>
            <a:endParaRPr lang="en-US" sz="1000" dirty="0"/>
          </a:p>
        </p:txBody>
      </p:sp>
      <p:sp>
        <p:nvSpPr>
          <p:cNvPr id="77" name="Shape 74"/>
          <p:cNvSpPr/>
          <p:nvPr/>
        </p:nvSpPr>
        <p:spPr>
          <a:xfrm>
            <a:off x="9753356" y="2926080"/>
            <a:ext cx="1706819" cy="109728"/>
          </a:xfrm>
          <a:prstGeom prst="roundRect">
            <a:avLst>
              <a:gd name="adj" fmla="val 83333"/>
            </a:avLst>
          </a:prstGeom>
          <a:solidFill>
            <a:srgbClr val="E6E9F3"/>
          </a:solidFill>
          <a:ln w="12700">
            <a:solidFill>
              <a:srgbClr val="E6E9F3"/>
            </a:solidFill>
            <a:prstDash val="solid"/>
          </a:ln>
        </p:spPr>
      </p:sp>
      <p:sp>
        <p:nvSpPr>
          <p:cNvPr id="78" name="Shape 75"/>
          <p:cNvSpPr/>
          <p:nvPr/>
        </p:nvSpPr>
        <p:spPr>
          <a:xfrm>
            <a:off x="9753356" y="2926080"/>
            <a:ext cx="1655614" cy="109728"/>
          </a:xfrm>
          <a:prstGeom prst="roundRect">
            <a:avLst>
              <a:gd name="adj" fmla="val 83333"/>
            </a:avLst>
          </a:prstGeom>
          <a:solidFill>
            <a:srgbClr val="0F9D6B"/>
          </a:solidFill>
          <a:ln w="12700">
            <a:solidFill>
              <a:srgbClr val="0F9D6B"/>
            </a:solidFill>
            <a:prstDash val="solid"/>
          </a:ln>
        </p:spPr>
      </p:sp>
      <p:sp>
        <p:nvSpPr>
          <p:cNvPr id="79" name="Text 76"/>
          <p:cNvSpPr/>
          <p:nvPr/>
        </p:nvSpPr>
        <p:spPr>
          <a:xfrm>
            <a:off x="9753356"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Structured data found; llms.txt present.</a:t>
            </a:r>
            <a:endParaRPr lang="en-US" sz="1100" dirty="0"/>
          </a:p>
        </p:txBody>
      </p:sp>
      <p:sp>
        <p:nvSpPr>
          <p:cNvPr id="80" name="Text 77"/>
          <p:cNvSpPr/>
          <p:nvPr/>
        </p:nvSpPr>
        <p:spPr>
          <a:xfrm>
            <a:off x="9753356"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JSON-LD blocks</a:t>
            </a:r>
            <a:endParaRPr lang="en-US" sz="900" dirty="0"/>
          </a:p>
        </p:txBody>
      </p:sp>
      <p:sp>
        <p:nvSpPr>
          <p:cNvPr id="81" name="Text 78"/>
          <p:cNvSpPr/>
          <p:nvPr/>
        </p:nvSpPr>
        <p:spPr>
          <a:xfrm>
            <a:off x="9753356"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82" name="Text 79"/>
          <p:cNvSpPr/>
          <p:nvPr/>
        </p:nvSpPr>
        <p:spPr>
          <a:xfrm>
            <a:off x="9753356"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Schema types</a:t>
            </a:r>
            <a:endParaRPr lang="en-US" sz="900" dirty="0"/>
          </a:p>
        </p:txBody>
      </p:sp>
      <p:sp>
        <p:nvSpPr>
          <p:cNvPr id="83" name="Text 80"/>
          <p:cNvSpPr/>
          <p:nvPr/>
        </p:nvSpPr>
        <p:spPr>
          <a:xfrm>
            <a:off x="9753356"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WebSite, WebP…</a:t>
            </a:r>
            <a:endParaRPr lang="en-US" sz="1200" dirty="0"/>
          </a:p>
        </p:txBody>
      </p:sp>
      <p:sp>
        <p:nvSpPr>
          <p:cNvPr id="84" name="Text 81"/>
          <p:cNvSpPr/>
          <p:nvPr/>
        </p:nvSpPr>
        <p:spPr>
          <a:xfrm>
            <a:off x="9753356"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llms.txt</a:t>
            </a:r>
            <a:endParaRPr lang="en-US" sz="900" dirty="0"/>
          </a:p>
        </p:txBody>
      </p:sp>
      <p:sp>
        <p:nvSpPr>
          <p:cNvPr id="85" name="Text 82"/>
          <p:cNvSpPr/>
          <p:nvPr/>
        </p:nvSpPr>
        <p:spPr>
          <a:xfrm>
            <a:off x="9753356"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yes</a:t>
            </a:r>
            <a:endParaRPr lang="en-US" sz="1200" dirty="0"/>
          </a:p>
        </p:txBody>
      </p:sp>
      <p:sp>
        <p:nvSpPr>
          <p:cNvPr id="86" name="Text 83"/>
          <p:cNvSpPr/>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Overall 73/100, grade C: speed 20%, mobile 20%, accessibility 20%, UX 25%, AI search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(1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Certain ARIA roles must contain particular children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aria-required-children: 2 element(s), e.g. .nv00-gnb-v4__l0-menu-list--left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Certain ARIA roles must be contained by particular parents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aria-required-parent: 17 element(s), e.g. .nv00-gnb-v4__l0-menu-link[an-la="L0_2_shop"][h…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Elements must have their visible text as part of their accessible name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label-content-name-mismatch: 1 element(s), e.g. .footer-language-wrap &gt; .footer-language…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Links must be distinguishable without relying on color</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link-in-text-block: 1 element(s), e.g. .footer-legal &gt; 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19 tap targets are too small</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19 of 268 links/buttons are under 32px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Make interactive elements at least 44x44px with spacing between them.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Text is too small to read comfortably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21 text blocks under 12px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Use a 16px base font size and a fluid type scale.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(2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Navigation has 8 items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Shop Explore Shop · Mobile · TV &amp; AV · Appliances · Computers &amp; Monitors · Wearables · Ac…</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Group into 5-7 top-level items with clear labels.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technology behind samsung.com</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6</a:t>
            </a:r>
            <a:endParaRPr lang="en-US" sz="1000" dirty="0"/>
          </a:p>
        </p:txBody>
      </p:sp>
      <p:sp>
        <p:nvSpPr>
          <p:cNvPr id="11" name="Shape 8"/>
          <p:cNvSpPr/>
          <p:nvPr/>
        </p:nvSpPr>
        <p:spPr>
          <a:xfrm>
            <a:off x="548640" y="1463040"/>
            <a:ext cx="2636444" cy="1097280"/>
          </a:xfrm>
          <a:prstGeom prst="roundRect">
            <a:avLst>
              <a:gd name="adj" fmla="val 8333"/>
            </a:avLst>
          </a:prstGeom>
          <a:solidFill>
            <a:srgbClr val="FFFFFF"/>
          </a:solidFill>
          <a:ln w="12700">
            <a:solidFill>
              <a:srgbClr val="DDE2EE"/>
            </a:solidFill>
            <a:prstDash val="solid"/>
          </a:ln>
        </p:spPr>
      </p:sp>
      <p:sp>
        <p:nvSpPr>
          <p:cNvPr id="12" name="Text 9"/>
          <p:cNvSpPr/>
          <p:nvPr/>
        </p:nvSpPr>
        <p:spPr>
          <a:xfrm>
            <a:off x="731520"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11</a:t>
            </a:r>
            <a:endParaRPr lang="en-US" sz="2800" dirty="0"/>
          </a:p>
        </p:txBody>
      </p:sp>
      <p:sp>
        <p:nvSpPr>
          <p:cNvPr id="13" name="Text 10"/>
          <p:cNvSpPr/>
          <p:nvPr/>
        </p:nvSpPr>
        <p:spPr>
          <a:xfrm>
            <a:off x="731520"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detected</a:t>
            </a:r>
            <a:endParaRPr lang="en-US" sz="1100" dirty="0"/>
          </a:p>
        </p:txBody>
      </p:sp>
      <p:sp>
        <p:nvSpPr>
          <p:cNvPr id="14" name="Shape 11"/>
          <p:cNvSpPr/>
          <p:nvPr/>
        </p:nvSpPr>
        <p:spPr>
          <a:xfrm>
            <a:off x="3367964" y="1463040"/>
            <a:ext cx="2636444" cy="1097280"/>
          </a:xfrm>
          <a:prstGeom prst="roundRect">
            <a:avLst>
              <a:gd name="adj" fmla="val 8333"/>
            </a:avLst>
          </a:prstGeom>
          <a:solidFill>
            <a:srgbClr val="FFFFFF"/>
          </a:solidFill>
          <a:ln w="12700">
            <a:solidFill>
              <a:srgbClr val="DDE2EE"/>
            </a:solidFill>
            <a:prstDash val="solid"/>
          </a:ln>
        </p:spPr>
      </p:sp>
      <p:sp>
        <p:nvSpPr>
          <p:cNvPr id="15" name="Text 12"/>
          <p:cNvSpPr/>
          <p:nvPr/>
        </p:nvSpPr>
        <p:spPr>
          <a:xfrm>
            <a:off x="3550844"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83</a:t>
            </a:r>
            <a:endParaRPr lang="en-US" sz="2800" dirty="0"/>
          </a:p>
        </p:txBody>
      </p:sp>
      <p:sp>
        <p:nvSpPr>
          <p:cNvPr id="16" name="Text 13"/>
          <p:cNvSpPr/>
          <p:nvPr/>
        </p:nvSpPr>
        <p:spPr>
          <a:xfrm>
            <a:off x="3550844"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network requests</a:t>
            </a:r>
            <a:endParaRPr lang="en-US" sz="1100" dirty="0"/>
          </a:p>
        </p:txBody>
      </p:sp>
      <p:sp>
        <p:nvSpPr>
          <p:cNvPr id="17" name="Shape 14"/>
          <p:cNvSpPr/>
          <p:nvPr/>
        </p:nvSpPr>
        <p:spPr>
          <a:xfrm>
            <a:off x="6187288" y="1463040"/>
            <a:ext cx="2636444" cy="1097280"/>
          </a:xfrm>
          <a:prstGeom prst="roundRect">
            <a:avLst>
              <a:gd name="adj" fmla="val 8333"/>
            </a:avLst>
          </a:prstGeom>
          <a:solidFill>
            <a:srgbClr val="FFFFFF"/>
          </a:solidFill>
          <a:ln w="12700">
            <a:solidFill>
              <a:srgbClr val="DDE2EE"/>
            </a:solidFill>
            <a:prstDash val="solid"/>
          </a:ln>
        </p:spPr>
      </p:sp>
      <p:sp>
        <p:nvSpPr>
          <p:cNvPr id="18" name="Text 15"/>
          <p:cNvSpPr/>
          <p:nvPr/>
        </p:nvSpPr>
        <p:spPr>
          <a:xfrm>
            <a:off x="6370168"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48%</a:t>
            </a:r>
            <a:endParaRPr lang="en-US" sz="2800" dirty="0"/>
          </a:p>
        </p:txBody>
      </p:sp>
      <p:sp>
        <p:nvSpPr>
          <p:cNvPr id="19" name="Text 16"/>
          <p:cNvSpPr/>
          <p:nvPr/>
        </p:nvSpPr>
        <p:spPr>
          <a:xfrm>
            <a:off x="6370168"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third-party requests</a:t>
            </a:r>
            <a:endParaRPr lang="en-US" sz="1100" dirty="0"/>
          </a:p>
        </p:txBody>
      </p:sp>
      <p:sp>
        <p:nvSpPr>
          <p:cNvPr id="20" name="Shape 17"/>
          <p:cNvSpPr/>
          <p:nvPr/>
        </p:nvSpPr>
        <p:spPr>
          <a:xfrm>
            <a:off x="9006611" y="1463040"/>
            <a:ext cx="2636444" cy="1097280"/>
          </a:xfrm>
          <a:prstGeom prst="roundRect">
            <a:avLst>
              <a:gd name="adj" fmla="val 8333"/>
            </a:avLst>
          </a:prstGeom>
          <a:solidFill>
            <a:srgbClr val="FFFFFF"/>
          </a:solidFill>
          <a:ln w="12700">
            <a:solidFill>
              <a:srgbClr val="DDE2EE"/>
            </a:solidFill>
            <a:prstDash val="solid"/>
          </a:ln>
        </p:spPr>
      </p:sp>
      <p:sp>
        <p:nvSpPr>
          <p:cNvPr id="21" name="Text 18"/>
          <p:cNvSpPr/>
          <p:nvPr/>
        </p:nvSpPr>
        <p:spPr>
          <a:xfrm>
            <a:off x="9189491"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13</a:t>
            </a:r>
            <a:endParaRPr lang="en-US" sz="2800" dirty="0"/>
          </a:p>
        </p:txBody>
      </p:sp>
      <p:sp>
        <p:nvSpPr>
          <p:cNvPr id="22" name="Text 19"/>
          <p:cNvSpPr/>
          <p:nvPr/>
        </p:nvSpPr>
        <p:spPr>
          <a:xfrm>
            <a:off x="9189491"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domains contacted</a:t>
            </a:r>
            <a:endParaRPr lang="en-US" sz="1100" dirty="0"/>
          </a:p>
        </p:txBody>
      </p:sp>
      <p:sp>
        <p:nvSpPr>
          <p:cNvPr id="23" name="Text 20"/>
          <p:cNvSpPr/>
          <p:nvPr/>
        </p:nvSpPr>
        <p:spPr>
          <a:xfrm>
            <a:off x="548640" y="28346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FRONTEND FRAMEWORK</a:t>
            </a:r>
            <a:endParaRPr lang="en-US" sz="950" dirty="0"/>
          </a:p>
        </p:txBody>
      </p:sp>
      <p:sp>
        <p:nvSpPr>
          <p:cNvPr id="24" name="Shape 21"/>
          <p:cNvSpPr/>
          <p:nvPr/>
        </p:nvSpPr>
        <p:spPr>
          <a:xfrm>
            <a:off x="2743200" y="2788920"/>
            <a:ext cx="1143000" cy="329184"/>
          </a:xfrm>
          <a:prstGeom prst="roundRect">
            <a:avLst>
              <a:gd name="adj" fmla="val 27778"/>
            </a:avLst>
          </a:prstGeom>
          <a:solidFill>
            <a:srgbClr val="FFFFFF"/>
          </a:solidFill>
          <a:ln w="12700">
            <a:solidFill>
              <a:srgbClr val="DDE2EE"/>
            </a:solidFill>
            <a:prstDash val="solid"/>
          </a:ln>
        </p:spPr>
      </p:sp>
      <p:pic>
        <p:nvPicPr>
          <p:cNvPr id="25" name="Image 0" descr="jQuery logo">    </p:cNvPr>
          <p:cNvPicPr>
            <a:picLocks noChangeAspect="1"/>
          </p:cNvPicPr>
          <p:nvPr/>
        </p:nvPicPr>
        <p:blipFill>
          <a:blip r:embed="rId1"/>
          <a:stretch>
            <a:fillRect/>
          </a:stretch>
        </p:blipFill>
        <p:spPr>
          <a:xfrm>
            <a:off x="2834640" y="2852928"/>
            <a:ext cx="201168" cy="201168"/>
          </a:xfrm>
          <a:prstGeom prst="rect">
            <a:avLst/>
          </a:prstGeom>
        </p:spPr>
      </p:pic>
      <p:sp>
        <p:nvSpPr>
          <p:cNvPr id="26" name="Text 22"/>
          <p:cNvSpPr/>
          <p:nvPr/>
        </p:nvSpPr>
        <p:spPr>
          <a:xfrm>
            <a:off x="3054096" y="278892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jQuery</a:t>
            </a:r>
            <a:endParaRPr lang="en-US" sz="1000" dirty="0"/>
          </a:p>
        </p:txBody>
      </p:sp>
      <p:sp>
        <p:nvSpPr>
          <p:cNvPr id="27" name="Text 23"/>
          <p:cNvSpPr/>
          <p:nvPr/>
        </p:nvSpPr>
        <p:spPr>
          <a:xfrm>
            <a:off x="548640" y="32461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CMS &amp; EXPERIENCE</a:t>
            </a:r>
            <a:endParaRPr lang="en-US" sz="950" dirty="0"/>
          </a:p>
        </p:txBody>
      </p:sp>
      <p:sp>
        <p:nvSpPr>
          <p:cNvPr id="28" name="Shape 24"/>
          <p:cNvSpPr/>
          <p:nvPr/>
        </p:nvSpPr>
        <p:spPr>
          <a:xfrm>
            <a:off x="2743200" y="3200400"/>
            <a:ext cx="2231136" cy="329184"/>
          </a:xfrm>
          <a:prstGeom prst="roundRect">
            <a:avLst>
              <a:gd name="adj" fmla="val 27778"/>
            </a:avLst>
          </a:prstGeom>
          <a:solidFill>
            <a:srgbClr val="FFFFFF"/>
          </a:solidFill>
          <a:ln w="25400">
            <a:solidFill>
              <a:srgbClr val="0F9D6B"/>
            </a:solidFill>
            <a:prstDash val="solid"/>
          </a:ln>
        </p:spPr>
      </p:sp>
      <p:sp>
        <p:nvSpPr>
          <p:cNvPr id="29" name="Text 25"/>
          <p:cNvSpPr/>
          <p:nvPr/>
        </p:nvSpPr>
        <p:spPr>
          <a:xfrm>
            <a:off x="2743200" y="320040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Manager</a:t>
            </a:r>
            <a:endParaRPr lang="en-US" sz="1000" dirty="0"/>
          </a:p>
        </p:txBody>
      </p:sp>
      <p:sp>
        <p:nvSpPr>
          <p:cNvPr id="30" name="Text 26"/>
          <p:cNvSpPr/>
          <p:nvPr/>
        </p:nvSpPr>
        <p:spPr>
          <a:xfrm>
            <a:off x="548640" y="36576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ANALYTICS</a:t>
            </a:r>
            <a:endParaRPr lang="en-US" sz="950" dirty="0"/>
          </a:p>
        </p:txBody>
      </p:sp>
      <p:sp>
        <p:nvSpPr>
          <p:cNvPr id="31" name="Shape 27"/>
          <p:cNvSpPr/>
          <p:nvPr/>
        </p:nvSpPr>
        <p:spPr>
          <a:xfrm>
            <a:off x="2743200" y="3611880"/>
            <a:ext cx="1531620" cy="329184"/>
          </a:xfrm>
          <a:prstGeom prst="roundRect">
            <a:avLst>
              <a:gd name="adj" fmla="val 27778"/>
            </a:avLst>
          </a:prstGeom>
          <a:solidFill>
            <a:srgbClr val="FFFFFF"/>
          </a:solidFill>
          <a:ln w="12700">
            <a:solidFill>
              <a:srgbClr val="B7791F"/>
            </a:solidFill>
            <a:prstDash val="solid"/>
          </a:ln>
        </p:spPr>
      </p:sp>
      <p:sp>
        <p:nvSpPr>
          <p:cNvPr id="32" name="Text 28"/>
          <p:cNvSpPr/>
          <p:nvPr/>
        </p:nvSpPr>
        <p:spPr>
          <a:xfrm>
            <a:off x="2743200" y="3611880"/>
            <a:ext cx="153162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Analytics</a:t>
            </a:r>
            <a:endParaRPr lang="en-US" sz="1000" dirty="0"/>
          </a:p>
        </p:txBody>
      </p:sp>
      <p:sp>
        <p:nvSpPr>
          <p:cNvPr id="33" name="Text 29"/>
          <p:cNvSpPr/>
          <p:nvPr/>
        </p:nvSpPr>
        <p:spPr>
          <a:xfrm>
            <a:off x="548640" y="406908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TAG MANAGER</a:t>
            </a:r>
            <a:endParaRPr lang="en-US" sz="950" dirty="0"/>
          </a:p>
        </p:txBody>
      </p:sp>
      <p:sp>
        <p:nvSpPr>
          <p:cNvPr id="34" name="Shape 30"/>
          <p:cNvSpPr/>
          <p:nvPr/>
        </p:nvSpPr>
        <p:spPr>
          <a:xfrm>
            <a:off x="2743200" y="4023360"/>
            <a:ext cx="2651760" cy="329184"/>
          </a:xfrm>
          <a:prstGeom prst="roundRect">
            <a:avLst>
              <a:gd name="adj" fmla="val 27778"/>
            </a:avLst>
          </a:prstGeom>
          <a:solidFill>
            <a:srgbClr val="FFFFFF"/>
          </a:solidFill>
          <a:ln w="25400">
            <a:solidFill>
              <a:srgbClr val="B7791F"/>
            </a:solidFill>
            <a:prstDash val="solid"/>
          </a:ln>
        </p:spPr>
      </p:sp>
      <p:sp>
        <p:nvSpPr>
          <p:cNvPr id="35" name="Text 31"/>
          <p:cNvSpPr/>
          <p:nvPr/>
        </p:nvSpPr>
        <p:spPr>
          <a:xfrm>
            <a:off x="2743200" y="4023360"/>
            <a:ext cx="265176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Platform Launch</a:t>
            </a:r>
            <a:endParaRPr lang="en-US" sz="1000" dirty="0"/>
          </a:p>
        </p:txBody>
      </p:sp>
      <p:sp>
        <p:nvSpPr>
          <p:cNvPr id="36" name="Text 32"/>
          <p:cNvSpPr/>
          <p:nvPr/>
        </p:nvSpPr>
        <p:spPr>
          <a:xfrm>
            <a:off x="548640" y="448056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PERSONALIZATION &amp; TESTING</a:t>
            </a:r>
            <a:endParaRPr lang="en-US" sz="950" dirty="0"/>
          </a:p>
        </p:txBody>
      </p:sp>
      <p:sp>
        <p:nvSpPr>
          <p:cNvPr id="37" name="Shape 33"/>
          <p:cNvSpPr/>
          <p:nvPr/>
        </p:nvSpPr>
        <p:spPr>
          <a:xfrm>
            <a:off x="2743200" y="4434840"/>
            <a:ext cx="1298448" cy="329184"/>
          </a:xfrm>
          <a:prstGeom prst="roundRect">
            <a:avLst>
              <a:gd name="adj" fmla="val 27778"/>
            </a:avLst>
          </a:prstGeom>
          <a:solidFill>
            <a:srgbClr val="FFFFFF"/>
          </a:solidFill>
          <a:ln w="12700">
            <a:solidFill>
              <a:srgbClr val="B7791F"/>
            </a:solidFill>
            <a:prstDash val="solid"/>
          </a:ln>
        </p:spPr>
      </p:sp>
      <p:sp>
        <p:nvSpPr>
          <p:cNvPr id="38" name="Text 34"/>
          <p:cNvSpPr/>
          <p:nvPr/>
        </p:nvSpPr>
        <p:spPr>
          <a:xfrm>
            <a:off x="2743200" y="4434840"/>
            <a:ext cx="1298448"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Target</a:t>
            </a:r>
            <a:endParaRPr lang="en-US" sz="1000" dirty="0"/>
          </a:p>
        </p:txBody>
      </p:sp>
      <p:sp>
        <p:nvSpPr>
          <p:cNvPr id="39" name="Text 35"/>
          <p:cNvSpPr/>
          <p:nvPr/>
        </p:nvSpPr>
        <p:spPr>
          <a:xfrm>
            <a:off x="548640" y="48920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TRACKING PIXELS</a:t>
            </a:r>
            <a:endParaRPr lang="en-US" sz="950" dirty="0"/>
          </a:p>
        </p:txBody>
      </p:sp>
      <p:sp>
        <p:nvSpPr>
          <p:cNvPr id="40" name="Shape 36"/>
          <p:cNvSpPr/>
          <p:nvPr/>
        </p:nvSpPr>
        <p:spPr>
          <a:xfrm>
            <a:off x="2743200" y="4846320"/>
            <a:ext cx="1453896" cy="329184"/>
          </a:xfrm>
          <a:prstGeom prst="roundRect">
            <a:avLst>
              <a:gd name="adj" fmla="val 27778"/>
            </a:avLst>
          </a:prstGeom>
          <a:solidFill>
            <a:srgbClr val="FFFFFF"/>
          </a:solidFill>
          <a:ln w="12700">
            <a:solidFill>
              <a:srgbClr val="DDE2EE"/>
            </a:solidFill>
            <a:prstDash val="solid"/>
          </a:ln>
        </p:spPr>
      </p:sp>
      <p:pic>
        <p:nvPicPr>
          <p:cNvPr id="41" name="Image 1" descr="Meta Pixel logo">    </p:cNvPr>
          <p:cNvPicPr>
            <a:picLocks noChangeAspect="1"/>
          </p:cNvPicPr>
          <p:nvPr/>
        </p:nvPicPr>
        <p:blipFill>
          <a:blip r:embed="rId2"/>
          <a:stretch>
            <a:fillRect/>
          </a:stretch>
        </p:blipFill>
        <p:spPr>
          <a:xfrm>
            <a:off x="2834640" y="4910328"/>
            <a:ext cx="201168" cy="201168"/>
          </a:xfrm>
          <a:prstGeom prst="rect">
            <a:avLst/>
          </a:prstGeom>
        </p:spPr>
      </p:pic>
      <p:sp>
        <p:nvSpPr>
          <p:cNvPr id="42" name="Text 37"/>
          <p:cNvSpPr/>
          <p:nvPr/>
        </p:nvSpPr>
        <p:spPr>
          <a:xfrm>
            <a:off x="3054096" y="4846320"/>
            <a:ext cx="114300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Meta Pixel</a:t>
            </a:r>
            <a:endParaRPr lang="en-US" sz="1000" dirty="0"/>
          </a:p>
        </p:txBody>
      </p:sp>
      <p:sp>
        <p:nvSpPr>
          <p:cNvPr id="43" name="Shape 38"/>
          <p:cNvSpPr/>
          <p:nvPr/>
        </p:nvSpPr>
        <p:spPr>
          <a:xfrm>
            <a:off x="4288536" y="4846320"/>
            <a:ext cx="2542032" cy="329184"/>
          </a:xfrm>
          <a:prstGeom prst="roundRect">
            <a:avLst>
              <a:gd name="adj" fmla="val 27778"/>
            </a:avLst>
          </a:prstGeom>
          <a:solidFill>
            <a:srgbClr val="FFFFFF"/>
          </a:solidFill>
          <a:ln w="12700">
            <a:solidFill>
              <a:srgbClr val="DDE2EE"/>
            </a:solidFill>
            <a:prstDash val="solid"/>
          </a:ln>
        </p:spPr>
      </p:sp>
      <p:pic>
        <p:nvPicPr>
          <p:cNvPr id="44" name="Image 2" descr="Google Ads / DoubleClick logo">    </p:cNvPr>
          <p:cNvPicPr>
            <a:picLocks noChangeAspect="1"/>
          </p:cNvPicPr>
          <p:nvPr/>
        </p:nvPicPr>
        <p:blipFill>
          <a:blip r:embed="rId3"/>
          <a:stretch>
            <a:fillRect/>
          </a:stretch>
        </p:blipFill>
        <p:spPr>
          <a:xfrm>
            <a:off x="4379976" y="4910328"/>
            <a:ext cx="201168" cy="201168"/>
          </a:xfrm>
          <a:prstGeom prst="rect">
            <a:avLst/>
          </a:prstGeom>
        </p:spPr>
      </p:pic>
      <p:sp>
        <p:nvSpPr>
          <p:cNvPr id="45" name="Text 39"/>
          <p:cNvSpPr/>
          <p:nvPr/>
        </p:nvSpPr>
        <p:spPr>
          <a:xfrm>
            <a:off x="4599432" y="484632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Ads / DoubleClick</a:t>
            </a:r>
            <a:endParaRPr lang="en-US" sz="1000" dirty="0"/>
          </a:p>
        </p:txBody>
      </p:sp>
      <p:sp>
        <p:nvSpPr>
          <p:cNvPr id="46" name="Text 40"/>
          <p:cNvSpPr/>
          <p:nvPr/>
        </p:nvSpPr>
        <p:spPr>
          <a:xfrm>
            <a:off x="548640" y="53035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MONITORING</a:t>
            </a:r>
            <a:endParaRPr lang="en-US" sz="950" dirty="0"/>
          </a:p>
        </p:txBody>
      </p:sp>
      <p:sp>
        <p:nvSpPr>
          <p:cNvPr id="47" name="Shape 41"/>
          <p:cNvSpPr/>
          <p:nvPr/>
        </p:nvSpPr>
        <p:spPr>
          <a:xfrm>
            <a:off x="2743200" y="5257800"/>
            <a:ext cx="1687068" cy="329184"/>
          </a:xfrm>
          <a:prstGeom prst="roundRect">
            <a:avLst>
              <a:gd name="adj" fmla="val 27778"/>
            </a:avLst>
          </a:prstGeom>
          <a:solidFill>
            <a:srgbClr val="FFFFFF"/>
          </a:solidFill>
          <a:ln w="12700">
            <a:solidFill>
              <a:srgbClr val="DDE2EE"/>
            </a:solidFill>
            <a:prstDash val="solid"/>
          </a:ln>
        </p:spPr>
      </p:sp>
      <p:pic>
        <p:nvPicPr>
          <p:cNvPr id="48" name="Image 3" descr="Akamai mPulse logo">    </p:cNvPr>
          <p:cNvPicPr>
            <a:picLocks noChangeAspect="1"/>
          </p:cNvPicPr>
          <p:nvPr/>
        </p:nvPicPr>
        <p:blipFill>
          <a:blip r:embed="rId4"/>
          <a:stretch>
            <a:fillRect/>
          </a:stretch>
        </p:blipFill>
        <p:spPr>
          <a:xfrm>
            <a:off x="2834640" y="5321808"/>
            <a:ext cx="201168" cy="201168"/>
          </a:xfrm>
          <a:prstGeom prst="rect">
            <a:avLst/>
          </a:prstGeom>
        </p:spPr>
      </p:pic>
      <p:sp>
        <p:nvSpPr>
          <p:cNvPr id="49" name="Text 42"/>
          <p:cNvSpPr/>
          <p:nvPr/>
        </p:nvSpPr>
        <p:spPr>
          <a:xfrm>
            <a:off x="3054096" y="5257800"/>
            <a:ext cx="137617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Akamai mPulse</a:t>
            </a:r>
            <a:endParaRPr lang="en-US" sz="1000" dirty="0"/>
          </a:p>
        </p:txBody>
      </p:sp>
      <p:sp>
        <p:nvSpPr>
          <p:cNvPr id="50" name="Text 43"/>
          <p:cNvSpPr/>
          <p:nvPr/>
        </p:nvSpPr>
        <p:spPr>
          <a:xfrm>
            <a:off x="548640" y="57150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CDN &amp; HOSTING</a:t>
            </a:r>
            <a:endParaRPr lang="en-US" sz="950" dirty="0"/>
          </a:p>
        </p:txBody>
      </p:sp>
      <p:sp>
        <p:nvSpPr>
          <p:cNvPr id="51" name="Shape 44"/>
          <p:cNvSpPr/>
          <p:nvPr/>
        </p:nvSpPr>
        <p:spPr>
          <a:xfrm>
            <a:off x="2743200" y="5669280"/>
            <a:ext cx="1143000" cy="329184"/>
          </a:xfrm>
          <a:prstGeom prst="roundRect">
            <a:avLst>
              <a:gd name="adj" fmla="val 27778"/>
            </a:avLst>
          </a:prstGeom>
          <a:solidFill>
            <a:srgbClr val="FFFFFF"/>
          </a:solidFill>
          <a:ln w="12700">
            <a:solidFill>
              <a:srgbClr val="0F9D6B"/>
            </a:solidFill>
            <a:prstDash val="solid"/>
          </a:ln>
        </p:spPr>
      </p:sp>
      <p:pic>
        <p:nvPicPr>
          <p:cNvPr id="52" name="Image 4" descr="Akamai logo">    </p:cNvPr>
          <p:cNvPicPr>
            <a:picLocks noChangeAspect="1"/>
          </p:cNvPicPr>
          <p:nvPr/>
        </p:nvPicPr>
        <p:blipFill>
          <a:blip r:embed="rId5"/>
          <a:stretch>
            <a:fillRect/>
          </a:stretch>
        </p:blipFill>
        <p:spPr>
          <a:xfrm>
            <a:off x="2834640" y="5733288"/>
            <a:ext cx="201168" cy="201168"/>
          </a:xfrm>
          <a:prstGeom prst="rect">
            <a:avLst/>
          </a:prstGeom>
        </p:spPr>
      </p:pic>
      <p:sp>
        <p:nvSpPr>
          <p:cNvPr id="53" name="Text 45"/>
          <p:cNvSpPr/>
          <p:nvPr/>
        </p:nvSpPr>
        <p:spPr>
          <a:xfrm>
            <a:off x="3054096" y="566928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Akamai</a:t>
            </a:r>
            <a:endParaRPr lang="en-US" sz="1000" dirty="0"/>
          </a:p>
        </p:txBody>
      </p:sp>
      <p:sp>
        <p:nvSpPr>
          <p:cNvPr id="54" name="Shape 46"/>
          <p:cNvSpPr/>
          <p:nvPr/>
        </p:nvSpPr>
        <p:spPr>
          <a:xfrm>
            <a:off x="3977640" y="5669280"/>
            <a:ext cx="1453896" cy="329184"/>
          </a:xfrm>
          <a:prstGeom prst="roundRect">
            <a:avLst>
              <a:gd name="adj" fmla="val 27778"/>
            </a:avLst>
          </a:prstGeom>
          <a:solidFill>
            <a:srgbClr val="FFFFFF"/>
          </a:solidFill>
          <a:ln w="12700">
            <a:solidFill>
              <a:srgbClr val="0F9D6B"/>
            </a:solidFill>
            <a:prstDash val="solid"/>
          </a:ln>
        </p:spPr>
      </p:sp>
      <p:pic>
        <p:nvPicPr>
          <p:cNvPr id="55" name="Image 5" descr="Cloudflare logo">    </p:cNvPr>
          <p:cNvPicPr>
            <a:picLocks noChangeAspect="1"/>
          </p:cNvPicPr>
          <p:nvPr/>
        </p:nvPicPr>
        <p:blipFill>
          <a:blip r:embed="rId6"/>
          <a:stretch>
            <a:fillRect/>
          </a:stretch>
        </p:blipFill>
        <p:spPr>
          <a:xfrm>
            <a:off x="4069080" y="5733288"/>
            <a:ext cx="201168" cy="201168"/>
          </a:xfrm>
          <a:prstGeom prst="rect">
            <a:avLst/>
          </a:prstGeom>
        </p:spPr>
      </p:pic>
      <p:sp>
        <p:nvSpPr>
          <p:cNvPr id="56" name="Text 47"/>
          <p:cNvSpPr/>
          <p:nvPr/>
        </p:nvSpPr>
        <p:spPr>
          <a:xfrm>
            <a:off x="4288536" y="5669280"/>
            <a:ext cx="114300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Cloudflare</a:t>
            </a:r>
            <a:endParaRPr lang="en-US" sz="1000" dirty="0"/>
          </a:p>
        </p:txBody>
      </p:sp>
      <p:sp>
        <p:nvSpPr>
          <p:cNvPr id="57" name="Text 48"/>
          <p:cNvSpPr/>
          <p:nvPr/>
        </p:nvSpPr>
        <p:spPr>
          <a:xfrm>
            <a:off x="548640" y="5989320"/>
            <a:ext cx="8686800" cy="27432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Border colour: our coverage (green strong, amber partial, red gap). Thin border: a single signal, so likely rather than confirmed.</a:t>
            </a:r>
            <a:endParaRPr lang="en-US" sz="1000" dirty="0"/>
          </a:p>
        </p:txBody>
      </p:sp>
      <p:sp>
        <p:nvSpPr>
          <p:cNvPr id="58" name="Shape 49"/>
          <p:cNvSpPr/>
          <p:nvPr/>
        </p:nvSpPr>
        <p:spPr>
          <a:xfrm>
            <a:off x="9418320" y="2788920"/>
            <a:ext cx="2221992" cy="3063240"/>
          </a:xfrm>
          <a:prstGeom prst="roundRect">
            <a:avLst>
              <a:gd name="adj" fmla="val 4115"/>
            </a:avLst>
          </a:prstGeom>
          <a:solidFill>
            <a:srgbClr val="FFFFFF"/>
          </a:solidFill>
          <a:ln w="12700">
            <a:solidFill>
              <a:srgbClr val="DDE2EE"/>
            </a:solidFill>
            <a:prstDash val="solid"/>
          </a:ln>
        </p:spPr>
      </p:sp>
      <p:sp>
        <p:nvSpPr>
          <p:cNvPr id="59" name="Text 50"/>
          <p:cNvSpPr/>
          <p:nvPr/>
        </p:nvSpPr>
        <p:spPr>
          <a:xfrm>
            <a:off x="9555480" y="28803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BUSIEST DOMAINS</a:t>
            </a:r>
            <a:endParaRPr lang="en-US" sz="900" dirty="0"/>
          </a:p>
        </p:txBody>
      </p:sp>
      <p:sp>
        <p:nvSpPr>
          <p:cNvPr id="60" name="Text 51"/>
          <p:cNvSpPr/>
          <p:nvPr/>
        </p:nvSpPr>
        <p:spPr>
          <a:xfrm>
            <a:off x="9555480" y="3200400"/>
            <a:ext cx="2011680" cy="182880"/>
          </a:xfrm>
          <a:prstGeom prst="rect">
            <a:avLst/>
          </a:prstGeom>
          <a:noFill/>
          <a:ln/>
        </p:spPr>
        <p:txBody>
          <a:bodyPr wrap="square" lIns="0" tIns="0" rIns="0" bIns="0" rtlCol="0" anchor="t"/>
          <a:lstStyle/>
          <a:p>
            <a:pPr indent="0" marL="0">
              <a:buNone/>
            </a:pPr>
            <a:r>
              <a:rPr lang="en-US" sz="900" dirty="0">
                <a:solidFill>
                  <a:srgbClr val="111827"/>
                </a:solidFill>
                <a:latin typeface="Calibri" pitchFamily="34" charset="0"/>
                <a:ea typeface="Calibri" pitchFamily="34" charset="-122"/>
                <a:cs typeface="Calibri" pitchFamily="34" charset="-120"/>
              </a:rPr>
              <a:t>samsung.com</a:t>
            </a:r>
            <a:endParaRPr lang="en-US" sz="900" dirty="0"/>
          </a:p>
        </p:txBody>
      </p:sp>
      <p:sp>
        <p:nvSpPr>
          <p:cNvPr id="61" name="Shape 52"/>
          <p:cNvSpPr/>
          <p:nvPr/>
        </p:nvSpPr>
        <p:spPr>
          <a:xfrm>
            <a:off x="9555480" y="3401568"/>
            <a:ext cx="1920240" cy="91440"/>
          </a:xfrm>
          <a:prstGeom prst="roundRect">
            <a:avLst>
              <a:gd name="adj" fmla="val 100000"/>
            </a:avLst>
          </a:prstGeom>
          <a:solidFill>
            <a:srgbClr val="E6E9F3"/>
          </a:solidFill>
          <a:ln w="12700">
            <a:solidFill>
              <a:srgbClr val="E6E9F3"/>
            </a:solidFill>
            <a:prstDash val="solid"/>
          </a:ln>
        </p:spPr>
      </p:sp>
      <p:sp>
        <p:nvSpPr>
          <p:cNvPr id="62" name="Shape 53"/>
          <p:cNvSpPr/>
          <p:nvPr/>
        </p:nvSpPr>
        <p:spPr>
          <a:xfrm>
            <a:off x="9555480" y="3401568"/>
            <a:ext cx="1920240" cy="91440"/>
          </a:xfrm>
          <a:prstGeom prst="roundRect">
            <a:avLst>
              <a:gd name="adj" fmla="val 100000"/>
            </a:avLst>
          </a:prstGeom>
          <a:solidFill>
            <a:srgbClr val="1428A0"/>
          </a:solidFill>
          <a:ln w="12700">
            <a:solidFill>
              <a:srgbClr val="1428A0"/>
            </a:solidFill>
            <a:prstDash val="solid"/>
          </a:ln>
        </p:spPr>
      </p:sp>
      <p:sp>
        <p:nvSpPr>
          <p:cNvPr id="63" name="Text 54"/>
          <p:cNvSpPr/>
          <p:nvPr/>
        </p:nvSpPr>
        <p:spPr>
          <a:xfrm>
            <a:off x="9555480" y="3630168"/>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adobedtm.com</a:t>
            </a:r>
            <a:endParaRPr lang="en-US" sz="900" dirty="0"/>
          </a:p>
        </p:txBody>
      </p:sp>
      <p:sp>
        <p:nvSpPr>
          <p:cNvPr id="64" name="Shape 55"/>
          <p:cNvSpPr/>
          <p:nvPr/>
        </p:nvSpPr>
        <p:spPr>
          <a:xfrm>
            <a:off x="9555480" y="3831336"/>
            <a:ext cx="1920240" cy="91440"/>
          </a:xfrm>
          <a:prstGeom prst="roundRect">
            <a:avLst>
              <a:gd name="adj" fmla="val 100000"/>
            </a:avLst>
          </a:prstGeom>
          <a:solidFill>
            <a:srgbClr val="E6E9F3"/>
          </a:solidFill>
          <a:ln w="12700">
            <a:solidFill>
              <a:srgbClr val="E6E9F3"/>
            </a:solidFill>
            <a:prstDash val="solid"/>
          </a:ln>
        </p:spPr>
      </p:sp>
      <p:sp>
        <p:nvSpPr>
          <p:cNvPr id="65" name="Shape 56"/>
          <p:cNvSpPr/>
          <p:nvPr/>
        </p:nvSpPr>
        <p:spPr>
          <a:xfrm>
            <a:off x="9555480" y="3831336"/>
            <a:ext cx="153661" cy="91440"/>
          </a:xfrm>
          <a:prstGeom prst="roundRect">
            <a:avLst>
              <a:gd name="adj" fmla="val 100000"/>
            </a:avLst>
          </a:prstGeom>
          <a:solidFill>
            <a:srgbClr val="B7791F"/>
          </a:solidFill>
          <a:ln w="12700">
            <a:solidFill>
              <a:srgbClr val="B7791F"/>
            </a:solidFill>
            <a:prstDash val="solid"/>
          </a:ln>
        </p:spPr>
      </p:sp>
      <p:sp>
        <p:nvSpPr>
          <p:cNvPr id="66" name="Text 57"/>
          <p:cNvSpPr/>
          <p:nvPr/>
        </p:nvSpPr>
        <p:spPr>
          <a:xfrm>
            <a:off x="9555480" y="4059936"/>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go-mpulse.net</a:t>
            </a:r>
            <a:endParaRPr lang="en-US" sz="900" dirty="0"/>
          </a:p>
        </p:txBody>
      </p:sp>
      <p:sp>
        <p:nvSpPr>
          <p:cNvPr id="67" name="Shape 58"/>
          <p:cNvSpPr/>
          <p:nvPr/>
        </p:nvSpPr>
        <p:spPr>
          <a:xfrm>
            <a:off x="9555480" y="4261104"/>
            <a:ext cx="1920240" cy="91440"/>
          </a:xfrm>
          <a:prstGeom prst="roundRect">
            <a:avLst>
              <a:gd name="adj" fmla="val 100000"/>
            </a:avLst>
          </a:prstGeom>
          <a:solidFill>
            <a:srgbClr val="E6E9F3"/>
          </a:solidFill>
          <a:ln w="12700">
            <a:solidFill>
              <a:srgbClr val="E6E9F3"/>
            </a:solidFill>
            <a:prstDash val="solid"/>
          </a:ln>
        </p:spPr>
      </p:sp>
      <p:sp>
        <p:nvSpPr>
          <p:cNvPr id="68" name="Shape 59"/>
          <p:cNvSpPr/>
          <p:nvPr/>
        </p:nvSpPr>
        <p:spPr>
          <a:xfrm>
            <a:off x="9555480" y="4261104"/>
            <a:ext cx="73152" cy="91440"/>
          </a:xfrm>
          <a:prstGeom prst="roundRect">
            <a:avLst>
              <a:gd name="adj" fmla="val 125000"/>
            </a:avLst>
          </a:prstGeom>
          <a:solidFill>
            <a:srgbClr val="B7791F"/>
          </a:solidFill>
          <a:ln w="12700">
            <a:solidFill>
              <a:srgbClr val="B7791F"/>
            </a:solidFill>
            <a:prstDash val="solid"/>
          </a:ln>
        </p:spPr>
      </p:sp>
      <p:sp>
        <p:nvSpPr>
          <p:cNvPr id="69" name="Text 60"/>
          <p:cNvSpPr/>
          <p:nvPr/>
        </p:nvSpPr>
        <p:spPr>
          <a:xfrm>
            <a:off x="9555480" y="4489704"/>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demdex.net</a:t>
            </a:r>
            <a:endParaRPr lang="en-US" sz="900" dirty="0"/>
          </a:p>
        </p:txBody>
      </p:sp>
      <p:sp>
        <p:nvSpPr>
          <p:cNvPr id="70" name="Shape 61"/>
          <p:cNvSpPr/>
          <p:nvPr/>
        </p:nvSpPr>
        <p:spPr>
          <a:xfrm>
            <a:off x="9555480" y="4690872"/>
            <a:ext cx="1920240" cy="91440"/>
          </a:xfrm>
          <a:prstGeom prst="roundRect">
            <a:avLst>
              <a:gd name="adj" fmla="val 100000"/>
            </a:avLst>
          </a:prstGeom>
          <a:solidFill>
            <a:srgbClr val="E6E9F3"/>
          </a:solidFill>
          <a:ln w="12700">
            <a:solidFill>
              <a:srgbClr val="E6E9F3"/>
            </a:solidFill>
            <a:prstDash val="solid"/>
          </a:ln>
        </p:spPr>
      </p:sp>
      <p:sp>
        <p:nvSpPr>
          <p:cNvPr id="71" name="Shape 62"/>
          <p:cNvSpPr/>
          <p:nvPr/>
        </p:nvSpPr>
        <p:spPr>
          <a:xfrm>
            <a:off x="9555480" y="4690872"/>
            <a:ext cx="73152" cy="91440"/>
          </a:xfrm>
          <a:prstGeom prst="roundRect">
            <a:avLst>
              <a:gd name="adj" fmla="val 125000"/>
            </a:avLst>
          </a:prstGeom>
          <a:solidFill>
            <a:srgbClr val="B7791F"/>
          </a:solidFill>
          <a:ln w="12700">
            <a:solidFill>
              <a:srgbClr val="B7791F"/>
            </a:solidFill>
            <a:prstDash val="solid"/>
          </a:ln>
        </p:spPr>
      </p:sp>
      <p:sp>
        <p:nvSpPr>
          <p:cNvPr id="72" name="Text 63"/>
          <p:cNvSpPr/>
          <p:nvPr/>
        </p:nvSpPr>
        <p:spPr>
          <a:xfrm>
            <a:off x="9555480" y="4919472"/>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rubiconproject.com</a:t>
            </a:r>
            <a:endParaRPr lang="en-US" sz="900" dirty="0"/>
          </a:p>
        </p:txBody>
      </p:sp>
      <p:sp>
        <p:nvSpPr>
          <p:cNvPr id="73" name="Shape 64"/>
          <p:cNvSpPr/>
          <p:nvPr/>
        </p:nvSpPr>
        <p:spPr>
          <a:xfrm>
            <a:off x="9555480" y="5120640"/>
            <a:ext cx="1920240" cy="91440"/>
          </a:xfrm>
          <a:prstGeom prst="roundRect">
            <a:avLst>
              <a:gd name="adj" fmla="val 100000"/>
            </a:avLst>
          </a:prstGeom>
          <a:solidFill>
            <a:srgbClr val="E6E9F3"/>
          </a:solidFill>
          <a:ln w="12700">
            <a:solidFill>
              <a:srgbClr val="E6E9F3"/>
            </a:solidFill>
            <a:prstDash val="solid"/>
          </a:ln>
        </p:spPr>
      </p:sp>
      <p:sp>
        <p:nvSpPr>
          <p:cNvPr id="74" name="Shape 65"/>
          <p:cNvSpPr/>
          <p:nvPr/>
        </p:nvSpPr>
        <p:spPr>
          <a:xfrm>
            <a:off x="9555480" y="5120640"/>
            <a:ext cx="73152" cy="91440"/>
          </a:xfrm>
          <a:prstGeom prst="roundRect">
            <a:avLst>
              <a:gd name="adj" fmla="val 125000"/>
            </a:avLst>
          </a:prstGeom>
          <a:solidFill>
            <a:srgbClr val="B7791F"/>
          </a:solidFill>
          <a:ln w="12700">
            <a:solidFill>
              <a:srgbClr val="B7791F"/>
            </a:solidFill>
            <a:prstDash val="solid"/>
          </a:ln>
        </p:spPr>
      </p:sp>
      <p:sp>
        <p:nvSpPr>
          <p:cNvPr id="75" name="Text 66"/>
          <p:cNvSpPr/>
          <p:nvPr/>
        </p:nvSpPr>
        <p:spPr>
          <a:xfrm>
            <a:off x="9555480" y="5349240"/>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facebook.com</a:t>
            </a:r>
            <a:endParaRPr lang="en-US" sz="900" dirty="0"/>
          </a:p>
        </p:txBody>
      </p:sp>
      <p:sp>
        <p:nvSpPr>
          <p:cNvPr id="76" name="Shape 67"/>
          <p:cNvSpPr/>
          <p:nvPr/>
        </p:nvSpPr>
        <p:spPr>
          <a:xfrm>
            <a:off x="9555480" y="5550408"/>
            <a:ext cx="1920240" cy="91440"/>
          </a:xfrm>
          <a:prstGeom prst="roundRect">
            <a:avLst>
              <a:gd name="adj" fmla="val 100000"/>
            </a:avLst>
          </a:prstGeom>
          <a:solidFill>
            <a:srgbClr val="E6E9F3"/>
          </a:solidFill>
          <a:ln w="12700">
            <a:solidFill>
              <a:srgbClr val="E6E9F3"/>
            </a:solidFill>
            <a:prstDash val="solid"/>
          </a:ln>
        </p:spPr>
      </p:sp>
      <p:sp>
        <p:nvSpPr>
          <p:cNvPr id="77" name="Shape 68"/>
          <p:cNvSpPr/>
          <p:nvPr/>
        </p:nvSpPr>
        <p:spPr>
          <a:xfrm>
            <a:off x="9555480" y="5550408"/>
            <a:ext cx="73152" cy="91440"/>
          </a:xfrm>
          <a:prstGeom prst="roundRect">
            <a:avLst>
              <a:gd name="adj" fmla="val 125000"/>
            </a:avLst>
          </a:prstGeom>
          <a:solidFill>
            <a:srgbClr val="B7791F"/>
          </a:solidFill>
          <a:ln w="12700">
            <a:solidFill>
              <a:srgbClr val="B7791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 · OUR COVERAGE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SDS supports your stack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7</a:t>
            </a:r>
            <a:endParaRPr lang="en-US" sz="1000" dirty="0"/>
          </a:p>
        </p:txBody>
      </p:sp>
      <p:sp>
        <p:nvSpPr>
          <p:cNvPr id="11" name="Text 8"/>
          <p:cNvSpPr/>
          <p:nvPr/>
        </p:nvSpPr>
        <p:spPr>
          <a:xfrm>
            <a:off x="1051560" y="1508760"/>
            <a:ext cx="25603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TECHNOLOGY</a:t>
            </a:r>
            <a:endParaRPr lang="en-US" sz="950" dirty="0"/>
          </a:p>
        </p:txBody>
      </p:sp>
      <p:sp>
        <p:nvSpPr>
          <p:cNvPr id="12" name="Text 9"/>
          <p:cNvSpPr/>
          <p:nvPr/>
        </p:nvSpPr>
        <p:spPr>
          <a:xfrm>
            <a:off x="3657600" y="1508760"/>
            <a:ext cx="219456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CATEGORY</a:t>
            </a:r>
            <a:endParaRPr lang="en-US" sz="950" dirty="0"/>
          </a:p>
        </p:txBody>
      </p:sp>
      <p:sp>
        <p:nvSpPr>
          <p:cNvPr id="13" name="Text 10"/>
          <p:cNvSpPr/>
          <p:nvPr/>
        </p:nvSpPr>
        <p:spPr>
          <a:xfrm>
            <a:off x="5943600" y="1508760"/>
            <a:ext cx="292608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OUR SKILL</a:t>
            </a:r>
            <a:endParaRPr lang="en-US" sz="950" dirty="0"/>
          </a:p>
        </p:txBody>
      </p:sp>
      <p:sp>
        <p:nvSpPr>
          <p:cNvPr id="14" name="Text 11"/>
          <p:cNvSpPr/>
          <p:nvPr/>
        </p:nvSpPr>
        <p:spPr>
          <a:xfrm>
            <a:off x="8961120" y="1508760"/>
            <a:ext cx="16459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PEOPLE FREE</a:t>
            </a:r>
            <a:endParaRPr lang="en-US" sz="950" dirty="0"/>
          </a:p>
        </p:txBody>
      </p:sp>
      <p:sp>
        <p:nvSpPr>
          <p:cNvPr id="15" name="Text 12"/>
          <p:cNvSpPr/>
          <p:nvPr/>
        </p:nvSpPr>
        <p:spPr>
          <a:xfrm>
            <a:off x="10607040" y="1508760"/>
            <a:ext cx="91440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STATUS</a:t>
            </a:r>
            <a:endParaRPr lang="en-US" sz="950" dirty="0"/>
          </a:p>
        </p:txBody>
      </p:sp>
      <p:sp>
        <p:nvSpPr>
          <p:cNvPr id="16" name="Shape 13"/>
          <p:cNvSpPr/>
          <p:nvPr/>
        </p:nvSpPr>
        <p:spPr>
          <a:xfrm>
            <a:off x="548640" y="2231136"/>
            <a:ext cx="11094415" cy="9144"/>
          </a:xfrm>
          <a:prstGeom prst="rect">
            <a:avLst/>
          </a:prstGeom>
          <a:solidFill>
            <a:srgbClr val="DDE2EE"/>
          </a:solidFill>
          <a:ln w="12700">
            <a:solidFill>
              <a:srgbClr val="DDE2EE"/>
            </a:solidFill>
            <a:prstDash val="solid"/>
          </a:ln>
        </p:spPr>
      </p:sp>
      <p:sp>
        <p:nvSpPr>
          <p:cNvPr id="17" name="Shape 14"/>
          <p:cNvSpPr/>
          <p:nvPr/>
        </p:nvSpPr>
        <p:spPr>
          <a:xfrm>
            <a:off x="585216" y="1901952"/>
            <a:ext cx="256032" cy="256032"/>
          </a:xfrm>
          <a:prstGeom prst="roundRect">
            <a:avLst>
              <a:gd name="adj" fmla="val 35714"/>
            </a:avLst>
          </a:prstGeom>
          <a:solidFill>
            <a:srgbClr val="E8ECFF"/>
          </a:solidFill>
          <a:ln w="12700">
            <a:solidFill>
              <a:srgbClr val="E8ECFF"/>
            </a:solidFill>
            <a:prstDash val="solid"/>
          </a:ln>
        </p:spPr>
      </p:sp>
      <p:sp>
        <p:nvSpPr>
          <p:cNvPr id="18" name="Text 15"/>
          <p:cNvSpPr/>
          <p:nvPr/>
        </p:nvSpPr>
        <p:spPr>
          <a:xfrm>
            <a:off x="585216" y="1901952"/>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19" name="Text 16"/>
          <p:cNvSpPr/>
          <p:nvPr/>
        </p:nvSpPr>
        <p:spPr>
          <a:xfrm>
            <a:off x="1051560" y="182880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Manager</a:t>
            </a:r>
            <a:endParaRPr lang="en-US" sz="1300" dirty="0"/>
          </a:p>
        </p:txBody>
      </p:sp>
      <p:sp>
        <p:nvSpPr>
          <p:cNvPr id="20" name="Text 17"/>
          <p:cNvSpPr/>
          <p:nvPr/>
        </p:nvSpPr>
        <p:spPr>
          <a:xfrm>
            <a:off x="3657600" y="182880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CMS &amp; experience</a:t>
            </a:r>
            <a:endParaRPr lang="en-US" sz="1100" dirty="0"/>
          </a:p>
        </p:txBody>
      </p:sp>
      <p:sp>
        <p:nvSpPr>
          <p:cNvPr id="21" name="Text 18"/>
          <p:cNvSpPr/>
          <p:nvPr/>
        </p:nvSpPr>
        <p:spPr>
          <a:xfrm>
            <a:off x="5943600" y="182880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22" name="Text 19"/>
          <p:cNvSpPr/>
          <p:nvPr/>
        </p:nvSpPr>
        <p:spPr>
          <a:xfrm>
            <a:off x="8961120" y="182880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 · 2026-11-02</a:t>
            </a:r>
            <a:endParaRPr lang="en-US" sz="1100" dirty="0"/>
          </a:p>
        </p:txBody>
      </p:sp>
      <p:sp>
        <p:nvSpPr>
          <p:cNvPr id="23" name="Shape 20"/>
          <p:cNvSpPr/>
          <p:nvPr/>
        </p:nvSpPr>
        <p:spPr>
          <a:xfrm>
            <a:off x="10607040" y="1911096"/>
            <a:ext cx="868680" cy="246888"/>
          </a:xfrm>
          <a:prstGeom prst="roundRect">
            <a:avLst>
              <a:gd name="adj" fmla="val 37037"/>
            </a:avLst>
          </a:prstGeom>
          <a:solidFill>
            <a:srgbClr val="DFF5EA"/>
          </a:solidFill>
          <a:ln w="12700">
            <a:solidFill>
              <a:srgbClr val="DFF5EA"/>
            </a:solidFill>
            <a:prstDash val="solid"/>
          </a:ln>
        </p:spPr>
      </p:sp>
      <p:sp>
        <p:nvSpPr>
          <p:cNvPr id="24" name="Text 21"/>
          <p:cNvSpPr/>
          <p:nvPr/>
        </p:nvSpPr>
        <p:spPr>
          <a:xfrm>
            <a:off x="10607040" y="191109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25" name="Shape 22"/>
          <p:cNvSpPr/>
          <p:nvPr/>
        </p:nvSpPr>
        <p:spPr>
          <a:xfrm>
            <a:off x="548640" y="2651760"/>
            <a:ext cx="11094415" cy="9144"/>
          </a:xfrm>
          <a:prstGeom prst="rect">
            <a:avLst/>
          </a:prstGeom>
          <a:solidFill>
            <a:srgbClr val="DDE2EE"/>
          </a:solidFill>
          <a:ln w="12700">
            <a:solidFill>
              <a:srgbClr val="DDE2EE"/>
            </a:solidFill>
            <a:prstDash val="solid"/>
          </a:ln>
        </p:spPr>
      </p:sp>
      <p:sp>
        <p:nvSpPr>
          <p:cNvPr id="26" name="Shape 23"/>
          <p:cNvSpPr/>
          <p:nvPr/>
        </p:nvSpPr>
        <p:spPr>
          <a:xfrm>
            <a:off x="585216" y="2322576"/>
            <a:ext cx="256032" cy="256032"/>
          </a:xfrm>
          <a:prstGeom prst="roundRect">
            <a:avLst>
              <a:gd name="adj" fmla="val 35714"/>
            </a:avLst>
          </a:prstGeom>
          <a:solidFill>
            <a:srgbClr val="E8ECFF"/>
          </a:solidFill>
          <a:ln w="12700">
            <a:solidFill>
              <a:srgbClr val="E8ECFF"/>
            </a:solidFill>
            <a:prstDash val="solid"/>
          </a:ln>
        </p:spPr>
      </p:sp>
      <p:sp>
        <p:nvSpPr>
          <p:cNvPr id="27" name="Text 24"/>
          <p:cNvSpPr/>
          <p:nvPr/>
        </p:nvSpPr>
        <p:spPr>
          <a:xfrm>
            <a:off x="585216" y="2322576"/>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AA</a:t>
            </a:r>
            <a:endParaRPr lang="en-US" sz="800" dirty="0"/>
          </a:p>
        </p:txBody>
      </p:sp>
      <p:sp>
        <p:nvSpPr>
          <p:cNvPr id="28" name="Text 25"/>
          <p:cNvSpPr/>
          <p:nvPr/>
        </p:nvSpPr>
        <p:spPr>
          <a:xfrm>
            <a:off x="1051560" y="224942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Analytics</a:t>
            </a:r>
            <a:endParaRPr lang="en-US" sz="1300" dirty="0"/>
          </a:p>
        </p:txBody>
      </p:sp>
      <p:sp>
        <p:nvSpPr>
          <p:cNvPr id="29" name="Text 26"/>
          <p:cNvSpPr/>
          <p:nvPr/>
        </p:nvSpPr>
        <p:spPr>
          <a:xfrm>
            <a:off x="3657600" y="224942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30" name="Text 27"/>
          <p:cNvSpPr/>
          <p:nvPr/>
        </p:nvSpPr>
        <p:spPr>
          <a:xfrm>
            <a:off x="5943600" y="224942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31" name="Text 28"/>
          <p:cNvSpPr/>
          <p:nvPr/>
        </p:nvSpPr>
        <p:spPr>
          <a:xfrm>
            <a:off x="8961120" y="224942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32" name="Shape 29"/>
          <p:cNvSpPr/>
          <p:nvPr/>
        </p:nvSpPr>
        <p:spPr>
          <a:xfrm>
            <a:off x="10607040" y="2331720"/>
            <a:ext cx="868680" cy="246888"/>
          </a:xfrm>
          <a:prstGeom prst="roundRect">
            <a:avLst>
              <a:gd name="adj" fmla="val 37037"/>
            </a:avLst>
          </a:prstGeom>
          <a:solidFill>
            <a:srgbClr val="FDF0D5"/>
          </a:solidFill>
          <a:ln w="12700">
            <a:solidFill>
              <a:srgbClr val="FDF0D5"/>
            </a:solidFill>
            <a:prstDash val="solid"/>
          </a:ln>
        </p:spPr>
      </p:sp>
      <p:sp>
        <p:nvSpPr>
          <p:cNvPr id="33" name="Text 30"/>
          <p:cNvSpPr/>
          <p:nvPr/>
        </p:nvSpPr>
        <p:spPr>
          <a:xfrm>
            <a:off x="10607040" y="233172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34" name="Shape 31"/>
          <p:cNvSpPr/>
          <p:nvPr/>
        </p:nvSpPr>
        <p:spPr>
          <a:xfrm>
            <a:off x="548640" y="3072384"/>
            <a:ext cx="11094415" cy="9144"/>
          </a:xfrm>
          <a:prstGeom prst="rect">
            <a:avLst/>
          </a:prstGeom>
          <a:solidFill>
            <a:srgbClr val="DDE2EE"/>
          </a:solidFill>
          <a:ln w="12700">
            <a:solidFill>
              <a:srgbClr val="DDE2EE"/>
            </a:solidFill>
            <a:prstDash val="solid"/>
          </a:ln>
        </p:spPr>
      </p:sp>
      <p:sp>
        <p:nvSpPr>
          <p:cNvPr id="35" name="Shape 32"/>
          <p:cNvSpPr/>
          <p:nvPr/>
        </p:nvSpPr>
        <p:spPr>
          <a:xfrm>
            <a:off x="585216" y="2743200"/>
            <a:ext cx="256032" cy="256032"/>
          </a:xfrm>
          <a:prstGeom prst="roundRect">
            <a:avLst>
              <a:gd name="adj" fmla="val 35714"/>
            </a:avLst>
          </a:prstGeom>
          <a:solidFill>
            <a:srgbClr val="E8ECFF"/>
          </a:solidFill>
          <a:ln w="12700">
            <a:solidFill>
              <a:srgbClr val="E8ECFF"/>
            </a:solidFill>
            <a:prstDash val="solid"/>
          </a:ln>
        </p:spPr>
      </p:sp>
      <p:sp>
        <p:nvSpPr>
          <p:cNvPr id="36" name="Text 33"/>
          <p:cNvSpPr/>
          <p:nvPr/>
        </p:nvSpPr>
        <p:spPr>
          <a:xfrm>
            <a:off x="585216" y="2743200"/>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37" name="Text 34"/>
          <p:cNvSpPr/>
          <p:nvPr/>
        </p:nvSpPr>
        <p:spPr>
          <a:xfrm>
            <a:off x="1051560" y="267004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Platform…</a:t>
            </a:r>
            <a:endParaRPr lang="en-US" sz="1300" dirty="0"/>
          </a:p>
        </p:txBody>
      </p:sp>
      <p:sp>
        <p:nvSpPr>
          <p:cNvPr id="38" name="Text 35"/>
          <p:cNvSpPr/>
          <p:nvPr/>
        </p:nvSpPr>
        <p:spPr>
          <a:xfrm>
            <a:off x="3657600" y="267004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39" name="Text 36"/>
          <p:cNvSpPr/>
          <p:nvPr/>
        </p:nvSpPr>
        <p:spPr>
          <a:xfrm>
            <a:off x="5943600" y="267004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40" name="Text 37"/>
          <p:cNvSpPr/>
          <p:nvPr/>
        </p:nvSpPr>
        <p:spPr>
          <a:xfrm>
            <a:off x="8961120" y="267004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41" name="Shape 38"/>
          <p:cNvSpPr/>
          <p:nvPr/>
        </p:nvSpPr>
        <p:spPr>
          <a:xfrm>
            <a:off x="10607040" y="2752344"/>
            <a:ext cx="868680" cy="246888"/>
          </a:xfrm>
          <a:prstGeom prst="roundRect">
            <a:avLst>
              <a:gd name="adj" fmla="val 37037"/>
            </a:avLst>
          </a:prstGeom>
          <a:solidFill>
            <a:srgbClr val="FDF0D5"/>
          </a:solidFill>
          <a:ln w="12700">
            <a:solidFill>
              <a:srgbClr val="FDF0D5"/>
            </a:solidFill>
            <a:prstDash val="solid"/>
          </a:ln>
        </p:spPr>
      </p:sp>
      <p:sp>
        <p:nvSpPr>
          <p:cNvPr id="42" name="Text 39"/>
          <p:cNvSpPr/>
          <p:nvPr/>
        </p:nvSpPr>
        <p:spPr>
          <a:xfrm>
            <a:off x="10607040" y="2752344"/>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43" name="Shape 40"/>
          <p:cNvSpPr/>
          <p:nvPr/>
        </p:nvSpPr>
        <p:spPr>
          <a:xfrm>
            <a:off x="548640" y="3493008"/>
            <a:ext cx="11094415" cy="9144"/>
          </a:xfrm>
          <a:prstGeom prst="rect">
            <a:avLst/>
          </a:prstGeom>
          <a:solidFill>
            <a:srgbClr val="DDE2EE"/>
          </a:solidFill>
          <a:ln w="12700">
            <a:solidFill>
              <a:srgbClr val="DDE2EE"/>
            </a:solidFill>
            <a:prstDash val="solid"/>
          </a:ln>
        </p:spPr>
      </p:sp>
      <p:sp>
        <p:nvSpPr>
          <p:cNvPr id="44" name="Shape 41"/>
          <p:cNvSpPr/>
          <p:nvPr/>
        </p:nvSpPr>
        <p:spPr>
          <a:xfrm>
            <a:off x="585216" y="3163824"/>
            <a:ext cx="256032" cy="256032"/>
          </a:xfrm>
          <a:prstGeom prst="roundRect">
            <a:avLst>
              <a:gd name="adj" fmla="val 35714"/>
            </a:avLst>
          </a:prstGeom>
          <a:solidFill>
            <a:srgbClr val="E8ECFF"/>
          </a:solidFill>
          <a:ln w="12700">
            <a:solidFill>
              <a:srgbClr val="E8ECFF"/>
            </a:solidFill>
            <a:prstDash val="solid"/>
          </a:ln>
        </p:spPr>
      </p:sp>
      <p:sp>
        <p:nvSpPr>
          <p:cNvPr id="45" name="Text 42"/>
          <p:cNvSpPr/>
          <p:nvPr/>
        </p:nvSpPr>
        <p:spPr>
          <a:xfrm>
            <a:off x="585216" y="3163824"/>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AT</a:t>
            </a:r>
            <a:endParaRPr lang="en-US" sz="800" dirty="0"/>
          </a:p>
        </p:txBody>
      </p:sp>
      <p:sp>
        <p:nvSpPr>
          <p:cNvPr id="46" name="Text 43"/>
          <p:cNvSpPr/>
          <p:nvPr/>
        </p:nvSpPr>
        <p:spPr>
          <a:xfrm>
            <a:off x="1051560" y="3090672"/>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Target</a:t>
            </a:r>
            <a:endParaRPr lang="en-US" sz="1300" dirty="0"/>
          </a:p>
        </p:txBody>
      </p:sp>
      <p:sp>
        <p:nvSpPr>
          <p:cNvPr id="47" name="Text 44"/>
          <p:cNvSpPr/>
          <p:nvPr/>
        </p:nvSpPr>
        <p:spPr>
          <a:xfrm>
            <a:off x="3657600" y="3090672"/>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Personalization &amp; tes…</a:t>
            </a:r>
            <a:endParaRPr lang="en-US" sz="1100" dirty="0"/>
          </a:p>
        </p:txBody>
      </p:sp>
      <p:sp>
        <p:nvSpPr>
          <p:cNvPr id="48" name="Text 45"/>
          <p:cNvSpPr/>
          <p:nvPr/>
        </p:nvSpPr>
        <p:spPr>
          <a:xfrm>
            <a:off x="5943600" y="3090672"/>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Personalization &amp; A/B testing</a:t>
            </a:r>
            <a:endParaRPr lang="en-US" sz="1200" dirty="0"/>
          </a:p>
        </p:txBody>
      </p:sp>
      <p:sp>
        <p:nvSpPr>
          <p:cNvPr id="49" name="Text 46"/>
          <p:cNvSpPr/>
          <p:nvPr/>
        </p:nvSpPr>
        <p:spPr>
          <a:xfrm>
            <a:off x="8961120" y="3090672"/>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 · 2026-11-16</a:t>
            </a:r>
            <a:endParaRPr lang="en-US" sz="1100" dirty="0"/>
          </a:p>
        </p:txBody>
      </p:sp>
      <p:sp>
        <p:nvSpPr>
          <p:cNvPr id="50" name="Shape 47"/>
          <p:cNvSpPr/>
          <p:nvPr/>
        </p:nvSpPr>
        <p:spPr>
          <a:xfrm>
            <a:off x="10607040" y="3172968"/>
            <a:ext cx="868680" cy="246888"/>
          </a:xfrm>
          <a:prstGeom prst="roundRect">
            <a:avLst>
              <a:gd name="adj" fmla="val 37037"/>
            </a:avLst>
          </a:prstGeom>
          <a:solidFill>
            <a:srgbClr val="FDF0D5"/>
          </a:solidFill>
          <a:ln w="12700">
            <a:solidFill>
              <a:srgbClr val="FDF0D5"/>
            </a:solidFill>
            <a:prstDash val="solid"/>
          </a:ln>
        </p:spPr>
      </p:sp>
      <p:sp>
        <p:nvSpPr>
          <p:cNvPr id="51" name="Text 48"/>
          <p:cNvSpPr/>
          <p:nvPr/>
        </p:nvSpPr>
        <p:spPr>
          <a:xfrm>
            <a:off x="10607040" y="3172968"/>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52" name="Shape 49"/>
          <p:cNvSpPr/>
          <p:nvPr/>
        </p:nvSpPr>
        <p:spPr>
          <a:xfrm>
            <a:off x="548640" y="3913632"/>
            <a:ext cx="11094415" cy="9144"/>
          </a:xfrm>
          <a:prstGeom prst="rect">
            <a:avLst/>
          </a:prstGeom>
          <a:solidFill>
            <a:srgbClr val="DDE2EE"/>
          </a:solidFill>
          <a:ln w="12700">
            <a:solidFill>
              <a:srgbClr val="DDE2EE"/>
            </a:solidFill>
            <a:prstDash val="solid"/>
          </a:ln>
        </p:spPr>
      </p:sp>
      <p:pic>
        <p:nvPicPr>
          <p:cNvPr id="53" name="Image 0" descr="Akamai logo">    </p:cNvPr>
          <p:cNvPicPr>
            <a:picLocks noChangeAspect="1"/>
          </p:cNvPicPr>
          <p:nvPr/>
        </p:nvPicPr>
        <p:blipFill>
          <a:blip r:embed="rId1"/>
          <a:stretch>
            <a:fillRect/>
          </a:stretch>
        </p:blipFill>
        <p:spPr>
          <a:xfrm>
            <a:off x="585216" y="3584448"/>
            <a:ext cx="256032" cy="256032"/>
          </a:xfrm>
          <a:prstGeom prst="rect">
            <a:avLst/>
          </a:prstGeom>
        </p:spPr>
      </p:pic>
      <p:sp>
        <p:nvSpPr>
          <p:cNvPr id="54" name="Text 50"/>
          <p:cNvSpPr/>
          <p:nvPr/>
        </p:nvSpPr>
        <p:spPr>
          <a:xfrm>
            <a:off x="1051560" y="3511296"/>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Akamai</a:t>
            </a:r>
            <a:endParaRPr lang="en-US" sz="1300" dirty="0"/>
          </a:p>
        </p:txBody>
      </p:sp>
      <p:sp>
        <p:nvSpPr>
          <p:cNvPr id="55" name="Text 51"/>
          <p:cNvSpPr/>
          <p:nvPr/>
        </p:nvSpPr>
        <p:spPr>
          <a:xfrm>
            <a:off x="3657600" y="3511296"/>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56" name="Text 52"/>
          <p:cNvSpPr/>
          <p:nvPr/>
        </p:nvSpPr>
        <p:spPr>
          <a:xfrm>
            <a:off x="5943600" y="3511296"/>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57" name="Text 53"/>
          <p:cNvSpPr/>
          <p:nvPr/>
        </p:nvSpPr>
        <p:spPr>
          <a:xfrm>
            <a:off x="8961120" y="3511296"/>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58" name="Shape 54"/>
          <p:cNvSpPr/>
          <p:nvPr/>
        </p:nvSpPr>
        <p:spPr>
          <a:xfrm>
            <a:off x="10607040" y="3593592"/>
            <a:ext cx="868680" cy="246888"/>
          </a:xfrm>
          <a:prstGeom prst="roundRect">
            <a:avLst>
              <a:gd name="adj" fmla="val 37037"/>
            </a:avLst>
          </a:prstGeom>
          <a:solidFill>
            <a:srgbClr val="DFF5EA"/>
          </a:solidFill>
          <a:ln w="12700">
            <a:solidFill>
              <a:srgbClr val="DFF5EA"/>
            </a:solidFill>
            <a:prstDash val="solid"/>
          </a:ln>
        </p:spPr>
      </p:sp>
      <p:sp>
        <p:nvSpPr>
          <p:cNvPr id="59" name="Text 55"/>
          <p:cNvSpPr/>
          <p:nvPr/>
        </p:nvSpPr>
        <p:spPr>
          <a:xfrm>
            <a:off x="10607040" y="3593592"/>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60" name="Shape 56"/>
          <p:cNvSpPr/>
          <p:nvPr/>
        </p:nvSpPr>
        <p:spPr>
          <a:xfrm>
            <a:off x="548640" y="4334256"/>
            <a:ext cx="11094415" cy="9144"/>
          </a:xfrm>
          <a:prstGeom prst="rect">
            <a:avLst/>
          </a:prstGeom>
          <a:solidFill>
            <a:srgbClr val="DDE2EE"/>
          </a:solidFill>
          <a:ln w="12700">
            <a:solidFill>
              <a:srgbClr val="DDE2EE"/>
            </a:solidFill>
            <a:prstDash val="solid"/>
          </a:ln>
        </p:spPr>
      </p:sp>
      <p:pic>
        <p:nvPicPr>
          <p:cNvPr id="61" name="Image 1" descr="Cloudflare logo">    </p:cNvPr>
          <p:cNvPicPr>
            <a:picLocks noChangeAspect="1"/>
          </p:cNvPicPr>
          <p:nvPr/>
        </p:nvPicPr>
        <p:blipFill>
          <a:blip r:embed="rId2"/>
          <a:stretch>
            <a:fillRect/>
          </a:stretch>
        </p:blipFill>
        <p:spPr>
          <a:xfrm>
            <a:off x="585216" y="4005072"/>
            <a:ext cx="256032" cy="256032"/>
          </a:xfrm>
          <a:prstGeom prst="rect">
            <a:avLst/>
          </a:prstGeom>
        </p:spPr>
      </p:pic>
      <p:sp>
        <p:nvSpPr>
          <p:cNvPr id="62" name="Text 57"/>
          <p:cNvSpPr/>
          <p:nvPr/>
        </p:nvSpPr>
        <p:spPr>
          <a:xfrm>
            <a:off x="1051560" y="393192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Cloudflare</a:t>
            </a:r>
            <a:endParaRPr lang="en-US" sz="1300" dirty="0"/>
          </a:p>
        </p:txBody>
      </p:sp>
      <p:sp>
        <p:nvSpPr>
          <p:cNvPr id="63" name="Text 58"/>
          <p:cNvSpPr/>
          <p:nvPr/>
        </p:nvSpPr>
        <p:spPr>
          <a:xfrm>
            <a:off x="3657600" y="393192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64" name="Text 59"/>
          <p:cNvSpPr/>
          <p:nvPr/>
        </p:nvSpPr>
        <p:spPr>
          <a:xfrm>
            <a:off x="5943600" y="393192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65" name="Text 60"/>
          <p:cNvSpPr/>
          <p:nvPr/>
        </p:nvSpPr>
        <p:spPr>
          <a:xfrm>
            <a:off x="8961120" y="393192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66" name="Shape 61"/>
          <p:cNvSpPr/>
          <p:nvPr/>
        </p:nvSpPr>
        <p:spPr>
          <a:xfrm>
            <a:off x="10607040" y="4014216"/>
            <a:ext cx="868680" cy="246888"/>
          </a:xfrm>
          <a:prstGeom prst="roundRect">
            <a:avLst>
              <a:gd name="adj" fmla="val 37037"/>
            </a:avLst>
          </a:prstGeom>
          <a:solidFill>
            <a:srgbClr val="DFF5EA"/>
          </a:solidFill>
          <a:ln w="12700">
            <a:solidFill>
              <a:srgbClr val="DFF5EA"/>
            </a:solidFill>
            <a:prstDash val="solid"/>
          </a:ln>
        </p:spPr>
      </p:sp>
      <p:sp>
        <p:nvSpPr>
          <p:cNvPr id="67" name="Text 62"/>
          <p:cNvSpPr/>
          <p:nvPr/>
        </p:nvSpPr>
        <p:spPr>
          <a:xfrm>
            <a:off x="10607040" y="401421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68" name="Shape 63"/>
          <p:cNvSpPr/>
          <p:nvPr/>
        </p:nvSpPr>
        <p:spPr>
          <a:xfrm>
            <a:off x="548640" y="4754880"/>
            <a:ext cx="11094415" cy="9144"/>
          </a:xfrm>
          <a:prstGeom prst="rect">
            <a:avLst/>
          </a:prstGeom>
          <a:solidFill>
            <a:srgbClr val="DDE2EE"/>
          </a:solidFill>
          <a:ln w="12700">
            <a:solidFill>
              <a:srgbClr val="DDE2EE"/>
            </a:solidFill>
            <a:prstDash val="solid"/>
          </a:ln>
        </p:spPr>
      </p:sp>
      <p:pic>
        <p:nvPicPr>
          <p:cNvPr id="69" name="Image 2" descr="PHP logo">    </p:cNvPr>
          <p:cNvPicPr>
            <a:picLocks noChangeAspect="1"/>
          </p:cNvPicPr>
          <p:nvPr/>
        </p:nvPicPr>
        <p:blipFill>
          <a:blip r:embed="rId3"/>
          <a:stretch>
            <a:fillRect/>
          </a:stretch>
        </p:blipFill>
        <p:spPr>
          <a:xfrm>
            <a:off x="585216" y="4425696"/>
            <a:ext cx="256032" cy="256032"/>
          </a:xfrm>
          <a:prstGeom prst="rect">
            <a:avLst/>
          </a:prstGeom>
        </p:spPr>
      </p:pic>
      <p:sp>
        <p:nvSpPr>
          <p:cNvPr id="70" name="Text 64"/>
          <p:cNvSpPr/>
          <p:nvPr/>
        </p:nvSpPr>
        <p:spPr>
          <a:xfrm>
            <a:off x="1051560" y="435254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PHP</a:t>
            </a:r>
            <a:endParaRPr lang="en-US" sz="1300" dirty="0"/>
          </a:p>
        </p:txBody>
      </p:sp>
      <p:sp>
        <p:nvSpPr>
          <p:cNvPr id="71" name="Text 65"/>
          <p:cNvSpPr/>
          <p:nvPr/>
        </p:nvSpPr>
        <p:spPr>
          <a:xfrm>
            <a:off x="3657600" y="435254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Server &amp; language</a:t>
            </a:r>
            <a:endParaRPr lang="en-US" sz="1100" dirty="0"/>
          </a:p>
        </p:txBody>
      </p:sp>
      <p:sp>
        <p:nvSpPr>
          <p:cNvPr id="72" name="Text 66"/>
          <p:cNvSpPr/>
          <p:nvPr/>
        </p:nvSpPr>
        <p:spPr>
          <a:xfrm>
            <a:off x="5943600" y="435254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PHP</a:t>
            </a:r>
            <a:endParaRPr lang="en-US" sz="1200" dirty="0"/>
          </a:p>
        </p:txBody>
      </p:sp>
      <p:sp>
        <p:nvSpPr>
          <p:cNvPr id="73" name="Text 67"/>
          <p:cNvSpPr/>
          <p:nvPr/>
        </p:nvSpPr>
        <p:spPr>
          <a:xfrm>
            <a:off x="8961120" y="435254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2026-11-09</a:t>
            </a:r>
            <a:endParaRPr lang="en-US" sz="1100" dirty="0"/>
          </a:p>
        </p:txBody>
      </p:sp>
      <p:sp>
        <p:nvSpPr>
          <p:cNvPr id="74" name="Shape 68"/>
          <p:cNvSpPr/>
          <p:nvPr/>
        </p:nvSpPr>
        <p:spPr>
          <a:xfrm>
            <a:off x="10607040" y="4434840"/>
            <a:ext cx="868680" cy="246888"/>
          </a:xfrm>
          <a:prstGeom prst="roundRect">
            <a:avLst>
              <a:gd name="adj" fmla="val 37037"/>
            </a:avLst>
          </a:prstGeom>
          <a:solidFill>
            <a:srgbClr val="FDF0D5"/>
          </a:solidFill>
          <a:ln w="12700">
            <a:solidFill>
              <a:srgbClr val="FDF0D5"/>
            </a:solidFill>
            <a:prstDash val="solid"/>
          </a:ln>
        </p:spPr>
      </p:sp>
      <p:sp>
        <p:nvSpPr>
          <p:cNvPr id="75" name="Text 69"/>
          <p:cNvSpPr/>
          <p:nvPr/>
        </p:nvSpPr>
        <p:spPr>
          <a:xfrm>
            <a:off x="10607040" y="443484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76" name="Shape 70"/>
          <p:cNvSpPr/>
          <p:nvPr/>
        </p:nvSpPr>
        <p:spPr>
          <a:xfrm>
            <a:off x="548640" y="5440680"/>
            <a:ext cx="3566160" cy="914400"/>
          </a:xfrm>
          <a:prstGeom prst="roundRect">
            <a:avLst>
              <a:gd name="adj" fmla="val 10000"/>
            </a:avLst>
          </a:prstGeom>
          <a:solidFill>
            <a:srgbClr val="FFFFFF"/>
          </a:solidFill>
          <a:ln w="12700">
            <a:solidFill>
              <a:srgbClr val="DDE2EE"/>
            </a:solidFill>
            <a:prstDash val="solid"/>
          </a:ln>
        </p:spPr>
      </p:sp>
      <p:sp>
        <p:nvSpPr>
          <p:cNvPr id="77" name="Text 71"/>
          <p:cNvSpPr/>
          <p:nvPr/>
        </p:nvSpPr>
        <p:spPr>
          <a:xfrm>
            <a:off x="731520" y="5550408"/>
            <a:ext cx="3200400" cy="502920"/>
          </a:xfrm>
          <a:prstGeom prst="rect">
            <a:avLst/>
          </a:prstGeom>
          <a:noFill/>
          <a:ln/>
        </p:spPr>
        <p:txBody>
          <a:bodyPr wrap="square" lIns="0" tIns="0" rIns="0" bIns="0" rtlCol="0" anchor="ctr"/>
          <a:lstStyle/>
          <a:p>
            <a:pPr indent="0" marL="0">
              <a:buNone/>
            </a:pPr>
            <a:r>
              <a:rPr lang="en-US" sz="2800" b="1" dirty="0">
                <a:solidFill>
                  <a:srgbClr val="B7791F"/>
                </a:solidFill>
                <a:latin typeface="Calibri" pitchFamily="34" charset="0"/>
                <a:ea typeface="Calibri" pitchFamily="34" charset="-122"/>
                <a:cs typeface="Calibri" pitchFamily="34" charset="-120"/>
              </a:rPr>
              <a:t>77%</a:t>
            </a:r>
            <a:endParaRPr lang="en-US" sz="2800" dirty="0"/>
          </a:p>
        </p:txBody>
      </p:sp>
      <p:sp>
        <p:nvSpPr>
          <p:cNvPr id="78" name="Text 72"/>
          <p:cNvSpPr/>
          <p:nvPr/>
        </p:nvSpPr>
        <p:spPr>
          <a:xfrm>
            <a:off x="731520" y="6035040"/>
            <a:ext cx="3200400"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of your platform stack we can staff now</a:t>
            </a:r>
            <a:endParaRPr lang="en-US" sz="1100" dirty="0"/>
          </a:p>
        </p:txBody>
      </p:sp>
      <p:sp>
        <p:nvSpPr>
          <p:cNvPr id="79" name="Text 73"/>
          <p:cNvSpPr/>
          <p:nvPr/>
        </p:nvSpPr>
        <p:spPr>
          <a:xfrm>
            <a:off x="4389120" y="5577840"/>
            <a:ext cx="7223760" cy="6400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Strong: skilled and two or more people free. Partial: some capacity. Gap: nobody free, so we plan a partner or a hire.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Your own homepage, improved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8</a:t>
            </a:r>
            <a:endParaRPr lang="en-US" sz="1000" dirty="0"/>
          </a:p>
        </p:txBody>
      </p:sp>
      <p:sp>
        <p:nvSpPr>
          <p:cNvPr id="11" name="Shape 8"/>
          <p:cNvSpPr/>
          <p:nvPr/>
        </p:nvSpPr>
        <p:spPr>
          <a:xfrm>
            <a:off x="548640" y="1508760"/>
            <a:ext cx="5394960" cy="3246120"/>
          </a:xfrm>
          <a:prstGeom prst="roundRect">
            <a:avLst>
              <a:gd name="adj" fmla="val 2817"/>
            </a:avLst>
          </a:prstGeom>
          <a:solidFill>
            <a:srgbClr val="FFFFFF"/>
          </a:solidFill>
          <a:ln w="12700">
            <a:solidFill>
              <a:srgbClr val="5B6477"/>
            </a:solidFill>
            <a:prstDash val="solid"/>
          </a:ln>
        </p:spPr>
      </p:sp>
      <p:pic>
        <p:nvPicPr>
          <p:cNvPr id="12" name="Image 0" descr="/Users/manish/Development/Workspace/samsung/digithon-2026/.worktrees/ppt-eval/runs/mvo3fiyy51e2/shot-desktop.png">    </p:cNvPr>
          <p:cNvPicPr>
            <a:picLocks noChangeAspect="1"/>
          </p:cNvPicPr>
          <p:nvPr/>
        </p:nvPicPr>
        <p:blipFill>
          <a:blip r:embed="rId1"/>
          <a:srcRect l="0" r="0" t="0" b="0"/>
          <a:stretch/>
        </p:blipFill>
        <p:spPr>
          <a:xfrm>
            <a:off x="594360" y="1554480"/>
            <a:ext cx="5303520" cy="315468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6245352" y="1508760"/>
            <a:ext cx="5394960" cy="3246120"/>
          </a:xfrm>
          <a:prstGeom prst="roundRect">
            <a:avLst>
              <a:gd name="adj" fmla="val 2817"/>
            </a:avLst>
          </a:prstGeom>
          <a:solidFill>
            <a:srgbClr val="FFFFFF"/>
          </a:solidFill>
          <a:ln w="12700">
            <a:solidFill>
              <a:srgbClr val="1428A0"/>
            </a:solidFill>
            <a:prstDash val="solid"/>
          </a:ln>
        </p:spPr>
      </p:sp>
      <p:pic>
        <p:nvPicPr>
          <p:cNvPr id="16" name="Image 1" descr="/Users/manish/Development/Workspace/samsung/digithon-2026/.worktrees/ppt-eval/runs/mvo3fiyy51e2/shot-after.png">    </p:cNvPr>
          <p:cNvPicPr>
            <a:picLocks noChangeAspect="1"/>
          </p:cNvPicPr>
          <p:nvPr/>
        </p:nvPicPr>
        <p:blipFill>
          <a:blip r:embed="rId2"/>
          <a:srcRect l="0" r="0" t="0" b="0"/>
          <a:stretch/>
        </p:blipFill>
        <p:spPr>
          <a:xfrm>
            <a:off x="6291072" y="1554480"/>
            <a:ext cx="5303520" cy="3154680"/>
          </a:xfrm>
          <a:prstGeom prst="rect">
            <a:avLst/>
          </a:prstGeom>
        </p:spPr>
      </p:pic>
      <p:sp>
        <p:nvSpPr>
          <p:cNvPr id="17" name="Shape 12"/>
          <p:cNvSpPr/>
          <p:nvPr/>
        </p:nvSpPr>
        <p:spPr>
          <a:xfrm>
            <a:off x="6382512"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6382512"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548640" y="4937760"/>
            <a:ext cx="2636444" cy="1188720"/>
          </a:xfrm>
          <a:prstGeom prst="roundRect">
            <a:avLst>
              <a:gd name="adj" fmla="val 7692"/>
            </a:avLst>
          </a:prstGeom>
          <a:solidFill>
            <a:srgbClr val="FFFFFF"/>
          </a:solidFill>
          <a:ln w="12700">
            <a:solidFill>
              <a:srgbClr val="DDE2EE"/>
            </a:solidFill>
            <a:prstDash val="solid"/>
          </a:ln>
        </p:spPr>
      </p:sp>
      <p:sp>
        <p:nvSpPr>
          <p:cNvPr id="20" name="Text 15"/>
          <p:cNvSpPr/>
          <p:nvPr/>
        </p:nvSpPr>
        <p:spPr>
          <a:xfrm>
            <a:off x="731520"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35 → 98</a:t>
            </a:r>
            <a:endParaRPr lang="en-US" sz="2800" dirty="0"/>
          </a:p>
        </p:txBody>
      </p:sp>
      <p:sp>
        <p:nvSpPr>
          <p:cNvPr id="21" name="Text 16"/>
          <p:cNvSpPr/>
          <p:nvPr/>
        </p:nvSpPr>
        <p:spPr>
          <a:xfrm>
            <a:off x="731520"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score, re-checked on the concept</a:t>
            </a:r>
            <a:endParaRPr lang="en-US" sz="1100" dirty="0"/>
          </a:p>
        </p:txBody>
      </p:sp>
      <p:sp>
        <p:nvSpPr>
          <p:cNvPr id="22" name="Shape 17"/>
          <p:cNvSpPr/>
          <p:nvPr/>
        </p:nvSpPr>
        <p:spPr>
          <a:xfrm>
            <a:off x="3367964" y="4937760"/>
            <a:ext cx="2636444" cy="1188720"/>
          </a:xfrm>
          <a:prstGeom prst="roundRect">
            <a:avLst>
              <a:gd name="adj" fmla="val 7692"/>
            </a:avLst>
          </a:prstGeom>
          <a:solidFill>
            <a:srgbClr val="FFFFFF"/>
          </a:solidFill>
          <a:ln w="12700">
            <a:solidFill>
              <a:srgbClr val="DDE2EE"/>
            </a:solidFill>
            <a:prstDash val="solid"/>
          </a:ln>
        </p:spPr>
      </p:sp>
      <p:sp>
        <p:nvSpPr>
          <p:cNvPr id="23" name="Text 18"/>
          <p:cNvSpPr/>
          <p:nvPr/>
        </p:nvSpPr>
        <p:spPr>
          <a:xfrm>
            <a:off x="3550844"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81 → 100</a:t>
            </a:r>
            <a:endParaRPr lang="en-US" sz="2800" dirty="0"/>
          </a:p>
        </p:txBody>
      </p:sp>
      <p:sp>
        <p:nvSpPr>
          <p:cNvPr id="24" name="Text 19"/>
          <p:cNvSpPr/>
          <p:nvPr/>
        </p:nvSpPr>
        <p:spPr>
          <a:xfrm>
            <a:off x="3550844"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Mobile score, re-checked on the concept</a:t>
            </a:r>
            <a:endParaRPr lang="en-US" sz="1100" dirty="0"/>
          </a:p>
        </p:txBody>
      </p:sp>
      <p:sp>
        <p:nvSpPr>
          <p:cNvPr id="25" name="Shape 20"/>
          <p:cNvSpPr/>
          <p:nvPr/>
        </p:nvSpPr>
        <p:spPr>
          <a:xfrm>
            <a:off x="6187288" y="4937760"/>
            <a:ext cx="2636444" cy="1188720"/>
          </a:xfrm>
          <a:prstGeom prst="roundRect">
            <a:avLst>
              <a:gd name="adj" fmla="val 7692"/>
            </a:avLst>
          </a:prstGeom>
          <a:solidFill>
            <a:srgbClr val="FFFFFF"/>
          </a:solidFill>
          <a:ln w="12700">
            <a:solidFill>
              <a:srgbClr val="DDE2EE"/>
            </a:solidFill>
            <a:prstDash val="solid"/>
          </a:ln>
        </p:spPr>
      </p:sp>
      <p:sp>
        <p:nvSpPr>
          <p:cNvPr id="26" name="Text 21"/>
          <p:cNvSpPr/>
          <p:nvPr/>
        </p:nvSpPr>
        <p:spPr>
          <a:xfrm>
            <a:off x="6370168"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68 → 68</a:t>
            </a:r>
            <a:endParaRPr lang="en-US" sz="2800" dirty="0"/>
          </a:p>
        </p:txBody>
      </p:sp>
      <p:sp>
        <p:nvSpPr>
          <p:cNvPr id="27" name="Text 22"/>
          <p:cNvSpPr/>
          <p:nvPr/>
        </p:nvSpPr>
        <p:spPr>
          <a:xfrm>
            <a:off x="6370168"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score, re-checked on the concept</a:t>
            </a:r>
            <a:endParaRPr lang="en-US" sz="1100" dirty="0"/>
          </a:p>
        </p:txBody>
      </p:sp>
      <p:sp>
        <p:nvSpPr>
          <p:cNvPr id="28" name="Text 23"/>
          <p:cNvSpPr/>
          <p:nvPr/>
        </p:nvSpPr>
        <p:spPr>
          <a:xfrm>
            <a:off x="9006611" y="4983480"/>
            <a:ext cx="2636444" cy="10972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Same inspectors, run on the concept page. Speed and AI search are not re-measured on a local concept.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MOBILE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On a phone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9</a:t>
            </a:r>
            <a:endParaRPr lang="en-US" sz="1000" dirty="0"/>
          </a:p>
        </p:txBody>
      </p:sp>
      <p:sp>
        <p:nvSpPr>
          <p:cNvPr id="11" name="Shape 8"/>
          <p:cNvSpPr/>
          <p:nvPr/>
        </p:nvSpPr>
        <p:spPr>
          <a:xfrm>
            <a:off x="548640" y="1508760"/>
            <a:ext cx="2377440" cy="4480560"/>
          </a:xfrm>
          <a:prstGeom prst="roundRect">
            <a:avLst>
              <a:gd name="adj" fmla="val 3846"/>
            </a:avLst>
          </a:prstGeom>
          <a:solidFill>
            <a:srgbClr val="FFFFFF"/>
          </a:solidFill>
          <a:ln w="12700">
            <a:solidFill>
              <a:srgbClr val="5B6477"/>
            </a:solidFill>
            <a:prstDash val="solid"/>
          </a:ln>
        </p:spPr>
      </p:sp>
      <p:pic>
        <p:nvPicPr>
          <p:cNvPr id="12" name="Image 0" descr="/Users/manish/Development/Workspace/samsung/digithon-2026/.worktrees/ppt-eval/runs/mvo3fiyy51e2/shot-mobile.png">    </p:cNvPr>
          <p:cNvPicPr>
            <a:picLocks noChangeAspect="1"/>
          </p:cNvPicPr>
          <p:nvPr/>
        </p:nvPicPr>
        <p:blipFill>
          <a:blip r:embed="rId1"/>
          <a:srcRect l="0" r="0" t="0" b="0"/>
          <a:stretch/>
        </p:blipFill>
        <p:spPr>
          <a:xfrm>
            <a:off x="594360" y="1554480"/>
            <a:ext cx="2286000" cy="438912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3383280" y="1508760"/>
            <a:ext cx="2377440" cy="4480560"/>
          </a:xfrm>
          <a:prstGeom prst="roundRect">
            <a:avLst>
              <a:gd name="adj" fmla="val 3846"/>
            </a:avLst>
          </a:prstGeom>
          <a:solidFill>
            <a:srgbClr val="FFFFFF"/>
          </a:solidFill>
          <a:ln w="12700">
            <a:solidFill>
              <a:srgbClr val="1428A0"/>
            </a:solidFill>
            <a:prstDash val="solid"/>
          </a:ln>
        </p:spPr>
      </p:sp>
      <p:pic>
        <p:nvPicPr>
          <p:cNvPr id="16" name="Image 1" descr="/Users/manish/Development/Workspace/samsung/digithon-2026/.worktrees/ppt-eval/runs/mvo3fiyy51e2/shot-mobile-after.png">    </p:cNvPr>
          <p:cNvPicPr>
            <a:picLocks noChangeAspect="1"/>
          </p:cNvPicPr>
          <p:nvPr/>
        </p:nvPicPr>
        <p:blipFill>
          <a:blip r:embed="rId2"/>
          <a:srcRect l="0" r="0" t="0" b="0"/>
          <a:stretch/>
        </p:blipFill>
        <p:spPr>
          <a:xfrm>
            <a:off x="3429000" y="1554480"/>
            <a:ext cx="2286000" cy="4389120"/>
          </a:xfrm>
          <a:prstGeom prst="rect">
            <a:avLst/>
          </a:prstGeom>
        </p:spPr>
      </p:pic>
      <p:sp>
        <p:nvSpPr>
          <p:cNvPr id="17" name="Shape 12"/>
          <p:cNvSpPr/>
          <p:nvPr/>
        </p:nvSpPr>
        <p:spPr>
          <a:xfrm>
            <a:off x="3520440"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352044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6400800" y="1508760"/>
            <a:ext cx="4572000" cy="4480560"/>
          </a:xfrm>
          <a:prstGeom prst="roundRect">
            <a:avLst>
              <a:gd name="adj" fmla="val 2041"/>
            </a:avLst>
          </a:prstGeom>
          <a:solidFill>
            <a:srgbClr val="FFFFFF"/>
          </a:solidFill>
          <a:ln w="12700">
            <a:solidFill>
              <a:srgbClr val="DDE2EE"/>
            </a:solidFill>
            <a:prstDash val="solid"/>
          </a:ln>
        </p:spPr>
      </p:sp>
      <p:sp>
        <p:nvSpPr>
          <p:cNvPr id="20" name="Text 15"/>
          <p:cNvSpPr/>
          <p:nvPr/>
        </p:nvSpPr>
        <p:spPr>
          <a:xfrm>
            <a:off x="6629400" y="1691640"/>
            <a:ext cx="41148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Mobile today</a:t>
            </a:r>
            <a:endParaRPr lang="en-US" sz="1600" dirty="0"/>
          </a:p>
        </p:txBody>
      </p:sp>
      <p:sp>
        <p:nvSpPr>
          <p:cNvPr id="21" name="Text 16"/>
          <p:cNvSpPr/>
          <p:nvPr/>
        </p:nvSpPr>
        <p:spPr>
          <a:xfrm>
            <a:off x="6629400" y="2057400"/>
            <a:ext cx="4114800" cy="457200"/>
          </a:xfrm>
          <a:prstGeom prst="rect">
            <a:avLst/>
          </a:prstGeom>
          <a:noFill/>
          <a:ln/>
        </p:spPr>
        <p:txBody>
          <a:bodyPr wrap="square" lIns="0" tIns="0" rIns="0" bIns="0" rtlCol="0" anchor="t"/>
          <a:lstStyle/>
          <a:p>
            <a:pPr indent="0" marL="0">
              <a:buNone/>
            </a:pPr>
            <a:r>
              <a:rPr lang="en-US" sz="2600" b="1" dirty="0">
                <a:solidFill>
                  <a:srgbClr val="0F9D6B"/>
                </a:solidFill>
                <a:latin typeface="Calibri" pitchFamily="34" charset="0"/>
                <a:ea typeface="Calibri" pitchFamily="34" charset="-122"/>
                <a:cs typeface="Calibri" pitchFamily="34" charset="-120"/>
              </a:rPr>
              <a:t>81/100 · grade B</a:t>
            </a:r>
            <a:endParaRPr lang="en-US" sz="2600" dirty="0"/>
          </a:p>
        </p:txBody>
      </p:sp>
      <p:sp>
        <p:nvSpPr>
          <p:cNvPr id="22" name="Text 17"/>
          <p:cNvSpPr/>
          <p:nvPr/>
        </p:nvSpPr>
        <p:spPr>
          <a:xfrm>
            <a:off x="6629400" y="2651760"/>
            <a:ext cx="4114800" cy="8229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19 of 268 tap targets are too small on mobile.</a:t>
            </a:r>
            <a:endParaRPr lang="en-US" sz="1200" dirty="0"/>
          </a:p>
        </p:txBody>
      </p:sp>
      <p:sp>
        <p:nvSpPr>
          <p:cNvPr id="23" name="Text 18"/>
          <p:cNvSpPr/>
          <p:nvPr/>
        </p:nvSpPr>
        <p:spPr>
          <a:xfrm>
            <a:off x="6629400" y="356616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Horizontal overflow</a:t>
            </a:r>
            <a:endParaRPr lang="en-US" sz="1000" dirty="0"/>
          </a:p>
        </p:txBody>
      </p:sp>
      <p:sp>
        <p:nvSpPr>
          <p:cNvPr id="24" name="Text 19"/>
          <p:cNvSpPr/>
          <p:nvPr/>
        </p:nvSpPr>
        <p:spPr>
          <a:xfrm>
            <a:off x="6629400" y="379476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0px</a:t>
            </a:r>
            <a:endParaRPr lang="en-US" sz="1400" dirty="0"/>
          </a:p>
        </p:txBody>
      </p:sp>
      <p:sp>
        <p:nvSpPr>
          <p:cNvPr id="25" name="Text 20"/>
          <p:cNvSpPr/>
          <p:nvPr/>
        </p:nvSpPr>
        <p:spPr>
          <a:xfrm>
            <a:off x="6629400" y="411480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Small tap targets</a:t>
            </a:r>
            <a:endParaRPr lang="en-US" sz="1000" dirty="0"/>
          </a:p>
        </p:txBody>
      </p:sp>
      <p:sp>
        <p:nvSpPr>
          <p:cNvPr id="26" name="Text 21"/>
          <p:cNvSpPr/>
          <p:nvPr/>
        </p:nvSpPr>
        <p:spPr>
          <a:xfrm>
            <a:off x="6629400" y="434340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19/268</a:t>
            </a:r>
            <a:endParaRPr lang="en-US" sz="1400" dirty="0"/>
          </a:p>
        </p:txBody>
      </p:sp>
      <p:sp>
        <p:nvSpPr>
          <p:cNvPr id="27" name="Text 22"/>
          <p:cNvSpPr/>
          <p:nvPr/>
        </p:nvSpPr>
        <p:spPr>
          <a:xfrm>
            <a:off x="6629400" y="466344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Tiny text blocks</a:t>
            </a:r>
            <a:endParaRPr lang="en-US" sz="1000" dirty="0"/>
          </a:p>
        </p:txBody>
      </p:sp>
      <p:sp>
        <p:nvSpPr>
          <p:cNvPr id="28" name="Text 23"/>
          <p:cNvSpPr/>
          <p:nvPr/>
        </p:nvSpPr>
        <p:spPr>
          <a:xfrm>
            <a:off x="6629400" y="489204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21</a:t>
            </a:r>
            <a:endParaRPr lang="en-US" sz="1400" dirty="0"/>
          </a:p>
        </p:txBody>
      </p:sp>
      <p:sp>
        <p:nvSpPr>
          <p:cNvPr id="29" name="Text 24"/>
          <p:cNvSpPr/>
          <p:nvPr/>
        </p:nvSpPr>
        <p:spPr>
          <a:xfrm>
            <a:off x="6629400" y="521208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Viewport meta</a:t>
            </a:r>
            <a:endParaRPr lang="en-US" sz="1000" dirty="0"/>
          </a:p>
        </p:txBody>
      </p:sp>
      <p:sp>
        <p:nvSpPr>
          <p:cNvPr id="30" name="Text 25"/>
          <p:cNvSpPr/>
          <p:nvPr/>
        </p:nvSpPr>
        <p:spPr>
          <a:xfrm>
            <a:off x="6629400" y="544068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yes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CHANGES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changed, and why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10</a:t>
            </a:r>
            <a:endParaRPr lang="en-US" sz="1000" dirty="0"/>
          </a:p>
        </p:txBody>
      </p:sp>
      <p:sp>
        <p:nvSpPr>
          <p:cNvPr id="11" name="Shape 8"/>
          <p:cNvSpPr/>
          <p:nvPr/>
        </p:nvSpPr>
        <p:spPr>
          <a:xfrm>
            <a:off x="548640" y="1508760"/>
            <a:ext cx="11094415" cy="694944"/>
          </a:xfrm>
          <a:prstGeom prst="roundRect">
            <a:avLst>
              <a:gd name="adj" fmla="val 13158"/>
            </a:avLst>
          </a:prstGeom>
          <a:solidFill>
            <a:srgbClr val="FFFFFF"/>
          </a:solidFill>
          <a:ln w="12700">
            <a:solidFill>
              <a:srgbClr val="DDE2EE"/>
            </a:solidFill>
            <a:prstDash val="solid"/>
          </a:ln>
        </p:spPr>
      </p:sp>
      <p:sp>
        <p:nvSpPr>
          <p:cNvPr id="12" name="Shape 9"/>
          <p:cNvSpPr/>
          <p:nvPr/>
        </p:nvSpPr>
        <p:spPr>
          <a:xfrm>
            <a:off x="548640" y="1508760"/>
            <a:ext cx="73152" cy="694944"/>
          </a:xfrm>
          <a:prstGeom prst="rect">
            <a:avLst/>
          </a:prstGeom>
          <a:solidFill>
            <a:srgbClr val="1428A0"/>
          </a:solidFill>
          <a:ln w="12700">
            <a:solidFill>
              <a:srgbClr val="1428A0"/>
            </a:solidFill>
            <a:prstDash val="solid"/>
          </a:ln>
        </p:spPr>
      </p:sp>
      <p:sp>
        <p:nvSpPr>
          <p:cNvPr id="13" name="Text 10"/>
          <p:cNvSpPr/>
          <p:nvPr/>
        </p:nvSpPr>
        <p:spPr>
          <a:xfrm>
            <a:off x="822960" y="1581912"/>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Certain ARIA roles must contain particular children</a:t>
            </a:r>
            <a:endParaRPr lang="en-US" sz="1300" dirty="0"/>
          </a:p>
        </p:txBody>
      </p:sp>
      <p:sp>
        <p:nvSpPr>
          <p:cNvPr id="14" name="Text 11"/>
          <p:cNvSpPr/>
          <p:nvPr/>
        </p:nvSpPr>
        <p:spPr>
          <a:xfrm>
            <a:off x="5349240" y="1581912"/>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15" name="Text 12"/>
          <p:cNvSpPr/>
          <p:nvPr/>
        </p:nvSpPr>
        <p:spPr>
          <a:xfrm>
            <a:off x="5806440" y="1581912"/>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16" name="Shape 13"/>
          <p:cNvSpPr/>
          <p:nvPr/>
        </p:nvSpPr>
        <p:spPr>
          <a:xfrm>
            <a:off x="548640" y="2313432"/>
            <a:ext cx="11094415" cy="694944"/>
          </a:xfrm>
          <a:prstGeom prst="roundRect">
            <a:avLst>
              <a:gd name="adj" fmla="val 13158"/>
            </a:avLst>
          </a:prstGeom>
          <a:solidFill>
            <a:srgbClr val="FFFFFF"/>
          </a:solidFill>
          <a:ln w="12700">
            <a:solidFill>
              <a:srgbClr val="DDE2EE"/>
            </a:solidFill>
            <a:prstDash val="solid"/>
          </a:ln>
        </p:spPr>
      </p:sp>
      <p:sp>
        <p:nvSpPr>
          <p:cNvPr id="17" name="Shape 14"/>
          <p:cNvSpPr/>
          <p:nvPr/>
        </p:nvSpPr>
        <p:spPr>
          <a:xfrm>
            <a:off x="548640" y="2313432"/>
            <a:ext cx="73152" cy="694944"/>
          </a:xfrm>
          <a:prstGeom prst="rect">
            <a:avLst/>
          </a:prstGeom>
          <a:solidFill>
            <a:srgbClr val="1428A0"/>
          </a:solidFill>
          <a:ln w="12700">
            <a:solidFill>
              <a:srgbClr val="1428A0"/>
            </a:solidFill>
            <a:prstDash val="solid"/>
          </a:ln>
        </p:spPr>
      </p:sp>
      <p:sp>
        <p:nvSpPr>
          <p:cNvPr id="18" name="Text 15"/>
          <p:cNvSpPr/>
          <p:nvPr/>
        </p:nvSpPr>
        <p:spPr>
          <a:xfrm>
            <a:off x="822960" y="2386584"/>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Certain ARIA roles must be contained by particular parents</a:t>
            </a:r>
            <a:endParaRPr lang="en-US" sz="1300" dirty="0"/>
          </a:p>
        </p:txBody>
      </p:sp>
      <p:sp>
        <p:nvSpPr>
          <p:cNvPr id="19" name="Text 16"/>
          <p:cNvSpPr/>
          <p:nvPr/>
        </p:nvSpPr>
        <p:spPr>
          <a:xfrm>
            <a:off x="5349240" y="2386584"/>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0" name="Text 17"/>
          <p:cNvSpPr/>
          <p:nvPr/>
        </p:nvSpPr>
        <p:spPr>
          <a:xfrm>
            <a:off x="5806440" y="2386584"/>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21" name="Shape 18"/>
          <p:cNvSpPr/>
          <p:nvPr/>
        </p:nvSpPr>
        <p:spPr>
          <a:xfrm>
            <a:off x="548640" y="3118104"/>
            <a:ext cx="11094415" cy="694944"/>
          </a:xfrm>
          <a:prstGeom prst="roundRect">
            <a:avLst>
              <a:gd name="adj" fmla="val 13158"/>
            </a:avLst>
          </a:prstGeom>
          <a:solidFill>
            <a:srgbClr val="FFFFFF"/>
          </a:solidFill>
          <a:ln w="12700">
            <a:solidFill>
              <a:srgbClr val="DDE2EE"/>
            </a:solidFill>
            <a:prstDash val="solid"/>
          </a:ln>
        </p:spPr>
      </p:sp>
      <p:sp>
        <p:nvSpPr>
          <p:cNvPr id="22" name="Shape 19"/>
          <p:cNvSpPr/>
          <p:nvPr/>
        </p:nvSpPr>
        <p:spPr>
          <a:xfrm>
            <a:off x="548640" y="3118104"/>
            <a:ext cx="73152" cy="694944"/>
          </a:xfrm>
          <a:prstGeom prst="rect">
            <a:avLst/>
          </a:prstGeom>
          <a:solidFill>
            <a:srgbClr val="1428A0"/>
          </a:solidFill>
          <a:ln w="12700">
            <a:solidFill>
              <a:srgbClr val="1428A0"/>
            </a:solidFill>
            <a:prstDash val="solid"/>
          </a:ln>
        </p:spPr>
      </p:sp>
      <p:sp>
        <p:nvSpPr>
          <p:cNvPr id="23" name="Text 20"/>
          <p:cNvSpPr/>
          <p:nvPr/>
        </p:nvSpPr>
        <p:spPr>
          <a:xfrm>
            <a:off x="822960" y="3191256"/>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Navigation has 8 items</a:t>
            </a:r>
            <a:endParaRPr lang="en-US" sz="1300" dirty="0"/>
          </a:p>
        </p:txBody>
      </p:sp>
      <p:sp>
        <p:nvSpPr>
          <p:cNvPr id="24" name="Text 21"/>
          <p:cNvSpPr/>
          <p:nvPr/>
        </p:nvSpPr>
        <p:spPr>
          <a:xfrm>
            <a:off x="5349240" y="3191256"/>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5" name="Text 22"/>
          <p:cNvSpPr/>
          <p:nvPr/>
        </p:nvSpPr>
        <p:spPr>
          <a:xfrm>
            <a:off x="5806440" y="3191256"/>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Group into 5-7 top-level items with clear labels.</a:t>
            </a:r>
            <a:endParaRPr lang="en-US" sz="1200" dirty="0"/>
          </a:p>
        </p:txBody>
      </p:sp>
      <p:sp>
        <p:nvSpPr>
          <p:cNvPr id="26" name="Shape 23"/>
          <p:cNvSpPr/>
          <p:nvPr/>
        </p:nvSpPr>
        <p:spPr>
          <a:xfrm>
            <a:off x="548640" y="3922776"/>
            <a:ext cx="11094415" cy="694944"/>
          </a:xfrm>
          <a:prstGeom prst="roundRect">
            <a:avLst>
              <a:gd name="adj" fmla="val 13158"/>
            </a:avLst>
          </a:prstGeom>
          <a:solidFill>
            <a:srgbClr val="FFFFFF"/>
          </a:solidFill>
          <a:ln w="12700">
            <a:solidFill>
              <a:srgbClr val="DDE2EE"/>
            </a:solidFill>
            <a:prstDash val="solid"/>
          </a:ln>
        </p:spPr>
      </p:sp>
      <p:sp>
        <p:nvSpPr>
          <p:cNvPr id="27" name="Shape 24"/>
          <p:cNvSpPr/>
          <p:nvPr/>
        </p:nvSpPr>
        <p:spPr>
          <a:xfrm>
            <a:off x="548640" y="3922776"/>
            <a:ext cx="73152" cy="694944"/>
          </a:xfrm>
          <a:prstGeom prst="rect">
            <a:avLst/>
          </a:prstGeom>
          <a:solidFill>
            <a:srgbClr val="1428A0"/>
          </a:solidFill>
          <a:ln w="12700">
            <a:solidFill>
              <a:srgbClr val="1428A0"/>
            </a:solidFill>
            <a:prstDash val="solid"/>
          </a:ln>
        </p:spPr>
      </p:sp>
      <p:sp>
        <p:nvSpPr>
          <p:cNvPr id="28" name="Text 25"/>
          <p:cNvSpPr/>
          <p:nvPr/>
        </p:nvSpPr>
        <p:spPr>
          <a:xfrm>
            <a:off x="822960" y="3995928"/>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19 tap targets are too small</a:t>
            </a:r>
            <a:endParaRPr lang="en-US" sz="1300" dirty="0"/>
          </a:p>
        </p:txBody>
      </p:sp>
      <p:sp>
        <p:nvSpPr>
          <p:cNvPr id="29" name="Text 26"/>
          <p:cNvSpPr/>
          <p:nvPr/>
        </p:nvSpPr>
        <p:spPr>
          <a:xfrm>
            <a:off x="5349240" y="3995928"/>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0" name="Text 27"/>
          <p:cNvSpPr/>
          <p:nvPr/>
        </p:nvSpPr>
        <p:spPr>
          <a:xfrm>
            <a:off x="5806440" y="3995928"/>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Make interactive elements at least 44x44px with spacing between them.</a:t>
            </a:r>
            <a:endParaRPr lang="en-US" sz="1200" dirty="0"/>
          </a:p>
        </p:txBody>
      </p:sp>
      <p:sp>
        <p:nvSpPr>
          <p:cNvPr id="31" name="Shape 28"/>
          <p:cNvSpPr/>
          <p:nvPr/>
        </p:nvSpPr>
        <p:spPr>
          <a:xfrm>
            <a:off x="548640" y="4727448"/>
            <a:ext cx="11094415" cy="694944"/>
          </a:xfrm>
          <a:prstGeom prst="roundRect">
            <a:avLst>
              <a:gd name="adj" fmla="val 13158"/>
            </a:avLst>
          </a:prstGeom>
          <a:solidFill>
            <a:srgbClr val="FFFFFF"/>
          </a:solidFill>
          <a:ln w="12700">
            <a:solidFill>
              <a:srgbClr val="DDE2EE"/>
            </a:solidFill>
            <a:prstDash val="solid"/>
          </a:ln>
        </p:spPr>
      </p:sp>
      <p:sp>
        <p:nvSpPr>
          <p:cNvPr id="32" name="Shape 29"/>
          <p:cNvSpPr/>
          <p:nvPr/>
        </p:nvSpPr>
        <p:spPr>
          <a:xfrm>
            <a:off x="548640" y="4727448"/>
            <a:ext cx="73152" cy="694944"/>
          </a:xfrm>
          <a:prstGeom prst="rect">
            <a:avLst/>
          </a:prstGeom>
          <a:solidFill>
            <a:srgbClr val="1428A0"/>
          </a:solidFill>
          <a:ln w="12700">
            <a:solidFill>
              <a:srgbClr val="1428A0"/>
            </a:solidFill>
            <a:prstDash val="solid"/>
          </a:ln>
        </p:spPr>
      </p:sp>
      <p:sp>
        <p:nvSpPr>
          <p:cNvPr id="33" name="Text 30"/>
          <p:cNvSpPr/>
          <p:nvPr/>
        </p:nvSpPr>
        <p:spPr>
          <a:xfrm>
            <a:off x="822960" y="4800600"/>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Text is too small to read comfortably</a:t>
            </a:r>
            <a:endParaRPr lang="en-US" sz="1300" dirty="0"/>
          </a:p>
        </p:txBody>
      </p:sp>
      <p:sp>
        <p:nvSpPr>
          <p:cNvPr id="34" name="Text 31"/>
          <p:cNvSpPr/>
          <p:nvPr/>
        </p:nvSpPr>
        <p:spPr>
          <a:xfrm>
            <a:off x="5349240" y="4800600"/>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5" name="Text 32"/>
          <p:cNvSpPr/>
          <p:nvPr/>
        </p:nvSpPr>
        <p:spPr>
          <a:xfrm>
            <a:off x="5806440" y="4800600"/>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Use a 16px base font size and a fluid type scale.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ORGANISATION MATCH</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Why Samsung SDS fits this work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11</a:t>
            </a:r>
            <a:endParaRPr lang="en-US" sz="1000" dirty="0"/>
          </a:p>
        </p:txBody>
      </p:sp>
      <p:sp>
        <p:nvSpPr>
          <p:cNvPr id="11" name="Shape 8"/>
          <p:cNvSpPr/>
          <p:nvPr/>
        </p:nvSpPr>
        <p:spPr>
          <a:xfrm>
            <a:off x="548640" y="1508760"/>
            <a:ext cx="2926080" cy="4480560"/>
          </a:xfrm>
          <a:prstGeom prst="roundRect">
            <a:avLst>
              <a:gd name="adj" fmla="val 3125"/>
            </a:avLst>
          </a:prstGeom>
          <a:solidFill>
            <a:srgbClr val="FFFFFF"/>
          </a:solidFill>
          <a:ln w="12700">
            <a:solidFill>
              <a:srgbClr val="DDE2EE"/>
            </a:solidFill>
            <a:prstDash val="solid"/>
          </a:ln>
        </p:spPr>
      </p:sp>
      <p:graphicFrame>
        <p:nvGraphicFramePr>
          <p:cNvPr id="12" name="Chart 0" descr=""/>
          <p:cNvGraphicFramePr/>
          <p:nvPr/>
        </p:nvGraphicFramePr>
        <p:xfrm>
          <a:off x="822960" y="169164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423160"/>
            <a:ext cx="2926080" cy="822960"/>
          </a:xfrm>
          <a:prstGeom prst="rect">
            <a:avLst/>
          </a:prstGeom>
          <a:noFill/>
          <a:ln/>
        </p:spPr>
        <p:txBody>
          <a:bodyPr wrap="square" lIns="0" tIns="0" rIns="0" bIns="0" rtlCol="0" anchor="ctr"/>
          <a:lstStyle/>
          <a:p>
            <a:pPr algn="ctr" indent="0" marL="0">
              <a:buNone/>
            </a:pPr>
            <a:r>
              <a:rPr lang="en-US" sz="4400" b="1" dirty="0">
                <a:solidFill>
                  <a:srgbClr val="0F9D6B"/>
                </a:solidFill>
                <a:latin typeface="Calibri" pitchFamily="34" charset="0"/>
                <a:ea typeface="Calibri" pitchFamily="34" charset="-122"/>
                <a:cs typeface="Calibri" pitchFamily="34" charset="-120"/>
              </a:rPr>
              <a:t>93</a:t>
            </a:r>
            <a:endParaRPr lang="en-US" sz="4400" dirty="0"/>
          </a:p>
        </p:txBody>
      </p:sp>
      <p:sp>
        <p:nvSpPr>
          <p:cNvPr id="14" name="Text 10"/>
          <p:cNvSpPr/>
          <p:nvPr/>
        </p:nvSpPr>
        <p:spPr>
          <a:xfrm>
            <a:off x="548640" y="4114800"/>
            <a:ext cx="2926080" cy="274320"/>
          </a:xfrm>
          <a:prstGeom prst="rect">
            <a:avLst/>
          </a:prstGeom>
          <a:noFill/>
          <a:ln/>
        </p:spPr>
        <p:txBody>
          <a:bodyPr wrap="square" lIns="0" tIns="0" rIns="0" bIns="0" rtlCol="0" anchor="t"/>
          <a:lstStyle/>
          <a:p>
            <a:pPr algn="ctr" indent="0" marL="0">
              <a:buNone/>
            </a:pPr>
            <a:r>
              <a:rPr lang="en-US" sz="1200" dirty="0">
                <a:solidFill>
                  <a:srgbClr val="5B6477"/>
                </a:solidFill>
                <a:latin typeface="Calibri" pitchFamily="34" charset="0"/>
                <a:ea typeface="Calibri" pitchFamily="34" charset="-122"/>
                <a:cs typeface="Calibri" pitchFamily="34" charset="-120"/>
              </a:rPr>
              <a:t>organisation match</a:t>
            </a:r>
            <a:endParaRPr lang="en-US" sz="1200" dirty="0"/>
          </a:p>
        </p:txBody>
      </p:sp>
      <p:sp>
        <p:nvSpPr>
          <p:cNvPr id="15" name="Text 11"/>
          <p:cNvSpPr/>
          <p:nvPr/>
        </p:nvSpPr>
        <p:spPr>
          <a:xfrm>
            <a:off x="777240" y="4434840"/>
            <a:ext cx="2560320" cy="1463040"/>
          </a:xfrm>
          <a:prstGeom prst="rect">
            <a:avLst/>
          </a:prstGeom>
          <a:noFill/>
          <a:ln/>
        </p:spPr>
        <p:txBody>
          <a:bodyPr wrap="square" lIns="0" tIns="0" rIns="0" bIns="0" rtlCol="0" anchor="t"/>
          <a:lstStyle/>
          <a:p>
            <a:pPr indent="0" marL="0">
              <a:buNone/>
            </a:pPr>
            <a:r>
              <a:rPr lang="en-US" sz="1100" b="1" dirty="0">
                <a:solidFill>
                  <a:srgbClr val="0F9D6B"/>
                </a:solidFill>
                <a:latin typeface="Calibri" pitchFamily="34" charset="0"/>
                <a:ea typeface="Calibri" pitchFamily="34" charset="-122"/>
                <a:cs typeface="Calibri" pitchFamily="34" charset="-120"/>
              </a:rPr>
              <a:t>Strengths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QA / test automation, Next.js / React, Responsive / mobile UI, UX / UI design</a:t>
            </a:r>
            <a:endParaRPr lang="en-US" sz="1100" dirty="0"/>
          </a:p>
          <a:p>
            <a:pPr indent="0" marL="0">
              <a:buNone/>
            </a:pPr>
            <a:r>
              <a:rPr lang="en-US" sz="1100" dirty="0">
                <a:solidFill>
                  <a:srgbClr val="111827"/>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F9D6B"/>
                </a:solidFill>
                <a:latin typeface="Calibri" pitchFamily="34" charset="0"/>
                <a:ea typeface="Calibri" pitchFamily="34" charset="-122"/>
                <a:cs typeface="Calibri" pitchFamily="34" charset="-120"/>
              </a:rPr>
              <a:t>Gaps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None</a:t>
            </a:r>
            <a:endParaRPr lang="en-US" sz="1100" dirty="0"/>
          </a:p>
        </p:txBody>
      </p:sp>
      <p:sp>
        <p:nvSpPr>
          <p:cNvPr id="16" name="Text 12"/>
          <p:cNvSpPr/>
          <p:nvPr/>
        </p:nvSpPr>
        <p:spPr>
          <a:xfrm>
            <a:off x="3749040" y="1508760"/>
            <a:ext cx="27432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SKILL</a:t>
            </a:r>
            <a:endParaRPr lang="en-US" sz="900" dirty="0"/>
          </a:p>
        </p:txBody>
      </p:sp>
      <p:sp>
        <p:nvSpPr>
          <p:cNvPr id="17" name="Text 13"/>
          <p:cNvSpPr/>
          <p:nvPr/>
        </p:nvSpPr>
        <p:spPr>
          <a:xfrm>
            <a:off x="6675120" y="15087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FIT</a:t>
            </a:r>
            <a:endParaRPr lang="en-US" sz="900" dirty="0"/>
          </a:p>
        </p:txBody>
      </p:sp>
      <p:sp>
        <p:nvSpPr>
          <p:cNvPr id="18" name="Text 14"/>
          <p:cNvSpPr/>
          <p:nvPr/>
        </p:nvSpPr>
        <p:spPr>
          <a:xfrm>
            <a:off x="8869680" y="1508760"/>
            <a:ext cx="13716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PEOPLE FREE</a:t>
            </a:r>
            <a:endParaRPr lang="en-US" sz="900" dirty="0"/>
          </a:p>
        </p:txBody>
      </p:sp>
      <p:sp>
        <p:nvSpPr>
          <p:cNvPr id="19" name="Text 15"/>
          <p:cNvSpPr/>
          <p:nvPr/>
        </p:nvSpPr>
        <p:spPr>
          <a:xfrm>
            <a:off x="3749040" y="1828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QA / test automation</a:t>
            </a:r>
            <a:endParaRPr lang="en-US" sz="1200" dirty="0"/>
          </a:p>
        </p:txBody>
      </p:sp>
      <p:sp>
        <p:nvSpPr>
          <p:cNvPr id="20" name="Shape 16"/>
          <p:cNvSpPr/>
          <p:nvPr/>
        </p:nvSpPr>
        <p:spPr>
          <a:xfrm>
            <a:off x="6675120" y="1956816"/>
            <a:ext cx="2011680" cy="109728"/>
          </a:xfrm>
          <a:prstGeom prst="roundRect">
            <a:avLst>
              <a:gd name="adj" fmla="val 83333"/>
            </a:avLst>
          </a:prstGeom>
          <a:solidFill>
            <a:srgbClr val="E6E9F3"/>
          </a:solidFill>
          <a:ln w="12700">
            <a:solidFill>
              <a:srgbClr val="E6E9F3"/>
            </a:solidFill>
            <a:prstDash val="solid"/>
          </a:ln>
        </p:spPr>
      </p:sp>
      <p:sp>
        <p:nvSpPr>
          <p:cNvPr id="21" name="Shape 17"/>
          <p:cNvSpPr/>
          <p:nvPr/>
        </p:nvSpPr>
        <p:spPr>
          <a:xfrm>
            <a:off x="6675120" y="1956816"/>
            <a:ext cx="2011680" cy="109728"/>
          </a:xfrm>
          <a:prstGeom prst="roundRect">
            <a:avLst>
              <a:gd name="adj" fmla="val 83333"/>
            </a:avLst>
          </a:prstGeom>
          <a:solidFill>
            <a:srgbClr val="0F9D6B"/>
          </a:solidFill>
          <a:ln w="12700">
            <a:solidFill>
              <a:srgbClr val="0F9D6B"/>
            </a:solidFill>
            <a:prstDash val="solid"/>
          </a:ln>
        </p:spPr>
      </p:sp>
      <p:sp>
        <p:nvSpPr>
          <p:cNvPr id="22" name="Text 18"/>
          <p:cNvSpPr/>
          <p:nvPr/>
        </p:nvSpPr>
        <p:spPr>
          <a:xfrm>
            <a:off x="8869680" y="1828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23" name="Shape 19"/>
          <p:cNvSpPr/>
          <p:nvPr/>
        </p:nvSpPr>
        <p:spPr>
          <a:xfrm>
            <a:off x="9921240" y="1892808"/>
            <a:ext cx="777240" cy="246888"/>
          </a:xfrm>
          <a:prstGeom prst="roundRect">
            <a:avLst>
              <a:gd name="adj" fmla="val 37037"/>
            </a:avLst>
          </a:prstGeom>
          <a:solidFill>
            <a:srgbClr val="DFF5EA"/>
          </a:solidFill>
          <a:ln w="12700">
            <a:solidFill>
              <a:srgbClr val="DFF5EA"/>
            </a:solidFill>
            <a:prstDash val="solid"/>
          </a:ln>
        </p:spPr>
      </p:sp>
      <p:sp>
        <p:nvSpPr>
          <p:cNvPr id="24" name="Text 20"/>
          <p:cNvSpPr/>
          <p:nvPr/>
        </p:nvSpPr>
        <p:spPr>
          <a:xfrm>
            <a:off x="9921240" y="1892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25" name="Text 21"/>
          <p:cNvSpPr/>
          <p:nvPr/>
        </p:nvSpPr>
        <p:spPr>
          <a:xfrm>
            <a:off x="3749040" y="2286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Accessibility (WCAG)</a:t>
            </a:r>
            <a:endParaRPr lang="en-US" sz="1200" dirty="0"/>
          </a:p>
        </p:txBody>
      </p:sp>
      <p:sp>
        <p:nvSpPr>
          <p:cNvPr id="26" name="Shape 22"/>
          <p:cNvSpPr/>
          <p:nvPr/>
        </p:nvSpPr>
        <p:spPr>
          <a:xfrm>
            <a:off x="6675120" y="2414016"/>
            <a:ext cx="2011680" cy="109728"/>
          </a:xfrm>
          <a:prstGeom prst="roundRect">
            <a:avLst>
              <a:gd name="adj" fmla="val 83333"/>
            </a:avLst>
          </a:prstGeom>
          <a:solidFill>
            <a:srgbClr val="E6E9F3"/>
          </a:solidFill>
          <a:ln w="12700">
            <a:solidFill>
              <a:srgbClr val="E6E9F3"/>
            </a:solidFill>
            <a:prstDash val="solid"/>
          </a:ln>
        </p:spPr>
      </p:sp>
      <p:sp>
        <p:nvSpPr>
          <p:cNvPr id="27" name="Shape 23"/>
          <p:cNvSpPr/>
          <p:nvPr/>
        </p:nvSpPr>
        <p:spPr>
          <a:xfrm>
            <a:off x="6675120" y="2414016"/>
            <a:ext cx="1307592" cy="109728"/>
          </a:xfrm>
          <a:prstGeom prst="roundRect">
            <a:avLst>
              <a:gd name="adj" fmla="val 83333"/>
            </a:avLst>
          </a:prstGeom>
          <a:solidFill>
            <a:srgbClr val="B7791F"/>
          </a:solidFill>
          <a:ln w="12700">
            <a:solidFill>
              <a:srgbClr val="B7791F"/>
            </a:solidFill>
            <a:prstDash val="solid"/>
          </a:ln>
        </p:spPr>
      </p:sp>
      <p:sp>
        <p:nvSpPr>
          <p:cNvPr id="28" name="Text 24"/>
          <p:cNvSpPr/>
          <p:nvPr/>
        </p:nvSpPr>
        <p:spPr>
          <a:xfrm>
            <a:off x="8869680" y="2286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a:t>
            </a:r>
            <a:endParaRPr lang="en-US" sz="1100" dirty="0"/>
          </a:p>
        </p:txBody>
      </p:sp>
      <p:sp>
        <p:nvSpPr>
          <p:cNvPr id="29" name="Shape 25"/>
          <p:cNvSpPr/>
          <p:nvPr/>
        </p:nvSpPr>
        <p:spPr>
          <a:xfrm>
            <a:off x="9921240" y="2350008"/>
            <a:ext cx="777240" cy="246888"/>
          </a:xfrm>
          <a:prstGeom prst="roundRect">
            <a:avLst>
              <a:gd name="adj" fmla="val 37037"/>
            </a:avLst>
          </a:prstGeom>
          <a:solidFill>
            <a:srgbClr val="FDF0D5"/>
          </a:solidFill>
          <a:ln w="12700">
            <a:solidFill>
              <a:srgbClr val="FDF0D5"/>
            </a:solidFill>
            <a:prstDash val="solid"/>
          </a:ln>
        </p:spPr>
      </p:sp>
      <p:sp>
        <p:nvSpPr>
          <p:cNvPr id="30" name="Text 26"/>
          <p:cNvSpPr/>
          <p:nvPr/>
        </p:nvSpPr>
        <p:spPr>
          <a:xfrm>
            <a:off x="9921240" y="23500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31" name="Text 27"/>
          <p:cNvSpPr/>
          <p:nvPr/>
        </p:nvSpPr>
        <p:spPr>
          <a:xfrm>
            <a:off x="3749040" y="2743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Next.js / React</a:t>
            </a:r>
            <a:endParaRPr lang="en-US" sz="1200" dirty="0"/>
          </a:p>
        </p:txBody>
      </p:sp>
      <p:sp>
        <p:nvSpPr>
          <p:cNvPr id="32" name="Shape 28"/>
          <p:cNvSpPr/>
          <p:nvPr/>
        </p:nvSpPr>
        <p:spPr>
          <a:xfrm>
            <a:off x="6675120" y="2871216"/>
            <a:ext cx="2011680" cy="109728"/>
          </a:xfrm>
          <a:prstGeom prst="roundRect">
            <a:avLst>
              <a:gd name="adj" fmla="val 83333"/>
            </a:avLst>
          </a:prstGeom>
          <a:solidFill>
            <a:srgbClr val="E6E9F3"/>
          </a:solidFill>
          <a:ln w="12700">
            <a:solidFill>
              <a:srgbClr val="E6E9F3"/>
            </a:solidFill>
            <a:prstDash val="solid"/>
          </a:ln>
        </p:spPr>
      </p:sp>
      <p:sp>
        <p:nvSpPr>
          <p:cNvPr id="33" name="Shape 29"/>
          <p:cNvSpPr/>
          <p:nvPr/>
        </p:nvSpPr>
        <p:spPr>
          <a:xfrm>
            <a:off x="6675120" y="2871216"/>
            <a:ext cx="2011680" cy="109728"/>
          </a:xfrm>
          <a:prstGeom prst="roundRect">
            <a:avLst>
              <a:gd name="adj" fmla="val 83333"/>
            </a:avLst>
          </a:prstGeom>
          <a:solidFill>
            <a:srgbClr val="0F9D6B"/>
          </a:solidFill>
          <a:ln w="12700">
            <a:solidFill>
              <a:srgbClr val="0F9D6B"/>
            </a:solidFill>
            <a:prstDash val="solid"/>
          </a:ln>
        </p:spPr>
      </p:sp>
      <p:sp>
        <p:nvSpPr>
          <p:cNvPr id="34" name="Text 30"/>
          <p:cNvSpPr/>
          <p:nvPr/>
        </p:nvSpPr>
        <p:spPr>
          <a:xfrm>
            <a:off x="8869680" y="2743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5 of 12</a:t>
            </a:r>
            <a:endParaRPr lang="en-US" sz="1100" dirty="0"/>
          </a:p>
        </p:txBody>
      </p:sp>
      <p:sp>
        <p:nvSpPr>
          <p:cNvPr id="35" name="Shape 31"/>
          <p:cNvSpPr/>
          <p:nvPr/>
        </p:nvSpPr>
        <p:spPr>
          <a:xfrm>
            <a:off x="9921240" y="2807208"/>
            <a:ext cx="777240" cy="246888"/>
          </a:xfrm>
          <a:prstGeom prst="roundRect">
            <a:avLst>
              <a:gd name="adj" fmla="val 37037"/>
            </a:avLst>
          </a:prstGeom>
          <a:solidFill>
            <a:srgbClr val="DFF5EA"/>
          </a:solidFill>
          <a:ln w="12700">
            <a:solidFill>
              <a:srgbClr val="DFF5EA"/>
            </a:solidFill>
            <a:prstDash val="solid"/>
          </a:ln>
        </p:spPr>
      </p:sp>
      <p:sp>
        <p:nvSpPr>
          <p:cNvPr id="36" name="Text 32"/>
          <p:cNvSpPr/>
          <p:nvPr/>
        </p:nvSpPr>
        <p:spPr>
          <a:xfrm>
            <a:off x="9921240" y="2807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7" name="Text 33"/>
          <p:cNvSpPr/>
          <p:nvPr/>
        </p:nvSpPr>
        <p:spPr>
          <a:xfrm>
            <a:off x="3749040" y="3200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Responsive / mobile UI</a:t>
            </a:r>
            <a:endParaRPr lang="en-US" sz="1200" dirty="0"/>
          </a:p>
        </p:txBody>
      </p:sp>
      <p:sp>
        <p:nvSpPr>
          <p:cNvPr id="38" name="Shape 34"/>
          <p:cNvSpPr/>
          <p:nvPr/>
        </p:nvSpPr>
        <p:spPr>
          <a:xfrm>
            <a:off x="6675120" y="3328416"/>
            <a:ext cx="2011680" cy="109728"/>
          </a:xfrm>
          <a:prstGeom prst="roundRect">
            <a:avLst>
              <a:gd name="adj" fmla="val 83333"/>
            </a:avLst>
          </a:prstGeom>
          <a:solidFill>
            <a:srgbClr val="E6E9F3"/>
          </a:solidFill>
          <a:ln w="12700">
            <a:solidFill>
              <a:srgbClr val="E6E9F3"/>
            </a:solidFill>
            <a:prstDash val="solid"/>
          </a:ln>
        </p:spPr>
      </p:sp>
      <p:sp>
        <p:nvSpPr>
          <p:cNvPr id="39" name="Shape 35"/>
          <p:cNvSpPr/>
          <p:nvPr/>
        </p:nvSpPr>
        <p:spPr>
          <a:xfrm>
            <a:off x="6675120" y="3328416"/>
            <a:ext cx="2011680" cy="109728"/>
          </a:xfrm>
          <a:prstGeom prst="roundRect">
            <a:avLst>
              <a:gd name="adj" fmla="val 83333"/>
            </a:avLst>
          </a:prstGeom>
          <a:solidFill>
            <a:srgbClr val="0F9D6B"/>
          </a:solidFill>
          <a:ln w="12700">
            <a:solidFill>
              <a:srgbClr val="0F9D6B"/>
            </a:solidFill>
            <a:prstDash val="solid"/>
          </a:ln>
        </p:spPr>
      </p:sp>
      <p:sp>
        <p:nvSpPr>
          <p:cNvPr id="40" name="Text 36"/>
          <p:cNvSpPr/>
          <p:nvPr/>
        </p:nvSpPr>
        <p:spPr>
          <a:xfrm>
            <a:off x="8869680" y="3200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4 of 9</a:t>
            </a:r>
            <a:endParaRPr lang="en-US" sz="1100" dirty="0"/>
          </a:p>
        </p:txBody>
      </p:sp>
      <p:sp>
        <p:nvSpPr>
          <p:cNvPr id="41" name="Shape 37"/>
          <p:cNvSpPr/>
          <p:nvPr/>
        </p:nvSpPr>
        <p:spPr>
          <a:xfrm>
            <a:off x="9921240" y="3264408"/>
            <a:ext cx="777240" cy="246888"/>
          </a:xfrm>
          <a:prstGeom prst="roundRect">
            <a:avLst>
              <a:gd name="adj" fmla="val 37037"/>
            </a:avLst>
          </a:prstGeom>
          <a:solidFill>
            <a:srgbClr val="DFF5EA"/>
          </a:solidFill>
          <a:ln w="12700">
            <a:solidFill>
              <a:srgbClr val="DFF5EA"/>
            </a:solidFill>
            <a:prstDash val="solid"/>
          </a:ln>
        </p:spPr>
      </p:sp>
      <p:sp>
        <p:nvSpPr>
          <p:cNvPr id="42" name="Text 38"/>
          <p:cNvSpPr/>
          <p:nvPr/>
        </p:nvSpPr>
        <p:spPr>
          <a:xfrm>
            <a:off x="9921240" y="3264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3" name="Text 39"/>
          <p:cNvSpPr/>
          <p:nvPr/>
        </p:nvSpPr>
        <p:spPr>
          <a:xfrm>
            <a:off x="3749040" y="36576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UX / UI design</a:t>
            </a:r>
            <a:endParaRPr lang="en-US" sz="1200" dirty="0"/>
          </a:p>
        </p:txBody>
      </p:sp>
      <p:sp>
        <p:nvSpPr>
          <p:cNvPr id="44" name="Shape 40"/>
          <p:cNvSpPr/>
          <p:nvPr/>
        </p:nvSpPr>
        <p:spPr>
          <a:xfrm>
            <a:off x="6675120" y="3785616"/>
            <a:ext cx="2011680" cy="109728"/>
          </a:xfrm>
          <a:prstGeom prst="roundRect">
            <a:avLst>
              <a:gd name="adj" fmla="val 83333"/>
            </a:avLst>
          </a:prstGeom>
          <a:solidFill>
            <a:srgbClr val="E6E9F3"/>
          </a:solidFill>
          <a:ln w="12700">
            <a:solidFill>
              <a:srgbClr val="E6E9F3"/>
            </a:solidFill>
            <a:prstDash val="solid"/>
          </a:ln>
        </p:spPr>
      </p:sp>
      <p:sp>
        <p:nvSpPr>
          <p:cNvPr id="45" name="Shape 41"/>
          <p:cNvSpPr/>
          <p:nvPr/>
        </p:nvSpPr>
        <p:spPr>
          <a:xfrm>
            <a:off x="6675120" y="3785616"/>
            <a:ext cx="2011680" cy="109728"/>
          </a:xfrm>
          <a:prstGeom prst="roundRect">
            <a:avLst>
              <a:gd name="adj" fmla="val 83333"/>
            </a:avLst>
          </a:prstGeom>
          <a:solidFill>
            <a:srgbClr val="0F9D6B"/>
          </a:solidFill>
          <a:ln w="12700">
            <a:solidFill>
              <a:srgbClr val="0F9D6B"/>
            </a:solidFill>
            <a:prstDash val="solid"/>
          </a:ln>
        </p:spPr>
      </p:sp>
      <p:sp>
        <p:nvSpPr>
          <p:cNvPr id="46" name="Text 42"/>
          <p:cNvSpPr/>
          <p:nvPr/>
        </p:nvSpPr>
        <p:spPr>
          <a:xfrm>
            <a:off x="8869680" y="36576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47" name="Shape 43"/>
          <p:cNvSpPr/>
          <p:nvPr/>
        </p:nvSpPr>
        <p:spPr>
          <a:xfrm>
            <a:off x="9921240" y="3721608"/>
            <a:ext cx="777240" cy="246888"/>
          </a:xfrm>
          <a:prstGeom prst="roundRect">
            <a:avLst>
              <a:gd name="adj" fmla="val 37037"/>
            </a:avLst>
          </a:prstGeom>
          <a:solidFill>
            <a:srgbClr val="DFF5EA"/>
          </a:solidFill>
          <a:ln w="12700">
            <a:solidFill>
              <a:srgbClr val="DFF5EA"/>
            </a:solidFill>
            <a:prstDash val="solid"/>
          </a:ln>
        </p:spPr>
      </p:sp>
      <p:sp>
        <p:nvSpPr>
          <p:cNvPr id="48" name="Text 44"/>
          <p:cNvSpPr/>
          <p:nvPr/>
        </p:nvSpPr>
        <p:spPr>
          <a:xfrm>
            <a:off x="9921240" y="37216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9" name="Text 45"/>
          <p:cNvSpPr/>
          <p:nvPr/>
        </p:nvSpPr>
        <p:spPr>
          <a:xfrm>
            <a:off x="3749040" y="4114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50" name="Shape 46"/>
          <p:cNvSpPr/>
          <p:nvPr/>
        </p:nvSpPr>
        <p:spPr>
          <a:xfrm>
            <a:off x="6675120" y="4242816"/>
            <a:ext cx="2011680" cy="109728"/>
          </a:xfrm>
          <a:prstGeom prst="roundRect">
            <a:avLst>
              <a:gd name="adj" fmla="val 83333"/>
            </a:avLst>
          </a:prstGeom>
          <a:solidFill>
            <a:srgbClr val="E6E9F3"/>
          </a:solidFill>
          <a:ln w="12700">
            <a:solidFill>
              <a:srgbClr val="E6E9F3"/>
            </a:solidFill>
            <a:prstDash val="solid"/>
          </a:ln>
        </p:spPr>
      </p:sp>
      <p:sp>
        <p:nvSpPr>
          <p:cNvPr id="51" name="Shape 47"/>
          <p:cNvSpPr/>
          <p:nvPr/>
        </p:nvSpPr>
        <p:spPr>
          <a:xfrm>
            <a:off x="6675120" y="4242816"/>
            <a:ext cx="2011680" cy="109728"/>
          </a:xfrm>
          <a:prstGeom prst="roundRect">
            <a:avLst>
              <a:gd name="adj" fmla="val 83333"/>
            </a:avLst>
          </a:prstGeom>
          <a:solidFill>
            <a:srgbClr val="0F9D6B"/>
          </a:solidFill>
          <a:ln w="12700">
            <a:solidFill>
              <a:srgbClr val="0F9D6B"/>
            </a:solidFill>
            <a:prstDash val="solid"/>
          </a:ln>
        </p:spPr>
      </p:sp>
      <p:sp>
        <p:nvSpPr>
          <p:cNvPr id="52" name="Text 48"/>
          <p:cNvSpPr/>
          <p:nvPr/>
        </p:nvSpPr>
        <p:spPr>
          <a:xfrm>
            <a:off x="8869680" y="4114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53" name="Shape 49"/>
          <p:cNvSpPr/>
          <p:nvPr/>
        </p:nvSpPr>
        <p:spPr>
          <a:xfrm>
            <a:off x="9921240" y="4178808"/>
            <a:ext cx="777240" cy="246888"/>
          </a:xfrm>
          <a:prstGeom prst="roundRect">
            <a:avLst>
              <a:gd name="adj" fmla="val 37037"/>
            </a:avLst>
          </a:prstGeom>
          <a:solidFill>
            <a:srgbClr val="DFF5EA"/>
          </a:solidFill>
          <a:ln w="12700">
            <a:solidFill>
              <a:srgbClr val="DFF5EA"/>
            </a:solidFill>
            <a:prstDash val="solid"/>
          </a:ln>
        </p:spPr>
      </p:sp>
      <p:sp>
        <p:nvSpPr>
          <p:cNvPr id="54" name="Text 50"/>
          <p:cNvSpPr/>
          <p:nvPr/>
        </p:nvSpPr>
        <p:spPr>
          <a:xfrm>
            <a:off x="9921240" y="4178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55" name="Text 51"/>
          <p:cNvSpPr/>
          <p:nvPr/>
        </p:nvSpPr>
        <p:spPr>
          <a:xfrm>
            <a:off x="3749040" y="4572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PHP</a:t>
            </a:r>
            <a:endParaRPr lang="en-US" sz="1200" dirty="0"/>
          </a:p>
        </p:txBody>
      </p:sp>
      <p:sp>
        <p:nvSpPr>
          <p:cNvPr id="56" name="Shape 52"/>
          <p:cNvSpPr/>
          <p:nvPr/>
        </p:nvSpPr>
        <p:spPr>
          <a:xfrm>
            <a:off x="6675120" y="4700016"/>
            <a:ext cx="2011680" cy="109728"/>
          </a:xfrm>
          <a:prstGeom prst="roundRect">
            <a:avLst>
              <a:gd name="adj" fmla="val 83333"/>
            </a:avLst>
          </a:prstGeom>
          <a:solidFill>
            <a:srgbClr val="E6E9F3"/>
          </a:solidFill>
          <a:ln w="12700">
            <a:solidFill>
              <a:srgbClr val="E6E9F3"/>
            </a:solidFill>
            <a:prstDash val="solid"/>
          </a:ln>
        </p:spPr>
      </p:sp>
      <p:sp>
        <p:nvSpPr>
          <p:cNvPr id="57" name="Shape 53"/>
          <p:cNvSpPr/>
          <p:nvPr/>
        </p:nvSpPr>
        <p:spPr>
          <a:xfrm>
            <a:off x="6675120" y="4700016"/>
            <a:ext cx="1709928" cy="109728"/>
          </a:xfrm>
          <a:prstGeom prst="roundRect">
            <a:avLst>
              <a:gd name="adj" fmla="val 83333"/>
            </a:avLst>
          </a:prstGeom>
          <a:solidFill>
            <a:srgbClr val="0F9D6B"/>
          </a:solidFill>
          <a:ln w="12700">
            <a:solidFill>
              <a:srgbClr val="0F9D6B"/>
            </a:solidFill>
            <a:prstDash val="solid"/>
          </a:ln>
        </p:spPr>
      </p:sp>
      <p:sp>
        <p:nvSpPr>
          <p:cNvPr id="58" name="Text 54"/>
          <p:cNvSpPr/>
          <p:nvPr/>
        </p:nvSpPr>
        <p:spPr>
          <a:xfrm>
            <a:off x="8869680" y="4572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59" name="Shape 55"/>
          <p:cNvSpPr/>
          <p:nvPr/>
        </p:nvSpPr>
        <p:spPr>
          <a:xfrm>
            <a:off x="9921240" y="4636008"/>
            <a:ext cx="777240" cy="246888"/>
          </a:xfrm>
          <a:prstGeom prst="roundRect">
            <a:avLst>
              <a:gd name="adj" fmla="val 37037"/>
            </a:avLst>
          </a:prstGeom>
          <a:solidFill>
            <a:srgbClr val="DFF5EA"/>
          </a:solidFill>
          <a:ln w="12700">
            <a:solidFill>
              <a:srgbClr val="DFF5EA"/>
            </a:solidFill>
            <a:prstDash val="solid"/>
          </a:ln>
        </p:spPr>
      </p:sp>
      <p:sp>
        <p:nvSpPr>
          <p:cNvPr id="60" name="Text 56"/>
          <p:cNvSpPr/>
          <p:nvPr/>
        </p:nvSpPr>
        <p:spPr>
          <a:xfrm>
            <a:off x="9921240" y="4636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1" name="Text 57"/>
          <p:cNvSpPr/>
          <p:nvPr/>
        </p:nvSpPr>
        <p:spPr>
          <a:xfrm>
            <a:off x="3749040" y="5029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Design systems</a:t>
            </a:r>
            <a:endParaRPr lang="en-US" sz="1200" dirty="0"/>
          </a:p>
        </p:txBody>
      </p:sp>
      <p:sp>
        <p:nvSpPr>
          <p:cNvPr id="62" name="Shape 58"/>
          <p:cNvSpPr/>
          <p:nvPr/>
        </p:nvSpPr>
        <p:spPr>
          <a:xfrm>
            <a:off x="6675120" y="5157216"/>
            <a:ext cx="2011680" cy="109728"/>
          </a:xfrm>
          <a:prstGeom prst="roundRect">
            <a:avLst>
              <a:gd name="adj" fmla="val 83333"/>
            </a:avLst>
          </a:prstGeom>
          <a:solidFill>
            <a:srgbClr val="E6E9F3"/>
          </a:solidFill>
          <a:ln w="12700">
            <a:solidFill>
              <a:srgbClr val="E6E9F3"/>
            </a:solidFill>
            <a:prstDash val="solid"/>
          </a:ln>
        </p:spPr>
      </p:sp>
      <p:sp>
        <p:nvSpPr>
          <p:cNvPr id="63" name="Shape 59"/>
          <p:cNvSpPr/>
          <p:nvPr/>
        </p:nvSpPr>
        <p:spPr>
          <a:xfrm>
            <a:off x="6675120" y="5157216"/>
            <a:ext cx="2011680" cy="109728"/>
          </a:xfrm>
          <a:prstGeom prst="roundRect">
            <a:avLst>
              <a:gd name="adj" fmla="val 83333"/>
            </a:avLst>
          </a:prstGeom>
          <a:solidFill>
            <a:srgbClr val="0F9D6B"/>
          </a:solidFill>
          <a:ln w="12700">
            <a:solidFill>
              <a:srgbClr val="0F9D6B"/>
            </a:solidFill>
            <a:prstDash val="solid"/>
          </a:ln>
        </p:spPr>
      </p:sp>
      <p:sp>
        <p:nvSpPr>
          <p:cNvPr id="64" name="Text 60"/>
          <p:cNvSpPr/>
          <p:nvPr/>
        </p:nvSpPr>
        <p:spPr>
          <a:xfrm>
            <a:off x="8869680" y="5029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65" name="Shape 61"/>
          <p:cNvSpPr/>
          <p:nvPr/>
        </p:nvSpPr>
        <p:spPr>
          <a:xfrm>
            <a:off x="9921240" y="5093208"/>
            <a:ext cx="777240" cy="246888"/>
          </a:xfrm>
          <a:prstGeom prst="roundRect">
            <a:avLst>
              <a:gd name="adj" fmla="val 37037"/>
            </a:avLst>
          </a:prstGeom>
          <a:solidFill>
            <a:srgbClr val="DFF5EA"/>
          </a:solidFill>
          <a:ln w="12700">
            <a:solidFill>
              <a:srgbClr val="DFF5EA"/>
            </a:solidFill>
            <a:prstDash val="solid"/>
          </a:ln>
        </p:spPr>
      </p:sp>
      <p:sp>
        <p:nvSpPr>
          <p:cNvPr id="66" name="Text 62"/>
          <p:cNvSpPr/>
          <p:nvPr/>
        </p:nvSpPr>
        <p:spPr>
          <a:xfrm>
            <a:off x="9921240" y="5093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7" name="Text 63"/>
          <p:cNvSpPr/>
          <p:nvPr/>
        </p:nvSpPr>
        <p:spPr>
          <a:xfrm>
            <a:off x="3749040" y="5486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Delivery / project management</a:t>
            </a:r>
            <a:endParaRPr lang="en-US" sz="1200" dirty="0"/>
          </a:p>
        </p:txBody>
      </p:sp>
      <p:sp>
        <p:nvSpPr>
          <p:cNvPr id="68" name="Shape 64"/>
          <p:cNvSpPr/>
          <p:nvPr/>
        </p:nvSpPr>
        <p:spPr>
          <a:xfrm>
            <a:off x="6675120" y="5614416"/>
            <a:ext cx="2011680" cy="109728"/>
          </a:xfrm>
          <a:prstGeom prst="roundRect">
            <a:avLst>
              <a:gd name="adj" fmla="val 83333"/>
            </a:avLst>
          </a:prstGeom>
          <a:solidFill>
            <a:srgbClr val="E6E9F3"/>
          </a:solidFill>
          <a:ln w="12700">
            <a:solidFill>
              <a:srgbClr val="E6E9F3"/>
            </a:solidFill>
            <a:prstDash val="solid"/>
          </a:ln>
        </p:spPr>
      </p:sp>
      <p:sp>
        <p:nvSpPr>
          <p:cNvPr id="69" name="Shape 65"/>
          <p:cNvSpPr/>
          <p:nvPr/>
        </p:nvSpPr>
        <p:spPr>
          <a:xfrm>
            <a:off x="6675120" y="5614416"/>
            <a:ext cx="2011680" cy="109728"/>
          </a:xfrm>
          <a:prstGeom prst="roundRect">
            <a:avLst>
              <a:gd name="adj" fmla="val 83333"/>
            </a:avLst>
          </a:prstGeom>
          <a:solidFill>
            <a:srgbClr val="0F9D6B"/>
          </a:solidFill>
          <a:ln w="12700">
            <a:solidFill>
              <a:srgbClr val="0F9D6B"/>
            </a:solidFill>
            <a:prstDash val="solid"/>
          </a:ln>
        </p:spPr>
      </p:sp>
      <p:sp>
        <p:nvSpPr>
          <p:cNvPr id="70" name="Text 66"/>
          <p:cNvSpPr/>
          <p:nvPr/>
        </p:nvSpPr>
        <p:spPr>
          <a:xfrm>
            <a:off x="8869680" y="5486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a:t>
            </a:r>
            <a:endParaRPr lang="en-US" sz="1100" dirty="0"/>
          </a:p>
        </p:txBody>
      </p:sp>
      <p:sp>
        <p:nvSpPr>
          <p:cNvPr id="71" name="Shape 67"/>
          <p:cNvSpPr/>
          <p:nvPr/>
        </p:nvSpPr>
        <p:spPr>
          <a:xfrm>
            <a:off x="9921240" y="5550408"/>
            <a:ext cx="777240" cy="246888"/>
          </a:xfrm>
          <a:prstGeom prst="roundRect">
            <a:avLst>
              <a:gd name="adj" fmla="val 37037"/>
            </a:avLst>
          </a:prstGeom>
          <a:solidFill>
            <a:srgbClr val="DFF5EA"/>
          </a:solidFill>
          <a:ln w="12700">
            <a:solidFill>
              <a:srgbClr val="DFF5EA"/>
            </a:solidFill>
            <a:prstDash val="solid"/>
          </a:ln>
        </p:spPr>
      </p:sp>
      <p:sp>
        <p:nvSpPr>
          <p:cNvPr id="72" name="Text 68"/>
          <p:cNvSpPr/>
          <p:nvPr/>
        </p:nvSpPr>
        <p:spPr>
          <a:xfrm>
            <a:off x="9921240" y="5550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PROPOSED TEAM</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team we would put on it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12</a:t>
            </a:r>
            <a:endParaRPr lang="en-US" sz="1000" dirty="0"/>
          </a:p>
        </p:txBody>
      </p:sp>
      <p:sp>
        <p:nvSpPr>
          <p:cNvPr id="11" name="Shape 8"/>
          <p:cNvSpPr/>
          <p:nvPr/>
        </p:nvSpPr>
        <p:spPr>
          <a:xfrm>
            <a:off x="548640" y="1508760"/>
            <a:ext cx="3545738" cy="2148840"/>
          </a:xfrm>
          <a:prstGeom prst="roundRect">
            <a:avLst>
              <a:gd name="adj" fmla="val 4255"/>
            </a:avLst>
          </a:prstGeom>
          <a:solidFill>
            <a:srgbClr val="FFFFFF"/>
          </a:solidFill>
          <a:ln w="12700">
            <a:solidFill>
              <a:srgbClr val="DDE2EE"/>
            </a:solidFill>
            <a:prstDash val="solid"/>
          </a:ln>
        </p:spPr>
      </p:sp>
      <p:sp>
        <p:nvSpPr>
          <p:cNvPr id="12" name="Shape 9"/>
          <p:cNvSpPr/>
          <p:nvPr/>
        </p:nvSpPr>
        <p:spPr>
          <a:xfrm>
            <a:off x="777240" y="1737360"/>
            <a:ext cx="640080" cy="640080"/>
          </a:xfrm>
          <a:prstGeom prst="ellipse">
            <a:avLst/>
          </a:prstGeom>
          <a:solidFill>
            <a:srgbClr val="0F8B8D"/>
          </a:solidFill>
          <a:ln w="12700">
            <a:solidFill>
              <a:srgbClr val="0F8B8D"/>
            </a:solidFill>
            <a:prstDash val="solid"/>
          </a:ln>
        </p:spPr>
      </p:sp>
      <p:sp>
        <p:nvSpPr>
          <p:cNvPr id="13" name="Text 10"/>
          <p:cNvSpPr/>
          <p:nvPr/>
        </p:nvSpPr>
        <p:spPr>
          <a:xfrm>
            <a:off x="7772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VD</a:t>
            </a:r>
            <a:endParaRPr lang="en-US" sz="1800" dirty="0"/>
          </a:p>
        </p:txBody>
      </p:sp>
      <p:sp>
        <p:nvSpPr>
          <p:cNvPr id="14" name="Text 11"/>
          <p:cNvSpPr/>
          <p:nvPr/>
        </p:nvSpPr>
        <p:spPr>
          <a:xfrm>
            <a:off x="1554480"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Vikram Das</a:t>
            </a:r>
            <a:endParaRPr lang="en-US" sz="1500" dirty="0"/>
          </a:p>
        </p:txBody>
      </p:sp>
      <p:sp>
        <p:nvSpPr>
          <p:cNvPr id="15" name="Text 12"/>
          <p:cNvSpPr/>
          <p:nvPr/>
        </p:nvSpPr>
        <p:spPr>
          <a:xfrm>
            <a:off x="1554480"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Design Systems Engineer</a:t>
            </a:r>
            <a:endParaRPr lang="en-US" sz="1100" dirty="0"/>
          </a:p>
        </p:txBody>
      </p:sp>
      <p:sp>
        <p:nvSpPr>
          <p:cNvPr id="16" name="Text 13"/>
          <p:cNvSpPr/>
          <p:nvPr/>
        </p:nvSpPr>
        <p:spPr>
          <a:xfrm>
            <a:off x="3225698"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81%</a:t>
            </a:r>
            <a:endParaRPr lang="en-US" sz="2000" dirty="0"/>
          </a:p>
        </p:txBody>
      </p:sp>
      <p:sp>
        <p:nvSpPr>
          <p:cNvPr id="17" name="Text 14"/>
          <p:cNvSpPr/>
          <p:nvPr/>
        </p:nvSpPr>
        <p:spPr>
          <a:xfrm>
            <a:off x="3225698"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18" name="Text 15"/>
          <p:cNvSpPr/>
          <p:nvPr/>
        </p:nvSpPr>
        <p:spPr>
          <a:xfrm>
            <a:off x="777240"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design-systems · nextjs · responsive-ui</a:t>
            </a:r>
            <a:endParaRPr lang="en-US" sz="1100" dirty="0"/>
          </a:p>
        </p:txBody>
      </p:sp>
      <p:sp>
        <p:nvSpPr>
          <p:cNvPr id="19" name="Text 16"/>
          <p:cNvSpPr/>
          <p:nvPr/>
        </p:nvSpPr>
        <p:spPr>
          <a:xfrm>
            <a:off x="777240"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20" name="Text 17"/>
          <p:cNvSpPr/>
          <p:nvPr/>
        </p:nvSpPr>
        <p:spPr>
          <a:xfrm>
            <a:off x="777240"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design-systems, nextjs, responsive-ui; free from 2026-11-02. Needed for design-sy…</a:t>
            </a:r>
            <a:endParaRPr lang="en-US" sz="900" dirty="0"/>
          </a:p>
        </p:txBody>
      </p:sp>
      <p:sp>
        <p:nvSpPr>
          <p:cNvPr id="21" name="Shape 18"/>
          <p:cNvSpPr/>
          <p:nvPr/>
        </p:nvSpPr>
        <p:spPr>
          <a:xfrm>
            <a:off x="4322978" y="1508760"/>
            <a:ext cx="3545738" cy="2148840"/>
          </a:xfrm>
          <a:prstGeom prst="roundRect">
            <a:avLst>
              <a:gd name="adj" fmla="val 4255"/>
            </a:avLst>
          </a:prstGeom>
          <a:solidFill>
            <a:srgbClr val="FFFFFF"/>
          </a:solidFill>
          <a:ln w="12700">
            <a:solidFill>
              <a:srgbClr val="DDE2EE"/>
            </a:solidFill>
            <a:prstDash val="solid"/>
          </a:ln>
        </p:spPr>
      </p:sp>
      <p:sp>
        <p:nvSpPr>
          <p:cNvPr id="22" name="Shape 19"/>
          <p:cNvSpPr/>
          <p:nvPr/>
        </p:nvSpPr>
        <p:spPr>
          <a:xfrm>
            <a:off x="4551578" y="1737360"/>
            <a:ext cx="640080" cy="640080"/>
          </a:xfrm>
          <a:prstGeom prst="ellipse">
            <a:avLst/>
          </a:prstGeom>
          <a:solidFill>
            <a:srgbClr val="0F8B8D"/>
          </a:solidFill>
          <a:ln w="12700">
            <a:solidFill>
              <a:srgbClr val="0F8B8D"/>
            </a:solidFill>
            <a:prstDash val="solid"/>
          </a:ln>
        </p:spPr>
      </p:sp>
      <p:sp>
        <p:nvSpPr>
          <p:cNvPr id="23" name="Text 20"/>
          <p:cNvSpPr/>
          <p:nvPr/>
        </p:nvSpPr>
        <p:spPr>
          <a:xfrm>
            <a:off x="455157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AM</a:t>
            </a:r>
            <a:endParaRPr lang="en-US" sz="1800" dirty="0"/>
          </a:p>
        </p:txBody>
      </p:sp>
      <p:sp>
        <p:nvSpPr>
          <p:cNvPr id="24" name="Text 21"/>
          <p:cNvSpPr/>
          <p:nvPr/>
        </p:nvSpPr>
        <p:spPr>
          <a:xfrm>
            <a:off x="5328818"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Aarav Mehta</a:t>
            </a:r>
            <a:endParaRPr lang="en-US" sz="1500" dirty="0"/>
          </a:p>
        </p:txBody>
      </p:sp>
      <p:sp>
        <p:nvSpPr>
          <p:cNvPr id="25" name="Text 22"/>
          <p:cNvSpPr/>
          <p:nvPr/>
        </p:nvSpPr>
        <p:spPr>
          <a:xfrm>
            <a:off x="5328818"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26" name="Text 23"/>
          <p:cNvSpPr/>
          <p:nvPr/>
        </p:nvSpPr>
        <p:spPr>
          <a:xfrm>
            <a:off x="7000037"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80%</a:t>
            </a:r>
            <a:endParaRPr lang="en-US" sz="2000" dirty="0"/>
          </a:p>
        </p:txBody>
      </p:sp>
      <p:sp>
        <p:nvSpPr>
          <p:cNvPr id="27" name="Text 24"/>
          <p:cNvSpPr/>
          <p:nvPr/>
        </p:nvSpPr>
        <p:spPr>
          <a:xfrm>
            <a:off x="7000037"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28" name="Text 25"/>
          <p:cNvSpPr/>
          <p:nvPr/>
        </p:nvSpPr>
        <p:spPr>
          <a:xfrm>
            <a:off x="4551578"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a:t>
            </a:r>
            <a:endParaRPr lang="en-US" sz="1100" dirty="0"/>
          </a:p>
        </p:txBody>
      </p:sp>
      <p:sp>
        <p:nvSpPr>
          <p:cNvPr id="29" name="Text 26"/>
          <p:cNvSpPr/>
          <p:nvPr/>
        </p:nvSpPr>
        <p:spPr>
          <a:xfrm>
            <a:off x="4551578"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2026-11-02</a:t>
            </a:r>
            <a:endParaRPr lang="en-US" sz="1050" dirty="0"/>
          </a:p>
        </p:txBody>
      </p:sp>
      <p:sp>
        <p:nvSpPr>
          <p:cNvPr id="30" name="Text 27"/>
          <p:cNvSpPr/>
          <p:nvPr/>
        </p:nvSpPr>
        <p:spPr>
          <a:xfrm>
            <a:off x="4551578"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free from 2026-11-02. Needed for nextjs (weight 0.8).</a:t>
            </a:r>
            <a:endParaRPr lang="en-US" sz="900" dirty="0"/>
          </a:p>
        </p:txBody>
      </p:sp>
      <p:sp>
        <p:nvSpPr>
          <p:cNvPr id="31" name="Shape 28"/>
          <p:cNvSpPr/>
          <p:nvPr/>
        </p:nvSpPr>
        <p:spPr>
          <a:xfrm>
            <a:off x="8097317" y="1508760"/>
            <a:ext cx="3545738" cy="2148840"/>
          </a:xfrm>
          <a:prstGeom prst="roundRect">
            <a:avLst>
              <a:gd name="adj" fmla="val 4255"/>
            </a:avLst>
          </a:prstGeom>
          <a:solidFill>
            <a:srgbClr val="FFFFFF"/>
          </a:solidFill>
          <a:ln w="12700">
            <a:solidFill>
              <a:srgbClr val="DDE2EE"/>
            </a:solidFill>
            <a:prstDash val="solid"/>
          </a:ln>
        </p:spPr>
      </p:sp>
      <p:sp>
        <p:nvSpPr>
          <p:cNvPr id="32" name="Shape 29"/>
          <p:cNvSpPr/>
          <p:nvPr/>
        </p:nvSpPr>
        <p:spPr>
          <a:xfrm>
            <a:off x="8325917" y="1737360"/>
            <a:ext cx="640080" cy="640080"/>
          </a:xfrm>
          <a:prstGeom prst="ellipse">
            <a:avLst/>
          </a:prstGeom>
          <a:solidFill>
            <a:srgbClr val="5B3FD0"/>
          </a:solidFill>
          <a:ln w="12700">
            <a:solidFill>
              <a:srgbClr val="5B3FD0"/>
            </a:solidFill>
            <a:prstDash val="solid"/>
          </a:ln>
        </p:spPr>
      </p:sp>
      <p:sp>
        <p:nvSpPr>
          <p:cNvPr id="33" name="Text 30"/>
          <p:cNvSpPr/>
          <p:nvPr/>
        </p:nvSpPr>
        <p:spPr>
          <a:xfrm>
            <a:off x="8325917"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DM</a:t>
            </a:r>
            <a:endParaRPr lang="en-US" sz="1800" dirty="0"/>
          </a:p>
        </p:txBody>
      </p:sp>
      <p:sp>
        <p:nvSpPr>
          <p:cNvPr id="34" name="Text 31"/>
          <p:cNvSpPr/>
          <p:nvPr/>
        </p:nvSpPr>
        <p:spPr>
          <a:xfrm>
            <a:off x="9103157"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Dev Malhotra</a:t>
            </a:r>
            <a:endParaRPr lang="en-US" sz="1500" dirty="0"/>
          </a:p>
        </p:txBody>
      </p:sp>
      <p:sp>
        <p:nvSpPr>
          <p:cNvPr id="35" name="Text 32"/>
          <p:cNvSpPr/>
          <p:nvPr/>
        </p:nvSpPr>
        <p:spPr>
          <a:xfrm>
            <a:off x="9103157"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36" name="Text 33"/>
          <p:cNvSpPr/>
          <p:nvPr/>
        </p:nvSpPr>
        <p:spPr>
          <a:xfrm>
            <a:off x="10774375"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80%</a:t>
            </a:r>
            <a:endParaRPr lang="en-US" sz="2000" dirty="0"/>
          </a:p>
        </p:txBody>
      </p:sp>
      <p:sp>
        <p:nvSpPr>
          <p:cNvPr id="37" name="Text 34"/>
          <p:cNvSpPr/>
          <p:nvPr/>
        </p:nvSpPr>
        <p:spPr>
          <a:xfrm>
            <a:off x="10774375"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38" name="Text 35"/>
          <p:cNvSpPr/>
          <p:nvPr/>
        </p:nvSpPr>
        <p:spPr>
          <a:xfrm>
            <a:off x="8325917"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a:t>
            </a:r>
            <a:endParaRPr lang="en-US" sz="1100" dirty="0"/>
          </a:p>
        </p:txBody>
      </p:sp>
      <p:sp>
        <p:nvSpPr>
          <p:cNvPr id="39" name="Text 36"/>
          <p:cNvSpPr/>
          <p:nvPr/>
        </p:nvSpPr>
        <p:spPr>
          <a:xfrm>
            <a:off x="8325917"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2026-11-09</a:t>
            </a:r>
            <a:endParaRPr lang="en-US" sz="1050" dirty="0"/>
          </a:p>
        </p:txBody>
      </p:sp>
      <p:sp>
        <p:nvSpPr>
          <p:cNvPr id="40" name="Text 37"/>
          <p:cNvSpPr/>
          <p:nvPr/>
        </p:nvSpPr>
        <p:spPr>
          <a:xfrm>
            <a:off x="8325917"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free from 2026-11-09. Needed for responsive-ui (weight 0.7…</a:t>
            </a:r>
            <a:endParaRPr lang="en-US" sz="900" dirty="0"/>
          </a:p>
        </p:txBody>
      </p:sp>
      <p:sp>
        <p:nvSpPr>
          <p:cNvPr id="41" name="Shape 38"/>
          <p:cNvSpPr/>
          <p:nvPr/>
        </p:nvSpPr>
        <p:spPr>
          <a:xfrm>
            <a:off x="548640" y="3886200"/>
            <a:ext cx="3545738" cy="2148840"/>
          </a:xfrm>
          <a:prstGeom prst="roundRect">
            <a:avLst>
              <a:gd name="adj" fmla="val 4255"/>
            </a:avLst>
          </a:prstGeom>
          <a:solidFill>
            <a:srgbClr val="FFFFFF"/>
          </a:solidFill>
          <a:ln w="12700">
            <a:solidFill>
              <a:srgbClr val="DDE2EE"/>
            </a:solidFill>
            <a:prstDash val="solid"/>
          </a:ln>
        </p:spPr>
      </p:sp>
      <p:sp>
        <p:nvSpPr>
          <p:cNvPr id="42" name="Shape 39"/>
          <p:cNvSpPr/>
          <p:nvPr/>
        </p:nvSpPr>
        <p:spPr>
          <a:xfrm>
            <a:off x="777240" y="4114800"/>
            <a:ext cx="640080" cy="640080"/>
          </a:xfrm>
          <a:prstGeom prst="ellipse">
            <a:avLst/>
          </a:prstGeom>
          <a:solidFill>
            <a:srgbClr val="5B3FD0"/>
          </a:solidFill>
          <a:ln w="12700">
            <a:solidFill>
              <a:srgbClr val="5B3FD0"/>
            </a:solidFill>
            <a:prstDash val="solid"/>
          </a:ln>
        </p:spPr>
      </p:sp>
      <p:sp>
        <p:nvSpPr>
          <p:cNvPr id="43" name="Text 40"/>
          <p:cNvSpPr/>
          <p:nvPr/>
        </p:nvSpPr>
        <p:spPr>
          <a:xfrm>
            <a:off x="777240"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IP</a:t>
            </a:r>
            <a:endParaRPr lang="en-US" sz="1800" dirty="0"/>
          </a:p>
        </p:txBody>
      </p:sp>
      <p:sp>
        <p:nvSpPr>
          <p:cNvPr id="44" name="Text 41"/>
          <p:cNvSpPr/>
          <p:nvPr/>
        </p:nvSpPr>
        <p:spPr>
          <a:xfrm>
            <a:off x="1554480"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Isha Patel</a:t>
            </a:r>
            <a:endParaRPr lang="en-US" sz="1500" dirty="0"/>
          </a:p>
        </p:txBody>
      </p:sp>
      <p:sp>
        <p:nvSpPr>
          <p:cNvPr id="45" name="Text 42"/>
          <p:cNvSpPr/>
          <p:nvPr/>
        </p:nvSpPr>
        <p:spPr>
          <a:xfrm>
            <a:off x="1554480"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QA Automation Engineer</a:t>
            </a:r>
            <a:endParaRPr lang="en-US" sz="1100" dirty="0"/>
          </a:p>
        </p:txBody>
      </p:sp>
      <p:sp>
        <p:nvSpPr>
          <p:cNvPr id="46" name="Text 43"/>
          <p:cNvSpPr/>
          <p:nvPr/>
        </p:nvSpPr>
        <p:spPr>
          <a:xfrm>
            <a:off x="3225698"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78%</a:t>
            </a:r>
            <a:endParaRPr lang="en-US" sz="2000" dirty="0"/>
          </a:p>
        </p:txBody>
      </p:sp>
      <p:sp>
        <p:nvSpPr>
          <p:cNvPr id="47" name="Text 44"/>
          <p:cNvSpPr/>
          <p:nvPr/>
        </p:nvSpPr>
        <p:spPr>
          <a:xfrm>
            <a:off x="3225698"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48" name="Text 45"/>
          <p:cNvSpPr/>
          <p:nvPr/>
        </p:nvSpPr>
        <p:spPr>
          <a:xfrm>
            <a:off x="777240"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qa-testing · a11y</a:t>
            </a:r>
            <a:endParaRPr lang="en-US" sz="1100" dirty="0"/>
          </a:p>
        </p:txBody>
      </p:sp>
      <p:sp>
        <p:nvSpPr>
          <p:cNvPr id="49" name="Text 46"/>
          <p:cNvSpPr/>
          <p:nvPr/>
        </p:nvSpPr>
        <p:spPr>
          <a:xfrm>
            <a:off x="777240"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2026-11-09</a:t>
            </a:r>
            <a:endParaRPr lang="en-US" sz="1050" dirty="0"/>
          </a:p>
        </p:txBody>
      </p:sp>
      <p:sp>
        <p:nvSpPr>
          <p:cNvPr id="50" name="Text 47"/>
          <p:cNvSpPr/>
          <p:nvPr/>
        </p:nvSpPr>
        <p:spPr>
          <a:xfrm>
            <a:off x="777240"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qa-testing, a11y; free from 2026-11-09. Needed for qa-testing (weight 1.0).</a:t>
            </a:r>
            <a:endParaRPr lang="en-US" sz="900" dirty="0"/>
          </a:p>
        </p:txBody>
      </p:sp>
      <p:sp>
        <p:nvSpPr>
          <p:cNvPr id="51" name="Shape 48"/>
          <p:cNvSpPr/>
          <p:nvPr/>
        </p:nvSpPr>
        <p:spPr>
          <a:xfrm>
            <a:off x="4322978" y="3886200"/>
            <a:ext cx="3545738" cy="2148840"/>
          </a:xfrm>
          <a:prstGeom prst="roundRect">
            <a:avLst>
              <a:gd name="adj" fmla="val 4255"/>
            </a:avLst>
          </a:prstGeom>
          <a:solidFill>
            <a:srgbClr val="FFFFFF"/>
          </a:solidFill>
          <a:ln w="12700">
            <a:solidFill>
              <a:srgbClr val="DDE2EE"/>
            </a:solidFill>
            <a:prstDash val="solid"/>
          </a:ln>
        </p:spPr>
      </p:sp>
      <p:sp>
        <p:nvSpPr>
          <p:cNvPr id="52" name="Shape 49"/>
          <p:cNvSpPr/>
          <p:nvPr/>
        </p:nvSpPr>
        <p:spPr>
          <a:xfrm>
            <a:off x="4551578" y="4114800"/>
            <a:ext cx="640080" cy="640080"/>
          </a:xfrm>
          <a:prstGeom prst="ellipse">
            <a:avLst/>
          </a:prstGeom>
          <a:solidFill>
            <a:srgbClr val="2A6CF0"/>
          </a:solidFill>
          <a:ln w="12700">
            <a:solidFill>
              <a:srgbClr val="2A6CF0"/>
            </a:solidFill>
            <a:prstDash val="solid"/>
          </a:ln>
        </p:spPr>
      </p:sp>
      <p:sp>
        <p:nvSpPr>
          <p:cNvPr id="53" name="Text 50"/>
          <p:cNvSpPr/>
          <p:nvPr/>
        </p:nvSpPr>
        <p:spPr>
          <a:xfrm>
            <a:off x="4551578"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a:t>
            </a:r>
            <a:endParaRPr lang="en-US" sz="1800" dirty="0"/>
          </a:p>
        </p:txBody>
      </p:sp>
      <p:sp>
        <p:nvSpPr>
          <p:cNvPr id="54" name="Text 51"/>
          <p:cNvSpPr/>
          <p:nvPr/>
        </p:nvSpPr>
        <p:spPr>
          <a:xfrm>
            <a:off x="5328818"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Zoya Ali</a:t>
            </a:r>
            <a:endParaRPr lang="en-US" sz="1500" dirty="0"/>
          </a:p>
        </p:txBody>
      </p:sp>
      <p:sp>
        <p:nvSpPr>
          <p:cNvPr id="55" name="Text 52"/>
          <p:cNvSpPr/>
          <p:nvPr/>
        </p:nvSpPr>
        <p:spPr>
          <a:xfrm>
            <a:off x="5328818"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Specialist</a:t>
            </a:r>
            <a:endParaRPr lang="en-US" sz="1100" dirty="0"/>
          </a:p>
        </p:txBody>
      </p:sp>
      <p:sp>
        <p:nvSpPr>
          <p:cNvPr id="56" name="Text 53"/>
          <p:cNvSpPr/>
          <p:nvPr/>
        </p:nvSpPr>
        <p:spPr>
          <a:xfrm>
            <a:off x="7000037"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78%</a:t>
            </a:r>
            <a:endParaRPr lang="en-US" sz="2000" dirty="0"/>
          </a:p>
        </p:txBody>
      </p:sp>
      <p:sp>
        <p:nvSpPr>
          <p:cNvPr id="57" name="Text 54"/>
          <p:cNvSpPr/>
          <p:nvPr/>
        </p:nvSpPr>
        <p:spPr>
          <a:xfrm>
            <a:off x="7000037"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58" name="Text 55"/>
          <p:cNvSpPr/>
          <p:nvPr/>
        </p:nvSpPr>
        <p:spPr>
          <a:xfrm>
            <a:off x="4551578"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a11y · qa-testing · responsive-ui</a:t>
            </a:r>
            <a:endParaRPr lang="en-US" sz="1100" dirty="0"/>
          </a:p>
        </p:txBody>
      </p:sp>
      <p:sp>
        <p:nvSpPr>
          <p:cNvPr id="59" name="Text 56"/>
          <p:cNvSpPr/>
          <p:nvPr/>
        </p:nvSpPr>
        <p:spPr>
          <a:xfrm>
            <a:off x="4551578"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3/5 · available from 2026-11-02</a:t>
            </a:r>
            <a:endParaRPr lang="en-US" sz="1050" dirty="0"/>
          </a:p>
        </p:txBody>
      </p:sp>
      <p:sp>
        <p:nvSpPr>
          <p:cNvPr id="60" name="Text 57"/>
          <p:cNvSpPr/>
          <p:nvPr/>
        </p:nvSpPr>
        <p:spPr>
          <a:xfrm>
            <a:off x="4551578"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3/5 in a11y, qa-testing, responsive-ui; free from 2026-11-02. Needed for a11y (weight 1.…</a:t>
            </a:r>
            <a:endParaRPr lang="en-US" sz="900" dirty="0"/>
          </a:p>
        </p:txBody>
      </p:sp>
      <p:sp>
        <p:nvSpPr>
          <p:cNvPr id="61" name="Shape 58"/>
          <p:cNvSpPr/>
          <p:nvPr/>
        </p:nvSpPr>
        <p:spPr>
          <a:xfrm>
            <a:off x="8097317" y="3886200"/>
            <a:ext cx="3545738" cy="2148840"/>
          </a:xfrm>
          <a:prstGeom prst="roundRect">
            <a:avLst>
              <a:gd name="adj" fmla="val 4255"/>
            </a:avLst>
          </a:prstGeom>
          <a:solidFill>
            <a:srgbClr val="FFFFFF"/>
          </a:solidFill>
          <a:ln w="12700">
            <a:solidFill>
              <a:srgbClr val="DDE2EE"/>
            </a:solidFill>
            <a:prstDash val="solid"/>
          </a:ln>
        </p:spPr>
      </p:sp>
      <p:sp>
        <p:nvSpPr>
          <p:cNvPr id="62" name="Shape 59"/>
          <p:cNvSpPr/>
          <p:nvPr/>
        </p:nvSpPr>
        <p:spPr>
          <a:xfrm>
            <a:off x="8325917" y="4114800"/>
            <a:ext cx="640080" cy="640080"/>
          </a:xfrm>
          <a:prstGeom prst="ellipse">
            <a:avLst/>
          </a:prstGeom>
          <a:solidFill>
            <a:srgbClr val="0F8B8D"/>
          </a:solidFill>
          <a:ln w="12700">
            <a:solidFill>
              <a:srgbClr val="0F8B8D"/>
            </a:solidFill>
            <a:prstDash val="solid"/>
          </a:ln>
        </p:spPr>
      </p:sp>
      <p:sp>
        <p:nvSpPr>
          <p:cNvPr id="63" name="Text 60"/>
          <p:cNvSpPr/>
          <p:nvPr/>
        </p:nvSpPr>
        <p:spPr>
          <a:xfrm>
            <a:off x="8325917"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AR</a:t>
            </a:r>
            <a:endParaRPr lang="en-US" sz="1800" dirty="0"/>
          </a:p>
        </p:txBody>
      </p:sp>
      <p:sp>
        <p:nvSpPr>
          <p:cNvPr id="64" name="Text 61"/>
          <p:cNvSpPr/>
          <p:nvPr/>
        </p:nvSpPr>
        <p:spPr>
          <a:xfrm>
            <a:off x="9103157"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Ananya Rao</a:t>
            </a:r>
            <a:endParaRPr lang="en-US" sz="1500" dirty="0"/>
          </a:p>
        </p:txBody>
      </p:sp>
      <p:sp>
        <p:nvSpPr>
          <p:cNvPr id="65" name="Text 62"/>
          <p:cNvSpPr/>
          <p:nvPr/>
        </p:nvSpPr>
        <p:spPr>
          <a:xfrm>
            <a:off x="9103157"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Designer</a:t>
            </a:r>
            <a:endParaRPr lang="en-US" sz="1100" dirty="0"/>
          </a:p>
        </p:txBody>
      </p:sp>
      <p:sp>
        <p:nvSpPr>
          <p:cNvPr id="66" name="Text 63"/>
          <p:cNvSpPr/>
          <p:nvPr/>
        </p:nvSpPr>
        <p:spPr>
          <a:xfrm>
            <a:off x="10774375"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67%</a:t>
            </a:r>
            <a:endParaRPr lang="en-US" sz="2000" dirty="0"/>
          </a:p>
        </p:txBody>
      </p:sp>
      <p:sp>
        <p:nvSpPr>
          <p:cNvPr id="67" name="Text 64"/>
          <p:cNvSpPr/>
          <p:nvPr/>
        </p:nvSpPr>
        <p:spPr>
          <a:xfrm>
            <a:off x="10774375"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68" name="Text 65"/>
          <p:cNvSpPr/>
          <p:nvPr/>
        </p:nvSpPr>
        <p:spPr>
          <a:xfrm>
            <a:off x="8325917"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ux-design · design-systems</a:t>
            </a:r>
            <a:endParaRPr lang="en-US" sz="1100" dirty="0"/>
          </a:p>
        </p:txBody>
      </p:sp>
      <p:sp>
        <p:nvSpPr>
          <p:cNvPr id="69" name="Text 66"/>
          <p:cNvSpPr/>
          <p:nvPr/>
        </p:nvSpPr>
        <p:spPr>
          <a:xfrm>
            <a:off x="8325917"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70" name="Text 67"/>
          <p:cNvSpPr/>
          <p:nvPr/>
        </p:nvSpPr>
        <p:spPr>
          <a:xfrm>
            <a:off x="8325917"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ux-design, design-systems; free from 2026-11-02. Needed for ux-design (weight 0.7…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plan: effort and timeline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13</a:t>
            </a:r>
            <a:endParaRPr lang="en-US" sz="1000" dirty="0"/>
          </a:p>
        </p:txBody>
      </p:sp>
      <p:sp>
        <p:nvSpPr>
          <p:cNvPr id="11" name="Text 8"/>
          <p:cNvSpPr/>
          <p:nvPr/>
        </p:nvSpPr>
        <p:spPr>
          <a:xfrm>
            <a:off x="548640" y="146304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EFFORT BY WORKSTREAM (PERSON-DAYS)</a:t>
            </a:r>
            <a:endParaRPr lang="en-US" sz="1000" dirty="0"/>
          </a:p>
        </p:txBody>
      </p:sp>
      <p:sp>
        <p:nvSpPr>
          <p:cNvPr id="12" name="Shape 9"/>
          <p:cNvSpPr/>
          <p:nvPr/>
        </p:nvSpPr>
        <p:spPr>
          <a:xfrm>
            <a:off x="548640" y="1783080"/>
            <a:ext cx="2349943" cy="365760"/>
          </a:xfrm>
          <a:prstGeom prst="rect">
            <a:avLst/>
          </a:prstGeom>
          <a:solidFill>
            <a:srgbClr val="1428A0"/>
          </a:solidFill>
          <a:ln w="12700">
            <a:solidFill>
              <a:srgbClr val="1428A0"/>
            </a:solidFill>
            <a:prstDash val="solid"/>
          </a:ln>
        </p:spPr>
      </p:sp>
      <p:sp>
        <p:nvSpPr>
          <p:cNvPr id="13" name="Shape 10"/>
          <p:cNvSpPr/>
          <p:nvPr/>
        </p:nvSpPr>
        <p:spPr>
          <a:xfrm>
            <a:off x="2926015" y="1783080"/>
            <a:ext cx="1240501" cy="365760"/>
          </a:xfrm>
          <a:prstGeom prst="rect">
            <a:avLst/>
          </a:prstGeom>
          <a:solidFill>
            <a:srgbClr val="2A6CF0"/>
          </a:solidFill>
          <a:ln w="12700">
            <a:solidFill>
              <a:srgbClr val="2A6CF0"/>
            </a:solidFill>
            <a:prstDash val="solid"/>
          </a:ln>
        </p:spPr>
      </p:sp>
      <p:sp>
        <p:nvSpPr>
          <p:cNvPr id="14" name="Shape 11"/>
          <p:cNvSpPr/>
          <p:nvPr/>
        </p:nvSpPr>
        <p:spPr>
          <a:xfrm>
            <a:off x="4193948" y="1783080"/>
            <a:ext cx="4410334" cy="365760"/>
          </a:xfrm>
          <a:prstGeom prst="rect">
            <a:avLst/>
          </a:prstGeom>
          <a:solidFill>
            <a:srgbClr val="0F8B8D"/>
          </a:solidFill>
          <a:ln w="12700">
            <a:solidFill>
              <a:srgbClr val="0F8B8D"/>
            </a:solidFill>
            <a:prstDash val="solid"/>
          </a:ln>
        </p:spPr>
      </p:sp>
      <p:sp>
        <p:nvSpPr>
          <p:cNvPr id="15" name="Shape 12"/>
          <p:cNvSpPr/>
          <p:nvPr/>
        </p:nvSpPr>
        <p:spPr>
          <a:xfrm>
            <a:off x="8631714" y="1783080"/>
            <a:ext cx="606535" cy="365760"/>
          </a:xfrm>
          <a:prstGeom prst="rect">
            <a:avLst/>
          </a:prstGeom>
          <a:solidFill>
            <a:srgbClr val="5B3FD0"/>
          </a:solidFill>
          <a:ln w="12700">
            <a:solidFill>
              <a:srgbClr val="5B3FD0"/>
            </a:solidFill>
            <a:prstDash val="solid"/>
          </a:ln>
        </p:spPr>
      </p:sp>
      <p:sp>
        <p:nvSpPr>
          <p:cNvPr id="16" name="Shape 13"/>
          <p:cNvSpPr/>
          <p:nvPr/>
        </p:nvSpPr>
        <p:spPr>
          <a:xfrm>
            <a:off x="9265681" y="1783080"/>
            <a:ext cx="1398993" cy="365760"/>
          </a:xfrm>
          <a:prstGeom prst="rect">
            <a:avLst/>
          </a:prstGeom>
          <a:solidFill>
            <a:srgbClr val="D99A1B"/>
          </a:solidFill>
          <a:ln w="12700">
            <a:solidFill>
              <a:srgbClr val="D99A1B"/>
            </a:solidFill>
            <a:prstDash val="solid"/>
          </a:ln>
        </p:spPr>
      </p:sp>
      <p:sp>
        <p:nvSpPr>
          <p:cNvPr id="17" name="Shape 14"/>
          <p:cNvSpPr/>
          <p:nvPr/>
        </p:nvSpPr>
        <p:spPr>
          <a:xfrm>
            <a:off x="10692105" y="1783080"/>
            <a:ext cx="923518" cy="365760"/>
          </a:xfrm>
          <a:prstGeom prst="rect">
            <a:avLst/>
          </a:prstGeom>
          <a:solidFill>
            <a:srgbClr val="E0457B"/>
          </a:solidFill>
          <a:ln w="12700">
            <a:solidFill>
              <a:srgbClr val="E0457B"/>
            </a:solidFill>
            <a:prstDash val="solid"/>
          </a:ln>
        </p:spPr>
      </p:sp>
      <p:sp>
        <p:nvSpPr>
          <p:cNvPr id="18" name="Shape 15"/>
          <p:cNvSpPr/>
          <p:nvPr/>
        </p:nvSpPr>
        <p:spPr>
          <a:xfrm>
            <a:off x="548640" y="2350008"/>
            <a:ext cx="128016" cy="128016"/>
          </a:xfrm>
          <a:prstGeom prst="rect">
            <a:avLst/>
          </a:prstGeom>
          <a:solidFill>
            <a:srgbClr val="1428A0"/>
          </a:solidFill>
          <a:ln w="12700">
            <a:solidFill>
              <a:srgbClr val="1428A0"/>
            </a:solidFill>
            <a:prstDash val="solid"/>
          </a:ln>
        </p:spPr>
      </p:sp>
      <p:sp>
        <p:nvSpPr>
          <p:cNvPr id="19" name="Text 16"/>
          <p:cNvSpPr/>
          <p:nvPr/>
        </p:nvSpPr>
        <p:spPr>
          <a:xfrm>
            <a:off x="77724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Homepage rebuild (design + front end)  ·  15 d (21%)</a:t>
            </a:r>
            <a:endParaRPr lang="en-US" sz="1050" dirty="0"/>
          </a:p>
        </p:txBody>
      </p:sp>
      <p:sp>
        <p:nvSpPr>
          <p:cNvPr id="20" name="Shape 17"/>
          <p:cNvSpPr/>
          <p:nvPr/>
        </p:nvSpPr>
        <p:spPr>
          <a:xfrm>
            <a:off x="6126480" y="2350008"/>
            <a:ext cx="128016" cy="128016"/>
          </a:xfrm>
          <a:prstGeom prst="rect">
            <a:avLst/>
          </a:prstGeom>
          <a:solidFill>
            <a:srgbClr val="2A6CF0"/>
          </a:solidFill>
          <a:ln w="12700">
            <a:solidFill>
              <a:srgbClr val="2A6CF0"/>
            </a:solidFill>
            <a:prstDash val="solid"/>
          </a:ln>
        </p:spPr>
      </p:sp>
      <p:sp>
        <p:nvSpPr>
          <p:cNvPr id="21" name="Text 18"/>
          <p:cNvSpPr/>
          <p:nvPr/>
        </p:nvSpPr>
        <p:spPr>
          <a:xfrm>
            <a:off x="635508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Responsive &amp; mobile fixes  ·  8 d (11%)</a:t>
            </a:r>
            <a:endParaRPr lang="en-US" sz="1050" dirty="0"/>
          </a:p>
        </p:txBody>
      </p:sp>
      <p:sp>
        <p:nvSpPr>
          <p:cNvPr id="22" name="Shape 19"/>
          <p:cNvSpPr/>
          <p:nvPr/>
        </p:nvSpPr>
        <p:spPr>
          <a:xfrm>
            <a:off x="548640" y="2624328"/>
            <a:ext cx="128016" cy="128016"/>
          </a:xfrm>
          <a:prstGeom prst="rect">
            <a:avLst/>
          </a:prstGeom>
          <a:solidFill>
            <a:srgbClr val="0F8B8D"/>
          </a:solidFill>
          <a:ln w="12700">
            <a:solidFill>
              <a:srgbClr val="0F8B8D"/>
            </a:solidFill>
            <a:prstDash val="solid"/>
          </a:ln>
        </p:spPr>
      </p:sp>
      <p:sp>
        <p:nvSpPr>
          <p:cNvPr id="23" name="Text 20"/>
          <p:cNvSpPr/>
          <p:nvPr/>
        </p:nvSpPr>
        <p:spPr>
          <a:xfrm>
            <a:off x="77724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Accessibility remediation  ·  28 d (40%)</a:t>
            </a:r>
            <a:endParaRPr lang="en-US" sz="1050" dirty="0"/>
          </a:p>
        </p:txBody>
      </p:sp>
      <p:sp>
        <p:nvSpPr>
          <p:cNvPr id="24" name="Shape 21"/>
          <p:cNvSpPr/>
          <p:nvPr/>
        </p:nvSpPr>
        <p:spPr>
          <a:xfrm>
            <a:off x="6126480" y="2624328"/>
            <a:ext cx="128016" cy="128016"/>
          </a:xfrm>
          <a:prstGeom prst="rect">
            <a:avLst/>
          </a:prstGeom>
          <a:solidFill>
            <a:srgbClr val="5B3FD0"/>
          </a:solidFill>
          <a:ln w="12700">
            <a:solidFill>
              <a:srgbClr val="5B3FD0"/>
            </a:solidFill>
            <a:prstDash val="solid"/>
          </a:ln>
        </p:spPr>
      </p:sp>
      <p:sp>
        <p:nvSpPr>
          <p:cNvPr id="25" name="Text 22"/>
          <p:cNvSpPr/>
          <p:nvPr/>
        </p:nvSpPr>
        <p:spPr>
          <a:xfrm>
            <a:off x="635508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UX &amp; conversion redesign  ·  4 d (6%)</a:t>
            </a:r>
            <a:endParaRPr lang="en-US" sz="1050" dirty="0"/>
          </a:p>
        </p:txBody>
      </p:sp>
      <p:sp>
        <p:nvSpPr>
          <p:cNvPr id="26" name="Shape 23"/>
          <p:cNvSpPr/>
          <p:nvPr/>
        </p:nvSpPr>
        <p:spPr>
          <a:xfrm>
            <a:off x="548640" y="2898648"/>
            <a:ext cx="128016" cy="128016"/>
          </a:xfrm>
          <a:prstGeom prst="rect">
            <a:avLst/>
          </a:prstGeom>
          <a:solidFill>
            <a:srgbClr val="D99A1B"/>
          </a:solidFill>
          <a:ln w="12700">
            <a:solidFill>
              <a:srgbClr val="D99A1B"/>
            </a:solidFill>
            <a:prstDash val="solid"/>
          </a:ln>
        </p:spPr>
      </p:sp>
      <p:sp>
        <p:nvSpPr>
          <p:cNvPr id="27" name="Text 24"/>
          <p:cNvSpPr/>
          <p:nvPr/>
        </p:nvSpPr>
        <p:spPr>
          <a:xfrm>
            <a:off x="77724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QA &amp; launch  ·  9 d (13%)</a:t>
            </a:r>
            <a:endParaRPr lang="en-US" sz="1050" dirty="0"/>
          </a:p>
        </p:txBody>
      </p:sp>
      <p:sp>
        <p:nvSpPr>
          <p:cNvPr id="28" name="Shape 25"/>
          <p:cNvSpPr/>
          <p:nvPr/>
        </p:nvSpPr>
        <p:spPr>
          <a:xfrm>
            <a:off x="6126480" y="2898648"/>
            <a:ext cx="128016" cy="128016"/>
          </a:xfrm>
          <a:prstGeom prst="rect">
            <a:avLst/>
          </a:prstGeom>
          <a:solidFill>
            <a:srgbClr val="E0457B"/>
          </a:solidFill>
          <a:ln w="12700">
            <a:solidFill>
              <a:srgbClr val="E0457B"/>
            </a:solidFill>
            <a:prstDash val="solid"/>
          </a:ln>
        </p:spPr>
      </p:sp>
      <p:sp>
        <p:nvSpPr>
          <p:cNvPr id="29" name="Text 26"/>
          <p:cNvSpPr/>
          <p:nvPr/>
        </p:nvSpPr>
        <p:spPr>
          <a:xfrm>
            <a:off x="635508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Delivery management  ·  6 d (9%)</a:t>
            </a:r>
            <a:endParaRPr lang="en-US" sz="1050" dirty="0"/>
          </a:p>
        </p:txBody>
      </p:sp>
      <p:sp>
        <p:nvSpPr>
          <p:cNvPr id="30" name="Text 27"/>
          <p:cNvSpPr/>
          <p:nvPr/>
        </p:nvSpPr>
        <p:spPr>
          <a:xfrm>
            <a:off x="548640" y="3383280"/>
            <a:ext cx="45720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INDICATIVE TIMELINE</a:t>
            </a:r>
            <a:endParaRPr lang="en-US" sz="1000" dirty="0"/>
          </a:p>
        </p:txBody>
      </p:sp>
      <p:sp>
        <p:nvSpPr>
          <p:cNvPr id="31" name="Text 28"/>
          <p:cNvSpPr/>
          <p:nvPr/>
        </p:nvSpPr>
        <p:spPr>
          <a:xfrm>
            <a:off x="3657600" y="3703320"/>
            <a:ext cx="2661818"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1</a:t>
            </a:r>
            <a:endParaRPr lang="en-US" sz="900" dirty="0"/>
          </a:p>
        </p:txBody>
      </p:sp>
      <p:sp>
        <p:nvSpPr>
          <p:cNvPr id="32" name="Text 29"/>
          <p:cNvSpPr/>
          <p:nvPr/>
        </p:nvSpPr>
        <p:spPr>
          <a:xfrm>
            <a:off x="6319418" y="3703320"/>
            <a:ext cx="2661818"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2</a:t>
            </a:r>
            <a:endParaRPr lang="en-US" sz="900" dirty="0"/>
          </a:p>
        </p:txBody>
      </p:sp>
      <p:sp>
        <p:nvSpPr>
          <p:cNvPr id="33" name="Text 30"/>
          <p:cNvSpPr/>
          <p:nvPr/>
        </p:nvSpPr>
        <p:spPr>
          <a:xfrm>
            <a:off x="8981237" y="3703320"/>
            <a:ext cx="2661818"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3</a:t>
            </a:r>
            <a:endParaRPr lang="en-US" sz="900" dirty="0"/>
          </a:p>
        </p:txBody>
      </p:sp>
      <p:sp>
        <p:nvSpPr>
          <p:cNvPr id="34" name="Text 31"/>
          <p:cNvSpPr/>
          <p:nvPr/>
        </p:nvSpPr>
        <p:spPr>
          <a:xfrm>
            <a:off x="548640" y="397764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Homepage rebuild (design + front end)</a:t>
            </a:r>
            <a:endParaRPr lang="en-US" sz="1000" dirty="0"/>
          </a:p>
        </p:txBody>
      </p:sp>
      <p:sp>
        <p:nvSpPr>
          <p:cNvPr id="35" name="Shape 32"/>
          <p:cNvSpPr/>
          <p:nvPr/>
        </p:nvSpPr>
        <p:spPr>
          <a:xfrm>
            <a:off x="3657600" y="4014216"/>
            <a:ext cx="7985455" cy="201168"/>
          </a:xfrm>
          <a:prstGeom prst="roundRect">
            <a:avLst>
              <a:gd name="adj" fmla="val 45455"/>
            </a:avLst>
          </a:prstGeom>
          <a:solidFill>
            <a:srgbClr val="EEF0F5"/>
          </a:solidFill>
          <a:ln w="12700">
            <a:solidFill>
              <a:srgbClr val="EEF0F5"/>
            </a:solidFill>
            <a:prstDash val="solid"/>
          </a:ln>
        </p:spPr>
      </p:sp>
      <p:sp>
        <p:nvSpPr>
          <p:cNvPr id="36" name="Shape 33"/>
          <p:cNvSpPr/>
          <p:nvPr/>
        </p:nvSpPr>
        <p:spPr>
          <a:xfrm>
            <a:off x="3657600" y="4014216"/>
            <a:ext cx="2737870" cy="201168"/>
          </a:xfrm>
          <a:prstGeom prst="roundRect">
            <a:avLst>
              <a:gd name="adj" fmla="val 45455"/>
            </a:avLst>
          </a:prstGeom>
          <a:solidFill>
            <a:srgbClr val="1428A0"/>
          </a:solidFill>
          <a:ln w="12700">
            <a:solidFill>
              <a:srgbClr val="1428A0"/>
            </a:solidFill>
            <a:prstDash val="solid"/>
          </a:ln>
        </p:spPr>
      </p:sp>
      <p:sp>
        <p:nvSpPr>
          <p:cNvPr id="37" name="Text 34"/>
          <p:cNvSpPr/>
          <p:nvPr/>
        </p:nvSpPr>
        <p:spPr>
          <a:xfrm>
            <a:off x="548640" y="430682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Responsive &amp; mobile fixes</a:t>
            </a:r>
            <a:endParaRPr lang="en-US" sz="1000" dirty="0"/>
          </a:p>
        </p:txBody>
      </p:sp>
      <p:sp>
        <p:nvSpPr>
          <p:cNvPr id="38" name="Shape 35"/>
          <p:cNvSpPr/>
          <p:nvPr/>
        </p:nvSpPr>
        <p:spPr>
          <a:xfrm>
            <a:off x="3657600" y="4343400"/>
            <a:ext cx="7985455" cy="201168"/>
          </a:xfrm>
          <a:prstGeom prst="roundRect">
            <a:avLst>
              <a:gd name="adj" fmla="val 45455"/>
            </a:avLst>
          </a:prstGeom>
          <a:solidFill>
            <a:srgbClr val="EEF0F5"/>
          </a:solidFill>
          <a:ln w="12700">
            <a:solidFill>
              <a:srgbClr val="EEF0F5"/>
            </a:solidFill>
            <a:prstDash val="solid"/>
          </a:ln>
        </p:spPr>
      </p:sp>
      <p:sp>
        <p:nvSpPr>
          <p:cNvPr id="39" name="Shape 36"/>
          <p:cNvSpPr/>
          <p:nvPr/>
        </p:nvSpPr>
        <p:spPr>
          <a:xfrm>
            <a:off x="3657600" y="4343400"/>
            <a:ext cx="1597091" cy="201168"/>
          </a:xfrm>
          <a:prstGeom prst="roundRect">
            <a:avLst>
              <a:gd name="adj" fmla="val 45455"/>
            </a:avLst>
          </a:prstGeom>
          <a:solidFill>
            <a:srgbClr val="2A6CF0"/>
          </a:solidFill>
          <a:ln w="12700">
            <a:solidFill>
              <a:srgbClr val="2A6CF0"/>
            </a:solidFill>
            <a:prstDash val="solid"/>
          </a:ln>
        </p:spPr>
      </p:sp>
      <p:sp>
        <p:nvSpPr>
          <p:cNvPr id="40" name="Text 37"/>
          <p:cNvSpPr/>
          <p:nvPr/>
        </p:nvSpPr>
        <p:spPr>
          <a:xfrm>
            <a:off x="548640" y="4636008"/>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Accessibility remediation</a:t>
            </a:r>
            <a:endParaRPr lang="en-US" sz="1000" dirty="0"/>
          </a:p>
        </p:txBody>
      </p:sp>
      <p:sp>
        <p:nvSpPr>
          <p:cNvPr id="41" name="Shape 38"/>
          <p:cNvSpPr/>
          <p:nvPr/>
        </p:nvSpPr>
        <p:spPr>
          <a:xfrm>
            <a:off x="3657600" y="4672584"/>
            <a:ext cx="7985455" cy="201168"/>
          </a:xfrm>
          <a:prstGeom prst="roundRect">
            <a:avLst>
              <a:gd name="adj" fmla="val 45455"/>
            </a:avLst>
          </a:prstGeom>
          <a:solidFill>
            <a:srgbClr val="EEF0F5"/>
          </a:solidFill>
          <a:ln w="12700">
            <a:solidFill>
              <a:srgbClr val="EEF0F5"/>
            </a:solidFill>
            <a:prstDash val="solid"/>
          </a:ln>
        </p:spPr>
      </p:sp>
      <p:sp>
        <p:nvSpPr>
          <p:cNvPr id="42" name="Shape 39"/>
          <p:cNvSpPr/>
          <p:nvPr/>
        </p:nvSpPr>
        <p:spPr>
          <a:xfrm>
            <a:off x="4589236" y="4672584"/>
            <a:ext cx="5110691" cy="201168"/>
          </a:xfrm>
          <a:prstGeom prst="roundRect">
            <a:avLst>
              <a:gd name="adj" fmla="val 45455"/>
            </a:avLst>
          </a:prstGeom>
          <a:solidFill>
            <a:srgbClr val="0F8B8D"/>
          </a:solidFill>
          <a:ln w="12700">
            <a:solidFill>
              <a:srgbClr val="0F8B8D"/>
            </a:solidFill>
            <a:prstDash val="solid"/>
          </a:ln>
        </p:spPr>
      </p:sp>
      <p:sp>
        <p:nvSpPr>
          <p:cNvPr id="43" name="Text 40"/>
          <p:cNvSpPr/>
          <p:nvPr/>
        </p:nvSpPr>
        <p:spPr>
          <a:xfrm>
            <a:off x="548640" y="4965192"/>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UX &amp; conversion redesign</a:t>
            </a:r>
            <a:endParaRPr lang="en-US" sz="1000" dirty="0"/>
          </a:p>
        </p:txBody>
      </p:sp>
      <p:sp>
        <p:nvSpPr>
          <p:cNvPr id="44" name="Shape 41"/>
          <p:cNvSpPr/>
          <p:nvPr/>
        </p:nvSpPr>
        <p:spPr>
          <a:xfrm>
            <a:off x="3657600" y="5001768"/>
            <a:ext cx="7985455" cy="201168"/>
          </a:xfrm>
          <a:prstGeom prst="roundRect">
            <a:avLst>
              <a:gd name="adj" fmla="val 45455"/>
            </a:avLst>
          </a:prstGeom>
          <a:solidFill>
            <a:srgbClr val="EEF0F5"/>
          </a:solidFill>
          <a:ln w="12700">
            <a:solidFill>
              <a:srgbClr val="EEF0F5"/>
            </a:solidFill>
            <a:prstDash val="solid"/>
          </a:ln>
        </p:spPr>
      </p:sp>
      <p:sp>
        <p:nvSpPr>
          <p:cNvPr id="45" name="Shape 42"/>
          <p:cNvSpPr/>
          <p:nvPr/>
        </p:nvSpPr>
        <p:spPr>
          <a:xfrm>
            <a:off x="5520873" y="5001768"/>
            <a:ext cx="1597091" cy="201168"/>
          </a:xfrm>
          <a:prstGeom prst="roundRect">
            <a:avLst>
              <a:gd name="adj" fmla="val 45455"/>
            </a:avLst>
          </a:prstGeom>
          <a:solidFill>
            <a:srgbClr val="5B3FD0"/>
          </a:solidFill>
          <a:ln w="12700">
            <a:solidFill>
              <a:srgbClr val="5B3FD0"/>
            </a:solidFill>
            <a:prstDash val="solid"/>
          </a:ln>
        </p:spPr>
      </p:sp>
      <p:sp>
        <p:nvSpPr>
          <p:cNvPr id="46" name="Text 43"/>
          <p:cNvSpPr/>
          <p:nvPr/>
        </p:nvSpPr>
        <p:spPr>
          <a:xfrm>
            <a:off x="548640" y="5294376"/>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QA &amp; launch</a:t>
            </a:r>
            <a:endParaRPr lang="en-US" sz="1000" dirty="0"/>
          </a:p>
        </p:txBody>
      </p:sp>
      <p:sp>
        <p:nvSpPr>
          <p:cNvPr id="47" name="Shape 44"/>
          <p:cNvSpPr/>
          <p:nvPr/>
        </p:nvSpPr>
        <p:spPr>
          <a:xfrm>
            <a:off x="3657600" y="5330952"/>
            <a:ext cx="7985455" cy="201168"/>
          </a:xfrm>
          <a:prstGeom prst="roundRect">
            <a:avLst>
              <a:gd name="adj" fmla="val 45455"/>
            </a:avLst>
          </a:prstGeom>
          <a:solidFill>
            <a:srgbClr val="EEF0F5"/>
          </a:solidFill>
          <a:ln w="12700">
            <a:solidFill>
              <a:srgbClr val="EEF0F5"/>
            </a:solidFill>
            <a:prstDash val="solid"/>
          </a:ln>
        </p:spPr>
      </p:sp>
      <p:sp>
        <p:nvSpPr>
          <p:cNvPr id="48" name="Shape 45"/>
          <p:cNvSpPr/>
          <p:nvPr/>
        </p:nvSpPr>
        <p:spPr>
          <a:xfrm>
            <a:off x="10000333" y="5330952"/>
            <a:ext cx="1642722" cy="201168"/>
          </a:xfrm>
          <a:prstGeom prst="roundRect">
            <a:avLst>
              <a:gd name="adj" fmla="val 45455"/>
            </a:avLst>
          </a:prstGeom>
          <a:solidFill>
            <a:srgbClr val="D99A1B"/>
          </a:solidFill>
          <a:ln w="12700">
            <a:solidFill>
              <a:srgbClr val="D99A1B"/>
            </a:solidFill>
            <a:prstDash val="solid"/>
          </a:ln>
        </p:spPr>
      </p:sp>
      <p:sp>
        <p:nvSpPr>
          <p:cNvPr id="49" name="Text 46"/>
          <p:cNvSpPr/>
          <p:nvPr/>
        </p:nvSpPr>
        <p:spPr>
          <a:xfrm>
            <a:off x="548640" y="562356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Delivery management</a:t>
            </a:r>
            <a:endParaRPr lang="en-US" sz="1000" dirty="0"/>
          </a:p>
        </p:txBody>
      </p:sp>
      <p:sp>
        <p:nvSpPr>
          <p:cNvPr id="50" name="Shape 47"/>
          <p:cNvSpPr/>
          <p:nvPr/>
        </p:nvSpPr>
        <p:spPr>
          <a:xfrm>
            <a:off x="3657600" y="5660136"/>
            <a:ext cx="7985455" cy="201168"/>
          </a:xfrm>
          <a:prstGeom prst="roundRect">
            <a:avLst>
              <a:gd name="adj" fmla="val 45455"/>
            </a:avLst>
          </a:prstGeom>
          <a:solidFill>
            <a:srgbClr val="EEF0F5"/>
          </a:solidFill>
          <a:ln w="12700">
            <a:solidFill>
              <a:srgbClr val="EEF0F5"/>
            </a:solidFill>
            <a:prstDash val="solid"/>
          </a:ln>
        </p:spPr>
      </p:sp>
      <p:sp>
        <p:nvSpPr>
          <p:cNvPr id="51" name="Shape 48"/>
          <p:cNvSpPr/>
          <p:nvPr/>
        </p:nvSpPr>
        <p:spPr>
          <a:xfrm>
            <a:off x="3657600" y="5660136"/>
            <a:ext cx="7985455" cy="201168"/>
          </a:xfrm>
          <a:prstGeom prst="roundRect">
            <a:avLst>
              <a:gd name="adj" fmla="val 45455"/>
            </a:avLst>
          </a:prstGeom>
          <a:solidFill>
            <a:srgbClr val="E0457B"/>
          </a:solidFill>
          <a:ln w="12700">
            <a:solidFill>
              <a:srgbClr val="E0457B"/>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 · COMMERCIALS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Investment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14</a:t>
            </a:r>
            <a:endParaRPr lang="en-US" sz="1000" dirty="0"/>
          </a:p>
        </p:txBody>
      </p:sp>
      <p:sp>
        <p:nvSpPr>
          <p:cNvPr id="11" name="Shape 8"/>
          <p:cNvSpPr/>
          <p:nvPr/>
        </p:nvSpPr>
        <p:spPr>
          <a:xfrm>
            <a:off x="548640" y="1508760"/>
            <a:ext cx="5852160" cy="2103120"/>
          </a:xfrm>
          <a:prstGeom prst="roundRect">
            <a:avLst>
              <a:gd name="adj" fmla="val 4348"/>
            </a:avLst>
          </a:prstGeom>
          <a:solidFill>
            <a:srgbClr val="FFFFFF"/>
          </a:solidFill>
          <a:ln w="12700">
            <a:solidFill>
              <a:srgbClr val="DDE2EE"/>
            </a:solidFill>
            <a:prstDash val="solid"/>
          </a:ln>
        </p:spPr>
      </p:sp>
      <p:sp>
        <p:nvSpPr>
          <p:cNvPr id="12" name="Shape 9"/>
          <p:cNvSpPr/>
          <p:nvPr/>
        </p:nvSpPr>
        <p:spPr>
          <a:xfrm>
            <a:off x="548640" y="1508760"/>
            <a:ext cx="5852160" cy="64008"/>
          </a:xfrm>
          <a:prstGeom prst="rect">
            <a:avLst/>
          </a:prstGeom>
          <a:solidFill>
            <a:srgbClr val="1428A0"/>
          </a:solidFill>
          <a:ln w="12700">
            <a:solidFill>
              <a:srgbClr val="1428A0"/>
            </a:solidFill>
            <a:prstDash val="solid"/>
          </a:ln>
        </p:spPr>
      </p:sp>
      <p:sp>
        <p:nvSpPr>
          <p:cNvPr id="13" name="Text 10"/>
          <p:cNvSpPr/>
          <p:nvPr/>
        </p:nvSpPr>
        <p:spPr>
          <a:xfrm>
            <a:off x="822960" y="1737360"/>
            <a:ext cx="530352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ESTIMATED INVESTMENT</a:t>
            </a:r>
            <a:endParaRPr lang="en-US" sz="1000" dirty="0"/>
          </a:p>
        </p:txBody>
      </p:sp>
      <p:sp>
        <p:nvSpPr>
          <p:cNvPr id="14" name="Text 11"/>
          <p:cNvSpPr/>
          <p:nvPr/>
        </p:nvSpPr>
        <p:spPr>
          <a:xfrm>
            <a:off x="822960" y="2103120"/>
            <a:ext cx="5303520" cy="822960"/>
          </a:xfrm>
          <a:prstGeom prst="rect">
            <a:avLst/>
          </a:prstGeom>
          <a:noFill/>
          <a:ln/>
        </p:spPr>
        <p:txBody>
          <a:bodyPr wrap="square" lIns="0" tIns="0" rIns="0" bIns="0" rtlCol="0" anchor="t">
            <a:normAutofit/>
          </a:bodyPr>
          <a:lstStyle/>
          <a:p>
            <a:pPr indent="0" marL="0">
              <a:buNone/>
            </a:pPr>
            <a:r>
              <a:rPr lang="en-US" sz="3400" b="1" dirty="0">
                <a:solidFill>
                  <a:srgbClr val="1428A0"/>
                </a:solidFill>
                <a:latin typeface="Calibri" pitchFamily="34" charset="0"/>
                <a:ea typeface="Calibri" pitchFamily="34" charset="-122"/>
                <a:cs typeface="Calibri" pitchFamily="34" charset="-120"/>
              </a:rPr>
              <a:t>₹7,28,000 – ₹9,30,000</a:t>
            </a:r>
            <a:endParaRPr lang="en-US" sz="3400" dirty="0"/>
          </a:p>
        </p:txBody>
      </p:sp>
      <p:sp>
        <p:nvSpPr>
          <p:cNvPr id="15" name="Text 12"/>
          <p:cNvSpPr/>
          <p:nvPr/>
        </p:nvSpPr>
        <p:spPr>
          <a:xfrm>
            <a:off x="822960" y="3017520"/>
            <a:ext cx="5303520" cy="3657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₹7.3 lakh to ₹9.3 lakh · a range until discovery is complete</a:t>
            </a:r>
            <a:endParaRPr lang="en-US" sz="1200" dirty="0"/>
          </a:p>
        </p:txBody>
      </p:sp>
      <p:sp>
        <p:nvSpPr>
          <p:cNvPr id="16" name="Shape 13"/>
          <p:cNvSpPr/>
          <p:nvPr/>
        </p:nvSpPr>
        <p:spPr>
          <a:xfrm>
            <a:off x="6675120" y="1508760"/>
            <a:ext cx="2392528" cy="960120"/>
          </a:xfrm>
          <a:prstGeom prst="roundRect">
            <a:avLst>
              <a:gd name="adj" fmla="val 9524"/>
            </a:avLst>
          </a:prstGeom>
          <a:solidFill>
            <a:srgbClr val="FFFFFF"/>
          </a:solidFill>
          <a:ln w="12700">
            <a:solidFill>
              <a:srgbClr val="DDE2EE"/>
            </a:solidFill>
            <a:prstDash val="solid"/>
          </a:ln>
        </p:spPr>
      </p:sp>
      <p:sp>
        <p:nvSpPr>
          <p:cNvPr id="17" name="Text 14"/>
          <p:cNvSpPr/>
          <p:nvPr/>
        </p:nvSpPr>
        <p:spPr>
          <a:xfrm>
            <a:off x="6858000"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70</a:t>
            </a:r>
            <a:endParaRPr lang="en-US" sz="2800" dirty="0"/>
          </a:p>
        </p:txBody>
      </p:sp>
      <p:sp>
        <p:nvSpPr>
          <p:cNvPr id="18" name="Text 15"/>
          <p:cNvSpPr/>
          <p:nvPr/>
        </p:nvSpPr>
        <p:spPr>
          <a:xfrm>
            <a:off x="6858000"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person-days</a:t>
            </a:r>
            <a:endParaRPr lang="en-US" sz="1100" dirty="0"/>
          </a:p>
        </p:txBody>
      </p:sp>
      <p:sp>
        <p:nvSpPr>
          <p:cNvPr id="19" name="Shape 16"/>
          <p:cNvSpPr/>
          <p:nvPr/>
        </p:nvSpPr>
        <p:spPr>
          <a:xfrm>
            <a:off x="9250528" y="1508760"/>
            <a:ext cx="2392528" cy="960120"/>
          </a:xfrm>
          <a:prstGeom prst="roundRect">
            <a:avLst>
              <a:gd name="adj" fmla="val 9524"/>
            </a:avLst>
          </a:prstGeom>
          <a:solidFill>
            <a:srgbClr val="FFFFFF"/>
          </a:solidFill>
          <a:ln w="12700">
            <a:solidFill>
              <a:srgbClr val="DDE2EE"/>
            </a:solidFill>
            <a:prstDash val="solid"/>
          </a:ln>
        </p:spPr>
      </p:sp>
      <p:sp>
        <p:nvSpPr>
          <p:cNvPr id="20" name="Text 17"/>
          <p:cNvSpPr/>
          <p:nvPr/>
        </p:nvSpPr>
        <p:spPr>
          <a:xfrm>
            <a:off x="9433408"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3 weeks</a:t>
            </a:r>
            <a:endParaRPr lang="en-US" sz="2800" dirty="0"/>
          </a:p>
        </p:txBody>
      </p:sp>
      <p:sp>
        <p:nvSpPr>
          <p:cNvPr id="21" name="Text 18"/>
          <p:cNvSpPr/>
          <p:nvPr/>
        </p:nvSpPr>
        <p:spPr>
          <a:xfrm>
            <a:off x="9433408"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indicative duration</a:t>
            </a:r>
            <a:endParaRPr lang="en-US" sz="1100" dirty="0"/>
          </a:p>
        </p:txBody>
      </p:sp>
      <p:sp>
        <p:nvSpPr>
          <p:cNvPr id="22" name="Shape 19"/>
          <p:cNvSpPr/>
          <p:nvPr/>
        </p:nvSpPr>
        <p:spPr>
          <a:xfrm>
            <a:off x="6675120" y="2651760"/>
            <a:ext cx="2392528" cy="960120"/>
          </a:xfrm>
          <a:prstGeom prst="roundRect">
            <a:avLst>
              <a:gd name="adj" fmla="val 9524"/>
            </a:avLst>
          </a:prstGeom>
          <a:solidFill>
            <a:srgbClr val="FFFFFF"/>
          </a:solidFill>
          <a:ln w="12700">
            <a:solidFill>
              <a:srgbClr val="DDE2EE"/>
            </a:solidFill>
            <a:prstDash val="solid"/>
          </a:ln>
        </p:spPr>
      </p:sp>
      <p:sp>
        <p:nvSpPr>
          <p:cNvPr id="23" name="Text 20"/>
          <p:cNvSpPr/>
          <p:nvPr/>
        </p:nvSpPr>
        <p:spPr>
          <a:xfrm>
            <a:off x="6858000" y="2761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a:t>
            </a:r>
            <a:endParaRPr lang="en-US" sz="2800" dirty="0"/>
          </a:p>
        </p:txBody>
      </p:sp>
      <p:sp>
        <p:nvSpPr>
          <p:cNvPr id="24" name="Text 21"/>
          <p:cNvSpPr/>
          <p:nvPr/>
        </p:nvSpPr>
        <p:spPr>
          <a:xfrm>
            <a:off x="6858000"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people on the team</a:t>
            </a:r>
            <a:endParaRPr lang="en-US" sz="1100" dirty="0"/>
          </a:p>
        </p:txBody>
      </p:sp>
      <p:sp>
        <p:nvSpPr>
          <p:cNvPr id="25" name="Shape 22"/>
          <p:cNvSpPr/>
          <p:nvPr/>
        </p:nvSpPr>
        <p:spPr>
          <a:xfrm>
            <a:off x="9250528" y="2651760"/>
            <a:ext cx="2392528" cy="960120"/>
          </a:xfrm>
          <a:prstGeom prst="roundRect">
            <a:avLst>
              <a:gd name="adj" fmla="val 9524"/>
            </a:avLst>
          </a:prstGeom>
          <a:solidFill>
            <a:srgbClr val="FFFFFF"/>
          </a:solidFill>
          <a:ln w="12700">
            <a:solidFill>
              <a:srgbClr val="DDE2EE"/>
            </a:solidFill>
            <a:prstDash val="solid"/>
          </a:ln>
        </p:spPr>
      </p:sp>
      <p:sp>
        <p:nvSpPr>
          <p:cNvPr id="26" name="Text 23"/>
          <p:cNvSpPr/>
          <p:nvPr/>
        </p:nvSpPr>
        <p:spPr>
          <a:xfrm>
            <a:off x="9433408" y="2761488"/>
            <a:ext cx="2026768" cy="528066"/>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In discovery</a:t>
            </a:r>
            <a:endParaRPr lang="en-US" sz="2000" dirty="0"/>
          </a:p>
        </p:txBody>
      </p:sp>
      <p:sp>
        <p:nvSpPr>
          <p:cNvPr id="27" name="Text 24"/>
          <p:cNvSpPr/>
          <p:nvPr/>
        </p:nvSpPr>
        <p:spPr>
          <a:xfrm>
            <a:off x="9433408"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final scope and price</a:t>
            </a:r>
            <a:endParaRPr lang="en-US" sz="1100" dirty="0"/>
          </a:p>
        </p:txBody>
      </p:sp>
      <p:sp>
        <p:nvSpPr>
          <p:cNvPr id="28" name="Text 25"/>
          <p:cNvSpPr/>
          <p:nvPr/>
        </p:nvSpPr>
        <p:spPr>
          <a:xfrm>
            <a:off x="548640" y="388620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ASSUMPTIONS</a:t>
            </a:r>
            <a:endParaRPr lang="en-US" sz="1000" dirty="0"/>
          </a:p>
        </p:txBody>
      </p:sp>
      <p:sp>
        <p:nvSpPr>
          <p:cNvPr id="29" name="Text 26"/>
          <p:cNvSpPr/>
          <p:nvPr/>
        </p:nvSpPr>
        <p:spPr>
          <a:xfrm>
            <a:off x="548640" y="4206240"/>
            <a:ext cx="11094415"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Homepage and key templates only; no new backend features</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Client provides brand assets and timely feedback</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Blended day rate 8250 with a 40% margin</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Estimate is +/- range until discovery is complete</a:t>
            </a:r>
            <a:endParaRPr lang="en-US" sz="1300" dirty="0"/>
          </a:p>
        </p:txBody>
      </p:sp>
      <p:sp>
        <p:nvSpPr>
          <p:cNvPr id="30" name="Text 27"/>
          <p:cNvSpPr/>
          <p:nvPr/>
        </p:nvSpPr>
        <p:spPr>
          <a:xfrm>
            <a:off x="548640" y="6035040"/>
            <a:ext cx="11094415" cy="274320"/>
          </a:xfrm>
          <a:prstGeom prst="rect">
            <a:avLst/>
          </a:prstGeom>
          <a:noFill/>
          <a:ln/>
        </p:spPr>
        <p:txBody>
          <a:bodyPr wrap="square" lIns="0" tIns="0" rIns="0" bIns="0" rtlCol="0" anchor="t"/>
          <a:lstStyle/>
          <a:p>
            <a:pPr indent="0" marL="0">
              <a:buNone/>
            </a:pPr>
            <a:r>
              <a:rPr lang="en-US" sz="1050" i="1" dirty="0">
                <a:solidFill>
                  <a:srgbClr val="5B6477"/>
                </a:solidFill>
                <a:latin typeface="Calibri" pitchFamily="34" charset="0"/>
                <a:ea typeface="Calibri" pitchFamily="34" charset="-122"/>
                <a:cs typeface="Calibri" pitchFamily="34" charset="-120"/>
              </a:rPr>
              <a:t>Terms: to be added by the account owner before this proposal is sent.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WORKING TOGETHER</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Next steps</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15</a:t>
            </a:r>
            <a:endParaRPr lang="en-US" sz="1000" dirty="0"/>
          </a:p>
        </p:txBody>
      </p:sp>
      <p:sp>
        <p:nvSpPr>
          <p:cNvPr id="11" name="Shape 8"/>
          <p:cNvSpPr/>
          <p:nvPr/>
        </p:nvSpPr>
        <p:spPr>
          <a:xfrm>
            <a:off x="548640" y="1645920"/>
            <a:ext cx="11094415" cy="1234440"/>
          </a:xfrm>
          <a:prstGeom prst="roundRect">
            <a:avLst>
              <a:gd name="adj" fmla="val 7407"/>
            </a:avLst>
          </a:prstGeom>
          <a:solidFill>
            <a:srgbClr val="FFFFFF"/>
          </a:solidFill>
          <a:ln w="12700">
            <a:solidFill>
              <a:srgbClr val="DDE2EE"/>
            </a:solidFill>
            <a:prstDash val="solid"/>
          </a:ln>
        </p:spPr>
      </p:sp>
      <p:sp>
        <p:nvSpPr>
          <p:cNvPr id="12" name="Shape 9"/>
          <p:cNvSpPr/>
          <p:nvPr/>
        </p:nvSpPr>
        <p:spPr>
          <a:xfrm>
            <a:off x="822960" y="1920240"/>
            <a:ext cx="685800" cy="685800"/>
          </a:xfrm>
          <a:prstGeom prst="ellipse">
            <a:avLst/>
          </a:prstGeom>
          <a:solidFill>
            <a:srgbClr val="1428A0"/>
          </a:solidFill>
          <a:ln w="12700">
            <a:solidFill>
              <a:srgbClr val="1428A0"/>
            </a:solidFill>
            <a:prstDash val="solid"/>
          </a:ln>
        </p:spPr>
      </p:sp>
      <p:sp>
        <p:nvSpPr>
          <p:cNvPr id="13" name="Text 10"/>
          <p:cNvSpPr/>
          <p:nvPr/>
        </p:nvSpPr>
        <p:spPr>
          <a:xfrm>
            <a:off x="822960" y="19202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4" name="Text 11"/>
          <p:cNvSpPr/>
          <p:nvPr/>
        </p:nvSpPr>
        <p:spPr>
          <a:xfrm>
            <a:off x="1828800" y="184708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Walk through the concept</a:t>
            </a:r>
            <a:endParaRPr lang="en-US" sz="1900" dirty="0"/>
          </a:p>
        </p:txBody>
      </p:sp>
      <p:sp>
        <p:nvSpPr>
          <p:cNvPr id="15" name="Text 12"/>
          <p:cNvSpPr/>
          <p:nvPr/>
        </p:nvSpPr>
        <p:spPr>
          <a:xfrm>
            <a:off x="1828800" y="228600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A 30-minute session with your team on Samsung India's homepage concept, the audit and the technology review.</a:t>
            </a:r>
            <a:endParaRPr lang="en-US" sz="1300" dirty="0"/>
          </a:p>
        </p:txBody>
      </p:sp>
      <p:sp>
        <p:nvSpPr>
          <p:cNvPr id="16" name="Shape 13"/>
          <p:cNvSpPr/>
          <p:nvPr/>
        </p:nvSpPr>
        <p:spPr>
          <a:xfrm>
            <a:off x="548640" y="3108960"/>
            <a:ext cx="11094415" cy="1234440"/>
          </a:xfrm>
          <a:prstGeom prst="roundRect">
            <a:avLst>
              <a:gd name="adj" fmla="val 7407"/>
            </a:avLst>
          </a:prstGeom>
          <a:solidFill>
            <a:srgbClr val="FFFFFF"/>
          </a:solidFill>
          <a:ln w="12700">
            <a:solidFill>
              <a:srgbClr val="DDE2EE"/>
            </a:solidFill>
            <a:prstDash val="solid"/>
          </a:ln>
        </p:spPr>
      </p:sp>
      <p:sp>
        <p:nvSpPr>
          <p:cNvPr id="17" name="Shape 14"/>
          <p:cNvSpPr/>
          <p:nvPr/>
        </p:nvSpPr>
        <p:spPr>
          <a:xfrm>
            <a:off x="822960" y="3383280"/>
            <a:ext cx="685800" cy="685800"/>
          </a:xfrm>
          <a:prstGeom prst="ellipse">
            <a:avLst/>
          </a:prstGeom>
          <a:solidFill>
            <a:srgbClr val="1428A0"/>
          </a:solidFill>
          <a:ln w="12700">
            <a:solidFill>
              <a:srgbClr val="1428A0"/>
            </a:solidFill>
            <a:prstDash val="solid"/>
          </a:ln>
        </p:spPr>
      </p:sp>
      <p:sp>
        <p:nvSpPr>
          <p:cNvPr id="18" name="Text 15"/>
          <p:cNvSpPr/>
          <p:nvPr/>
        </p:nvSpPr>
        <p:spPr>
          <a:xfrm>
            <a:off x="822960" y="3383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9" name="Text 16"/>
          <p:cNvSpPr/>
          <p:nvPr/>
        </p:nvSpPr>
        <p:spPr>
          <a:xfrm>
            <a:off x="1828800" y="331012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Discovery week</a:t>
            </a:r>
            <a:endParaRPr lang="en-US" sz="1900" dirty="0"/>
          </a:p>
        </p:txBody>
      </p:sp>
      <p:sp>
        <p:nvSpPr>
          <p:cNvPr id="20" name="Text 17"/>
          <p:cNvSpPr/>
          <p:nvPr/>
        </p:nvSpPr>
        <p:spPr>
          <a:xfrm>
            <a:off x="1828800" y="374904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We confirm scope, constraints and price, and fix the plan and the team.</a:t>
            </a:r>
            <a:endParaRPr lang="en-US" sz="1300" dirty="0"/>
          </a:p>
        </p:txBody>
      </p:sp>
      <p:sp>
        <p:nvSpPr>
          <p:cNvPr id="21" name="Shape 18"/>
          <p:cNvSpPr/>
          <p:nvPr/>
        </p:nvSpPr>
        <p:spPr>
          <a:xfrm>
            <a:off x="548640" y="4572000"/>
            <a:ext cx="11094415" cy="1234440"/>
          </a:xfrm>
          <a:prstGeom prst="roundRect">
            <a:avLst>
              <a:gd name="adj" fmla="val 7407"/>
            </a:avLst>
          </a:prstGeom>
          <a:solidFill>
            <a:srgbClr val="FFFFFF"/>
          </a:solidFill>
          <a:ln w="12700">
            <a:solidFill>
              <a:srgbClr val="DDE2EE"/>
            </a:solidFill>
            <a:prstDash val="solid"/>
          </a:ln>
        </p:spPr>
      </p:sp>
      <p:sp>
        <p:nvSpPr>
          <p:cNvPr id="22" name="Shape 19"/>
          <p:cNvSpPr/>
          <p:nvPr/>
        </p:nvSpPr>
        <p:spPr>
          <a:xfrm>
            <a:off x="822960" y="4846320"/>
            <a:ext cx="685800" cy="685800"/>
          </a:xfrm>
          <a:prstGeom prst="ellipse">
            <a:avLst/>
          </a:prstGeom>
          <a:solidFill>
            <a:srgbClr val="1428A0"/>
          </a:solidFill>
          <a:ln w="12700">
            <a:solidFill>
              <a:srgbClr val="1428A0"/>
            </a:solidFill>
            <a:prstDash val="solid"/>
          </a:ln>
        </p:spPr>
      </p:sp>
      <p:sp>
        <p:nvSpPr>
          <p:cNvPr id="23" name="Text 20"/>
          <p:cNvSpPr/>
          <p:nvPr/>
        </p:nvSpPr>
        <p:spPr>
          <a:xfrm>
            <a:off x="822960" y="48463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1"/>
          <p:cNvSpPr/>
          <p:nvPr/>
        </p:nvSpPr>
        <p:spPr>
          <a:xfrm>
            <a:off x="1828800" y="477316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Start building</a:t>
            </a:r>
            <a:endParaRPr lang="en-US" sz="1900" dirty="0"/>
          </a:p>
        </p:txBody>
      </p:sp>
      <p:sp>
        <p:nvSpPr>
          <p:cNvPr id="25" name="Text 22"/>
          <p:cNvSpPr/>
          <p:nvPr/>
        </p:nvSpPr>
        <p:spPr>
          <a:xfrm>
            <a:off x="1828800" y="521208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The team starts 2026-11-02, with weekly demos and a launch plan.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4632808" y="1371600"/>
            <a:ext cx="1814170" cy="614477"/>
          </a:xfrm>
          <a:prstGeom prst="ellipse">
            <a:avLst/>
          </a:prstGeom>
          <a:solidFill>
            <a:srgbClr val="FFFFFF"/>
          </a:solidFill>
          <a:ln w="12700">
            <a:solidFill>
              <a:srgbClr val="FFFFFF"/>
            </a:solidFill>
            <a:prstDash val="solid"/>
          </a:ln>
        </p:spPr>
      </p:sp>
      <p:sp>
        <p:nvSpPr>
          <p:cNvPr id="3" name="Text 1"/>
          <p:cNvSpPr/>
          <p:nvPr/>
        </p:nvSpPr>
        <p:spPr>
          <a:xfrm>
            <a:off x="4632808" y="1371600"/>
            <a:ext cx="1814170" cy="614477"/>
          </a:xfrm>
          <a:prstGeom prst="rect">
            <a:avLst/>
          </a:prstGeom>
          <a:noFill/>
          <a:ln/>
        </p:spPr>
        <p:txBody>
          <a:bodyPr wrap="square" lIns="0" tIns="0" rIns="0" bIns="0" rtlCol="0" anchor="ctr"/>
          <a:lstStyle/>
          <a:p>
            <a:pPr algn="ctr" indent="0" marL="0">
              <a:buNone/>
            </a:pPr>
            <a:r>
              <a:rPr lang="en-US" sz="1728" b="1" spc="100" kern="0" dirty="0">
                <a:solidFill>
                  <a:srgbClr val="1428A0"/>
                </a:solidFill>
                <a:latin typeface="Calibri" pitchFamily="34" charset="0"/>
                <a:ea typeface="Calibri" pitchFamily="34" charset="-122"/>
                <a:cs typeface="Calibri" pitchFamily="34" charset="-120"/>
              </a:rPr>
              <a:t>SAMSUNG</a:t>
            </a:r>
            <a:endParaRPr lang="en-US" sz="1728" dirty="0"/>
          </a:p>
        </p:txBody>
      </p:sp>
      <p:sp>
        <p:nvSpPr>
          <p:cNvPr id="4" name="Text 2"/>
          <p:cNvSpPr/>
          <p:nvPr/>
        </p:nvSpPr>
        <p:spPr>
          <a:xfrm>
            <a:off x="6593281" y="1371600"/>
            <a:ext cx="965606" cy="614477"/>
          </a:xfrm>
          <a:prstGeom prst="rect">
            <a:avLst/>
          </a:prstGeom>
          <a:noFill/>
          <a:ln/>
        </p:spPr>
        <p:txBody>
          <a:bodyPr wrap="square" lIns="0" tIns="0" rIns="0" bIns="0" rtlCol="0" anchor="ctr"/>
          <a:lstStyle/>
          <a:p>
            <a:pPr indent="0" marL="0">
              <a:buNone/>
            </a:pPr>
            <a:r>
              <a:rPr lang="en-US" sz="2880" b="1" spc="200" kern="0" dirty="0">
                <a:solidFill>
                  <a:srgbClr val="FFFFFF"/>
                </a:solidFill>
                <a:latin typeface="Calibri" pitchFamily="34" charset="0"/>
                <a:ea typeface="Calibri" pitchFamily="34" charset="-122"/>
                <a:cs typeface="Calibri" pitchFamily="34" charset="-120"/>
              </a:rPr>
              <a:t>SDS</a:t>
            </a:r>
            <a:endParaRPr lang="en-US" sz="2880" dirty="0"/>
          </a:p>
        </p:txBody>
      </p:sp>
      <p:sp>
        <p:nvSpPr>
          <p:cNvPr id="5" name="Text 3"/>
          <p:cNvSpPr/>
          <p:nvPr/>
        </p:nvSpPr>
        <p:spPr>
          <a:xfrm>
            <a:off x="1097280" y="2834640"/>
            <a:ext cx="9997135" cy="1463040"/>
          </a:xfrm>
          <a:prstGeom prst="rect">
            <a:avLst/>
          </a:prstGeom>
          <a:noFill/>
          <a:ln/>
        </p:spPr>
        <p:txBody>
          <a:bodyPr wrap="square" lIns="0" tIns="0" rIns="0" bIns="0" rtlCol="0" anchor="t">
            <a:normAutofit/>
          </a:bodyPr>
          <a:lstStyle/>
          <a:p>
            <a:pPr algn="ctr" indent="0" marL="0">
              <a:buNone/>
            </a:pPr>
            <a:r>
              <a:rPr lang="en-US" sz="3400" b="1" dirty="0">
                <a:solidFill>
                  <a:srgbClr val="FFFFFF"/>
                </a:solidFill>
                <a:latin typeface="Calibri" pitchFamily="34" charset="0"/>
                <a:ea typeface="Calibri" pitchFamily="34" charset="-122"/>
                <a:cs typeface="Calibri" pitchFamily="34" charset="-120"/>
              </a:rPr>
              <a:t>Let's make Samsung India's website your strongest sales channel.</a:t>
            </a:r>
            <a:endParaRPr lang="en-US" sz="3400" dirty="0"/>
          </a:p>
        </p:txBody>
      </p:sp>
      <p:sp>
        <p:nvSpPr>
          <p:cNvPr id="6" name="Text 4"/>
          <p:cNvSpPr/>
          <p:nvPr/>
        </p:nvSpPr>
        <p:spPr>
          <a:xfrm>
            <a:off x="1097280" y="4572000"/>
            <a:ext cx="9997135" cy="457200"/>
          </a:xfrm>
          <a:prstGeom prst="rect">
            <a:avLst/>
          </a:prstGeom>
          <a:noFill/>
          <a:ln/>
        </p:spPr>
        <p:txBody>
          <a:bodyPr wrap="square" lIns="0" tIns="0" rIns="0" bIns="0" rtlCol="0" anchor="t"/>
          <a:lstStyle/>
          <a:p>
            <a:pPr algn="ctr" indent="0" marL="0">
              <a:buNone/>
            </a:pPr>
            <a:r>
              <a:rPr lang="en-US" sz="1800" dirty="0">
                <a:solidFill>
                  <a:srgbClr val="DCE3FF"/>
                </a:solidFill>
                <a:latin typeface="Calibri" pitchFamily="34" charset="0"/>
                <a:ea typeface="Calibri" pitchFamily="34" charset="-122"/>
                <a:cs typeface="Calibri" pitchFamily="34" charset="-120"/>
              </a:rPr>
              <a:t>Samsung SDS · Digital Engineering</a:t>
            </a:r>
            <a:endParaRPr lang="en-US" sz="1800" dirty="0"/>
          </a:p>
        </p:txBody>
      </p:sp>
      <p:sp>
        <p:nvSpPr>
          <p:cNvPr id="7" name="Text 5"/>
          <p:cNvSpPr/>
          <p:nvPr/>
        </p:nvSpPr>
        <p:spPr>
          <a:xfrm>
            <a:off x="1097280" y="5120640"/>
            <a:ext cx="9997135" cy="365760"/>
          </a:xfrm>
          <a:prstGeom prst="rect">
            <a:avLst/>
          </a:prstGeom>
          <a:noFill/>
          <a:ln/>
        </p:spPr>
        <p:txBody>
          <a:bodyPr wrap="square" lIns="0" tIns="0" rIns="0" bIns="0" rtlCol="0" anchor="t"/>
          <a:lstStyle/>
          <a:p>
            <a:pPr algn="ctr" indent="0" marL="0">
              <a:buNone/>
            </a:pPr>
            <a:r>
              <a:rPr lang="en-US" sz="1300" dirty="0">
                <a:solidFill>
                  <a:srgbClr val="B7C4FF"/>
                </a:solidFill>
                <a:latin typeface="Calibri" pitchFamily="34" charset="0"/>
                <a:ea typeface="Calibri" pitchFamily="34" charset="-122"/>
                <a:cs typeface="Calibri" pitchFamily="34" charset="-120"/>
              </a:rPr>
              <a:t>samsung.com  ·  2026-10-25</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we measured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17</a:t>
            </a:r>
            <a:endParaRPr lang="en-US" sz="1000" dirty="0"/>
          </a:p>
        </p:txBody>
      </p:sp>
      <p:sp>
        <p:nvSpPr>
          <p:cNvPr id="11" name="Shape 8"/>
          <p:cNvSpPr/>
          <p:nvPr/>
        </p:nvSpPr>
        <p:spPr>
          <a:xfrm>
            <a:off x="548640" y="1508760"/>
            <a:ext cx="5394960" cy="1188720"/>
          </a:xfrm>
          <a:prstGeom prst="roundRect">
            <a:avLst>
              <a:gd name="adj" fmla="val 7692"/>
            </a:avLst>
          </a:prstGeom>
          <a:solidFill>
            <a:srgbClr val="FFFFFF"/>
          </a:solidFill>
          <a:ln w="12700">
            <a:solidFill>
              <a:srgbClr val="DDE2EE"/>
            </a:solidFill>
            <a:prstDash val="solid"/>
          </a:ln>
        </p:spPr>
      </p:sp>
      <p:sp>
        <p:nvSpPr>
          <p:cNvPr id="12" name="Text 9"/>
          <p:cNvSpPr/>
          <p:nvPr/>
        </p:nvSpPr>
        <p:spPr>
          <a:xfrm>
            <a:off x="77724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Speed</a:t>
            </a:r>
            <a:endParaRPr lang="en-US" sz="1400" dirty="0"/>
          </a:p>
        </p:txBody>
      </p:sp>
      <p:sp>
        <p:nvSpPr>
          <p:cNvPr id="13" name="Text 10"/>
          <p:cNvSpPr/>
          <p:nvPr/>
        </p:nvSpPr>
        <p:spPr>
          <a:xfrm>
            <a:off x="77724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Lighthouse 12, mobile profile with simulated throttling. Falls back to browser timings if Lighthouse cannot run.</a:t>
            </a:r>
            <a:endParaRPr lang="en-US" sz="1150" dirty="0"/>
          </a:p>
        </p:txBody>
      </p:sp>
      <p:sp>
        <p:nvSpPr>
          <p:cNvPr id="14" name="Shape 11"/>
          <p:cNvSpPr/>
          <p:nvPr/>
        </p:nvSpPr>
        <p:spPr>
          <a:xfrm>
            <a:off x="6172200" y="1508760"/>
            <a:ext cx="5394960" cy="1188720"/>
          </a:xfrm>
          <a:prstGeom prst="roundRect">
            <a:avLst>
              <a:gd name="adj" fmla="val 7692"/>
            </a:avLst>
          </a:prstGeom>
          <a:solidFill>
            <a:srgbClr val="FFFFFF"/>
          </a:solidFill>
          <a:ln w="12700">
            <a:solidFill>
              <a:srgbClr val="DDE2EE"/>
            </a:solidFill>
            <a:prstDash val="solid"/>
          </a:ln>
        </p:spPr>
      </p:sp>
      <p:sp>
        <p:nvSpPr>
          <p:cNvPr id="15" name="Text 12"/>
          <p:cNvSpPr/>
          <p:nvPr/>
        </p:nvSpPr>
        <p:spPr>
          <a:xfrm>
            <a:off x="640080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Mobile</a:t>
            </a:r>
            <a:endParaRPr lang="en-US" sz="1400" dirty="0"/>
          </a:p>
        </p:txBody>
      </p:sp>
      <p:sp>
        <p:nvSpPr>
          <p:cNvPr id="16" name="Text 13"/>
          <p:cNvSpPr/>
          <p:nvPr/>
        </p:nvSpPr>
        <p:spPr>
          <a:xfrm>
            <a:off x="640080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The page reloaded at phone size with touch: viewport, overflow, tap targets, text size.</a:t>
            </a:r>
            <a:endParaRPr lang="en-US" sz="1150" dirty="0"/>
          </a:p>
        </p:txBody>
      </p:sp>
      <p:sp>
        <p:nvSpPr>
          <p:cNvPr id="17" name="Shape 14"/>
          <p:cNvSpPr/>
          <p:nvPr/>
        </p:nvSpPr>
        <p:spPr>
          <a:xfrm>
            <a:off x="548640" y="2880360"/>
            <a:ext cx="5394960" cy="1188720"/>
          </a:xfrm>
          <a:prstGeom prst="roundRect">
            <a:avLst>
              <a:gd name="adj" fmla="val 7692"/>
            </a:avLst>
          </a:prstGeom>
          <a:solidFill>
            <a:srgbClr val="FFFFFF"/>
          </a:solidFill>
          <a:ln w="12700">
            <a:solidFill>
              <a:srgbClr val="DDE2EE"/>
            </a:solidFill>
            <a:prstDash val="solid"/>
          </a:ln>
        </p:spPr>
      </p:sp>
      <p:sp>
        <p:nvSpPr>
          <p:cNvPr id="18" name="Text 15"/>
          <p:cNvSpPr/>
          <p:nvPr/>
        </p:nvSpPr>
        <p:spPr>
          <a:xfrm>
            <a:off x="77724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Accessibility</a:t>
            </a:r>
            <a:endParaRPr lang="en-US" sz="1400" dirty="0"/>
          </a:p>
        </p:txBody>
      </p:sp>
      <p:sp>
        <p:nvSpPr>
          <p:cNvPr id="19" name="Text 16"/>
          <p:cNvSpPr/>
          <p:nvPr/>
        </p:nvSpPr>
        <p:spPr>
          <a:xfrm>
            <a:off x="77724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axe-core run in a real browser; each rule weighted by impact.</a:t>
            </a:r>
            <a:endParaRPr lang="en-US" sz="1150" dirty="0"/>
          </a:p>
        </p:txBody>
      </p:sp>
      <p:sp>
        <p:nvSpPr>
          <p:cNvPr id="20" name="Shape 17"/>
          <p:cNvSpPr/>
          <p:nvPr/>
        </p:nvSpPr>
        <p:spPr>
          <a:xfrm>
            <a:off x="6172200" y="2880360"/>
            <a:ext cx="5394960" cy="1188720"/>
          </a:xfrm>
          <a:prstGeom prst="roundRect">
            <a:avLst>
              <a:gd name="adj" fmla="val 7692"/>
            </a:avLst>
          </a:prstGeom>
          <a:solidFill>
            <a:srgbClr val="FFFFFF"/>
          </a:solidFill>
          <a:ln w="12700">
            <a:solidFill>
              <a:srgbClr val="DDE2EE"/>
            </a:solidFill>
            <a:prstDash val="solid"/>
          </a:ln>
        </p:spPr>
      </p:sp>
      <p:sp>
        <p:nvSpPr>
          <p:cNvPr id="21" name="Text 18"/>
          <p:cNvSpPr/>
          <p:nvPr/>
        </p:nvSpPr>
        <p:spPr>
          <a:xfrm>
            <a:off x="640080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UX</a:t>
            </a:r>
            <a:endParaRPr lang="en-US" sz="1400" dirty="0"/>
          </a:p>
        </p:txBody>
      </p:sp>
      <p:sp>
        <p:nvSpPr>
          <p:cNvPr id="22" name="Text 19"/>
          <p:cNvSpPr/>
          <p:nvPr/>
        </p:nvSpPr>
        <p:spPr>
          <a:xfrm>
            <a:off x="640080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 vision model scores a screenshot against a fixed rubric; findings must cite what is visible.</a:t>
            </a:r>
            <a:endParaRPr lang="en-US" sz="1150" dirty="0"/>
          </a:p>
        </p:txBody>
      </p:sp>
      <p:sp>
        <p:nvSpPr>
          <p:cNvPr id="23" name="Shape 20"/>
          <p:cNvSpPr/>
          <p:nvPr/>
        </p:nvSpPr>
        <p:spPr>
          <a:xfrm>
            <a:off x="548640" y="4251960"/>
            <a:ext cx="5394960" cy="1188720"/>
          </a:xfrm>
          <a:prstGeom prst="roundRect">
            <a:avLst>
              <a:gd name="adj" fmla="val 7692"/>
            </a:avLst>
          </a:prstGeom>
          <a:solidFill>
            <a:srgbClr val="FFFFFF"/>
          </a:solidFill>
          <a:ln w="12700">
            <a:solidFill>
              <a:srgbClr val="DDE2EE"/>
            </a:solidFill>
            <a:prstDash val="solid"/>
          </a:ln>
        </p:spPr>
      </p:sp>
      <p:sp>
        <p:nvSpPr>
          <p:cNvPr id="24" name="Text 21"/>
          <p:cNvSpPr/>
          <p:nvPr/>
        </p:nvSpPr>
        <p:spPr>
          <a:xfrm>
            <a:off x="77724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AI search</a:t>
            </a:r>
            <a:endParaRPr lang="en-US" sz="1400" dirty="0"/>
          </a:p>
        </p:txBody>
      </p:sp>
      <p:sp>
        <p:nvSpPr>
          <p:cNvPr id="25" name="Text 22"/>
          <p:cNvSpPr/>
          <p:nvPr/>
        </p:nvSpPr>
        <p:spPr>
          <a:xfrm>
            <a:off x="77724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Structured data, llms.txt, AI-crawler rules and a model judgement of how clearly the page says what you do.</a:t>
            </a:r>
            <a:endParaRPr lang="en-US" sz="1150" dirty="0"/>
          </a:p>
        </p:txBody>
      </p:sp>
      <p:sp>
        <p:nvSpPr>
          <p:cNvPr id="26" name="Shape 23"/>
          <p:cNvSpPr/>
          <p:nvPr/>
        </p:nvSpPr>
        <p:spPr>
          <a:xfrm>
            <a:off x="6172200" y="4251960"/>
            <a:ext cx="5394960" cy="1188720"/>
          </a:xfrm>
          <a:prstGeom prst="roundRect">
            <a:avLst>
              <a:gd name="adj" fmla="val 7692"/>
            </a:avLst>
          </a:prstGeom>
          <a:solidFill>
            <a:srgbClr val="FFFFFF"/>
          </a:solidFill>
          <a:ln w="12700">
            <a:solidFill>
              <a:srgbClr val="DDE2EE"/>
            </a:solidFill>
            <a:prstDash val="solid"/>
          </a:ln>
        </p:spPr>
      </p:sp>
      <p:sp>
        <p:nvSpPr>
          <p:cNvPr id="27" name="Text 24"/>
          <p:cNvSpPr/>
          <p:nvPr/>
        </p:nvSpPr>
        <p:spPr>
          <a:xfrm>
            <a:off x="640080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Technology</a:t>
            </a:r>
            <a:endParaRPr lang="en-US" sz="1400" dirty="0"/>
          </a:p>
        </p:txBody>
      </p:sp>
      <p:sp>
        <p:nvSpPr>
          <p:cNvPr id="28" name="Text 25"/>
          <p:cNvSpPr/>
          <p:nvPr/>
        </p:nvSpPr>
        <p:spPr>
          <a:xfrm>
            <a:off x="640080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About 130 signatures over network requests, headers, cookies, markup and script globals. A hint, not a certainty.</a:t>
            </a:r>
            <a:endParaRPr lang="en-US" sz="1150" dirty="0"/>
          </a:p>
        </p:txBody>
      </p:sp>
      <p:sp>
        <p:nvSpPr>
          <p:cNvPr id="29" name="Text 26"/>
          <p:cNvSpPr/>
          <p:nvPr/>
        </p:nvSpPr>
        <p:spPr>
          <a:xfrm>
            <a:off x="548640" y="5760720"/>
            <a:ext cx="11094415" cy="45720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Scores are for the homepage only, measured once. The bench roster, skills inventory and rates are sample data until connected to real systems.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Samsung SDS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Samsung India: website improvement proposal</dc:title>
  <dc:subject>PptxGenJS Presentation</dc:subject>
  <dc:creator>Samsung SDS</dc:creator>
  <cp:lastModifiedBy>Samsung SDS</cp:lastModifiedBy>
  <cp:revision>1</cp:revision>
  <dcterms:created xsi:type="dcterms:W3CDTF">2026-10-26T17:40:13Z</dcterms:created>
  <dcterms:modified xsi:type="dcterms:W3CDTF">2026-10-26T17:40:13Z</dcterms:modified>
</cp:coreProperties>
</file>