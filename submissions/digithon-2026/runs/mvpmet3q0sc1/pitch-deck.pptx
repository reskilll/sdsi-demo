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2.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Score</c:v>
                </c:pt>
              </c:strCache>
            </c:strRef>
          </c:tx>
          <c:spPr>
            <a:solidFill>
              <a:schemeClr val="accent1"/>
            </a:solidFill>
            <a:ln w="9525" cap="flat">
              <a:solidFill>
                <a:srgbClr val="F9F9F9"/>
              </a:solidFill>
              <a:prstDash val="solid"/>
              <a:round/>
            </a:ln>
            <a:effectLst/>
          </c:spPr>
          <c:dPt>
            <c:idx val="0"/>
            <c:bubble3D val="0"/>
            <c:spPr>
              <a:solidFill>
                <a:srgbClr val="D64545"/>
              </a:solidFill>
              <a:ln w="9525" cap="flat">
                <a:solidFill>
                  <a:srgbClr val="FFFFFF"/>
                </a:solidFill>
                <a:prstDash val="solid"/>
                <a:round/>
              </a:ln>
              <a:effectLst/>
            </c:spPr>
          </c:dPt>
          <c:dPt>
            <c:idx val="1"/>
            <c:bubble3D val="0"/>
            <c:spPr>
              <a:solidFill>
                <a:srgbClr val="E6E9F3"/>
              </a:solidFill>
              <a:ln w="9525" cap="flat">
                <a:solidFill>
                  <a:srgbClr val="FFFFFF"/>
                </a:solidFill>
                <a:prstDash val="solid"/>
                <a:round/>
              </a:ln>
              <a:effectLst/>
            </c:spPr>
          </c:dPt>
          <c:dLbls>
            <c:dLbl>
              <c:idx val="0"/>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Sheet1!$A$2:$A$3</c:f>
              <c:strCache>
                <c:ptCount val="2"/>
                <c:pt idx="0">
                  <c:v>Score</c:v>
                </c:pt>
                <c:pt idx="1">
                  <c:v>Rest</c:v>
                </c:pt>
              </c:strCache>
            </c:strRef>
          </c:cat>
          <c:val>
            <c:numRef>
              <c:f>Sheet1!$B$2:$B$3</c:f>
              <c:numCache>
                <c:ptCount val="2"/>
                <c:pt idx="0">
                  <c:v>60</c:v>
                </c:pt>
                <c:pt idx="1">
                  <c:v>40</c:v>
                </c:pt>
              </c:numCache>
            </c:numRef>
          </c:val>
        </c:ser>
        <c:firstSliceAng val="0"/>
        <c:holeSize val="74"/>
      </c:doughnutChart>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Match</c:v>
                </c:pt>
              </c:strCache>
            </c:strRef>
          </c:tx>
          <c:spPr>
            <a:solidFill>
              <a:schemeClr val="accent1"/>
            </a:solidFill>
            <a:ln w="9525" cap="flat">
              <a:solidFill>
                <a:srgbClr val="F9F9F9"/>
              </a:solidFill>
              <a:prstDash val="solid"/>
              <a:round/>
            </a:ln>
            <a:effectLst/>
          </c:spPr>
          <c:dPt>
            <c:idx val="0"/>
            <c:bubble3D val="0"/>
            <c:spPr>
              <a:solidFill>
                <a:srgbClr val="0F9D6B"/>
              </a:solidFill>
              <a:ln w="9525" cap="flat">
                <a:solidFill>
                  <a:srgbClr val="FFFFFF"/>
                </a:solidFill>
                <a:prstDash val="solid"/>
                <a:round/>
              </a:ln>
              <a:effectLst/>
            </c:spPr>
          </c:dPt>
          <c:dPt>
            <c:idx val="1"/>
            <c:bubble3D val="0"/>
            <c:spPr>
              <a:solidFill>
                <a:srgbClr val="E6E9F3"/>
              </a:solidFill>
              <a:ln w="9525" cap="flat">
                <a:solidFill>
                  <a:srgbClr val="FFFFFF"/>
                </a:solidFill>
                <a:prstDash val="solid"/>
                <a:round/>
              </a:ln>
              <a:effectLst/>
            </c:spPr>
          </c:dPt>
          <c:dLbls>
            <c:dLbl>
              <c:idx val="0"/>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Sheet1!$A$2:$A$3</c:f>
              <c:strCache>
                <c:ptCount val="2"/>
                <c:pt idx="0">
                  <c:v>Match</c:v>
                </c:pt>
                <c:pt idx="1">
                  <c:v>Rest</c:v>
                </c:pt>
              </c:strCache>
            </c:strRef>
          </c:cat>
          <c:val>
            <c:numRef>
              <c:f>Sheet1!$B$2:$B$3</c:f>
              <c:numCache>
                <c:ptCount val="2"/>
                <c:pt idx="0">
                  <c:v>91</c:v>
                </c:pt>
                <c:pt idx="1">
                  <c:v>9</c:v>
                </c:pt>
              </c:numCache>
            </c:numRef>
          </c:val>
        </c:ser>
        <c:firstSliceAng val="0"/>
        <c:holeSize val="74"/>
      </c:doughnutChart>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This proposal is for Nike. Just Do It. Nike IN (nike.in). The left side names the engagement; the right shows their homepage today and the concept redesign.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Overall score 60 out of 100, grade D. The three biggest opportunities are on the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score is measured: Lighthouse for speed, axe-core for accessibility, a phone-sized browser for mobile, a vision model for UX and tool checks plus a model judgement for AI search. Findings and evidence follow.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finding carries its evidence, the recommended fix and why it matters to the business.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finding carries its evidence, the recommended fix and why it matters to the business.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Detected from 180 network requests, response headers, cookies, page markup and script globals. Each technology is coloured by how well our people cover it. Detection is a strong hint, not a certainty.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map each detected technology to our skills inventory. 93 percent of the platform stack has capacity today. Gaps are shown honestly with a plan to cover them. Skills data is sample data until connected to the real inventory.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concept is built from Nike. Just Do It. Nike IN's own colours, fonts and content, then re-checked by the same inspectors. It is a concept for discussion, not a final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visitors arrive on a phone. These are phone-sized screenshots of the live site and of the concept.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change in the concept answers a specific audit finding.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organisation match score is 91 out of 100: how well our skills cover what this work needs, weighted by importance and availability. It uses the detected technology stack and the audit findings. Skills are sample data until connected to the real inventory.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Named people who are available. Fit blends their level and how much of the needed skill weight they cover. This is sample talent data until connected to the real roster.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111 person-days over 4 weeks. The timeline is an indicative picture of the effort, to be fixed in discovery.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price range until discovery is complete, with every assumption stated.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simple steps. Nothing is sent or committed until a human approves.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Thank the audience and agree the first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Methods and limits, for anyone who wants to check our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2" Type="http://schemas.openxmlformats.org/officeDocument/2006/relationships/chart" Target="/ppt/charts/chart1.xml"/><Relationship Id="rId1" Type="http://schemas.openxmlformats.org/officeDocument/2006/relationships/image" Target="../media/image-2-1.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image" Target="../media/image-6-9.png"/><Relationship Id="rId10" Type="http://schemas.openxmlformats.org/officeDocument/2006/relationships/image" Target="../media/image-6-10.png"/><Relationship Id="rId11" Type="http://schemas.openxmlformats.org/officeDocument/2006/relationships/slideLayout" Target="../slideLayouts/slideLayout1.xml"/><Relationship Id="rId1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slideLayout" Target="../slideLayouts/slideLayout1.xml"/><Relationship Id="rId9"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2" Type="http://schemas.openxmlformats.org/officeDocument/2006/relationships/chart" Target="/ppt/charts/chart2.xml"/><Relationship Id="rId1" Type="http://schemas.openxmlformats.org/officeDocument/2006/relationships/image" Target="../media/image-11-1.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B5E"/>
        </a:solidFill>
      </p:bgPr>
    </p:bg>
    <p:spTree>
      <p:nvGrpSpPr>
        <p:cNvPr id="1" name=""/>
        <p:cNvGrpSpPr/>
        <p:nvPr/>
      </p:nvGrpSpPr>
      <p:grpSpPr>
        <a:xfrm>
          <a:off x="0" y="0"/>
          <a:ext cx="0" cy="0"/>
          <a:chOff x="0" y="0"/>
          <a:chExt cx="0" cy="0"/>
        </a:xfrm>
      </p:grpSpPr>
      <p:pic>
        <p:nvPicPr>
          <p:cNvPr id="2" name="Image 0" descr="Abstract network background">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7315017" y="0"/>
            <a:ext cx="4876678" cy="6858000"/>
          </a:xfrm>
          <a:prstGeom prst="rect">
            <a:avLst/>
          </a:prstGeom>
          <a:solidFill>
            <a:srgbClr val="F4F6FB"/>
          </a:solidFill>
          <a:ln w="12700">
            <a:solidFill>
              <a:srgbClr val="F4F6FB"/>
            </a:solidFill>
            <a:prstDash val="solid"/>
          </a:ln>
        </p:spPr>
      </p:sp>
      <p:pic>
        <p:nvPicPr>
          <p:cNvPr id="4" name="Image 1" descr="Samsung logo">    </p:cNvPr>
          <p:cNvPicPr>
            <a:picLocks noChangeAspect="1"/>
          </p:cNvPicPr>
          <p:nvPr/>
        </p:nvPicPr>
        <p:blipFill>
          <a:blip r:embed="rId2"/>
          <a:stretch>
            <a:fillRect/>
          </a:stretch>
        </p:blipFill>
        <p:spPr>
          <a:xfrm>
            <a:off x="548640" y="502920"/>
            <a:ext cx="2377440" cy="754517"/>
          </a:xfrm>
          <a:prstGeom prst="rect">
            <a:avLst/>
          </a:prstGeom>
        </p:spPr>
      </p:pic>
      <p:sp>
        <p:nvSpPr>
          <p:cNvPr id="5" name="Text 1"/>
          <p:cNvSpPr/>
          <p:nvPr/>
        </p:nvSpPr>
        <p:spPr>
          <a:xfrm>
            <a:off x="548640" y="1828800"/>
            <a:ext cx="6400800" cy="320040"/>
          </a:xfrm>
          <a:prstGeom prst="rect">
            <a:avLst/>
          </a:prstGeom>
          <a:noFill/>
          <a:ln/>
        </p:spPr>
        <p:txBody>
          <a:bodyPr wrap="square" lIns="0" tIns="0" rIns="0" bIns="0" rtlCol="0" anchor="t"/>
          <a:lstStyle/>
          <a:p>
            <a:pPr indent="0" marL="0">
              <a:buNone/>
            </a:pPr>
            <a:r>
              <a:rPr lang="en-US" sz="1300" b="1" spc="400" kern="0" dirty="0">
                <a:solidFill>
                  <a:srgbClr val="B7C4FF"/>
                </a:solidFill>
                <a:latin typeface="Calibri" pitchFamily="34" charset="0"/>
                <a:ea typeface="Calibri" pitchFamily="34" charset="-122"/>
                <a:cs typeface="Calibri" pitchFamily="34" charset="-120"/>
              </a:rPr>
              <a:t>WEBSITE IMPROVEMENT PROPOSAL</a:t>
            </a:r>
            <a:endParaRPr lang="en-US" sz="1300" dirty="0"/>
          </a:p>
        </p:txBody>
      </p:sp>
      <p:sp>
        <p:nvSpPr>
          <p:cNvPr id="6" name="Text 2"/>
          <p:cNvSpPr/>
          <p:nvPr/>
        </p:nvSpPr>
        <p:spPr>
          <a:xfrm>
            <a:off x="548640" y="2240280"/>
            <a:ext cx="6583680" cy="1828800"/>
          </a:xfrm>
          <a:prstGeom prst="rect">
            <a:avLst/>
          </a:prstGeom>
          <a:noFill/>
          <a:ln/>
        </p:spPr>
        <p:txBody>
          <a:bodyPr wrap="square" lIns="0" tIns="0" rIns="0" bIns="0" rtlCol="0" anchor="t">
            <a:normAutofit/>
          </a:bodyPr>
          <a:lstStyle/>
          <a:p>
            <a:pPr indent="0" marL="0">
              <a:buNone/>
            </a:pPr>
            <a:r>
              <a:rPr lang="en-US" sz="4400" b="1" dirty="0">
                <a:solidFill>
                  <a:srgbClr val="FFFFFF"/>
                </a:solidFill>
                <a:latin typeface="Calibri" pitchFamily="34" charset="0"/>
                <a:ea typeface="Calibri" pitchFamily="34" charset="-122"/>
                <a:cs typeface="Calibri" pitchFamily="34" charset="-120"/>
              </a:rPr>
              <a:t>A better Nike. Just Do It. Nike IN homepage</a:t>
            </a:r>
            <a:endParaRPr lang="en-US" sz="4400" dirty="0"/>
          </a:p>
        </p:txBody>
      </p:sp>
      <p:sp>
        <p:nvSpPr>
          <p:cNvPr id="7" name="Text 3"/>
          <p:cNvSpPr/>
          <p:nvPr/>
        </p:nvSpPr>
        <p:spPr>
          <a:xfrm>
            <a:off x="548640" y="4160520"/>
            <a:ext cx="6309360" cy="822960"/>
          </a:xfrm>
          <a:prstGeom prst="rect">
            <a:avLst/>
          </a:prstGeom>
          <a:noFill/>
          <a:ln/>
        </p:spPr>
        <p:txBody>
          <a:bodyPr wrap="square" lIns="0" tIns="0" rIns="0" bIns="0" rtlCol="0" anchor="t"/>
          <a:lstStyle/>
          <a:p>
            <a:pPr indent="0" marL="0">
              <a:buNone/>
            </a:pPr>
            <a:r>
              <a:rPr lang="en-US" sz="1800" dirty="0">
                <a:solidFill>
                  <a:srgbClr val="DCE3FF"/>
                </a:solidFill>
                <a:latin typeface="Calibri" pitchFamily="34" charset="0"/>
                <a:ea typeface="Calibri" pitchFamily="34" charset="-122"/>
                <a:cs typeface="Calibri" pitchFamily="34" charset="-120"/>
              </a:rPr>
              <a:t>Audit, technology review, concept redesign and delivery plan for Nike. Just Do It. Nike IN</a:t>
            </a:r>
            <a:endParaRPr lang="en-US" sz="1800" dirty="0"/>
          </a:p>
        </p:txBody>
      </p:sp>
      <p:sp>
        <p:nvSpPr>
          <p:cNvPr id="8" name="Text 4"/>
          <p:cNvSpPr/>
          <p:nvPr/>
        </p:nvSpPr>
        <p:spPr>
          <a:xfrm>
            <a:off x="548640" y="5577840"/>
            <a:ext cx="6583680" cy="640080"/>
          </a:xfrm>
          <a:prstGeom prst="rect">
            <a:avLst/>
          </a:prstGeom>
          <a:noFill/>
          <a:ln/>
        </p:spPr>
        <p:txBody>
          <a:bodyPr wrap="square" lIns="0" tIns="0" rIns="0" bIns="0" rtlCol="0" anchor="t"/>
          <a:lstStyle/>
          <a:p>
            <a:pPr indent="0" marL="0">
              <a:buNone/>
            </a:pPr>
            <a:r>
              <a:rPr lang="en-US" sz="1300" b="1" dirty="0">
                <a:solidFill>
                  <a:srgbClr val="B7C4FF"/>
                </a:solidFill>
                <a:latin typeface="Calibri" pitchFamily="34" charset="0"/>
                <a:ea typeface="Calibri" pitchFamily="34" charset="-122"/>
                <a:cs typeface="Calibri" pitchFamily="34" charset="-120"/>
              </a:rPr>
              <a:t>nike.in</a:t>
            </a:r>
            <a:endParaRPr lang="en-US" sz="1300" dirty="0"/>
          </a:p>
          <a:p>
            <a:pPr indent="0" marL="0">
              <a:buNone/>
            </a:pPr>
            <a:r>
              <a:rPr lang="en-US" sz="1300" dirty="0">
                <a:solidFill>
                  <a:srgbClr val="B7C4FF"/>
                </a:solidFill>
                <a:latin typeface="Calibri" pitchFamily="34" charset="0"/>
                <a:ea typeface="Calibri" pitchFamily="34" charset="-122"/>
                <a:cs typeface="Calibri" pitchFamily="34" charset="-120"/>
              </a:rPr>
              <a:t>Prepared 2026-10-26 by Samsung SDS · Digital Engineering</a:t>
            </a:r>
            <a:endParaRPr lang="en-US" sz="1300" dirty="0"/>
          </a:p>
        </p:txBody>
      </p:sp>
      <p:sp>
        <p:nvSpPr>
          <p:cNvPr id="9" name="Shape 5"/>
          <p:cNvSpPr/>
          <p:nvPr/>
        </p:nvSpPr>
        <p:spPr>
          <a:xfrm>
            <a:off x="7635057" y="822960"/>
            <a:ext cx="4206240" cy="2514600"/>
          </a:xfrm>
          <a:prstGeom prst="roundRect">
            <a:avLst>
              <a:gd name="adj" fmla="val 3636"/>
            </a:avLst>
          </a:prstGeom>
          <a:solidFill>
            <a:srgbClr val="FFFFFF"/>
          </a:solidFill>
          <a:ln w="12700">
            <a:solidFill>
              <a:srgbClr val="DDE2EE"/>
            </a:solidFill>
            <a:prstDash val="solid"/>
          </a:ln>
        </p:spPr>
      </p:sp>
      <p:pic>
        <p:nvPicPr>
          <p:cNvPr id="10" name="Image 2" descr="/Users/manish/Development/Workspace/samsung/digithon-2026/.worktrees/ppt-eval/runs/mvpmet3q0sc1/shot-desktop.png">    </p:cNvPr>
          <p:cNvPicPr>
            <a:picLocks noChangeAspect="1"/>
          </p:cNvPicPr>
          <p:nvPr/>
        </p:nvPicPr>
        <p:blipFill>
          <a:blip r:embed="rId3"/>
          <a:srcRect l="0" r="0" t="0" b="0"/>
          <a:stretch/>
        </p:blipFill>
        <p:spPr>
          <a:xfrm>
            <a:off x="7680777" y="868680"/>
            <a:ext cx="4114800" cy="2423160"/>
          </a:xfrm>
          <a:prstGeom prst="rect">
            <a:avLst/>
          </a:prstGeom>
        </p:spPr>
      </p:pic>
      <p:sp>
        <p:nvSpPr>
          <p:cNvPr id="11" name="Text 6"/>
          <p:cNvSpPr/>
          <p:nvPr/>
        </p:nvSpPr>
        <p:spPr>
          <a:xfrm>
            <a:off x="7635057" y="3401568"/>
            <a:ext cx="4206240" cy="274320"/>
          </a:xfrm>
          <a:prstGeom prst="rect">
            <a:avLst/>
          </a:prstGeom>
          <a:noFill/>
          <a:ln/>
        </p:spPr>
        <p:txBody>
          <a:bodyPr wrap="square" lIns="0" tIns="0" rIns="0" bIns="0" rtlCol="0" anchor="t"/>
          <a:lstStyle/>
          <a:p>
            <a:pPr algn="ctr" indent="0" marL="0">
              <a:buNone/>
            </a:pPr>
            <a:r>
              <a:rPr lang="en-US" sz="1100" b="1" dirty="0">
                <a:solidFill>
                  <a:srgbClr val="5B6477"/>
                </a:solidFill>
                <a:latin typeface="Calibri" pitchFamily="34" charset="0"/>
                <a:ea typeface="Calibri" pitchFamily="34" charset="-122"/>
                <a:cs typeface="Calibri" pitchFamily="34" charset="-120"/>
              </a:rPr>
              <a:t>Nike. Just Do It. Nike IN today</a:t>
            </a:r>
            <a:endParaRPr lang="en-US" sz="1100" dirty="0"/>
          </a:p>
        </p:txBody>
      </p:sp>
      <p:sp>
        <p:nvSpPr>
          <p:cNvPr id="12" name="Shape 7"/>
          <p:cNvSpPr/>
          <p:nvPr/>
        </p:nvSpPr>
        <p:spPr>
          <a:xfrm>
            <a:off x="7817937" y="3749040"/>
            <a:ext cx="4206240" cy="2514600"/>
          </a:xfrm>
          <a:prstGeom prst="roundRect">
            <a:avLst>
              <a:gd name="adj" fmla="val 3636"/>
            </a:avLst>
          </a:prstGeom>
          <a:solidFill>
            <a:srgbClr val="FFFFFF"/>
          </a:solidFill>
          <a:ln w="12700">
            <a:solidFill>
              <a:srgbClr val="2D69E2"/>
            </a:solidFill>
            <a:prstDash val="solid"/>
          </a:ln>
        </p:spPr>
      </p:sp>
      <p:pic>
        <p:nvPicPr>
          <p:cNvPr id="13" name="Image 3" descr="/Users/manish/Development/Workspace/samsung/digithon-2026/.worktrees/ppt-eval/runs/mvpmet3q0sc1/shot-after.png">    </p:cNvPr>
          <p:cNvPicPr>
            <a:picLocks noChangeAspect="1"/>
          </p:cNvPicPr>
          <p:nvPr/>
        </p:nvPicPr>
        <p:blipFill>
          <a:blip r:embed="rId4"/>
          <a:srcRect l="0" r="0" t="0" b="0"/>
          <a:stretch/>
        </p:blipFill>
        <p:spPr>
          <a:xfrm>
            <a:off x="7863657" y="3794760"/>
            <a:ext cx="4114800" cy="2423160"/>
          </a:xfrm>
          <a:prstGeom prst="rect">
            <a:avLst/>
          </a:prstGeom>
        </p:spPr>
      </p:pic>
      <p:sp>
        <p:nvSpPr>
          <p:cNvPr id="14" name="Shape 8"/>
          <p:cNvSpPr/>
          <p:nvPr/>
        </p:nvSpPr>
        <p:spPr>
          <a:xfrm>
            <a:off x="10972617" y="3886200"/>
            <a:ext cx="914400" cy="246888"/>
          </a:xfrm>
          <a:prstGeom prst="roundRect">
            <a:avLst>
              <a:gd name="adj" fmla="val 37037"/>
            </a:avLst>
          </a:prstGeom>
          <a:solidFill>
            <a:srgbClr val="2D69E2"/>
          </a:solidFill>
          <a:ln w="12700">
            <a:solidFill>
              <a:srgbClr val="2D69E2"/>
            </a:solidFill>
            <a:prstDash val="solid"/>
          </a:ln>
        </p:spPr>
      </p:sp>
      <p:sp>
        <p:nvSpPr>
          <p:cNvPr id="15" name="Text 9"/>
          <p:cNvSpPr/>
          <p:nvPr/>
        </p:nvSpPr>
        <p:spPr>
          <a:xfrm>
            <a:off x="10972617" y="3886200"/>
            <a:ext cx="914400" cy="24688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CONCEPT</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B"/>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2D69E2"/>
          </a:solidFill>
          <a:ln w="12700">
            <a:solidFill>
              <a:srgbClr val="2D69E2"/>
            </a:solidFill>
            <a:prstDash val="solid"/>
          </a:ln>
        </p:spPr>
      </p:sp>
      <p:sp>
        <p:nvSpPr>
          <p:cNvPr id="3" name="Text 1"/>
          <p:cNvSpPr/>
          <p:nvPr/>
        </p:nvSpPr>
        <p:spPr>
          <a:xfrm>
            <a:off x="548640" y="347472"/>
            <a:ext cx="8229600" cy="274320"/>
          </a:xfrm>
          <a:prstGeom prst="rect">
            <a:avLst/>
          </a:prstGeom>
          <a:noFill/>
          <a:ln/>
        </p:spPr>
        <p:txBody>
          <a:bodyPr wrap="square" lIns="0" tIns="0" rIns="0" bIns="0" rtlCol="0" anchor="t"/>
          <a:lstStyle/>
          <a:p>
            <a:pPr indent="0" marL="0">
              <a:buNone/>
            </a:pPr>
            <a:r>
              <a:rPr lang="en-US" sz="1100" b="1" spc="300" kern="0" dirty="0">
                <a:solidFill>
                  <a:srgbClr val="2D69E2"/>
                </a:solidFill>
                <a:latin typeface="Calibri" pitchFamily="34" charset="0"/>
                <a:ea typeface="Calibri" pitchFamily="34" charset="-122"/>
                <a:cs typeface="Calibri" pitchFamily="34" charset="-120"/>
              </a:rPr>
              <a:t>EXECUTIVE SUMMARY</a:t>
            </a:r>
            <a:endParaRPr lang="en-US" sz="1100" dirty="0"/>
          </a:p>
        </p:txBody>
      </p:sp>
      <p:sp>
        <p:nvSpPr>
          <p:cNvPr id="4" name="Text 2"/>
          <p:cNvSpPr/>
          <p:nvPr/>
        </p:nvSpPr>
        <p:spPr>
          <a:xfrm>
            <a:off x="548640" y="621792"/>
            <a:ext cx="9326880" cy="731520"/>
          </a:xfrm>
          <a:prstGeom prst="rect">
            <a:avLst/>
          </a:prstGeom>
          <a:noFill/>
          <a:ln/>
        </p:spPr>
        <p:txBody>
          <a:bodyPr wrap="square" lIns="0" tIns="0" rIns="0" bIns="0" rtlCol="0" anchor="t">
            <a:normAutofit/>
          </a:bodyPr>
          <a:lstStyle/>
          <a:p>
            <a:pPr indent="0" marL="0">
              <a:buNone/>
            </a:pPr>
            <a:r>
              <a:rPr lang="en-US" sz="2800" b="1" dirty="0">
                <a:solidFill>
                  <a:srgbClr val="0B1B5E"/>
                </a:solidFill>
                <a:latin typeface="Calibri" pitchFamily="34" charset="0"/>
                <a:ea typeface="Calibri" pitchFamily="34" charset="-122"/>
                <a:cs typeface="Calibri" pitchFamily="34" charset="-120"/>
              </a:rPr>
              <a:t>Where you stand, and what we recommend</a:t>
            </a:r>
            <a:endParaRPr lang="en-US" sz="2800" dirty="0"/>
          </a:p>
        </p:txBody>
      </p:sp>
      <p:pic>
        <p:nvPicPr>
          <p:cNvPr id="5" name="Image 0" descr="Samsung logo">    </p:cNvPr>
          <p:cNvPicPr>
            <a:picLocks noChangeAspect="1"/>
          </p:cNvPicPr>
          <p:nvPr/>
        </p:nvPicPr>
        <p:blipFill>
          <a:blip r:embed="rId1"/>
          <a:stretch>
            <a:fillRect/>
          </a:stretch>
        </p:blipFill>
        <p:spPr>
          <a:xfrm>
            <a:off x="10454335" y="347472"/>
            <a:ext cx="1188720" cy="377258"/>
          </a:xfrm>
          <a:prstGeom prst="rect">
            <a:avLst/>
          </a:prstGeom>
        </p:spPr>
      </p:pic>
      <p:sp>
        <p:nvSpPr>
          <p:cNvPr id="6" name="Text 3"/>
          <p:cNvSpPr/>
          <p:nvPr/>
        </p:nvSpPr>
        <p:spPr>
          <a:xfrm>
            <a:off x="548640" y="6446520"/>
            <a:ext cx="7315200" cy="256032"/>
          </a:xfrm>
          <a:prstGeom prst="rect">
            <a:avLst/>
          </a:prstGeom>
          <a:noFill/>
          <a:ln/>
        </p:spPr>
        <p:txBody>
          <a:bodyPr wrap="square" lIns="0" tIns="0" rIns="0" bIns="0" rtlCol="0" anchor="t"/>
          <a:lstStyle/>
          <a:p>
            <a:pPr indent="0" marL="0">
              <a:buNone/>
            </a:pPr>
            <a:r>
              <a:rPr lang="en-US" sz="1000" dirty="0">
                <a:solidFill>
                  <a:srgbClr val="5B6477"/>
                </a:solidFill>
                <a:latin typeface="Calibri" pitchFamily="34" charset="0"/>
                <a:ea typeface="Calibri" pitchFamily="34" charset="-122"/>
                <a:cs typeface="Calibri" pitchFamily="34" charset="-120"/>
              </a:rPr>
              <a:t>Nike. Just Do It. Nike IN  ·  Prepared by Samsung SDS</a:t>
            </a:r>
            <a:endParaRPr lang="en-US" sz="1000" dirty="0"/>
          </a:p>
        </p:txBody>
      </p:sp>
      <p:sp>
        <p:nvSpPr>
          <p:cNvPr id="7" name="Text 4"/>
          <p:cNvSpPr/>
          <p:nvPr/>
        </p:nvSpPr>
        <p:spPr>
          <a:xfrm>
            <a:off x="11185855" y="6446520"/>
            <a:ext cx="457200" cy="256032"/>
          </a:xfrm>
          <a:prstGeom prst="rect">
            <a:avLst/>
          </a:prstGeom>
          <a:noFill/>
          <a:ln/>
        </p:spPr>
        <p:txBody>
          <a:bodyPr wrap="square" lIns="0" tIns="0" rIns="0" bIns="0" rtlCol="0" anchor="t"/>
          <a:lstStyle/>
          <a:p>
            <a:pPr algn="r" indent="0" marL="0">
              <a:buNone/>
            </a:pPr>
            <a:r>
              <a:rPr lang="en-US" sz="1000" dirty="0">
                <a:solidFill>
                  <a:srgbClr val="5B6477"/>
                </a:solidFill>
                <a:latin typeface="Calibri" pitchFamily="34" charset="0"/>
                <a:ea typeface="Calibri" pitchFamily="34" charset="-122"/>
                <a:cs typeface="Calibri" pitchFamily="34" charset="-120"/>
              </a:rPr>
              <a:t>2</a:t>
            </a:r>
            <a:endParaRPr lang="en-US" sz="1000" dirty="0"/>
          </a:p>
        </p:txBody>
      </p:sp>
      <p:sp>
        <p:nvSpPr>
          <p:cNvPr id="9" name="Shape 5"/>
          <p:cNvSpPr/>
          <p:nvPr/>
        </p:nvSpPr>
        <p:spPr>
          <a:xfrm>
            <a:off x="548640" y="1508760"/>
            <a:ext cx="3200400" cy="3017520"/>
          </a:xfrm>
          <a:prstGeom prst="roundRect">
            <a:avLst>
              <a:gd name="adj" fmla="val 3030"/>
            </a:avLst>
          </a:prstGeom>
          <a:solidFill>
            <a:srgbClr val="FFFFFF"/>
          </a:solidFill>
          <a:ln w="12700">
            <a:solidFill>
              <a:srgbClr val="DDE2EE"/>
            </a:solidFill>
            <a:prstDash val="solid"/>
          </a:ln>
        </p:spPr>
      </p:sp>
      <p:graphicFrame>
        <p:nvGraphicFramePr>
          <p:cNvPr id="10" name="Chart 0" descr=""/>
          <p:cNvGraphicFramePr/>
          <p:nvPr/>
        </p:nvGraphicFramePr>
        <p:xfrm>
          <a:off x="868680" y="1645920"/>
          <a:ext cx="2560320" cy="2286000"/>
        </p:xfrm>
        <a:graphic xmlns:a="http://schemas.openxmlformats.org/drawingml/2006/main">
          <a:graphicData uri="http://schemas.openxmlformats.org/drawingml/2006/chart">
            <c:chart xmlns:c="http://schemas.openxmlformats.org/drawingml/2006/chart" r:id="rId2"/>
          </a:graphicData>
        </a:graphic>
      </p:graphicFrame>
      <p:sp>
        <p:nvSpPr>
          <p:cNvPr id="11" name="Text 6"/>
          <p:cNvSpPr/>
          <p:nvPr/>
        </p:nvSpPr>
        <p:spPr>
          <a:xfrm>
            <a:off x="548640" y="2331720"/>
            <a:ext cx="3200400" cy="822960"/>
          </a:xfrm>
          <a:prstGeom prst="rect">
            <a:avLst/>
          </a:prstGeom>
          <a:noFill/>
          <a:ln/>
        </p:spPr>
        <p:txBody>
          <a:bodyPr wrap="square" lIns="0" tIns="0" rIns="0" bIns="0" rtlCol="0" anchor="ctr"/>
          <a:lstStyle/>
          <a:p>
            <a:pPr algn="ctr" indent="0" marL="0">
              <a:buNone/>
            </a:pPr>
            <a:r>
              <a:rPr lang="en-US" sz="4800" b="1" dirty="0">
                <a:solidFill>
                  <a:srgbClr val="D64545"/>
                </a:solidFill>
                <a:latin typeface="Calibri" pitchFamily="34" charset="0"/>
                <a:ea typeface="Calibri" pitchFamily="34" charset="-122"/>
                <a:cs typeface="Calibri" pitchFamily="34" charset="-120"/>
              </a:rPr>
              <a:t>60</a:t>
            </a:r>
            <a:endParaRPr lang="en-US" sz="4800" dirty="0"/>
          </a:p>
        </p:txBody>
      </p:sp>
      <p:sp>
        <p:nvSpPr>
          <p:cNvPr id="12" name="Text 7"/>
          <p:cNvSpPr/>
          <p:nvPr/>
        </p:nvSpPr>
        <p:spPr>
          <a:xfrm>
            <a:off x="548640" y="3977640"/>
            <a:ext cx="3200400" cy="274320"/>
          </a:xfrm>
          <a:prstGeom prst="rect">
            <a:avLst/>
          </a:prstGeom>
          <a:noFill/>
          <a:ln/>
        </p:spPr>
        <p:txBody>
          <a:bodyPr wrap="square" lIns="0" tIns="0" rIns="0" bIns="0" rtlCol="0" anchor="t"/>
          <a:lstStyle/>
          <a:p>
            <a:pPr algn="ctr" indent="0" marL="0">
              <a:buNone/>
            </a:pPr>
            <a:r>
              <a:rPr lang="en-US" sz="1300" dirty="0">
                <a:solidFill>
                  <a:srgbClr val="5B6477"/>
                </a:solidFill>
                <a:latin typeface="Calibri" pitchFamily="34" charset="0"/>
                <a:ea typeface="Calibri" pitchFamily="34" charset="-122"/>
                <a:cs typeface="Calibri" pitchFamily="34" charset="-120"/>
              </a:rPr>
              <a:t>out of 100 · grade D</a:t>
            </a:r>
            <a:endParaRPr lang="en-US" sz="1300" dirty="0"/>
          </a:p>
        </p:txBody>
      </p:sp>
      <p:sp>
        <p:nvSpPr>
          <p:cNvPr id="13" name="Text 8"/>
          <p:cNvSpPr/>
          <p:nvPr/>
        </p:nvSpPr>
        <p:spPr>
          <a:xfrm>
            <a:off x="548640" y="4224528"/>
            <a:ext cx="3200400" cy="274320"/>
          </a:xfrm>
          <a:prstGeom prst="rect">
            <a:avLst/>
          </a:prstGeom>
          <a:noFill/>
          <a:ln/>
        </p:spPr>
        <p:txBody>
          <a:bodyPr wrap="square" lIns="0" tIns="0" rIns="0" bIns="0" rtlCol="0" anchor="t"/>
          <a:lstStyle/>
          <a:p>
            <a:pPr algn="ctr" indent="0" marL="0">
              <a:buNone/>
            </a:pPr>
            <a:r>
              <a:rPr lang="en-US" sz="1100" dirty="0">
                <a:solidFill>
                  <a:srgbClr val="5B6477"/>
                </a:solidFill>
                <a:latin typeface="Calibri" pitchFamily="34" charset="0"/>
                <a:ea typeface="Calibri" pitchFamily="34" charset="-122"/>
                <a:cs typeface="Calibri" pitchFamily="34" charset="-120"/>
              </a:rPr>
              <a:t>nike.in today</a:t>
            </a:r>
            <a:endParaRPr lang="en-US" sz="1100" dirty="0"/>
          </a:p>
        </p:txBody>
      </p:sp>
      <p:sp>
        <p:nvSpPr>
          <p:cNvPr id="14" name="Text 9"/>
          <p:cNvSpPr/>
          <p:nvPr/>
        </p:nvSpPr>
        <p:spPr>
          <a:xfrm>
            <a:off x="4114800" y="1508760"/>
            <a:ext cx="7315200" cy="274320"/>
          </a:xfrm>
          <a:prstGeom prst="rect">
            <a:avLst/>
          </a:prstGeom>
          <a:noFill/>
          <a:ln/>
        </p:spPr>
        <p:txBody>
          <a:bodyPr wrap="square" lIns="0" tIns="0" rIns="0" bIns="0" rtlCol="0" anchor="t"/>
          <a:lstStyle/>
          <a:p>
            <a:pPr indent="0" marL="0">
              <a:buNone/>
            </a:pPr>
            <a:r>
              <a:rPr lang="en-US" sz="1100" b="1" spc="200" kern="0" dirty="0">
                <a:solidFill>
                  <a:srgbClr val="5B6477"/>
                </a:solidFill>
                <a:latin typeface="Calibri" pitchFamily="34" charset="0"/>
                <a:ea typeface="Calibri" pitchFamily="34" charset="-122"/>
                <a:cs typeface="Calibri" pitchFamily="34" charset="-120"/>
              </a:rPr>
              <a:t>THE BIGGEST OPPORTUNITIES</a:t>
            </a:r>
            <a:endParaRPr lang="en-US" sz="1100" dirty="0"/>
          </a:p>
        </p:txBody>
      </p:sp>
      <p:sp>
        <p:nvSpPr>
          <p:cNvPr id="15" name="Shape 10"/>
          <p:cNvSpPr/>
          <p:nvPr/>
        </p:nvSpPr>
        <p:spPr>
          <a:xfrm>
            <a:off x="4114800" y="1874520"/>
            <a:ext cx="7498080" cy="804672"/>
          </a:xfrm>
          <a:prstGeom prst="roundRect">
            <a:avLst>
              <a:gd name="adj" fmla="val 11364"/>
            </a:avLst>
          </a:prstGeom>
          <a:solidFill>
            <a:srgbClr val="FFFFFF"/>
          </a:solidFill>
          <a:ln w="12700">
            <a:solidFill>
              <a:srgbClr val="DDE2EE"/>
            </a:solidFill>
            <a:prstDash val="solid"/>
          </a:ln>
        </p:spPr>
      </p:sp>
      <p:sp>
        <p:nvSpPr>
          <p:cNvPr id="16" name="Text 11"/>
          <p:cNvSpPr/>
          <p:nvPr/>
        </p:nvSpPr>
        <p:spPr>
          <a:xfrm>
            <a:off x="4251960" y="1984248"/>
            <a:ext cx="457200" cy="585216"/>
          </a:xfrm>
          <a:prstGeom prst="rect">
            <a:avLst/>
          </a:prstGeom>
          <a:noFill/>
          <a:ln/>
        </p:spPr>
        <p:txBody>
          <a:bodyPr wrap="square" lIns="0" tIns="0" rIns="0" bIns="0" rtlCol="0" anchor="ctr"/>
          <a:lstStyle/>
          <a:p>
            <a:pPr indent="0" marL="0">
              <a:buNone/>
            </a:pPr>
            <a:r>
              <a:rPr lang="en-US" sz="2600" b="1" dirty="0">
                <a:solidFill>
                  <a:srgbClr val="2D69E2"/>
                </a:solidFill>
                <a:latin typeface="Calibri" pitchFamily="34" charset="0"/>
                <a:ea typeface="Calibri" pitchFamily="34" charset="-122"/>
                <a:cs typeface="Calibri" pitchFamily="34" charset="-120"/>
              </a:rPr>
              <a:t>1</a:t>
            </a:r>
            <a:endParaRPr lang="en-US" sz="2600" dirty="0"/>
          </a:p>
        </p:txBody>
      </p:sp>
      <p:sp>
        <p:nvSpPr>
          <p:cNvPr id="17" name="Text 12"/>
          <p:cNvSpPr/>
          <p:nvPr/>
        </p:nvSpPr>
        <p:spPr>
          <a:xfrm>
            <a:off x="4800600" y="1965960"/>
            <a:ext cx="6675120" cy="320040"/>
          </a:xfrm>
          <a:prstGeom prst="rect">
            <a:avLst/>
          </a:prstGeom>
          <a:noFill/>
          <a:ln/>
        </p:spPr>
        <p:txBody>
          <a:bodyPr wrap="square" lIns="0" tIns="0" rIns="0" bIns="0" rtlCol="0" anchor="t"/>
          <a:lstStyle/>
          <a:p>
            <a:pPr indent="0" marL="0">
              <a:buNone/>
            </a:pPr>
            <a:r>
              <a:rPr lang="en-US" sz="1500" b="1" dirty="0">
                <a:solidFill>
                  <a:srgbClr val="111827"/>
                </a:solidFill>
                <a:latin typeface="Calibri" pitchFamily="34" charset="0"/>
                <a:ea typeface="Calibri" pitchFamily="34" charset="-122"/>
                <a:cs typeface="Calibri" pitchFamily="34" charset="-120"/>
              </a:rPr>
              <a:t>Main content takes 16.9s to appear on mobile</a:t>
            </a:r>
            <a:endParaRPr lang="en-US" sz="1500" dirty="0"/>
          </a:p>
        </p:txBody>
      </p:sp>
      <p:sp>
        <p:nvSpPr>
          <p:cNvPr id="18" name="Text 13"/>
          <p:cNvSpPr/>
          <p:nvPr/>
        </p:nvSpPr>
        <p:spPr>
          <a:xfrm>
            <a:off x="4800600" y="2304288"/>
            <a:ext cx="6675120" cy="329184"/>
          </a:xfrm>
          <a:prstGeom prst="rect">
            <a:avLst/>
          </a:prstGeom>
          <a:noFill/>
          <a:ln/>
        </p:spPr>
        <p:txBody>
          <a:bodyPr wrap="square" lIns="0" tIns="0" rIns="0" bIns="0" rtlCol="0" anchor="t"/>
          <a:lstStyle/>
          <a:p>
            <a:pPr indent="0" marL="0">
              <a:buNone/>
            </a:pPr>
            <a:r>
              <a:rPr lang="en-US" sz="1100" dirty="0">
                <a:solidFill>
                  <a:srgbClr val="5B6477"/>
                </a:solidFill>
                <a:latin typeface="Calibri" pitchFamily="34" charset="0"/>
                <a:ea typeface="Calibri" pitchFamily="34" charset="-122"/>
                <a:cs typeface="Calibri" pitchFamily="34" charset="-120"/>
              </a:rPr>
              <a:t>Every extra second of load time costs conversions; slow pages also rank lower in search.</a:t>
            </a:r>
            <a:endParaRPr lang="en-US" sz="1100" dirty="0"/>
          </a:p>
        </p:txBody>
      </p:sp>
      <p:sp>
        <p:nvSpPr>
          <p:cNvPr id="19" name="Shape 14"/>
          <p:cNvSpPr/>
          <p:nvPr/>
        </p:nvSpPr>
        <p:spPr>
          <a:xfrm>
            <a:off x="4114800" y="2788920"/>
            <a:ext cx="7498080" cy="804672"/>
          </a:xfrm>
          <a:prstGeom prst="roundRect">
            <a:avLst>
              <a:gd name="adj" fmla="val 11364"/>
            </a:avLst>
          </a:prstGeom>
          <a:solidFill>
            <a:srgbClr val="FFFFFF"/>
          </a:solidFill>
          <a:ln w="12700">
            <a:solidFill>
              <a:srgbClr val="DDE2EE"/>
            </a:solidFill>
            <a:prstDash val="solid"/>
          </a:ln>
        </p:spPr>
      </p:sp>
      <p:sp>
        <p:nvSpPr>
          <p:cNvPr id="20" name="Text 15"/>
          <p:cNvSpPr/>
          <p:nvPr/>
        </p:nvSpPr>
        <p:spPr>
          <a:xfrm>
            <a:off x="4251960" y="2898648"/>
            <a:ext cx="457200" cy="585216"/>
          </a:xfrm>
          <a:prstGeom prst="rect">
            <a:avLst/>
          </a:prstGeom>
          <a:noFill/>
          <a:ln/>
        </p:spPr>
        <p:txBody>
          <a:bodyPr wrap="square" lIns="0" tIns="0" rIns="0" bIns="0" rtlCol="0" anchor="ctr"/>
          <a:lstStyle/>
          <a:p>
            <a:pPr indent="0" marL="0">
              <a:buNone/>
            </a:pPr>
            <a:r>
              <a:rPr lang="en-US" sz="2600" b="1" dirty="0">
                <a:solidFill>
                  <a:srgbClr val="2D69E2"/>
                </a:solidFill>
                <a:latin typeface="Calibri" pitchFamily="34" charset="0"/>
                <a:ea typeface="Calibri" pitchFamily="34" charset="-122"/>
                <a:cs typeface="Calibri" pitchFamily="34" charset="-120"/>
              </a:rPr>
              <a:t>2</a:t>
            </a:r>
            <a:endParaRPr lang="en-US" sz="2600" dirty="0"/>
          </a:p>
        </p:txBody>
      </p:sp>
      <p:sp>
        <p:nvSpPr>
          <p:cNvPr id="21" name="Text 16"/>
          <p:cNvSpPr/>
          <p:nvPr/>
        </p:nvSpPr>
        <p:spPr>
          <a:xfrm>
            <a:off x="4800600" y="2880360"/>
            <a:ext cx="6675120" cy="320040"/>
          </a:xfrm>
          <a:prstGeom prst="rect">
            <a:avLst/>
          </a:prstGeom>
          <a:noFill/>
          <a:ln/>
        </p:spPr>
        <p:txBody>
          <a:bodyPr wrap="square" lIns="0" tIns="0" rIns="0" bIns="0" rtlCol="0" anchor="t"/>
          <a:lstStyle/>
          <a:p>
            <a:pPr indent="0" marL="0">
              <a:buNone/>
            </a:pPr>
            <a:r>
              <a:rPr lang="en-US" sz="1500" b="1" dirty="0">
                <a:solidFill>
                  <a:srgbClr val="111827"/>
                </a:solidFill>
                <a:latin typeface="Calibri" pitchFamily="34" charset="0"/>
                <a:ea typeface="Calibri" pitchFamily="34" charset="-122"/>
                <a:cs typeface="Calibri" pitchFamily="34" charset="-120"/>
              </a:rPr>
              <a:t>Page is unresponsive for 1.3s while loading</a:t>
            </a:r>
            <a:endParaRPr lang="en-US" sz="1500" dirty="0"/>
          </a:p>
        </p:txBody>
      </p:sp>
      <p:sp>
        <p:nvSpPr>
          <p:cNvPr id="22" name="Text 17"/>
          <p:cNvSpPr/>
          <p:nvPr/>
        </p:nvSpPr>
        <p:spPr>
          <a:xfrm>
            <a:off x="4800600" y="3218688"/>
            <a:ext cx="6675120" cy="329184"/>
          </a:xfrm>
          <a:prstGeom prst="rect">
            <a:avLst/>
          </a:prstGeom>
          <a:noFill/>
          <a:ln/>
        </p:spPr>
        <p:txBody>
          <a:bodyPr wrap="square" lIns="0" tIns="0" rIns="0" bIns="0" rtlCol="0" anchor="t"/>
          <a:lstStyle/>
          <a:p>
            <a:pPr indent="0" marL="0">
              <a:buNone/>
            </a:pPr>
            <a:r>
              <a:rPr lang="en-US" sz="1100" dirty="0">
                <a:solidFill>
                  <a:srgbClr val="5B6477"/>
                </a:solidFill>
                <a:latin typeface="Calibri" pitchFamily="34" charset="0"/>
                <a:ea typeface="Calibri" pitchFamily="34" charset="-122"/>
                <a:cs typeface="Calibri" pitchFamily="34" charset="-120"/>
              </a:rPr>
              <a:t>Taps and scrolls feel broken while scripts run, so visitors leave before they act.</a:t>
            </a:r>
            <a:endParaRPr lang="en-US" sz="1100" dirty="0"/>
          </a:p>
        </p:txBody>
      </p:sp>
      <p:sp>
        <p:nvSpPr>
          <p:cNvPr id="23" name="Shape 18"/>
          <p:cNvSpPr/>
          <p:nvPr/>
        </p:nvSpPr>
        <p:spPr>
          <a:xfrm>
            <a:off x="4114800" y="3703320"/>
            <a:ext cx="7498080" cy="804672"/>
          </a:xfrm>
          <a:prstGeom prst="roundRect">
            <a:avLst>
              <a:gd name="adj" fmla="val 11364"/>
            </a:avLst>
          </a:prstGeom>
          <a:solidFill>
            <a:srgbClr val="FFFFFF"/>
          </a:solidFill>
          <a:ln w="12700">
            <a:solidFill>
              <a:srgbClr val="DDE2EE"/>
            </a:solidFill>
            <a:prstDash val="solid"/>
          </a:ln>
        </p:spPr>
      </p:sp>
      <p:sp>
        <p:nvSpPr>
          <p:cNvPr id="24" name="Text 19"/>
          <p:cNvSpPr/>
          <p:nvPr/>
        </p:nvSpPr>
        <p:spPr>
          <a:xfrm>
            <a:off x="4251960" y="3813048"/>
            <a:ext cx="457200" cy="585216"/>
          </a:xfrm>
          <a:prstGeom prst="rect">
            <a:avLst/>
          </a:prstGeom>
          <a:noFill/>
          <a:ln/>
        </p:spPr>
        <p:txBody>
          <a:bodyPr wrap="square" lIns="0" tIns="0" rIns="0" bIns="0" rtlCol="0" anchor="ctr"/>
          <a:lstStyle/>
          <a:p>
            <a:pPr indent="0" marL="0">
              <a:buNone/>
            </a:pPr>
            <a:r>
              <a:rPr lang="en-US" sz="2600" b="1" dirty="0">
                <a:solidFill>
                  <a:srgbClr val="2D69E2"/>
                </a:solidFill>
                <a:latin typeface="Calibri" pitchFamily="34" charset="0"/>
                <a:ea typeface="Calibri" pitchFamily="34" charset="-122"/>
                <a:cs typeface="Calibri" pitchFamily="34" charset="-120"/>
              </a:rPr>
              <a:t>3</a:t>
            </a:r>
            <a:endParaRPr lang="en-US" sz="2600" dirty="0"/>
          </a:p>
        </p:txBody>
      </p:sp>
      <p:sp>
        <p:nvSpPr>
          <p:cNvPr id="25" name="Text 20"/>
          <p:cNvSpPr/>
          <p:nvPr/>
        </p:nvSpPr>
        <p:spPr>
          <a:xfrm>
            <a:off x="4800600" y="3794760"/>
            <a:ext cx="6675120" cy="320040"/>
          </a:xfrm>
          <a:prstGeom prst="rect">
            <a:avLst/>
          </a:prstGeom>
          <a:noFill/>
          <a:ln/>
        </p:spPr>
        <p:txBody>
          <a:bodyPr wrap="square" lIns="0" tIns="0" rIns="0" bIns="0" rtlCol="0" anchor="t"/>
          <a:lstStyle/>
          <a:p>
            <a:pPr indent="0" marL="0">
              <a:buNone/>
            </a:pPr>
            <a:r>
              <a:rPr lang="en-US" sz="1500" b="1" dirty="0">
                <a:solidFill>
                  <a:srgbClr val="111827"/>
                </a:solidFill>
                <a:latin typeface="Calibri" pitchFamily="34" charset="0"/>
                <a:ea typeface="Calibri" pitchFamily="34" charset="-122"/>
                <a:cs typeface="Calibri" pitchFamily="34" charset="-120"/>
              </a:rPr>
              <a:t>64 tap targets are too small</a:t>
            </a:r>
            <a:endParaRPr lang="en-US" sz="1500" dirty="0"/>
          </a:p>
        </p:txBody>
      </p:sp>
      <p:sp>
        <p:nvSpPr>
          <p:cNvPr id="26" name="Text 21"/>
          <p:cNvSpPr/>
          <p:nvPr/>
        </p:nvSpPr>
        <p:spPr>
          <a:xfrm>
            <a:off x="4800600" y="4133088"/>
            <a:ext cx="6675120" cy="329184"/>
          </a:xfrm>
          <a:prstGeom prst="rect">
            <a:avLst/>
          </a:prstGeom>
          <a:noFill/>
          <a:ln/>
        </p:spPr>
        <p:txBody>
          <a:bodyPr wrap="square" lIns="0" tIns="0" rIns="0" bIns="0" rtlCol="0" anchor="t"/>
          <a:lstStyle/>
          <a:p>
            <a:pPr indent="0" marL="0">
              <a:buNone/>
            </a:pPr>
            <a:r>
              <a:rPr lang="en-US" sz="1100" dirty="0">
                <a:solidFill>
                  <a:srgbClr val="5B6477"/>
                </a:solidFill>
                <a:latin typeface="Calibri" pitchFamily="34" charset="0"/>
                <a:ea typeface="Calibri" pitchFamily="34" charset="-122"/>
                <a:cs typeface="Calibri" pitchFamily="34" charset="-120"/>
              </a:rPr>
              <a:t>Mis-taps frustrate users right where you want them to act.</a:t>
            </a:r>
            <a:endParaRPr lang="en-US" sz="1100" dirty="0"/>
          </a:p>
        </p:txBody>
      </p:sp>
      <p:sp>
        <p:nvSpPr>
          <p:cNvPr id="27" name="Shape 22"/>
          <p:cNvSpPr/>
          <p:nvPr/>
        </p:nvSpPr>
        <p:spPr>
          <a:xfrm>
            <a:off x="548640" y="4800600"/>
            <a:ext cx="2072579" cy="1371600"/>
          </a:xfrm>
          <a:prstGeom prst="roundRect">
            <a:avLst>
              <a:gd name="adj" fmla="val 6667"/>
            </a:avLst>
          </a:prstGeom>
          <a:solidFill>
            <a:srgbClr val="FFFFFF"/>
          </a:solidFill>
          <a:ln w="12700">
            <a:solidFill>
              <a:srgbClr val="DDE2EE"/>
            </a:solidFill>
            <a:prstDash val="solid"/>
          </a:ln>
        </p:spPr>
      </p:sp>
      <p:sp>
        <p:nvSpPr>
          <p:cNvPr id="28" name="Text 23"/>
          <p:cNvSpPr/>
          <p:nvPr/>
        </p:nvSpPr>
        <p:spPr>
          <a:xfrm>
            <a:off x="731520" y="4910328"/>
            <a:ext cx="1706819" cy="754380"/>
          </a:xfrm>
          <a:prstGeom prst="rect">
            <a:avLst/>
          </a:prstGeom>
          <a:noFill/>
          <a:ln/>
        </p:spPr>
        <p:txBody>
          <a:bodyPr wrap="square" lIns="0" tIns="0" rIns="0" bIns="0" rtlCol="0" anchor="ctr"/>
          <a:lstStyle/>
          <a:p>
            <a:pPr indent="0" marL="0">
              <a:buNone/>
            </a:pPr>
            <a:r>
              <a:rPr lang="en-US" sz="2800" b="1" dirty="0">
                <a:solidFill>
                  <a:srgbClr val="111827"/>
                </a:solidFill>
                <a:latin typeface="Calibri" pitchFamily="34" charset="0"/>
                <a:ea typeface="Calibri" pitchFamily="34" charset="-122"/>
                <a:cs typeface="Calibri" pitchFamily="34" charset="-120"/>
              </a:rPr>
              <a:t>9</a:t>
            </a:r>
            <a:endParaRPr lang="en-US" sz="2800" dirty="0"/>
          </a:p>
        </p:txBody>
      </p:sp>
      <p:sp>
        <p:nvSpPr>
          <p:cNvPr id="29" name="Text 24"/>
          <p:cNvSpPr/>
          <p:nvPr/>
        </p:nvSpPr>
        <p:spPr>
          <a:xfrm>
            <a:off x="731520" y="5692140"/>
            <a:ext cx="1706819" cy="411480"/>
          </a:xfrm>
          <a:prstGeom prst="rect">
            <a:avLst/>
          </a:prstGeom>
          <a:noFill/>
          <a:ln/>
        </p:spPr>
        <p:txBody>
          <a:bodyPr wrap="square" lIns="0" tIns="0" rIns="0" bIns="0" rtlCol="0" anchor="t"/>
          <a:lstStyle/>
          <a:p>
            <a:pPr indent="0" marL="0">
              <a:buNone/>
            </a:pPr>
            <a:r>
              <a:rPr lang="en-US" sz="1100" dirty="0">
                <a:solidFill>
                  <a:srgbClr val="5B6477"/>
                </a:solidFill>
                <a:latin typeface="Calibri" pitchFamily="34" charset="0"/>
                <a:ea typeface="Calibri" pitchFamily="34" charset="-122"/>
                <a:cs typeface="Calibri" pitchFamily="34" charset="-120"/>
              </a:rPr>
              <a:t>Technologies found</a:t>
            </a:r>
            <a:endParaRPr lang="en-US" sz="1100" dirty="0"/>
          </a:p>
        </p:txBody>
      </p:sp>
      <p:sp>
        <p:nvSpPr>
          <p:cNvPr id="30" name="Shape 25"/>
          <p:cNvSpPr/>
          <p:nvPr/>
        </p:nvSpPr>
        <p:spPr>
          <a:xfrm>
            <a:off x="2804099" y="4800600"/>
            <a:ext cx="2072579" cy="1371600"/>
          </a:xfrm>
          <a:prstGeom prst="roundRect">
            <a:avLst>
              <a:gd name="adj" fmla="val 6667"/>
            </a:avLst>
          </a:prstGeom>
          <a:solidFill>
            <a:srgbClr val="FFFFFF"/>
          </a:solidFill>
          <a:ln w="12700">
            <a:solidFill>
              <a:srgbClr val="DDE2EE"/>
            </a:solidFill>
            <a:prstDash val="solid"/>
          </a:ln>
        </p:spPr>
      </p:sp>
      <p:sp>
        <p:nvSpPr>
          <p:cNvPr id="31" name="Text 26"/>
          <p:cNvSpPr/>
          <p:nvPr/>
        </p:nvSpPr>
        <p:spPr>
          <a:xfrm>
            <a:off x="2986979" y="4910328"/>
            <a:ext cx="1706819" cy="754380"/>
          </a:xfrm>
          <a:prstGeom prst="rect">
            <a:avLst/>
          </a:prstGeom>
          <a:noFill/>
          <a:ln/>
        </p:spPr>
        <p:txBody>
          <a:bodyPr wrap="square" lIns="0" tIns="0" rIns="0" bIns="0" rtlCol="0" anchor="ctr"/>
          <a:lstStyle/>
          <a:p>
            <a:pPr indent="0" marL="0">
              <a:buNone/>
            </a:pPr>
            <a:r>
              <a:rPr lang="en-US" sz="2800" b="1" dirty="0">
                <a:solidFill>
                  <a:srgbClr val="0F9D6B"/>
                </a:solidFill>
                <a:latin typeface="Calibri" pitchFamily="34" charset="0"/>
                <a:ea typeface="Calibri" pitchFamily="34" charset="-122"/>
                <a:cs typeface="Calibri" pitchFamily="34" charset="-120"/>
              </a:rPr>
              <a:t>91/100</a:t>
            </a:r>
            <a:endParaRPr lang="en-US" sz="2800" dirty="0"/>
          </a:p>
        </p:txBody>
      </p:sp>
      <p:sp>
        <p:nvSpPr>
          <p:cNvPr id="32" name="Text 27"/>
          <p:cNvSpPr/>
          <p:nvPr/>
        </p:nvSpPr>
        <p:spPr>
          <a:xfrm>
            <a:off x="2986979" y="5692140"/>
            <a:ext cx="1706819" cy="411480"/>
          </a:xfrm>
          <a:prstGeom prst="rect">
            <a:avLst/>
          </a:prstGeom>
          <a:noFill/>
          <a:ln/>
        </p:spPr>
        <p:txBody>
          <a:bodyPr wrap="square" lIns="0" tIns="0" rIns="0" bIns="0" rtlCol="0" anchor="t"/>
          <a:lstStyle/>
          <a:p>
            <a:pPr indent="0" marL="0">
              <a:buNone/>
            </a:pPr>
            <a:r>
              <a:rPr lang="en-US" sz="1100" dirty="0">
                <a:solidFill>
                  <a:srgbClr val="5B6477"/>
                </a:solidFill>
                <a:latin typeface="Calibri" pitchFamily="34" charset="0"/>
                <a:ea typeface="Calibri" pitchFamily="34" charset="-122"/>
                <a:cs typeface="Calibri" pitchFamily="34" charset="-120"/>
              </a:rPr>
              <a:t>Organisation match</a:t>
            </a:r>
            <a:endParaRPr lang="en-US" sz="1100" dirty="0"/>
          </a:p>
        </p:txBody>
      </p:sp>
      <p:sp>
        <p:nvSpPr>
          <p:cNvPr id="33" name="Shape 28"/>
          <p:cNvSpPr/>
          <p:nvPr/>
        </p:nvSpPr>
        <p:spPr>
          <a:xfrm>
            <a:off x="5059558" y="4800600"/>
            <a:ext cx="2072579" cy="1371600"/>
          </a:xfrm>
          <a:prstGeom prst="roundRect">
            <a:avLst>
              <a:gd name="adj" fmla="val 6667"/>
            </a:avLst>
          </a:prstGeom>
          <a:solidFill>
            <a:srgbClr val="FFFFFF"/>
          </a:solidFill>
          <a:ln w="12700">
            <a:solidFill>
              <a:srgbClr val="DDE2EE"/>
            </a:solidFill>
            <a:prstDash val="solid"/>
          </a:ln>
        </p:spPr>
      </p:sp>
      <p:sp>
        <p:nvSpPr>
          <p:cNvPr id="34" name="Text 29"/>
          <p:cNvSpPr/>
          <p:nvPr/>
        </p:nvSpPr>
        <p:spPr>
          <a:xfrm>
            <a:off x="5242438" y="4910328"/>
            <a:ext cx="1706819" cy="754380"/>
          </a:xfrm>
          <a:prstGeom prst="rect">
            <a:avLst/>
          </a:prstGeom>
          <a:noFill/>
          <a:ln/>
        </p:spPr>
        <p:txBody>
          <a:bodyPr wrap="square" lIns="0" tIns="0" rIns="0" bIns="0" rtlCol="0" anchor="ctr"/>
          <a:lstStyle/>
          <a:p>
            <a:pPr indent="0" marL="0">
              <a:buNone/>
            </a:pPr>
            <a:r>
              <a:rPr lang="en-US" sz="2800" b="1" dirty="0">
                <a:solidFill>
                  <a:srgbClr val="111827"/>
                </a:solidFill>
                <a:latin typeface="Calibri" pitchFamily="34" charset="0"/>
                <a:ea typeface="Calibri" pitchFamily="34" charset="-122"/>
                <a:cs typeface="Calibri" pitchFamily="34" charset="-120"/>
              </a:rPr>
              <a:t>6 people</a:t>
            </a:r>
            <a:endParaRPr lang="en-US" sz="2800" dirty="0"/>
          </a:p>
        </p:txBody>
      </p:sp>
      <p:sp>
        <p:nvSpPr>
          <p:cNvPr id="35" name="Text 30"/>
          <p:cNvSpPr/>
          <p:nvPr/>
        </p:nvSpPr>
        <p:spPr>
          <a:xfrm>
            <a:off x="5242438" y="5692140"/>
            <a:ext cx="1706819" cy="411480"/>
          </a:xfrm>
          <a:prstGeom prst="rect">
            <a:avLst/>
          </a:prstGeom>
          <a:noFill/>
          <a:ln/>
        </p:spPr>
        <p:txBody>
          <a:bodyPr wrap="square" lIns="0" tIns="0" rIns="0" bIns="0" rtlCol="0" anchor="t"/>
          <a:lstStyle/>
          <a:p>
            <a:pPr indent="0" marL="0">
              <a:buNone/>
            </a:pPr>
            <a:r>
              <a:rPr lang="en-US" sz="1100" dirty="0">
                <a:solidFill>
                  <a:srgbClr val="5B6477"/>
                </a:solidFill>
                <a:latin typeface="Calibri" pitchFamily="34" charset="0"/>
                <a:ea typeface="Calibri" pitchFamily="34" charset="-122"/>
                <a:cs typeface="Calibri" pitchFamily="34" charset="-120"/>
              </a:rPr>
              <a:t>Team</a:t>
            </a:r>
            <a:endParaRPr lang="en-US" sz="1100" dirty="0"/>
          </a:p>
        </p:txBody>
      </p:sp>
      <p:sp>
        <p:nvSpPr>
          <p:cNvPr id="36" name="Shape 31"/>
          <p:cNvSpPr/>
          <p:nvPr/>
        </p:nvSpPr>
        <p:spPr>
          <a:xfrm>
            <a:off x="7315017" y="4800600"/>
            <a:ext cx="2072579" cy="1371600"/>
          </a:xfrm>
          <a:prstGeom prst="roundRect">
            <a:avLst>
              <a:gd name="adj" fmla="val 6667"/>
            </a:avLst>
          </a:prstGeom>
          <a:solidFill>
            <a:srgbClr val="FFFFFF"/>
          </a:solidFill>
          <a:ln w="12700">
            <a:solidFill>
              <a:srgbClr val="DDE2EE"/>
            </a:solidFill>
            <a:prstDash val="solid"/>
          </a:ln>
        </p:spPr>
      </p:sp>
      <p:sp>
        <p:nvSpPr>
          <p:cNvPr id="37" name="Text 32"/>
          <p:cNvSpPr/>
          <p:nvPr/>
        </p:nvSpPr>
        <p:spPr>
          <a:xfrm>
            <a:off x="7497897" y="4910328"/>
            <a:ext cx="1706819" cy="754380"/>
          </a:xfrm>
          <a:prstGeom prst="rect">
            <a:avLst/>
          </a:prstGeom>
          <a:noFill/>
          <a:ln/>
        </p:spPr>
        <p:txBody>
          <a:bodyPr wrap="square" lIns="0" tIns="0" rIns="0" bIns="0" rtlCol="0" anchor="ctr"/>
          <a:lstStyle/>
          <a:p>
            <a:pPr indent="0" marL="0">
              <a:buNone/>
            </a:pPr>
            <a:r>
              <a:rPr lang="en-US" sz="2800" b="1" dirty="0">
                <a:solidFill>
                  <a:srgbClr val="111827"/>
                </a:solidFill>
                <a:latin typeface="Calibri" pitchFamily="34" charset="0"/>
                <a:ea typeface="Calibri" pitchFamily="34" charset="-122"/>
                <a:cs typeface="Calibri" pitchFamily="34" charset="-120"/>
              </a:rPr>
              <a:t>4 weeks</a:t>
            </a:r>
            <a:endParaRPr lang="en-US" sz="2800" dirty="0"/>
          </a:p>
        </p:txBody>
      </p:sp>
      <p:sp>
        <p:nvSpPr>
          <p:cNvPr id="38" name="Text 33"/>
          <p:cNvSpPr/>
          <p:nvPr/>
        </p:nvSpPr>
        <p:spPr>
          <a:xfrm>
            <a:off x="7497897" y="5692140"/>
            <a:ext cx="1706819" cy="411480"/>
          </a:xfrm>
          <a:prstGeom prst="rect">
            <a:avLst/>
          </a:prstGeom>
          <a:noFill/>
          <a:ln/>
        </p:spPr>
        <p:txBody>
          <a:bodyPr wrap="square" lIns="0" tIns="0" rIns="0" bIns="0" rtlCol="0" anchor="t"/>
          <a:lstStyle/>
          <a:p>
            <a:pPr indent="0" marL="0">
              <a:buNone/>
            </a:pPr>
            <a:r>
              <a:rPr lang="en-US" sz="1100" dirty="0">
                <a:solidFill>
                  <a:srgbClr val="5B6477"/>
                </a:solidFill>
                <a:latin typeface="Calibri" pitchFamily="34" charset="0"/>
                <a:ea typeface="Calibri" pitchFamily="34" charset="-122"/>
                <a:cs typeface="Calibri" pitchFamily="34" charset="-120"/>
              </a:rPr>
              <a:t>Timeline</a:t>
            </a:r>
            <a:endParaRPr lang="en-US" sz="1100" dirty="0"/>
          </a:p>
        </p:txBody>
      </p:sp>
      <p:sp>
        <p:nvSpPr>
          <p:cNvPr id="39" name="Shape 34"/>
          <p:cNvSpPr/>
          <p:nvPr/>
        </p:nvSpPr>
        <p:spPr>
          <a:xfrm>
            <a:off x="9570476" y="4800600"/>
            <a:ext cx="2072579" cy="1371600"/>
          </a:xfrm>
          <a:prstGeom prst="roundRect">
            <a:avLst>
              <a:gd name="adj" fmla="val 6667"/>
            </a:avLst>
          </a:prstGeom>
          <a:solidFill>
            <a:srgbClr val="FFFFFF"/>
          </a:solidFill>
          <a:ln w="12700">
            <a:solidFill>
              <a:srgbClr val="DDE2EE"/>
            </a:solidFill>
            <a:prstDash val="solid"/>
          </a:ln>
        </p:spPr>
      </p:sp>
      <p:sp>
        <p:nvSpPr>
          <p:cNvPr id="40" name="Text 35"/>
          <p:cNvSpPr/>
          <p:nvPr/>
        </p:nvSpPr>
        <p:spPr>
          <a:xfrm>
            <a:off x="9753356" y="4910328"/>
            <a:ext cx="1706819" cy="754380"/>
          </a:xfrm>
          <a:prstGeom prst="rect">
            <a:avLst/>
          </a:prstGeom>
          <a:noFill/>
          <a:ln/>
        </p:spPr>
        <p:txBody>
          <a:bodyPr wrap="square" lIns="0" tIns="0" rIns="0" bIns="0" rtlCol="0" anchor="ctr"/>
          <a:lstStyle/>
          <a:p>
            <a:pPr indent="0" marL="0">
              <a:buNone/>
            </a:pPr>
            <a:r>
              <a:rPr lang="en-US" sz="2000" b="1" dirty="0">
                <a:solidFill>
                  <a:srgbClr val="111827"/>
                </a:solidFill>
                <a:latin typeface="Calibri" pitchFamily="34" charset="0"/>
                <a:ea typeface="Calibri" pitchFamily="34" charset="-122"/>
                <a:cs typeface="Calibri" pitchFamily="34" charset="-120"/>
              </a:rPr>
              <a:t>₹11.5–14.7 lakh</a:t>
            </a:r>
            <a:endParaRPr lang="en-US" sz="2000" dirty="0"/>
          </a:p>
        </p:txBody>
      </p:sp>
      <p:sp>
        <p:nvSpPr>
          <p:cNvPr id="41" name="Text 36"/>
          <p:cNvSpPr/>
          <p:nvPr/>
        </p:nvSpPr>
        <p:spPr>
          <a:xfrm>
            <a:off x="9753356" y="5692140"/>
            <a:ext cx="1706819" cy="411480"/>
          </a:xfrm>
          <a:prstGeom prst="rect">
            <a:avLst/>
          </a:prstGeom>
          <a:noFill/>
          <a:ln/>
        </p:spPr>
        <p:txBody>
          <a:bodyPr wrap="square" lIns="0" tIns="0" rIns="0" bIns="0" rtlCol="0" anchor="t"/>
          <a:lstStyle/>
          <a:p>
            <a:pPr indent="0" marL="0">
              <a:buNone/>
            </a:pPr>
            <a:r>
              <a:rPr lang="en-US" sz="1100" dirty="0">
                <a:solidFill>
                  <a:srgbClr val="5B6477"/>
                </a:solidFill>
                <a:latin typeface="Calibri" pitchFamily="34" charset="0"/>
                <a:ea typeface="Calibri" pitchFamily="34" charset="-122"/>
                <a:cs typeface="Calibri" pitchFamily="34" charset="-120"/>
              </a:rPr>
              <a:t>Investment</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6FB"/>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2D69E2"/>
          </a:solidFill>
          <a:ln w="12700">
            <a:solidFill>
              <a:srgbClr val="2D69E2"/>
            </a:solidFill>
            <a:prstDash val="solid"/>
          </a:ln>
        </p:spPr>
      </p:sp>
      <p:sp>
        <p:nvSpPr>
          <p:cNvPr id="3" name="Text 1"/>
          <p:cNvSpPr/>
          <p:nvPr/>
        </p:nvSpPr>
        <p:spPr>
          <a:xfrm>
            <a:off x="548640" y="347472"/>
            <a:ext cx="8229600" cy="274320"/>
          </a:xfrm>
          <a:prstGeom prst="rect">
            <a:avLst/>
          </a:prstGeom>
          <a:noFill/>
          <a:ln/>
        </p:spPr>
        <p:txBody>
          <a:bodyPr wrap="square" lIns="0" tIns="0" rIns="0" bIns="0" rtlCol="0" anchor="t"/>
          <a:lstStyle/>
          <a:p>
            <a:pPr indent="0" marL="0">
              <a:buNone/>
            </a:pPr>
            <a:r>
              <a:rPr lang="en-US" sz="1100" b="1" spc="300" kern="0" dirty="0">
                <a:solidFill>
                  <a:srgbClr val="2D69E2"/>
                </a:solidFill>
                <a:latin typeface="Calibri" pitchFamily="34" charset="0"/>
                <a:ea typeface="Calibri" pitchFamily="34" charset="-122"/>
                <a:cs typeface="Calibri" pitchFamily="34" charset="-120"/>
              </a:rPr>
              <a:t>THE AUDIT</a:t>
            </a:r>
            <a:endParaRPr lang="en-US" sz="1100" dirty="0"/>
          </a:p>
        </p:txBody>
      </p:sp>
      <p:sp>
        <p:nvSpPr>
          <p:cNvPr id="4" name="Text 2"/>
          <p:cNvSpPr/>
          <p:nvPr/>
        </p:nvSpPr>
        <p:spPr>
          <a:xfrm>
            <a:off x="548640" y="621792"/>
            <a:ext cx="9326880" cy="731520"/>
          </a:xfrm>
          <a:prstGeom prst="rect">
            <a:avLst/>
          </a:prstGeom>
          <a:noFill/>
          <a:ln/>
        </p:spPr>
        <p:txBody>
          <a:bodyPr wrap="square" lIns="0" tIns="0" rIns="0" bIns="0" rtlCol="0" anchor="t">
            <a:normAutofit/>
          </a:bodyPr>
          <a:lstStyle/>
          <a:p>
            <a:pPr indent="0" marL="0">
              <a:buNone/>
            </a:pPr>
            <a:r>
              <a:rPr lang="en-US" sz="2800" b="1" dirty="0">
                <a:solidFill>
                  <a:srgbClr val="0B1B5E"/>
                </a:solidFill>
                <a:latin typeface="Calibri" pitchFamily="34" charset="0"/>
                <a:ea typeface="Calibri" pitchFamily="34" charset="-122"/>
                <a:cs typeface="Calibri" pitchFamily="34" charset="-120"/>
              </a:rPr>
              <a:t>How Nike. Just Do It. Nike IN scores today</a:t>
            </a:r>
            <a:endParaRPr lang="en-US" sz="2800" dirty="0"/>
          </a:p>
        </p:txBody>
      </p:sp>
      <p:pic>
        <p:nvPicPr>
          <p:cNvPr id="5" name="Image 0" descr="Samsung logo">    </p:cNvPr>
          <p:cNvPicPr>
            <a:picLocks noChangeAspect="1"/>
          </p:cNvPicPr>
          <p:nvPr/>
        </p:nvPicPr>
        <p:blipFill>
          <a:blip r:embed="rId1"/>
          <a:stretch>
            <a:fillRect/>
          </a:stretch>
        </p:blipFill>
        <p:spPr>
          <a:xfrm>
            <a:off x="10454335" y="347472"/>
            <a:ext cx="1188720" cy="377258"/>
          </a:xfrm>
          <a:prstGeom prst="rect">
            <a:avLst/>
          </a:prstGeom>
        </p:spPr>
      </p:pic>
      <p:sp>
        <p:nvSpPr>
          <p:cNvPr id="6" name="Text 3"/>
          <p:cNvSpPr/>
          <p:nvPr/>
        </p:nvSpPr>
        <p:spPr>
          <a:xfrm>
            <a:off x="548640" y="6446520"/>
            <a:ext cx="7315200" cy="256032"/>
          </a:xfrm>
          <a:prstGeom prst="rect">
            <a:avLst/>
          </a:prstGeom>
          <a:noFill/>
          <a:ln/>
        </p:spPr>
        <p:txBody>
          <a:bodyPr wrap="square" lIns="0" tIns="0" rIns="0" bIns="0" rtlCol="0" anchor="t"/>
          <a:lstStyle/>
          <a:p>
            <a:pPr indent="0" marL="0">
              <a:buNone/>
            </a:pPr>
            <a:r>
              <a:rPr lang="en-US" sz="1000" dirty="0">
                <a:solidFill>
                  <a:srgbClr val="5B6477"/>
                </a:solidFill>
                <a:latin typeface="Calibri" pitchFamily="34" charset="0"/>
                <a:ea typeface="Calibri" pitchFamily="34" charset="-122"/>
                <a:cs typeface="Calibri" pitchFamily="34" charset="-120"/>
              </a:rPr>
              <a:t>Nike. Just Do It. Nike IN  ·  Prepared by Samsung SDS</a:t>
            </a:r>
            <a:endParaRPr lang="en-US" sz="1000" dirty="0"/>
          </a:p>
        </p:txBody>
      </p:sp>
      <p:sp>
        <p:nvSpPr>
          <p:cNvPr id="7" name="Text 4"/>
          <p:cNvSpPr/>
          <p:nvPr/>
        </p:nvSpPr>
        <p:spPr>
          <a:xfrm>
            <a:off x="11185855" y="6446520"/>
            <a:ext cx="457200" cy="256032"/>
          </a:xfrm>
          <a:prstGeom prst="rect">
            <a:avLst/>
          </a:prstGeom>
          <a:noFill/>
          <a:ln/>
        </p:spPr>
        <p:txBody>
          <a:bodyPr wrap="square" lIns="0" tIns="0" rIns="0" bIns="0" rtlCol="0" anchor="t"/>
          <a:lstStyle/>
          <a:p>
            <a:pPr algn="r" indent="0" marL="0">
              <a:buNone/>
            </a:pPr>
            <a:r>
              <a:rPr lang="en-US" sz="1000" dirty="0">
                <a:solidFill>
                  <a:srgbClr val="5B6477"/>
                </a:solidFill>
                <a:latin typeface="Calibri" pitchFamily="34" charset="0"/>
                <a:ea typeface="Calibri" pitchFamily="34" charset="-122"/>
                <a:cs typeface="Calibri" pitchFamily="34" charset="-120"/>
              </a:rPr>
              <a:t>3</a:t>
            </a:r>
            <a:endParaRPr lang="en-US" sz="1000" dirty="0"/>
          </a:p>
        </p:txBody>
      </p:sp>
      <p:sp>
        <p:nvSpPr>
          <p:cNvPr id="9" name="Shape 5"/>
          <p:cNvSpPr/>
          <p:nvPr/>
        </p:nvSpPr>
        <p:spPr>
          <a:xfrm>
            <a:off x="548640" y="1508760"/>
            <a:ext cx="2072579" cy="4206240"/>
          </a:xfrm>
          <a:prstGeom prst="roundRect">
            <a:avLst>
              <a:gd name="adj" fmla="val 4412"/>
            </a:avLst>
          </a:prstGeom>
          <a:solidFill>
            <a:srgbClr val="FFFFFF"/>
          </a:solidFill>
          <a:ln w="12700">
            <a:solidFill>
              <a:srgbClr val="DDE2EE"/>
            </a:solidFill>
            <a:prstDash val="solid"/>
          </a:ln>
        </p:spPr>
      </p:sp>
      <p:sp>
        <p:nvSpPr>
          <p:cNvPr id="10" name="Shape 6"/>
          <p:cNvSpPr/>
          <p:nvPr/>
        </p:nvSpPr>
        <p:spPr>
          <a:xfrm>
            <a:off x="548640" y="1508760"/>
            <a:ext cx="2072579" cy="64008"/>
          </a:xfrm>
          <a:prstGeom prst="rect">
            <a:avLst/>
          </a:prstGeom>
          <a:solidFill>
            <a:srgbClr val="D64545"/>
          </a:solidFill>
          <a:ln w="12700">
            <a:solidFill>
              <a:srgbClr val="D64545"/>
            </a:solidFill>
            <a:prstDash val="solid"/>
          </a:ln>
        </p:spPr>
      </p:sp>
      <p:sp>
        <p:nvSpPr>
          <p:cNvPr id="11" name="Text 7"/>
          <p:cNvSpPr/>
          <p:nvPr/>
        </p:nvSpPr>
        <p:spPr>
          <a:xfrm>
            <a:off x="731520" y="1691640"/>
            <a:ext cx="1706819" cy="320040"/>
          </a:xfrm>
          <a:prstGeom prst="rect">
            <a:avLst/>
          </a:prstGeom>
          <a:noFill/>
          <a:ln/>
        </p:spPr>
        <p:txBody>
          <a:bodyPr wrap="square" lIns="0" tIns="0" rIns="0" bIns="0" rtlCol="0" anchor="t"/>
          <a:lstStyle/>
          <a:p>
            <a:pPr indent="0" marL="0">
              <a:buNone/>
            </a:pPr>
            <a:r>
              <a:rPr lang="en-US" sz="1500" b="1" dirty="0">
                <a:solidFill>
                  <a:srgbClr val="111827"/>
                </a:solidFill>
                <a:latin typeface="Calibri" pitchFamily="34" charset="0"/>
                <a:ea typeface="Calibri" pitchFamily="34" charset="-122"/>
                <a:cs typeface="Calibri" pitchFamily="34" charset="-120"/>
              </a:rPr>
              <a:t>Speed</a:t>
            </a:r>
            <a:endParaRPr lang="en-US" sz="1500" dirty="0"/>
          </a:p>
        </p:txBody>
      </p:sp>
      <p:sp>
        <p:nvSpPr>
          <p:cNvPr id="12" name="Text 8"/>
          <p:cNvSpPr/>
          <p:nvPr/>
        </p:nvSpPr>
        <p:spPr>
          <a:xfrm>
            <a:off x="731520" y="2057400"/>
            <a:ext cx="1249619" cy="777240"/>
          </a:xfrm>
          <a:prstGeom prst="rect">
            <a:avLst/>
          </a:prstGeom>
          <a:noFill/>
          <a:ln/>
        </p:spPr>
        <p:txBody>
          <a:bodyPr wrap="square" lIns="0" tIns="0" rIns="0" bIns="0" rtlCol="0" anchor="ctr"/>
          <a:lstStyle/>
          <a:p>
            <a:pPr indent="0" marL="0">
              <a:buNone/>
            </a:pPr>
            <a:r>
              <a:rPr lang="en-US" sz="4400" b="1" dirty="0">
                <a:solidFill>
                  <a:srgbClr val="D64545"/>
                </a:solidFill>
                <a:latin typeface="Calibri" pitchFamily="34" charset="0"/>
                <a:ea typeface="Calibri" pitchFamily="34" charset="-122"/>
                <a:cs typeface="Calibri" pitchFamily="34" charset="-120"/>
              </a:rPr>
              <a:t>37</a:t>
            </a:r>
            <a:endParaRPr lang="en-US" sz="4400" dirty="0"/>
          </a:p>
        </p:txBody>
      </p:sp>
      <p:sp>
        <p:nvSpPr>
          <p:cNvPr id="13" name="Shape 9"/>
          <p:cNvSpPr/>
          <p:nvPr/>
        </p:nvSpPr>
        <p:spPr>
          <a:xfrm>
            <a:off x="1569659" y="2286000"/>
            <a:ext cx="868680" cy="246888"/>
          </a:xfrm>
          <a:prstGeom prst="roundRect">
            <a:avLst>
              <a:gd name="adj" fmla="val 37037"/>
            </a:avLst>
          </a:prstGeom>
          <a:solidFill>
            <a:srgbClr val="FDE4E4"/>
          </a:solidFill>
          <a:ln w="12700">
            <a:solidFill>
              <a:srgbClr val="FDE4E4"/>
            </a:solidFill>
            <a:prstDash val="solid"/>
          </a:ln>
        </p:spPr>
      </p:sp>
      <p:sp>
        <p:nvSpPr>
          <p:cNvPr id="14" name="Text 10"/>
          <p:cNvSpPr/>
          <p:nvPr/>
        </p:nvSpPr>
        <p:spPr>
          <a:xfrm>
            <a:off x="1569659" y="2286000"/>
            <a:ext cx="868680" cy="246888"/>
          </a:xfrm>
          <a:prstGeom prst="rect">
            <a:avLst/>
          </a:prstGeom>
          <a:noFill/>
          <a:ln/>
        </p:spPr>
        <p:txBody>
          <a:bodyPr wrap="square" lIns="0" tIns="0" rIns="0" bIns="0" rtlCol="0" anchor="ctr"/>
          <a:lstStyle/>
          <a:p>
            <a:pPr algn="ctr" indent="0" marL="0">
              <a:buNone/>
            </a:pPr>
            <a:r>
              <a:rPr lang="en-US" sz="1000" b="1" dirty="0">
                <a:solidFill>
                  <a:srgbClr val="D64545"/>
                </a:solidFill>
                <a:latin typeface="Calibri" pitchFamily="34" charset="0"/>
                <a:ea typeface="Calibri" pitchFamily="34" charset="-122"/>
                <a:cs typeface="Calibri" pitchFamily="34" charset="-120"/>
              </a:rPr>
              <a:t>Grade F</a:t>
            </a:r>
            <a:endParaRPr lang="en-US" sz="1000" dirty="0"/>
          </a:p>
        </p:txBody>
      </p:sp>
      <p:sp>
        <p:nvSpPr>
          <p:cNvPr id="15" name="Shape 11"/>
          <p:cNvSpPr/>
          <p:nvPr/>
        </p:nvSpPr>
        <p:spPr>
          <a:xfrm>
            <a:off x="731520" y="2926080"/>
            <a:ext cx="1706819" cy="109728"/>
          </a:xfrm>
          <a:prstGeom prst="roundRect">
            <a:avLst>
              <a:gd name="adj" fmla="val 83333"/>
            </a:avLst>
          </a:prstGeom>
          <a:solidFill>
            <a:srgbClr val="E6E9F3"/>
          </a:solidFill>
          <a:ln w="12700">
            <a:solidFill>
              <a:srgbClr val="E6E9F3"/>
            </a:solidFill>
            <a:prstDash val="solid"/>
          </a:ln>
        </p:spPr>
      </p:sp>
      <p:sp>
        <p:nvSpPr>
          <p:cNvPr id="16" name="Shape 12"/>
          <p:cNvSpPr/>
          <p:nvPr/>
        </p:nvSpPr>
        <p:spPr>
          <a:xfrm>
            <a:off x="731520" y="2926080"/>
            <a:ext cx="631523" cy="109728"/>
          </a:xfrm>
          <a:prstGeom prst="roundRect">
            <a:avLst>
              <a:gd name="adj" fmla="val 83333"/>
            </a:avLst>
          </a:prstGeom>
          <a:solidFill>
            <a:srgbClr val="D64545"/>
          </a:solidFill>
          <a:ln w="12700">
            <a:solidFill>
              <a:srgbClr val="D64545"/>
            </a:solidFill>
            <a:prstDash val="solid"/>
          </a:ln>
        </p:spPr>
      </p:sp>
      <p:sp>
        <p:nvSpPr>
          <p:cNvPr id="17" name="Text 13"/>
          <p:cNvSpPr/>
          <p:nvPr/>
        </p:nvSpPr>
        <p:spPr>
          <a:xfrm>
            <a:off x="731520" y="3200400"/>
            <a:ext cx="1706819" cy="868680"/>
          </a:xfrm>
          <a:prstGeom prst="rect">
            <a:avLst/>
          </a:prstGeom>
          <a:noFill/>
          <a:ln/>
        </p:spPr>
        <p:txBody>
          <a:bodyPr wrap="square" lIns="0" tIns="0" rIns="0" bIns="0" rtlCol="0" anchor="t"/>
          <a:lstStyle/>
          <a:p>
            <a:pPr indent="0" marL="0">
              <a:buNone/>
            </a:pPr>
            <a:r>
              <a:rPr lang="en-US" sz="1100" dirty="0">
                <a:solidFill>
                  <a:srgbClr val="111827"/>
                </a:solidFill>
                <a:latin typeface="Calibri" pitchFamily="34" charset="0"/>
                <a:ea typeface="Calibri" pitchFamily="34" charset="-122"/>
                <a:cs typeface="Calibri" pitchFamily="34" charset="-120"/>
              </a:rPr>
              <a:t>Lighthouse mobile score 37; main content in 16.9s, blocking time 1263 ms.</a:t>
            </a:r>
            <a:endParaRPr lang="en-US" sz="1100" dirty="0"/>
          </a:p>
        </p:txBody>
      </p:sp>
      <p:sp>
        <p:nvSpPr>
          <p:cNvPr id="18" name="Text 14"/>
          <p:cNvSpPr/>
          <p:nvPr/>
        </p:nvSpPr>
        <p:spPr>
          <a:xfrm>
            <a:off x="731520" y="4160520"/>
            <a:ext cx="1706819" cy="201168"/>
          </a:xfrm>
          <a:prstGeom prst="rect">
            <a:avLst/>
          </a:prstGeom>
          <a:noFill/>
          <a:ln/>
        </p:spPr>
        <p:txBody>
          <a:bodyPr wrap="square" lIns="0" tIns="0" rIns="0" bIns="0" rtlCol="0" anchor="t"/>
          <a:lstStyle/>
          <a:p>
            <a:pPr indent="0" marL="0">
              <a:buNone/>
            </a:pPr>
            <a:r>
              <a:rPr lang="en-US" sz="900" dirty="0">
                <a:solidFill>
                  <a:srgbClr val="5B6477"/>
                </a:solidFill>
                <a:latin typeface="Calibri" pitchFamily="34" charset="0"/>
                <a:ea typeface="Calibri" pitchFamily="34" charset="-122"/>
                <a:cs typeface="Calibri" pitchFamily="34" charset="-120"/>
              </a:rPr>
              <a:t>Lighthouse score</a:t>
            </a:r>
            <a:endParaRPr lang="en-US" sz="900" dirty="0"/>
          </a:p>
        </p:txBody>
      </p:sp>
      <p:sp>
        <p:nvSpPr>
          <p:cNvPr id="19" name="Text 15"/>
          <p:cNvSpPr/>
          <p:nvPr/>
        </p:nvSpPr>
        <p:spPr>
          <a:xfrm>
            <a:off x="731520" y="4334256"/>
            <a:ext cx="1706819" cy="256032"/>
          </a:xfrm>
          <a:prstGeom prst="rect">
            <a:avLst/>
          </a:prstGeom>
          <a:noFill/>
          <a:ln/>
        </p:spPr>
        <p:txBody>
          <a:bodyPr wrap="square" lIns="0" tIns="0" rIns="0" bIns="0" rtlCol="0" anchor="t"/>
          <a:lstStyle/>
          <a:p>
            <a:pPr indent="0" marL="0">
              <a:buNone/>
            </a:pPr>
            <a:r>
              <a:rPr lang="en-US" sz="1200" b="1" dirty="0">
                <a:solidFill>
                  <a:srgbClr val="111827"/>
                </a:solidFill>
                <a:latin typeface="Calibri" pitchFamily="34" charset="0"/>
                <a:ea typeface="Calibri" pitchFamily="34" charset="-122"/>
                <a:cs typeface="Calibri" pitchFamily="34" charset="-120"/>
              </a:rPr>
              <a:t>37</a:t>
            </a:r>
            <a:endParaRPr lang="en-US" sz="1200" dirty="0"/>
          </a:p>
        </p:txBody>
      </p:sp>
      <p:sp>
        <p:nvSpPr>
          <p:cNvPr id="20" name="Text 16"/>
          <p:cNvSpPr/>
          <p:nvPr/>
        </p:nvSpPr>
        <p:spPr>
          <a:xfrm>
            <a:off x="731520" y="4663440"/>
            <a:ext cx="1706819" cy="201168"/>
          </a:xfrm>
          <a:prstGeom prst="rect">
            <a:avLst/>
          </a:prstGeom>
          <a:noFill/>
          <a:ln/>
        </p:spPr>
        <p:txBody>
          <a:bodyPr wrap="square" lIns="0" tIns="0" rIns="0" bIns="0" rtlCol="0" anchor="t"/>
          <a:lstStyle/>
          <a:p>
            <a:pPr indent="0" marL="0">
              <a:buNone/>
            </a:pPr>
            <a:r>
              <a:rPr lang="en-US" sz="900" dirty="0">
                <a:solidFill>
                  <a:srgbClr val="5B6477"/>
                </a:solidFill>
                <a:latin typeface="Calibri" pitchFamily="34" charset="0"/>
                <a:ea typeface="Calibri" pitchFamily="34" charset="-122"/>
                <a:cs typeface="Calibri" pitchFamily="34" charset="-120"/>
              </a:rPr>
              <a:t>LCP</a:t>
            </a:r>
            <a:endParaRPr lang="en-US" sz="900" dirty="0"/>
          </a:p>
        </p:txBody>
      </p:sp>
      <p:sp>
        <p:nvSpPr>
          <p:cNvPr id="21" name="Text 17"/>
          <p:cNvSpPr/>
          <p:nvPr/>
        </p:nvSpPr>
        <p:spPr>
          <a:xfrm>
            <a:off x="731520" y="4837176"/>
            <a:ext cx="1706819" cy="256032"/>
          </a:xfrm>
          <a:prstGeom prst="rect">
            <a:avLst/>
          </a:prstGeom>
          <a:noFill/>
          <a:ln/>
        </p:spPr>
        <p:txBody>
          <a:bodyPr wrap="square" lIns="0" tIns="0" rIns="0" bIns="0" rtlCol="0" anchor="t"/>
          <a:lstStyle/>
          <a:p>
            <a:pPr indent="0" marL="0">
              <a:buNone/>
            </a:pPr>
            <a:r>
              <a:rPr lang="en-US" sz="1200" b="1" dirty="0">
                <a:solidFill>
                  <a:srgbClr val="111827"/>
                </a:solidFill>
                <a:latin typeface="Calibri" pitchFamily="34" charset="0"/>
                <a:ea typeface="Calibri" pitchFamily="34" charset="-122"/>
                <a:cs typeface="Calibri" pitchFamily="34" charset="-120"/>
              </a:rPr>
              <a:t>16.9s</a:t>
            </a:r>
            <a:endParaRPr lang="en-US" sz="1200" dirty="0"/>
          </a:p>
        </p:txBody>
      </p:sp>
      <p:sp>
        <p:nvSpPr>
          <p:cNvPr id="22" name="Text 18"/>
          <p:cNvSpPr/>
          <p:nvPr/>
        </p:nvSpPr>
        <p:spPr>
          <a:xfrm>
            <a:off x="731520" y="5166360"/>
            <a:ext cx="1706819" cy="201168"/>
          </a:xfrm>
          <a:prstGeom prst="rect">
            <a:avLst/>
          </a:prstGeom>
          <a:noFill/>
          <a:ln/>
        </p:spPr>
        <p:txBody>
          <a:bodyPr wrap="square" lIns="0" tIns="0" rIns="0" bIns="0" rtlCol="0" anchor="t"/>
          <a:lstStyle/>
          <a:p>
            <a:pPr indent="0" marL="0">
              <a:buNone/>
            </a:pPr>
            <a:r>
              <a:rPr lang="en-US" sz="900" dirty="0">
                <a:solidFill>
                  <a:srgbClr val="5B6477"/>
                </a:solidFill>
                <a:latin typeface="Calibri" pitchFamily="34" charset="0"/>
                <a:ea typeface="Calibri" pitchFamily="34" charset="-122"/>
                <a:cs typeface="Calibri" pitchFamily="34" charset="-120"/>
              </a:rPr>
              <a:t>TBT</a:t>
            </a:r>
            <a:endParaRPr lang="en-US" sz="900" dirty="0"/>
          </a:p>
        </p:txBody>
      </p:sp>
      <p:sp>
        <p:nvSpPr>
          <p:cNvPr id="23" name="Text 19"/>
          <p:cNvSpPr/>
          <p:nvPr/>
        </p:nvSpPr>
        <p:spPr>
          <a:xfrm>
            <a:off x="731520" y="5340096"/>
            <a:ext cx="1706819" cy="256032"/>
          </a:xfrm>
          <a:prstGeom prst="rect">
            <a:avLst/>
          </a:prstGeom>
          <a:noFill/>
          <a:ln/>
        </p:spPr>
        <p:txBody>
          <a:bodyPr wrap="square" lIns="0" tIns="0" rIns="0" bIns="0" rtlCol="0" anchor="t"/>
          <a:lstStyle/>
          <a:p>
            <a:pPr indent="0" marL="0">
              <a:buNone/>
            </a:pPr>
            <a:r>
              <a:rPr lang="en-US" sz="1200" b="1" dirty="0">
                <a:solidFill>
                  <a:srgbClr val="111827"/>
                </a:solidFill>
                <a:latin typeface="Calibri" pitchFamily="34" charset="0"/>
                <a:ea typeface="Calibri" pitchFamily="34" charset="-122"/>
                <a:cs typeface="Calibri" pitchFamily="34" charset="-120"/>
              </a:rPr>
              <a:t>1263 ms</a:t>
            </a:r>
            <a:endParaRPr lang="en-US" sz="1200" dirty="0"/>
          </a:p>
        </p:txBody>
      </p:sp>
      <p:sp>
        <p:nvSpPr>
          <p:cNvPr id="24" name="Shape 20"/>
          <p:cNvSpPr/>
          <p:nvPr/>
        </p:nvSpPr>
        <p:spPr>
          <a:xfrm>
            <a:off x="2804099" y="1508760"/>
            <a:ext cx="2072579" cy="4206240"/>
          </a:xfrm>
          <a:prstGeom prst="roundRect">
            <a:avLst>
              <a:gd name="adj" fmla="val 4412"/>
            </a:avLst>
          </a:prstGeom>
          <a:solidFill>
            <a:srgbClr val="FFFFFF"/>
          </a:solidFill>
          <a:ln w="12700">
            <a:solidFill>
              <a:srgbClr val="DDE2EE"/>
            </a:solidFill>
            <a:prstDash val="solid"/>
          </a:ln>
        </p:spPr>
      </p:sp>
      <p:sp>
        <p:nvSpPr>
          <p:cNvPr id="25" name="Shape 21"/>
          <p:cNvSpPr/>
          <p:nvPr/>
        </p:nvSpPr>
        <p:spPr>
          <a:xfrm>
            <a:off x="2804099" y="1508760"/>
            <a:ext cx="2072579" cy="64008"/>
          </a:xfrm>
          <a:prstGeom prst="rect">
            <a:avLst/>
          </a:prstGeom>
          <a:solidFill>
            <a:srgbClr val="B7791F"/>
          </a:solidFill>
          <a:ln w="12700">
            <a:solidFill>
              <a:srgbClr val="B7791F"/>
            </a:solidFill>
            <a:prstDash val="solid"/>
          </a:ln>
        </p:spPr>
      </p:sp>
      <p:sp>
        <p:nvSpPr>
          <p:cNvPr id="26" name="Text 22"/>
          <p:cNvSpPr/>
          <p:nvPr/>
        </p:nvSpPr>
        <p:spPr>
          <a:xfrm>
            <a:off x="2986979" y="1691640"/>
            <a:ext cx="1706819" cy="320040"/>
          </a:xfrm>
          <a:prstGeom prst="rect">
            <a:avLst/>
          </a:prstGeom>
          <a:noFill/>
          <a:ln/>
        </p:spPr>
        <p:txBody>
          <a:bodyPr wrap="square" lIns="0" tIns="0" rIns="0" bIns="0" rtlCol="0" anchor="t"/>
          <a:lstStyle/>
          <a:p>
            <a:pPr indent="0" marL="0">
              <a:buNone/>
            </a:pPr>
            <a:r>
              <a:rPr lang="en-US" sz="1500" b="1" dirty="0">
                <a:solidFill>
                  <a:srgbClr val="111827"/>
                </a:solidFill>
                <a:latin typeface="Calibri" pitchFamily="34" charset="0"/>
                <a:ea typeface="Calibri" pitchFamily="34" charset="-122"/>
                <a:cs typeface="Calibri" pitchFamily="34" charset="-120"/>
              </a:rPr>
              <a:t>Mobile</a:t>
            </a:r>
            <a:endParaRPr lang="en-US" sz="1500" dirty="0"/>
          </a:p>
        </p:txBody>
      </p:sp>
      <p:sp>
        <p:nvSpPr>
          <p:cNvPr id="27" name="Text 23"/>
          <p:cNvSpPr/>
          <p:nvPr/>
        </p:nvSpPr>
        <p:spPr>
          <a:xfrm>
            <a:off x="2986979" y="2057400"/>
            <a:ext cx="1249619" cy="777240"/>
          </a:xfrm>
          <a:prstGeom prst="rect">
            <a:avLst/>
          </a:prstGeom>
          <a:noFill/>
          <a:ln/>
        </p:spPr>
        <p:txBody>
          <a:bodyPr wrap="square" lIns="0" tIns="0" rIns="0" bIns="0" rtlCol="0" anchor="ctr"/>
          <a:lstStyle/>
          <a:p>
            <a:pPr indent="0" marL="0">
              <a:buNone/>
            </a:pPr>
            <a:r>
              <a:rPr lang="en-US" sz="4400" b="1" dirty="0">
                <a:solidFill>
                  <a:srgbClr val="B7791F"/>
                </a:solidFill>
                <a:latin typeface="Calibri" pitchFamily="34" charset="0"/>
                <a:ea typeface="Calibri" pitchFamily="34" charset="-122"/>
                <a:cs typeface="Calibri" pitchFamily="34" charset="-120"/>
              </a:rPr>
              <a:t>70</a:t>
            </a:r>
            <a:endParaRPr lang="en-US" sz="4400" dirty="0"/>
          </a:p>
        </p:txBody>
      </p:sp>
      <p:sp>
        <p:nvSpPr>
          <p:cNvPr id="28" name="Shape 24"/>
          <p:cNvSpPr/>
          <p:nvPr/>
        </p:nvSpPr>
        <p:spPr>
          <a:xfrm>
            <a:off x="3825118" y="2286000"/>
            <a:ext cx="868680" cy="246888"/>
          </a:xfrm>
          <a:prstGeom prst="roundRect">
            <a:avLst>
              <a:gd name="adj" fmla="val 37037"/>
            </a:avLst>
          </a:prstGeom>
          <a:solidFill>
            <a:srgbClr val="FDF0D5"/>
          </a:solidFill>
          <a:ln w="12700">
            <a:solidFill>
              <a:srgbClr val="FDF0D5"/>
            </a:solidFill>
            <a:prstDash val="solid"/>
          </a:ln>
        </p:spPr>
      </p:sp>
      <p:sp>
        <p:nvSpPr>
          <p:cNvPr id="29" name="Text 25"/>
          <p:cNvSpPr/>
          <p:nvPr/>
        </p:nvSpPr>
        <p:spPr>
          <a:xfrm>
            <a:off x="3825118" y="2286000"/>
            <a:ext cx="868680" cy="246888"/>
          </a:xfrm>
          <a:prstGeom prst="rect">
            <a:avLst/>
          </a:prstGeom>
          <a:noFill/>
          <a:ln/>
        </p:spPr>
        <p:txBody>
          <a:bodyPr wrap="square" lIns="0" tIns="0" rIns="0" bIns="0" rtlCol="0" anchor="ctr"/>
          <a:lstStyle/>
          <a:p>
            <a:pPr algn="ctr" indent="0" marL="0">
              <a:buNone/>
            </a:pPr>
            <a:r>
              <a:rPr lang="en-US" sz="1000" b="1" dirty="0">
                <a:solidFill>
                  <a:srgbClr val="B7791F"/>
                </a:solidFill>
                <a:latin typeface="Calibri" pitchFamily="34" charset="0"/>
                <a:ea typeface="Calibri" pitchFamily="34" charset="-122"/>
                <a:cs typeface="Calibri" pitchFamily="34" charset="-120"/>
              </a:rPr>
              <a:t>Grade C</a:t>
            </a:r>
            <a:endParaRPr lang="en-US" sz="1000" dirty="0"/>
          </a:p>
        </p:txBody>
      </p:sp>
      <p:sp>
        <p:nvSpPr>
          <p:cNvPr id="30" name="Shape 26"/>
          <p:cNvSpPr/>
          <p:nvPr/>
        </p:nvSpPr>
        <p:spPr>
          <a:xfrm>
            <a:off x="2986979" y="2926080"/>
            <a:ext cx="1706819" cy="109728"/>
          </a:xfrm>
          <a:prstGeom prst="roundRect">
            <a:avLst>
              <a:gd name="adj" fmla="val 83333"/>
            </a:avLst>
          </a:prstGeom>
          <a:solidFill>
            <a:srgbClr val="E6E9F3"/>
          </a:solidFill>
          <a:ln w="12700">
            <a:solidFill>
              <a:srgbClr val="E6E9F3"/>
            </a:solidFill>
            <a:prstDash val="solid"/>
          </a:ln>
        </p:spPr>
      </p:sp>
      <p:sp>
        <p:nvSpPr>
          <p:cNvPr id="31" name="Shape 27"/>
          <p:cNvSpPr/>
          <p:nvPr/>
        </p:nvSpPr>
        <p:spPr>
          <a:xfrm>
            <a:off x="2986979" y="2926080"/>
            <a:ext cx="1194773" cy="109728"/>
          </a:xfrm>
          <a:prstGeom prst="roundRect">
            <a:avLst>
              <a:gd name="adj" fmla="val 83333"/>
            </a:avLst>
          </a:prstGeom>
          <a:solidFill>
            <a:srgbClr val="B7791F"/>
          </a:solidFill>
          <a:ln w="12700">
            <a:solidFill>
              <a:srgbClr val="B7791F"/>
            </a:solidFill>
            <a:prstDash val="solid"/>
          </a:ln>
        </p:spPr>
      </p:sp>
      <p:sp>
        <p:nvSpPr>
          <p:cNvPr id="32" name="Text 28"/>
          <p:cNvSpPr/>
          <p:nvPr/>
        </p:nvSpPr>
        <p:spPr>
          <a:xfrm>
            <a:off x="2986979" y="3200400"/>
            <a:ext cx="1706819" cy="868680"/>
          </a:xfrm>
          <a:prstGeom prst="rect">
            <a:avLst/>
          </a:prstGeom>
          <a:noFill/>
          <a:ln/>
        </p:spPr>
        <p:txBody>
          <a:bodyPr wrap="square" lIns="0" tIns="0" rIns="0" bIns="0" rtlCol="0" anchor="t"/>
          <a:lstStyle/>
          <a:p>
            <a:pPr indent="0" marL="0">
              <a:buNone/>
            </a:pPr>
            <a:r>
              <a:rPr lang="en-US" sz="1100" dirty="0">
                <a:solidFill>
                  <a:srgbClr val="111827"/>
                </a:solidFill>
                <a:latin typeface="Calibri" pitchFamily="34" charset="0"/>
                <a:ea typeface="Calibri" pitchFamily="34" charset="-122"/>
                <a:cs typeface="Calibri" pitchFamily="34" charset="-120"/>
              </a:rPr>
              <a:t>64 of 87 tap targets are too small on mobile.</a:t>
            </a:r>
            <a:endParaRPr lang="en-US" sz="1100" dirty="0"/>
          </a:p>
        </p:txBody>
      </p:sp>
      <p:sp>
        <p:nvSpPr>
          <p:cNvPr id="33" name="Text 29"/>
          <p:cNvSpPr/>
          <p:nvPr/>
        </p:nvSpPr>
        <p:spPr>
          <a:xfrm>
            <a:off x="2986979" y="4160520"/>
            <a:ext cx="1706819" cy="201168"/>
          </a:xfrm>
          <a:prstGeom prst="rect">
            <a:avLst/>
          </a:prstGeom>
          <a:noFill/>
          <a:ln/>
        </p:spPr>
        <p:txBody>
          <a:bodyPr wrap="square" lIns="0" tIns="0" rIns="0" bIns="0" rtlCol="0" anchor="t"/>
          <a:lstStyle/>
          <a:p>
            <a:pPr indent="0" marL="0">
              <a:buNone/>
            </a:pPr>
            <a:r>
              <a:rPr lang="en-US" sz="900" dirty="0">
                <a:solidFill>
                  <a:srgbClr val="5B6477"/>
                </a:solidFill>
                <a:latin typeface="Calibri" pitchFamily="34" charset="0"/>
                <a:ea typeface="Calibri" pitchFamily="34" charset="-122"/>
                <a:cs typeface="Calibri" pitchFamily="34" charset="-120"/>
              </a:rPr>
              <a:t>Horizontal overflow</a:t>
            </a:r>
            <a:endParaRPr lang="en-US" sz="900" dirty="0"/>
          </a:p>
        </p:txBody>
      </p:sp>
      <p:sp>
        <p:nvSpPr>
          <p:cNvPr id="34" name="Text 30"/>
          <p:cNvSpPr/>
          <p:nvPr/>
        </p:nvSpPr>
        <p:spPr>
          <a:xfrm>
            <a:off x="2986979" y="4334256"/>
            <a:ext cx="1706819" cy="256032"/>
          </a:xfrm>
          <a:prstGeom prst="rect">
            <a:avLst/>
          </a:prstGeom>
          <a:noFill/>
          <a:ln/>
        </p:spPr>
        <p:txBody>
          <a:bodyPr wrap="square" lIns="0" tIns="0" rIns="0" bIns="0" rtlCol="0" anchor="t"/>
          <a:lstStyle/>
          <a:p>
            <a:pPr indent="0" marL="0">
              <a:buNone/>
            </a:pPr>
            <a:r>
              <a:rPr lang="en-US" sz="1200" b="1" dirty="0">
                <a:solidFill>
                  <a:srgbClr val="111827"/>
                </a:solidFill>
                <a:latin typeface="Calibri" pitchFamily="34" charset="0"/>
                <a:ea typeface="Calibri" pitchFamily="34" charset="-122"/>
                <a:cs typeface="Calibri" pitchFamily="34" charset="-120"/>
              </a:rPr>
              <a:t>0px</a:t>
            </a:r>
            <a:endParaRPr lang="en-US" sz="1200" dirty="0"/>
          </a:p>
        </p:txBody>
      </p:sp>
      <p:sp>
        <p:nvSpPr>
          <p:cNvPr id="35" name="Text 31"/>
          <p:cNvSpPr/>
          <p:nvPr/>
        </p:nvSpPr>
        <p:spPr>
          <a:xfrm>
            <a:off x="2986979" y="4663440"/>
            <a:ext cx="1706819" cy="201168"/>
          </a:xfrm>
          <a:prstGeom prst="rect">
            <a:avLst/>
          </a:prstGeom>
          <a:noFill/>
          <a:ln/>
        </p:spPr>
        <p:txBody>
          <a:bodyPr wrap="square" lIns="0" tIns="0" rIns="0" bIns="0" rtlCol="0" anchor="t"/>
          <a:lstStyle/>
          <a:p>
            <a:pPr indent="0" marL="0">
              <a:buNone/>
            </a:pPr>
            <a:r>
              <a:rPr lang="en-US" sz="900" dirty="0">
                <a:solidFill>
                  <a:srgbClr val="5B6477"/>
                </a:solidFill>
                <a:latin typeface="Calibri" pitchFamily="34" charset="0"/>
                <a:ea typeface="Calibri" pitchFamily="34" charset="-122"/>
                <a:cs typeface="Calibri" pitchFamily="34" charset="-120"/>
              </a:rPr>
              <a:t>Small tap targets</a:t>
            </a:r>
            <a:endParaRPr lang="en-US" sz="900" dirty="0"/>
          </a:p>
        </p:txBody>
      </p:sp>
      <p:sp>
        <p:nvSpPr>
          <p:cNvPr id="36" name="Text 32"/>
          <p:cNvSpPr/>
          <p:nvPr/>
        </p:nvSpPr>
        <p:spPr>
          <a:xfrm>
            <a:off x="2986979" y="4837176"/>
            <a:ext cx="1706819" cy="256032"/>
          </a:xfrm>
          <a:prstGeom prst="rect">
            <a:avLst/>
          </a:prstGeom>
          <a:noFill/>
          <a:ln/>
        </p:spPr>
        <p:txBody>
          <a:bodyPr wrap="square" lIns="0" tIns="0" rIns="0" bIns="0" rtlCol="0" anchor="t"/>
          <a:lstStyle/>
          <a:p>
            <a:pPr indent="0" marL="0">
              <a:buNone/>
            </a:pPr>
            <a:r>
              <a:rPr lang="en-US" sz="1200" b="1" dirty="0">
                <a:solidFill>
                  <a:srgbClr val="111827"/>
                </a:solidFill>
                <a:latin typeface="Calibri" pitchFamily="34" charset="0"/>
                <a:ea typeface="Calibri" pitchFamily="34" charset="-122"/>
                <a:cs typeface="Calibri" pitchFamily="34" charset="-120"/>
              </a:rPr>
              <a:t>64/87</a:t>
            </a:r>
            <a:endParaRPr lang="en-US" sz="1200" dirty="0"/>
          </a:p>
        </p:txBody>
      </p:sp>
      <p:sp>
        <p:nvSpPr>
          <p:cNvPr id="37" name="Text 33"/>
          <p:cNvSpPr/>
          <p:nvPr/>
        </p:nvSpPr>
        <p:spPr>
          <a:xfrm>
            <a:off x="2986979" y="5166360"/>
            <a:ext cx="1706819" cy="201168"/>
          </a:xfrm>
          <a:prstGeom prst="rect">
            <a:avLst/>
          </a:prstGeom>
          <a:noFill/>
          <a:ln/>
        </p:spPr>
        <p:txBody>
          <a:bodyPr wrap="square" lIns="0" tIns="0" rIns="0" bIns="0" rtlCol="0" anchor="t"/>
          <a:lstStyle/>
          <a:p>
            <a:pPr indent="0" marL="0">
              <a:buNone/>
            </a:pPr>
            <a:r>
              <a:rPr lang="en-US" sz="900" dirty="0">
                <a:solidFill>
                  <a:srgbClr val="5B6477"/>
                </a:solidFill>
                <a:latin typeface="Calibri" pitchFamily="34" charset="0"/>
                <a:ea typeface="Calibri" pitchFamily="34" charset="-122"/>
                <a:cs typeface="Calibri" pitchFamily="34" charset="-120"/>
              </a:rPr>
              <a:t>Tiny text blocks</a:t>
            </a:r>
            <a:endParaRPr lang="en-US" sz="900" dirty="0"/>
          </a:p>
        </p:txBody>
      </p:sp>
      <p:sp>
        <p:nvSpPr>
          <p:cNvPr id="38" name="Text 34"/>
          <p:cNvSpPr/>
          <p:nvPr/>
        </p:nvSpPr>
        <p:spPr>
          <a:xfrm>
            <a:off x="2986979" y="5340096"/>
            <a:ext cx="1706819" cy="256032"/>
          </a:xfrm>
          <a:prstGeom prst="rect">
            <a:avLst/>
          </a:prstGeom>
          <a:noFill/>
          <a:ln/>
        </p:spPr>
        <p:txBody>
          <a:bodyPr wrap="square" lIns="0" tIns="0" rIns="0" bIns="0" rtlCol="0" anchor="t"/>
          <a:lstStyle/>
          <a:p>
            <a:pPr indent="0" marL="0">
              <a:buNone/>
            </a:pPr>
            <a:r>
              <a:rPr lang="en-US" sz="1200" b="1" dirty="0">
                <a:solidFill>
                  <a:srgbClr val="111827"/>
                </a:solidFill>
                <a:latin typeface="Calibri" pitchFamily="34" charset="0"/>
                <a:ea typeface="Calibri" pitchFamily="34" charset="-122"/>
                <a:cs typeface="Calibri" pitchFamily="34" charset="-120"/>
              </a:rPr>
              <a:t>0</a:t>
            </a:r>
            <a:endParaRPr lang="en-US" sz="1200" dirty="0"/>
          </a:p>
        </p:txBody>
      </p:sp>
      <p:sp>
        <p:nvSpPr>
          <p:cNvPr id="39" name="Shape 35"/>
          <p:cNvSpPr/>
          <p:nvPr/>
        </p:nvSpPr>
        <p:spPr>
          <a:xfrm>
            <a:off x="5059558" y="1508760"/>
            <a:ext cx="2072579" cy="4206240"/>
          </a:xfrm>
          <a:prstGeom prst="roundRect">
            <a:avLst>
              <a:gd name="adj" fmla="val 4412"/>
            </a:avLst>
          </a:prstGeom>
          <a:solidFill>
            <a:srgbClr val="FFFFFF"/>
          </a:solidFill>
          <a:ln w="12700">
            <a:solidFill>
              <a:srgbClr val="DDE2EE"/>
            </a:solidFill>
            <a:prstDash val="solid"/>
          </a:ln>
        </p:spPr>
      </p:sp>
      <p:sp>
        <p:nvSpPr>
          <p:cNvPr id="40" name="Shape 36"/>
          <p:cNvSpPr/>
          <p:nvPr/>
        </p:nvSpPr>
        <p:spPr>
          <a:xfrm>
            <a:off x="5059558" y="1508760"/>
            <a:ext cx="2072579" cy="64008"/>
          </a:xfrm>
          <a:prstGeom prst="rect">
            <a:avLst/>
          </a:prstGeom>
          <a:solidFill>
            <a:srgbClr val="D64545"/>
          </a:solidFill>
          <a:ln w="12700">
            <a:solidFill>
              <a:srgbClr val="D64545"/>
            </a:solidFill>
            <a:prstDash val="solid"/>
          </a:ln>
        </p:spPr>
      </p:sp>
      <p:sp>
        <p:nvSpPr>
          <p:cNvPr id="41" name="Text 37"/>
          <p:cNvSpPr/>
          <p:nvPr/>
        </p:nvSpPr>
        <p:spPr>
          <a:xfrm>
            <a:off x="5242438" y="1691640"/>
            <a:ext cx="1706819" cy="320040"/>
          </a:xfrm>
          <a:prstGeom prst="rect">
            <a:avLst/>
          </a:prstGeom>
          <a:noFill/>
          <a:ln/>
        </p:spPr>
        <p:txBody>
          <a:bodyPr wrap="square" lIns="0" tIns="0" rIns="0" bIns="0" rtlCol="0" anchor="t"/>
          <a:lstStyle/>
          <a:p>
            <a:pPr indent="0" marL="0">
              <a:buNone/>
            </a:pPr>
            <a:r>
              <a:rPr lang="en-US" sz="1500" b="1" dirty="0">
                <a:solidFill>
                  <a:srgbClr val="111827"/>
                </a:solidFill>
                <a:latin typeface="Calibri" pitchFamily="34" charset="0"/>
                <a:ea typeface="Calibri" pitchFamily="34" charset="-122"/>
                <a:cs typeface="Calibri" pitchFamily="34" charset="-120"/>
              </a:rPr>
              <a:t>Accessibility</a:t>
            </a:r>
            <a:endParaRPr lang="en-US" sz="1500" dirty="0"/>
          </a:p>
        </p:txBody>
      </p:sp>
      <p:sp>
        <p:nvSpPr>
          <p:cNvPr id="42" name="Text 38"/>
          <p:cNvSpPr/>
          <p:nvPr/>
        </p:nvSpPr>
        <p:spPr>
          <a:xfrm>
            <a:off x="5242438" y="2057400"/>
            <a:ext cx="1249619" cy="777240"/>
          </a:xfrm>
          <a:prstGeom prst="rect">
            <a:avLst/>
          </a:prstGeom>
          <a:noFill/>
          <a:ln/>
        </p:spPr>
        <p:txBody>
          <a:bodyPr wrap="square" lIns="0" tIns="0" rIns="0" bIns="0" rtlCol="0" anchor="ctr"/>
          <a:lstStyle/>
          <a:p>
            <a:pPr indent="0" marL="0">
              <a:buNone/>
            </a:pPr>
            <a:r>
              <a:rPr lang="en-US" sz="4400" b="1" dirty="0">
                <a:solidFill>
                  <a:srgbClr val="D64545"/>
                </a:solidFill>
                <a:latin typeface="Calibri" pitchFamily="34" charset="0"/>
                <a:ea typeface="Calibri" pitchFamily="34" charset="-122"/>
                <a:cs typeface="Calibri" pitchFamily="34" charset="-120"/>
              </a:rPr>
              <a:t>45</a:t>
            </a:r>
            <a:endParaRPr lang="en-US" sz="4400" dirty="0"/>
          </a:p>
        </p:txBody>
      </p:sp>
      <p:sp>
        <p:nvSpPr>
          <p:cNvPr id="43" name="Shape 39"/>
          <p:cNvSpPr/>
          <p:nvPr/>
        </p:nvSpPr>
        <p:spPr>
          <a:xfrm>
            <a:off x="6080577" y="2286000"/>
            <a:ext cx="868680" cy="246888"/>
          </a:xfrm>
          <a:prstGeom prst="roundRect">
            <a:avLst>
              <a:gd name="adj" fmla="val 37037"/>
            </a:avLst>
          </a:prstGeom>
          <a:solidFill>
            <a:srgbClr val="FDE4E4"/>
          </a:solidFill>
          <a:ln w="12700">
            <a:solidFill>
              <a:srgbClr val="FDE4E4"/>
            </a:solidFill>
            <a:prstDash val="solid"/>
          </a:ln>
        </p:spPr>
      </p:sp>
      <p:sp>
        <p:nvSpPr>
          <p:cNvPr id="44" name="Text 40"/>
          <p:cNvSpPr/>
          <p:nvPr/>
        </p:nvSpPr>
        <p:spPr>
          <a:xfrm>
            <a:off x="6080577" y="2286000"/>
            <a:ext cx="868680" cy="246888"/>
          </a:xfrm>
          <a:prstGeom prst="rect">
            <a:avLst/>
          </a:prstGeom>
          <a:noFill/>
          <a:ln/>
        </p:spPr>
        <p:txBody>
          <a:bodyPr wrap="square" lIns="0" tIns="0" rIns="0" bIns="0" rtlCol="0" anchor="ctr"/>
          <a:lstStyle/>
          <a:p>
            <a:pPr algn="ctr" indent="0" marL="0">
              <a:buNone/>
            </a:pPr>
            <a:r>
              <a:rPr lang="en-US" sz="1000" b="1" dirty="0">
                <a:solidFill>
                  <a:srgbClr val="D64545"/>
                </a:solidFill>
                <a:latin typeface="Calibri" pitchFamily="34" charset="0"/>
                <a:ea typeface="Calibri" pitchFamily="34" charset="-122"/>
                <a:cs typeface="Calibri" pitchFamily="34" charset="-120"/>
              </a:rPr>
              <a:t>Grade F</a:t>
            </a:r>
            <a:endParaRPr lang="en-US" sz="1000" dirty="0"/>
          </a:p>
        </p:txBody>
      </p:sp>
      <p:sp>
        <p:nvSpPr>
          <p:cNvPr id="45" name="Shape 41"/>
          <p:cNvSpPr/>
          <p:nvPr/>
        </p:nvSpPr>
        <p:spPr>
          <a:xfrm>
            <a:off x="5242438" y="2926080"/>
            <a:ext cx="1706819" cy="109728"/>
          </a:xfrm>
          <a:prstGeom prst="roundRect">
            <a:avLst>
              <a:gd name="adj" fmla="val 83333"/>
            </a:avLst>
          </a:prstGeom>
          <a:solidFill>
            <a:srgbClr val="E6E9F3"/>
          </a:solidFill>
          <a:ln w="12700">
            <a:solidFill>
              <a:srgbClr val="E6E9F3"/>
            </a:solidFill>
            <a:prstDash val="solid"/>
          </a:ln>
        </p:spPr>
      </p:sp>
      <p:sp>
        <p:nvSpPr>
          <p:cNvPr id="46" name="Shape 42"/>
          <p:cNvSpPr/>
          <p:nvPr/>
        </p:nvSpPr>
        <p:spPr>
          <a:xfrm>
            <a:off x="5242438" y="2926080"/>
            <a:ext cx="768069" cy="109728"/>
          </a:xfrm>
          <a:prstGeom prst="roundRect">
            <a:avLst>
              <a:gd name="adj" fmla="val 83333"/>
            </a:avLst>
          </a:prstGeom>
          <a:solidFill>
            <a:srgbClr val="D64545"/>
          </a:solidFill>
          <a:ln w="12700">
            <a:solidFill>
              <a:srgbClr val="D64545"/>
            </a:solidFill>
            <a:prstDash val="solid"/>
          </a:ln>
        </p:spPr>
      </p:sp>
      <p:sp>
        <p:nvSpPr>
          <p:cNvPr id="47" name="Text 43"/>
          <p:cNvSpPr/>
          <p:nvPr/>
        </p:nvSpPr>
        <p:spPr>
          <a:xfrm>
            <a:off x="5242438" y="3200400"/>
            <a:ext cx="1706819" cy="868680"/>
          </a:xfrm>
          <a:prstGeom prst="rect">
            <a:avLst/>
          </a:prstGeom>
          <a:noFill/>
          <a:ln/>
        </p:spPr>
        <p:txBody>
          <a:bodyPr wrap="square" lIns="0" tIns="0" rIns="0" bIns="0" rtlCol="0" anchor="t"/>
          <a:lstStyle/>
          <a:p>
            <a:pPr indent="0" marL="0">
              <a:buNone/>
            </a:pPr>
            <a:r>
              <a:rPr lang="en-US" sz="1100" dirty="0">
                <a:solidFill>
                  <a:srgbClr val="111827"/>
                </a:solidFill>
                <a:latin typeface="Calibri" pitchFamily="34" charset="0"/>
                <a:ea typeface="Calibri" pitchFamily="34" charset="-122"/>
                <a:cs typeface="Calibri" pitchFamily="34" charset="-120"/>
              </a:rPr>
              <a:t>6 accessibility rules failed (3 serious or critical).</a:t>
            </a:r>
            <a:endParaRPr lang="en-US" sz="1100" dirty="0"/>
          </a:p>
        </p:txBody>
      </p:sp>
      <p:sp>
        <p:nvSpPr>
          <p:cNvPr id="48" name="Text 44"/>
          <p:cNvSpPr/>
          <p:nvPr/>
        </p:nvSpPr>
        <p:spPr>
          <a:xfrm>
            <a:off x="5242438" y="4160520"/>
            <a:ext cx="1706819" cy="201168"/>
          </a:xfrm>
          <a:prstGeom prst="rect">
            <a:avLst/>
          </a:prstGeom>
          <a:noFill/>
          <a:ln/>
        </p:spPr>
        <p:txBody>
          <a:bodyPr wrap="square" lIns="0" tIns="0" rIns="0" bIns="0" rtlCol="0" anchor="t"/>
          <a:lstStyle/>
          <a:p>
            <a:pPr indent="0" marL="0">
              <a:buNone/>
            </a:pPr>
            <a:r>
              <a:rPr lang="en-US" sz="900" dirty="0">
                <a:solidFill>
                  <a:srgbClr val="5B6477"/>
                </a:solidFill>
                <a:latin typeface="Calibri" pitchFamily="34" charset="0"/>
                <a:ea typeface="Calibri" pitchFamily="34" charset="-122"/>
                <a:cs typeface="Calibri" pitchFamily="34" charset="-120"/>
              </a:rPr>
              <a:t>Rules failed</a:t>
            </a:r>
            <a:endParaRPr lang="en-US" sz="900" dirty="0"/>
          </a:p>
        </p:txBody>
      </p:sp>
      <p:sp>
        <p:nvSpPr>
          <p:cNvPr id="49" name="Text 45"/>
          <p:cNvSpPr/>
          <p:nvPr/>
        </p:nvSpPr>
        <p:spPr>
          <a:xfrm>
            <a:off x="5242438" y="4334256"/>
            <a:ext cx="1706819" cy="256032"/>
          </a:xfrm>
          <a:prstGeom prst="rect">
            <a:avLst/>
          </a:prstGeom>
          <a:noFill/>
          <a:ln/>
        </p:spPr>
        <p:txBody>
          <a:bodyPr wrap="square" lIns="0" tIns="0" rIns="0" bIns="0" rtlCol="0" anchor="t"/>
          <a:lstStyle/>
          <a:p>
            <a:pPr indent="0" marL="0">
              <a:buNone/>
            </a:pPr>
            <a:r>
              <a:rPr lang="en-US" sz="1200" b="1" dirty="0">
                <a:solidFill>
                  <a:srgbClr val="111827"/>
                </a:solidFill>
                <a:latin typeface="Calibri" pitchFamily="34" charset="0"/>
                <a:ea typeface="Calibri" pitchFamily="34" charset="-122"/>
                <a:cs typeface="Calibri" pitchFamily="34" charset="-120"/>
              </a:rPr>
              <a:t>6</a:t>
            </a:r>
            <a:endParaRPr lang="en-US" sz="1200" dirty="0"/>
          </a:p>
        </p:txBody>
      </p:sp>
      <p:sp>
        <p:nvSpPr>
          <p:cNvPr id="50" name="Text 46"/>
          <p:cNvSpPr/>
          <p:nvPr/>
        </p:nvSpPr>
        <p:spPr>
          <a:xfrm>
            <a:off x="5242438" y="4663440"/>
            <a:ext cx="1706819" cy="201168"/>
          </a:xfrm>
          <a:prstGeom prst="rect">
            <a:avLst/>
          </a:prstGeom>
          <a:noFill/>
          <a:ln/>
        </p:spPr>
        <p:txBody>
          <a:bodyPr wrap="square" lIns="0" tIns="0" rIns="0" bIns="0" rtlCol="0" anchor="t"/>
          <a:lstStyle/>
          <a:p>
            <a:pPr indent="0" marL="0">
              <a:buNone/>
            </a:pPr>
            <a:r>
              <a:rPr lang="en-US" sz="900" dirty="0">
                <a:solidFill>
                  <a:srgbClr val="5B6477"/>
                </a:solidFill>
                <a:latin typeface="Calibri" pitchFamily="34" charset="0"/>
                <a:ea typeface="Calibri" pitchFamily="34" charset="-122"/>
                <a:cs typeface="Calibri" pitchFamily="34" charset="-120"/>
              </a:rPr>
              <a:t>Critical</a:t>
            </a:r>
            <a:endParaRPr lang="en-US" sz="900" dirty="0"/>
          </a:p>
        </p:txBody>
      </p:sp>
      <p:sp>
        <p:nvSpPr>
          <p:cNvPr id="51" name="Text 47"/>
          <p:cNvSpPr/>
          <p:nvPr/>
        </p:nvSpPr>
        <p:spPr>
          <a:xfrm>
            <a:off x="5242438" y="4837176"/>
            <a:ext cx="1706819" cy="256032"/>
          </a:xfrm>
          <a:prstGeom prst="rect">
            <a:avLst/>
          </a:prstGeom>
          <a:noFill/>
          <a:ln/>
        </p:spPr>
        <p:txBody>
          <a:bodyPr wrap="square" lIns="0" tIns="0" rIns="0" bIns="0" rtlCol="0" anchor="t"/>
          <a:lstStyle/>
          <a:p>
            <a:pPr indent="0" marL="0">
              <a:buNone/>
            </a:pPr>
            <a:r>
              <a:rPr lang="en-US" sz="1200" b="1" dirty="0">
                <a:solidFill>
                  <a:srgbClr val="111827"/>
                </a:solidFill>
                <a:latin typeface="Calibri" pitchFamily="34" charset="0"/>
                <a:ea typeface="Calibri" pitchFamily="34" charset="-122"/>
                <a:cs typeface="Calibri" pitchFamily="34" charset="-120"/>
              </a:rPr>
              <a:t>0</a:t>
            </a:r>
            <a:endParaRPr lang="en-US" sz="1200" dirty="0"/>
          </a:p>
        </p:txBody>
      </p:sp>
      <p:sp>
        <p:nvSpPr>
          <p:cNvPr id="52" name="Text 48"/>
          <p:cNvSpPr/>
          <p:nvPr/>
        </p:nvSpPr>
        <p:spPr>
          <a:xfrm>
            <a:off x="5242438" y="5166360"/>
            <a:ext cx="1706819" cy="201168"/>
          </a:xfrm>
          <a:prstGeom prst="rect">
            <a:avLst/>
          </a:prstGeom>
          <a:noFill/>
          <a:ln/>
        </p:spPr>
        <p:txBody>
          <a:bodyPr wrap="square" lIns="0" tIns="0" rIns="0" bIns="0" rtlCol="0" anchor="t"/>
          <a:lstStyle/>
          <a:p>
            <a:pPr indent="0" marL="0">
              <a:buNone/>
            </a:pPr>
            <a:r>
              <a:rPr lang="en-US" sz="900" dirty="0">
                <a:solidFill>
                  <a:srgbClr val="5B6477"/>
                </a:solidFill>
                <a:latin typeface="Calibri" pitchFamily="34" charset="0"/>
                <a:ea typeface="Calibri" pitchFamily="34" charset="-122"/>
                <a:cs typeface="Calibri" pitchFamily="34" charset="-120"/>
              </a:rPr>
              <a:t>Serious</a:t>
            </a:r>
            <a:endParaRPr lang="en-US" sz="900" dirty="0"/>
          </a:p>
        </p:txBody>
      </p:sp>
      <p:sp>
        <p:nvSpPr>
          <p:cNvPr id="53" name="Text 49"/>
          <p:cNvSpPr/>
          <p:nvPr/>
        </p:nvSpPr>
        <p:spPr>
          <a:xfrm>
            <a:off x="5242438" y="5340096"/>
            <a:ext cx="1706819" cy="256032"/>
          </a:xfrm>
          <a:prstGeom prst="rect">
            <a:avLst/>
          </a:prstGeom>
          <a:noFill/>
          <a:ln/>
        </p:spPr>
        <p:txBody>
          <a:bodyPr wrap="square" lIns="0" tIns="0" rIns="0" bIns="0" rtlCol="0" anchor="t"/>
          <a:lstStyle/>
          <a:p>
            <a:pPr indent="0" marL="0">
              <a:buNone/>
            </a:pPr>
            <a:r>
              <a:rPr lang="en-US" sz="1200" b="1" dirty="0">
                <a:solidFill>
                  <a:srgbClr val="111827"/>
                </a:solidFill>
                <a:latin typeface="Calibri" pitchFamily="34" charset="0"/>
                <a:ea typeface="Calibri" pitchFamily="34" charset="-122"/>
                <a:cs typeface="Calibri" pitchFamily="34" charset="-120"/>
              </a:rPr>
              <a:t>3</a:t>
            </a:r>
            <a:endParaRPr lang="en-US" sz="1200" dirty="0"/>
          </a:p>
        </p:txBody>
      </p:sp>
      <p:sp>
        <p:nvSpPr>
          <p:cNvPr id="54" name="Shape 50"/>
          <p:cNvSpPr/>
          <p:nvPr/>
        </p:nvSpPr>
        <p:spPr>
          <a:xfrm>
            <a:off x="7315017" y="1508760"/>
            <a:ext cx="2072579" cy="4206240"/>
          </a:xfrm>
          <a:prstGeom prst="roundRect">
            <a:avLst>
              <a:gd name="adj" fmla="val 4412"/>
            </a:avLst>
          </a:prstGeom>
          <a:solidFill>
            <a:srgbClr val="FFFFFF"/>
          </a:solidFill>
          <a:ln w="12700">
            <a:solidFill>
              <a:srgbClr val="DDE2EE"/>
            </a:solidFill>
            <a:prstDash val="solid"/>
          </a:ln>
        </p:spPr>
      </p:sp>
      <p:sp>
        <p:nvSpPr>
          <p:cNvPr id="55" name="Shape 51"/>
          <p:cNvSpPr/>
          <p:nvPr/>
        </p:nvSpPr>
        <p:spPr>
          <a:xfrm>
            <a:off x="7315017" y="1508760"/>
            <a:ext cx="2072579" cy="64008"/>
          </a:xfrm>
          <a:prstGeom prst="rect">
            <a:avLst/>
          </a:prstGeom>
          <a:solidFill>
            <a:srgbClr val="B7791F"/>
          </a:solidFill>
          <a:ln w="12700">
            <a:solidFill>
              <a:srgbClr val="B7791F"/>
            </a:solidFill>
            <a:prstDash val="solid"/>
          </a:ln>
        </p:spPr>
      </p:sp>
      <p:sp>
        <p:nvSpPr>
          <p:cNvPr id="56" name="Text 52"/>
          <p:cNvSpPr/>
          <p:nvPr/>
        </p:nvSpPr>
        <p:spPr>
          <a:xfrm>
            <a:off x="7497897" y="1691640"/>
            <a:ext cx="1706819" cy="320040"/>
          </a:xfrm>
          <a:prstGeom prst="rect">
            <a:avLst/>
          </a:prstGeom>
          <a:noFill/>
          <a:ln/>
        </p:spPr>
        <p:txBody>
          <a:bodyPr wrap="square" lIns="0" tIns="0" rIns="0" bIns="0" rtlCol="0" anchor="t"/>
          <a:lstStyle/>
          <a:p>
            <a:pPr indent="0" marL="0">
              <a:buNone/>
            </a:pPr>
            <a:r>
              <a:rPr lang="en-US" sz="1500" b="1" dirty="0">
                <a:solidFill>
                  <a:srgbClr val="111827"/>
                </a:solidFill>
                <a:latin typeface="Calibri" pitchFamily="34" charset="0"/>
                <a:ea typeface="Calibri" pitchFamily="34" charset="-122"/>
                <a:cs typeface="Calibri" pitchFamily="34" charset="-120"/>
              </a:rPr>
              <a:t>UX</a:t>
            </a:r>
            <a:endParaRPr lang="en-US" sz="1500" dirty="0"/>
          </a:p>
        </p:txBody>
      </p:sp>
      <p:sp>
        <p:nvSpPr>
          <p:cNvPr id="57" name="Text 53"/>
          <p:cNvSpPr/>
          <p:nvPr/>
        </p:nvSpPr>
        <p:spPr>
          <a:xfrm>
            <a:off x="7497897" y="2057400"/>
            <a:ext cx="1249619" cy="777240"/>
          </a:xfrm>
          <a:prstGeom prst="rect">
            <a:avLst/>
          </a:prstGeom>
          <a:noFill/>
          <a:ln/>
        </p:spPr>
        <p:txBody>
          <a:bodyPr wrap="square" lIns="0" tIns="0" rIns="0" bIns="0" rtlCol="0" anchor="ctr"/>
          <a:lstStyle/>
          <a:p>
            <a:pPr indent="0" marL="0">
              <a:buNone/>
            </a:pPr>
            <a:r>
              <a:rPr lang="en-US" sz="4400" b="1" dirty="0">
                <a:solidFill>
                  <a:srgbClr val="B7791F"/>
                </a:solidFill>
                <a:latin typeface="Calibri" pitchFamily="34" charset="0"/>
                <a:ea typeface="Calibri" pitchFamily="34" charset="-122"/>
                <a:cs typeface="Calibri" pitchFamily="34" charset="-120"/>
              </a:rPr>
              <a:t>68</a:t>
            </a:r>
            <a:endParaRPr lang="en-US" sz="4400" dirty="0"/>
          </a:p>
        </p:txBody>
      </p:sp>
      <p:sp>
        <p:nvSpPr>
          <p:cNvPr id="58" name="Shape 54"/>
          <p:cNvSpPr/>
          <p:nvPr/>
        </p:nvSpPr>
        <p:spPr>
          <a:xfrm>
            <a:off x="8336036" y="2286000"/>
            <a:ext cx="868680" cy="246888"/>
          </a:xfrm>
          <a:prstGeom prst="roundRect">
            <a:avLst>
              <a:gd name="adj" fmla="val 37037"/>
            </a:avLst>
          </a:prstGeom>
          <a:solidFill>
            <a:srgbClr val="FDF0D5"/>
          </a:solidFill>
          <a:ln w="12700">
            <a:solidFill>
              <a:srgbClr val="FDF0D5"/>
            </a:solidFill>
            <a:prstDash val="solid"/>
          </a:ln>
        </p:spPr>
      </p:sp>
      <p:sp>
        <p:nvSpPr>
          <p:cNvPr id="59" name="Text 55"/>
          <p:cNvSpPr/>
          <p:nvPr/>
        </p:nvSpPr>
        <p:spPr>
          <a:xfrm>
            <a:off x="8336036" y="2286000"/>
            <a:ext cx="868680" cy="246888"/>
          </a:xfrm>
          <a:prstGeom prst="rect">
            <a:avLst/>
          </a:prstGeom>
          <a:noFill/>
          <a:ln/>
        </p:spPr>
        <p:txBody>
          <a:bodyPr wrap="square" lIns="0" tIns="0" rIns="0" bIns="0" rtlCol="0" anchor="ctr"/>
          <a:lstStyle/>
          <a:p>
            <a:pPr algn="ctr" indent="0" marL="0">
              <a:buNone/>
            </a:pPr>
            <a:r>
              <a:rPr lang="en-US" sz="1000" b="1" dirty="0">
                <a:solidFill>
                  <a:srgbClr val="B7791F"/>
                </a:solidFill>
                <a:latin typeface="Calibri" pitchFamily="34" charset="0"/>
                <a:ea typeface="Calibri" pitchFamily="34" charset="-122"/>
                <a:cs typeface="Calibri" pitchFamily="34" charset="-120"/>
              </a:rPr>
              <a:t>Grade C</a:t>
            </a:r>
            <a:endParaRPr lang="en-US" sz="1000" dirty="0"/>
          </a:p>
        </p:txBody>
      </p:sp>
      <p:sp>
        <p:nvSpPr>
          <p:cNvPr id="60" name="Shape 56"/>
          <p:cNvSpPr/>
          <p:nvPr/>
        </p:nvSpPr>
        <p:spPr>
          <a:xfrm>
            <a:off x="7497897" y="2926080"/>
            <a:ext cx="1706819" cy="109728"/>
          </a:xfrm>
          <a:prstGeom prst="roundRect">
            <a:avLst>
              <a:gd name="adj" fmla="val 83333"/>
            </a:avLst>
          </a:prstGeom>
          <a:solidFill>
            <a:srgbClr val="E6E9F3"/>
          </a:solidFill>
          <a:ln w="12700">
            <a:solidFill>
              <a:srgbClr val="E6E9F3"/>
            </a:solidFill>
            <a:prstDash val="solid"/>
          </a:ln>
        </p:spPr>
      </p:sp>
      <p:sp>
        <p:nvSpPr>
          <p:cNvPr id="61" name="Shape 57"/>
          <p:cNvSpPr/>
          <p:nvPr/>
        </p:nvSpPr>
        <p:spPr>
          <a:xfrm>
            <a:off x="7497897" y="2926080"/>
            <a:ext cx="1160637" cy="109728"/>
          </a:xfrm>
          <a:prstGeom prst="roundRect">
            <a:avLst>
              <a:gd name="adj" fmla="val 83333"/>
            </a:avLst>
          </a:prstGeom>
          <a:solidFill>
            <a:srgbClr val="B7791F"/>
          </a:solidFill>
          <a:ln w="12700">
            <a:solidFill>
              <a:srgbClr val="B7791F"/>
            </a:solidFill>
            <a:prstDash val="solid"/>
          </a:ln>
        </p:spPr>
      </p:sp>
      <p:sp>
        <p:nvSpPr>
          <p:cNvPr id="62" name="Text 58"/>
          <p:cNvSpPr/>
          <p:nvPr/>
        </p:nvSpPr>
        <p:spPr>
          <a:xfrm>
            <a:off x="7497897" y="3200400"/>
            <a:ext cx="1706819" cy="868680"/>
          </a:xfrm>
          <a:prstGeom prst="rect">
            <a:avLst/>
          </a:prstGeom>
          <a:noFill/>
          <a:ln/>
        </p:spPr>
        <p:txBody>
          <a:bodyPr wrap="square" lIns="0" tIns="0" rIns="0" bIns="0" rtlCol="0" anchor="t"/>
          <a:lstStyle/>
          <a:p>
            <a:pPr indent="0" marL="0">
              <a:buNone/>
            </a:pPr>
            <a:r>
              <a:rPr lang="en-US" sz="1100" dirty="0">
                <a:solidFill>
                  <a:srgbClr val="111827"/>
                </a:solidFill>
                <a:latin typeface="Calibri" pitchFamily="34" charset="0"/>
                <a:ea typeface="Calibri" pitchFamily="34" charset="-122"/>
                <a:cs typeface="Calibri" pitchFamily="34" charset="-120"/>
              </a:rPr>
              <a:t>Weakest area: trust signals (2/5).</a:t>
            </a:r>
            <a:endParaRPr lang="en-US" sz="1100" dirty="0"/>
          </a:p>
        </p:txBody>
      </p:sp>
      <p:sp>
        <p:nvSpPr>
          <p:cNvPr id="63" name="Text 59"/>
          <p:cNvSpPr/>
          <p:nvPr/>
        </p:nvSpPr>
        <p:spPr>
          <a:xfrm>
            <a:off x="7497897" y="4160520"/>
            <a:ext cx="1706819" cy="201168"/>
          </a:xfrm>
          <a:prstGeom prst="rect">
            <a:avLst/>
          </a:prstGeom>
          <a:noFill/>
          <a:ln/>
        </p:spPr>
        <p:txBody>
          <a:bodyPr wrap="square" lIns="0" tIns="0" rIns="0" bIns="0" rtlCol="0" anchor="t"/>
          <a:lstStyle/>
          <a:p>
            <a:pPr indent="0" marL="0">
              <a:buNone/>
            </a:pPr>
            <a:r>
              <a:rPr lang="en-US" sz="900" dirty="0">
                <a:solidFill>
                  <a:srgbClr val="5B6477"/>
                </a:solidFill>
                <a:latin typeface="Calibri" pitchFamily="34" charset="0"/>
                <a:ea typeface="Calibri" pitchFamily="34" charset="-122"/>
                <a:cs typeface="Calibri" pitchFamily="34" charset="-120"/>
              </a:rPr>
              <a:t>Visual hierarchy</a:t>
            </a:r>
            <a:endParaRPr lang="en-US" sz="900" dirty="0"/>
          </a:p>
        </p:txBody>
      </p:sp>
      <p:sp>
        <p:nvSpPr>
          <p:cNvPr id="64" name="Text 60"/>
          <p:cNvSpPr/>
          <p:nvPr/>
        </p:nvSpPr>
        <p:spPr>
          <a:xfrm>
            <a:off x="7497897" y="4334256"/>
            <a:ext cx="1706819" cy="256032"/>
          </a:xfrm>
          <a:prstGeom prst="rect">
            <a:avLst/>
          </a:prstGeom>
          <a:noFill/>
          <a:ln/>
        </p:spPr>
        <p:txBody>
          <a:bodyPr wrap="square" lIns="0" tIns="0" rIns="0" bIns="0" rtlCol="0" anchor="t"/>
          <a:lstStyle/>
          <a:p>
            <a:pPr indent="0" marL="0">
              <a:buNone/>
            </a:pPr>
            <a:r>
              <a:rPr lang="en-US" sz="1200" b="1" dirty="0">
                <a:solidFill>
                  <a:srgbClr val="111827"/>
                </a:solidFill>
                <a:latin typeface="Calibri" pitchFamily="34" charset="0"/>
                <a:ea typeface="Calibri" pitchFamily="34" charset="-122"/>
                <a:cs typeface="Calibri" pitchFamily="34" charset="-120"/>
              </a:rPr>
              <a:t>4</a:t>
            </a:r>
            <a:endParaRPr lang="en-US" sz="1200" dirty="0"/>
          </a:p>
        </p:txBody>
      </p:sp>
      <p:sp>
        <p:nvSpPr>
          <p:cNvPr id="65" name="Text 61"/>
          <p:cNvSpPr/>
          <p:nvPr/>
        </p:nvSpPr>
        <p:spPr>
          <a:xfrm>
            <a:off x="7497897" y="4663440"/>
            <a:ext cx="1706819" cy="201168"/>
          </a:xfrm>
          <a:prstGeom prst="rect">
            <a:avLst/>
          </a:prstGeom>
          <a:noFill/>
          <a:ln/>
        </p:spPr>
        <p:txBody>
          <a:bodyPr wrap="square" lIns="0" tIns="0" rIns="0" bIns="0" rtlCol="0" anchor="t"/>
          <a:lstStyle/>
          <a:p>
            <a:pPr indent="0" marL="0">
              <a:buNone/>
            </a:pPr>
            <a:r>
              <a:rPr lang="en-US" sz="900" dirty="0">
                <a:solidFill>
                  <a:srgbClr val="5B6477"/>
                </a:solidFill>
                <a:latin typeface="Calibri" pitchFamily="34" charset="0"/>
                <a:ea typeface="Calibri" pitchFamily="34" charset="-122"/>
                <a:cs typeface="Calibri" pitchFamily="34" charset="-120"/>
              </a:rPr>
              <a:t>CTA clarity</a:t>
            </a:r>
            <a:endParaRPr lang="en-US" sz="900" dirty="0"/>
          </a:p>
        </p:txBody>
      </p:sp>
      <p:sp>
        <p:nvSpPr>
          <p:cNvPr id="66" name="Text 62"/>
          <p:cNvSpPr/>
          <p:nvPr/>
        </p:nvSpPr>
        <p:spPr>
          <a:xfrm>
            <a:off x="7497897" y="4837176"/>
            <a:ext cx="1706819" cy="256032"/>
          </a:xfrm>
          <a:prstGeom prst="rect">
            <a:avLst/>
          </a:prstGeom>
          <a:noFill/>
          <a:ln/>
        </p:spPr>
        <p:txBody>
          <a:bodyPr wrap="square" lIns="0" tIns="0" rIns="0" bIns="0" rtlCol="0" anchor="t"/>
          <a:lstStyle/>
          <a:p>
            <a:pPr indent="0" marL="0">
              <a:buNone/>
            </a:pPr>
            <a:r>
              <a:rPr lang="en-US" sz="1200" b="1" dirty="0">
                <a:solidFill>
                  <a:srgbClr val="111827"/>
                </a:solidFill>
                <a:latin typeface="Calibri" pitchFamily="34" charset="0"/>
                <a:ea typeface="Calibri" pitchFamily="34" charset="-122"/>
                <a:cs typeface="Calibri" pitchFamily="34" charset="-120"/>
              </a:rPr>
              <a:t>3</a:t>
            </a:r>
            <a:endParaRPr lang="en-US" sz="1200" dirty="0"/>
          </a:p>
        </p:txBody>
      </p:sp>
      <p:sp>
        <p:nvSpPr>
          <p:cNvPr id="67" name="Text 63"/>
          <p:cNvSpPr/>
          <p:nvPr/>
        </p:nvSpPr>
        <p:spPr>
          <a:xfrm>
            <a:off x="7497897" y="5166360"/>
            <a:ext cx="1706819" cy="201168"/>
          </a:xfrm>
          <a:prstGeom prst="rect">
            <a:avLst/>
          </a:prstGeom>
          <a:noFill/>
          <a:ln/>
        </p:spPr>
        <p:txBody>
          <a:bodyPr wrap="square" lIns="0" tIns="0" rIns="0" bIns="0" rtlCol="0" anchor="t"/>
          <a:lstStyle/>
          <a:p>
            <a:pPr indent="0" marL="0">
              <a:buNone/>
            </a:pPr>
            <a:r>
              <a:rPr lang="en-US" sz="900" dirty="0">
                <a:solidFill>
                  <a:srgbClr val="5B6477"/>
                </a:solidFill>
                <a:latin typeface="Calibri" pitchFamily="34" charset="0"/>
                <a:ea typeface="Calibri" pitchFamily="34" charset="-122"/>
                <a:cs typeface="Calibri" pitchFamily="34" charset="-120"/>
              </a:rPr>
              <a:t>Navigation</a:t>
            </a:r>
            <a:endParaRPr lang="en-US" sz="900" dirty="0"/>
          </a:p>
        </p:txBody>
      </p:sp>
      <p:sp>
        <p:nvSpPr>
          <p:cNvPr id="68" name="Text 64"/>
          <p:cNvSpPr/>
          <p:nvPr/>
        </p:nvSpPr>
        <p:spPr>
          <a:xfrm>
            <a:off x="7497897" y="5340096"/>
            <a:ext cx="1706819" cy="256032"/>
          </a:xfrm>
          <a:prstGeom prst="rect">
            <a:avLst/>
          </a:prstGeom>
          <a:noFill/>
          <a:ln/>
        </p:spPr>
        <p:txBody>
          <a:bodyPr wrap="square" lIns="0" tIns="0" rIns="0" bIns="0" rtlCol="0" anchor="t"/>
          <a:lstStyle/>
          <a:p>
            <a:pPr indent="0" marL="0">
              <a:buNone/>
            </a:pPr>
            <a:r>
              <a:rPr lang="en-US" sz="1200" b="1" dirty="0">
                <a:solidFill>
                  <a:srgbClr val="111827"/>
                </a:solidFill>
                <a:latin typeface="Calibri" pitchFamily="34" charset="0"/>
                <a:ea typeface="Calibri" pitchFamily="34" charset="-122"/>
                <a:cs typeface="Calibri" pitchFamily="34" charset="-120"/>
              </a:rPr>
              <a:t>4</a:t>
            </a:r>
            <a:endParaRPr lang="en-US" sz="1200" dirty="0"/>
          </a:p>
        </p:txBody>
      </p:sp>
      <p:sp>
        <p:nvSpPr>
          <p:cNvPr id="69" name="Shape 65"/>
          <p:cNvSpPr/>
          <p:nvPr/>
        </p:nvSpPr>
        <p:spPr>
          <a:xfrm>
            <a:off x="9570476" y="1508760"/>
            <a:ext cx="2072579" cy="4206240"/>
          </a:xfrm>
          <a:prstGeom prst="roundRect">
            <a:avLst>
              <a:gd name="adj" fmla="val 4412"/>
            </a:avLst>
          </a:prstGeom>
          <a:solidFill>
            <a:srgbClr val="FFFFFF"/>
          </a:solidFill>
          <a:ln w="12700">
            <a:solidFill>
              <a:srgbClr val="DDE2EE"/>
            </a:solidFill>
            <a:prstDash val="solid"/>
          </a:ln>
        </p:spPr>
      </p:sp>
      <p:sp>
        <p:nvSpPr>
          <p:cNvPr id="70" name="Shape 66"/>
          <p:cNvSpPr/>
          <p:nvPr/>
        </p:nvSpPr>
        <p:spPr>
          <a:xfrm>
            <a:off x="9570476" y="1508760"/>
            <a:ext cx="2072579" cy="64008"/>
          </a:xfrm>
          <a:prstGeom prst="rect">
            <a:avLst/>
          </a:prstGeom>
          <a:solidFill>
            <a:srgbClr val="0F9D6B"/>
          </a:solidFill>
          <a:ln w="12700">
            <a:solidFill>
              <a:srgbClr val="0F9D6B"/>
            </a:solidFill>
            <a:prstDash val="solid"/>
          </a:ln>
        </p:spPr>
      </p:sp>
      <p:sp>
        <p:nvSpPr>
          <p:cNvPr id="71" name="Text 67"/>
          <p:cNvSpPr/>
          <p:nvPr/>
        </p:nvSpPr>
        <p:spPr>
          <a:xfrm>
            <a:off x="9753356" y="1691640"/>
            <a:ext cx="1706819" cy="320040"/>
          </a:xfrm>
          <a:prstGeom prst="rect">
            <a:avLst/>
          </a:prstGeom>
          <a:noFill/>
          <a:ln/>
        </p:spPr>
        <p:txBody>
          <a:bodyPr wrap="square" lIns="0" tIns="0" rIns="0" bIns="0" rtlCol="0" anchor="t"/>
          <a:lstStyle/>
          <a:p>
            <a:pPr indent="0" marL="0">
              <a:buNone/>
            </a:pPr>
            <a:r>
              <a:rPr lang="en-US" sz="1500" b="1" dirty="0">
                <a:solidFill>
                  <a:srgbClr val="111827"/>
                </a:solidFill>
                <a:latin typeface="Calibri" pitchFamily="34" charset="0"/>
                <a:ea typeface="Calibri" pitchFamily="34" charset="-122"/>
                <a:cs typeface="Calibri" pitchFamily="34" charset="-120"/>
              </a:rPr>
              <a:t>AI search</a:t>
            </a:r>
            <a:endParaRPr lang="en-US" sz="1500" dirty="0"/>
          </a:p>
        </p:txBody>
      </p:sp>
      <p:sp>
        <p:nvSpPr>
          <p:cNvPr id="72" name="Text 68"/>
          <p:cNvSpPr/>
          <p:nvPr/>
        </p:nvSpPr>
        <p:spPr>
          <a:xfrm>
            <a:off x="9753356" y="2057400"/>
            <a:ext cx="1249619" cy="777240"/>
          </a:xfrm>
          <a:prstGeom prst="rect">
            <a:avLst/>
          </a:prstGeom>
          <a:noFill/>
          <a:ln/>
        </p:spPr>
        <p:txBody>
          <a:bodyPr wrap="square" lIns="0" tIns="0" rIns="0" bIns="0" rtlCol="0" anchor="ctr"/>
          <a:lstStyle/>
          <a:p>
            <a:pPr indent="0" marL="0">
              <a:buNone/>
            </a:pPr>
            <a:r>
              <a:rPr lang="en-US" sz="4400" b="1" dirty="0">
                <a:solidFill>
                  <a:srgbClr val="0F9D6B"/>
                </a:solidFill>
                <a:latin typeface="Calibri" pitchFamily="34" charset="0"/>
                <a:ea typeface="Calibri" pitchFamily="34" charset="-122"/>
                <a:cs typeface="Calibri" pitchFamily="34" charset="-120"/>
              </a:rPr>
              <a:t>85</a:t>
            </a:r>
            <a:endParaRPr lang="en-US" sz="4400" dirty="0"/>
          </a:p>
        </p:txBody>
      </p:sp>
      <p:sp>
        <p:nvSpPr>
          <p:cNvPr id="73" name="Shape 69"/>
          <p:cNvSpPr/>
          <p:nvPr/>
        </p:nvSpPr>
        <p:spPr>
          <a:xfrm>
            <a:off x="10591495" y="2286000"/>
            <a:ext cx="868680" cy="246888"/>
          </a:xfrm>
          <a:prstGeom prst="roundRect">
            <a:avLst>
              <a:gd name="adj" fmla="val 37037"/>
            </a:avLst>
          </a:prstGeom>
          <a:solidFill>
            <a:srgbClr val="DFF5EA"/>
          </a:solidFill>
          <a:ln w="12700">
            <a:solidFill>
              <a:srgbClr val="DFF5EA"/>
            </a:solidFill>
            <a:prstDash val="solid"/>
          </a:ln>
        </p:spPr>
      </p:sp>
      <p:sp>
        <p:nvSpPr>
          <p:cNvPr id="74" name="Text 70"/>
          <p:cNvSpPr/>
          <p:nvPr/>
        </p:nvSpPr>
        <p:spPr>
          <a:xfrm>
            <a:off x="10591495" y="2286000"/>
            <a:ext cx="868680" cy="246888"/>
          </a:xfrm>
          <a:prstGeom prst="rect">
            <a:avLst/>
          </a:prstGeom>
          <a:noFill/>
          <a:ln/>
        </p:spPr>
        <p:txBody>
          <a:bodyPr wrap="square" lIns="0" tIns="0" rIns="0" bIns="0" rtlCol="0" anchor="ctr"/>
          <a:lstStyle/>
          <a:p>
            <a:pPr algn="ctr" indent="0" marL="0">
              <a:buNone/>
            </a:pPr>
            <a:r>
              <a:rPr lang="en-US" sz="1000" b="1" dirty="0">
                <a:solidFill>
                  <a:srgbClr val="0F9D6B"/>
                </a:solidFill>
                <a:latin typeface="Calibri" pitchFamily="34" charset="0"/>
                <a:ea typeface="Calibri" pitchFamily="34" charset="-122"/>
                <a:cs typeface="Calibri" pitchFamily="34" charset="-120"/>
              </a:rPr>
              <a:t>Grade B</a:t>
            </a:r>
            <a:endParaRPr lang="en-US" sz="1000" dirty="0"/>
          </a:p>
        </p:txBody>
      </p:sp>
      <p:sp>
        <p:nvSpPr>
          <p:cNvPr id="75" name="Shape 71"/>
          <p:cNvSpPr/>
          <p:nvPr/>
        </p:nvSpPr>
        <p:spPr>
          <a:xfrm>
            <a:off x="9753356" y="2926080"/>
            <a:ext cx="1706819" cy="109728"/>
          </a:xfrm>
          <a:prstGeom prst="roundRect">
            <a:avLst>
              <a:gd name="adj" fmla="val 83333"/>
            </a:avLst>
          </a:prstGeom>
          <a:solidFill>
            <a:srgbClr val="E6E9F3"/>
          </a:solidFill>
          <a:ln w="12700">
            <a:solidFill>
              <a:srgbClr val="E6E9F3"/>
            </a:solidFill>
            <a:prstDash val="solid"/>
          </a:ln>
        </p:spPr>
      </p:sp>
      <p:sp>
        <p:nvSpPr>
          <p:cNvPr id="76" name="Shape 72"/>
          <p:cNvSpPr/>
          <p:nvPr/>
        </p:nvSpPr>
        <p:spPr>
          <a:xfrm>
            <a:off x="9753356" y="2926080"/>
            <a:ext cx="1450796" cy="109728"/>
          </a:xfrm>
          <a:prstGeom prst="roundRect">
            <a:avLst>
              <a:gd name="adj" fmla="val 83333"/>
            </a:avLst>
          </a:prstGeom>
          <a:solidFill>
            <a:srgbClr val="0F9D6B"/>
          </a:solidFill>
          <a:ln w="12700">
            <a:solidFill>
              <a:srgbClr val="0F9D6B"/>
            </a:solidFill>
            <a:prstDash val="solid"/>
          </a:ln>
        </p:spPr>
      </p:sp>
      <p:sp>
        <p:nvSpPr>
          <p:cNvPr id="77" name="Text 73"/>
          <p:cNvSpPr/>
          <p:nvPr/>
        </p:nvSpPr>
        <p:spPr>
          <a:xfrm>
            <a:off x="9753356" y="3200400"/>
            <a:ext cx="1706819" cy="868680"/>
          </a:xfrm>
          <a:prstGeom prst="rect">
            <a:avLst/>
          </a:prstGeom>
          <a:noFill/>
          <a:ln/>
        </p:spPr>
        <p:txBody>
          <a:bodyPr wrap="square" lIns="0" tIns="0" rIns="0" bIns="0" rtlCol="0" anchor="t"/>
          <a:lstStyle/>
          <a:p>
            <a:pPr indent="0" marL="0">
              <a:buNone/>
            </a:pPr>
            <a:r>
              <a:rPr lang="en-US" sz="1100" dirty="0">
                <a:solidFill>
                  <a:srgbClr val="111827"/>
                </a:solidFill>
                <a:latin typeface="Calibri" pitchFamily="34" charset="0"/>
                <a:ea typeface="Calibri" pitchFamily="34" charset="-122"/>
                <a:cs typeface="Calibri" pitchFamily="34" charset="-120"/>
              </a:rPr>
              <a:t>Structured data found; no llms.txt.</a:t>
            </a:r>
            <a:endParaRPr lang="en-US" sz="1100" dirty="0"/>
          </a:p>
        </p:txBody>
      </p:sp>
      <p:sp>
        <p:nvSpPr>
          <p:cNvPr id="78" name="Text 74"/>
          <p:cNvSpPr/>
          <p:nvPr/>
        </p:nvSpPr>
        <p:spPr>
          <a:xfrm>
            <a:off x="9753356" y="4160520"/>
            <a:ext cx="1706819" cy="201168"/>
          </a:xfrm>
          <a:prstGeom prst="rect">
            <a:avLst/>
          </a:prstGeom>
          <a:noFill/>
          <a:ln/>
        </p:spPr>
        <p:txBody>
          <a:bodyPr wrap="square" lIns="0" tIns="0" rIns="0" bIns="0" rtlCol="0" anchor="t"/>
          <a:lstStyle/>
          <a:p>
            <a:pPr indent="0" marL="0">
              <a:buNone/>
            </a:pPr>
            <a:r>
              <a:rPr lang="en-US" sz="900" dirty="0">
                <a:solidFill>
                  <a:srgbClr val="5B6477"/>
                </a:solidFill>
                <a:latin typeface="Calibri" pitchFamily="34" charset="0"/>
                <a:ea typeface="Calibri" pitchFamily="34" charset="-122"/>
                <a:cs typeface="Calibri" pitchFamily="34" charset="-120"/>
              </a:rPr>
              <a:t>JSON-LD blocks</a:t>
            </a:r>
            <a:endParaRPr lang="en-US" sz="900" dirty="0"/>
          </a:p>
        </p:txBody>
      </p:sp>
      <p:sp>
        <p:nvSpPr>
          <p:cNvPr id="79" name="Text 75"/>
          <p:cNvSpPr/>
          <p:nvPr/>
        </p:nvSpPr>
        <p:spPr>
          <a:xfrm>
            <a:off x="9753356" y="4334256"/>
            <a:ext cx="1706819" cy="256032"/>
          </a:xfrm>
          <a:prstGeom prst="rect">
            <a:avLst/>
          </a:prstGeom>
          <a:noFill/>
          <a:ln/>
        </p:spPr>
        <p:txBody>
          <a:bodyPr wrap="square" lIns="0" tIns="0" rIns="0" bIns="0" rtlCol="0" anchor="t"/>
          <a:lstStyle/>
          <a:p>
            <a:pPr indent="0" marL="0">
              <a:buNone/>
            </a:pPr>
            <a:r>
              <a:rPr lang="en-US" sz="1200" b="1" dirty="0">
                <a:solidFill>
                  <a:srgbClr val="111827"/>
                </a:solidFill>
                <a:latin typeface="Calibri" pitchFamily="34" charset="0"/>
                <a:ea typeface="Calibri" pitchFamily="34" charset="-122"/>
                <a:cs typeface="Calibri" pitchFamily="34" charset="-120"/>
              </a:rPr>
              <a:t>2</a:t>
            </a:r>
            <a:endParaRPr lang="en-US" sz="1200" dirty="0"/>
          </a:p>
        </p:txBody>
      </p:sp>
      <p:sp>
        <p:nvSpPr>
          <p:cNvPr id="80" name="Text 76"/>
          <p:cNvSpPr/>
          <p:nvPr/>
        </p:nvSpPr>
        <p:spPr>
          <a:xfrm>
            <a:off x="9753356" y="4663440"/>
            <a:ext cx="1706819" cy="201168"/>
          </a:xfrm>
          <a:prstGeom prst="rect">
            <a:avLst/>
          </a:prstGeom>
          <a:noFill/>
          <a:ln/>
        </p:spPr>
        <p:txBody>
          <a:bodyPr wrap="square" lIns="0" tIns="0" rIns="0" bIns="0" rtlCol="0" anchor="t"/>
          <a:lstStyle/>
          <a:p>
            <a:pPr indent="0" marL="0">
              <a:buNone/>
            </a:pPr>
            <a:r>
              <a:rPr lang="en-US" sz="900" dirty="0">
                <a:solidFill>
                  <a:srgbClr val="5B6477"/>
                </a:solidFill>
                <a:latin typeface="Calibri" pitchFamily="34" charset="0"/>
                <a:ea typeface="Calibri" pitchFamily="34" charset="-122"/>
                <a:cs typeface="Calibri" pitchFamily="34" charset="-120"/>
              </a:rPr>
              <a:t>Schema types</a:t>
            </a:r>
            <a:endParaRPr lang="en-US" sz="900" dirty="0"/>
          </a:p>
        </p:txBody>
      </p:sp>
      <p:sp>
        <p:nvSpPr>
          <p:cNvPr id="81" name="Text 77"/>
          <p:cNvSpPr/>
          <p:nvPr/>
        </p:nvSpPr>
        <p:spPr>
          <a:xfrm>
            <a:off x="9753356" y="4837176"/>
            <a:ext cx="1706819" cy="256032"/>
          </a:xfrm>
          <a:prstGeom prst="rect">
            <a:avLst/>
          </a:prstGeom>
          <a:noFill/>
          <a:ln/>
        </p:spPr>
        <p:txBody>
          <a:bodyPr wrap="square" lIns="0" tIns="0" rIns="0" bIns="0" rtlCol="0" anchor="t"/>
          <a:lstStyle/>
          <a:p>
            <a:pPr indent="0" marL="0">
              <a:buNone/>
            </a:pPr>
            <a:r>
              <a:rPr lang="en-US" sz="1200" b="1" dirty="0">
                <a:solidFill>
                  <a:srgbClr val="111827"/>
                </a:solidFill>
                <a:latin typeface="Calibri" pitchFamily="34" charset="0"/>
                <a:ea typeface="Calibri" pitchFamily="34" charset="-122"/>
                <a:cs typeface="Calibri" pitchFamily="34" charset="-120"/>
              </a:rPr>
              <a:t>Corporation,…</a:t>
            </a:r>
            <a:endParaRPr lang="en-US" sz="1200" dirty="0"/>
          </a:p>
        </p:txBody>
      </p:sp>
      <p:sp>
        <p:nvSpPr>
          <p:cNvPr id="82" name="Text 78"/>
          <p:cNvSpPr/>
          <p:nvPr/>
        </p:nvSpPr>
        <p:spPr>
          <a:xfrm>
            <a:off x="9753356" y="5166360"/>
            <a:ext cx="1706819" cy="201168"/>
          </a:xfrm>
          <a:prstGeom prst="rect">
            <a:avLst/>
          </a:prstGeom>
          <a:noFill/>
          <a:ln/>
        </p:spPr>
        <p:txBody>
          <a:bodyPr wrap="square" lIns="0" tIns="0" rIns="0" bIns="0" rtlCol="0" anchor="t"/>
          <a:lstStyle/>
          <a:p>
            <a:pPr indent="0" marL="0">
              <a:buNone/>
            </a:pPr>
            <a:r>
              <a:rPr lang="en-US" sz="900" dirty="0">
                <a:solidFill>
                  <a:srgbClr val="5B6477"/>
                </a:solidFill>
                <a:latin typeface="Calibri" pitchFamily="34" charset="0"/>
                <a:ea typeface="Calibri" pitchFamily="34" charset="-122"/>
                <a:cs typeface="Calibri" pitchFamily="34" charset="-120"/>
              </a:rPr>
              <a:t>llms.txt</a:t>
            </a:r>
            <a:endParaRPr lang="en-US" sz="900" dirty="0"/>
          </a:p>
        </p:txBody>
      </p:sp>
      <p:sp>
        <p:nvSpPr>
          <p:cNvPr id="83" name="Text 79"/>
          <p:cNvSpPr/>
          <p:nvPr/>
        </p:nvSpPr>
        <p:spPr>
          <a:xfrm>
            <a:off x="9753356" y="5340096"/>
            <a:ext cx="1706819" cy="256032"/>
          </a:xfrm>
          <a:prstGeom prst="rect">
            <a:avLst/>
          </a:prstGeom>
          <a:noFill/>
          <a:ln/>
        </p:spPr>
        <p:txBody>
          <a:bodyPr wrap="square" lIns="0" tIns="0" rIns="0" bIns="0" rtlCol="0" anchor="t"/>
          <a:lstStyle/>
          <a:p>
            <a:pPr indent="0" marL="0">
              <a:buNone/>
            </a:pPr>
            <a:r>
              <a:rPr lang="en-US" sz="1200" b="1" dirty="0">
                <a:solidFill>
                  <a:srgbClr val="111827"/>
                </a:solidFill>
                <a:latin typeface="Calibri" pitchFamily="34" charset="0"/>
                <a:ea typeface="Calibri" pitchFamily="34" charset="-122"/>
                <a:cs typeface="Calibri" pitchFamily="34" charset="-120"/>
              </a:rPr>
              <a:t>no</a:t>
            </a:r>
            <a:endParaRPr lang="en-US" sz="1200" dirty="0"/>
          </a:p>
        </p:txBody>
      </p:sp>
      <p:sp>
        <p:nvSpPr>
          <p:cNvPr id="84" name="Text 80"/>
          <p:cNvSpPr/>
          <p:nvPr/>
        </p:nvSpPr>
        <p:spPr>
          <a:xfrm>
            <a:off x="548640" y="5943600"/>
            <a:ext cx="11094415" cy="274320"/>
          </a:xfrm>
          <a:prstGeom prst="rect">
            <a:avLst/>
          </a:prstGeom>
          <a:noFill/>
          <a:ln/>
        </p:spPr>
        <p:txBody>
          <a:bodyPr wrap="square" lIns="0" tIns="0" rIns="0" bIns="0" rtlCol="0" anchor="t"/>
          <a:lstStyle/>
          <a:p>
            <a:pPr indent="0" marL="0">
              <a:buNone/>
            </a:pPr>
            <a:r>
              <a:rPr lang="en-US" sz="1100" dirty="0">
                <a:solidFill>
                  <a:srgbClr val="5B6477"/>
                </a:solidFill>
                <a:latin typeface="Calibri" pitchFamily="34" charset="0"/>
                <a:ea typeface="Calibri" pitchFamily="34" charset="-122"/>
                <a:cs typeface="Calibri" pitchFamily="34" charset="-120"/>
              </a:rPr>
              <a:t>Overall 60/100, grade D: speed 20%, mobile 20%, accessibility 20%, UX 25%, AI search 15%.</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6FB"/>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2D69E2"/>
          </a:solidFill>
          <a:ln w="12700">
            <a:solidFill>
              <a:srgbClr val="2D69E2"/>
            </a:solidFill>
            <a:prstDash val="solid"/>
          </a:ln>
        </p:spPr>
      </p:sp>
      <p:sp>
        <p:nvSpPr>
          <p:cNvPr id="3" name="Text 1"/>
          <p:cNvSpPr/>
          <p:nvPr/>
        </p:nvSpPr>
        <p:spPr>
          <a:xfrm>
            <a:off x="548640" y="347472"/>
            <a:ext cx="8229600" cy="274320"/>
          </a:xfrm>
          <a:prstGeom prst="rect">
            <a:avLst/>
          </a:prstGeom>
          <a:noFill/>
          <a:ln/>
        </p:spPr>
        <p:txBody>
          <a:bodyPr wrap="square" lIns="0" tIns="0" rIns="0" bIns="0" rtlCol="0" anchor="t"/>
          <a:lstStyle/>
          <a:p>
            <a:pPr indent="0" marL="0">
              <a:buNone/>
            </a:pPr>
            <a:r>
              <a:rPr lang="en-US" sz="1100" b="1" spc="300" kern="0" dirty="0">
                <a:solidFill>
                  <a:srgbClr val="2D69E2"/>
                </a:solidFill>
                <a:latin typeface="Calibri" pitchFamily="34" charset="0"/>
                <a:ea typeface="Calibri" pitchFamily="34" charset="-122"/>
                <a:cs typeface="Calibri" pitchFamily="34" charset="-120"/>
              </a:rPr>
              <a:t>THE AUDIT · FINDINGS AND EVIDENCE</a:t>
            </a:r>
            <a:endParaRPr lang="en-US" sz="1100" dirty="0"/>
          </a:p>
        </p:txBody>
      </p:sp>
      <p:sp>
        <p:nvSpPr>
          <p:cNvPr id="4" name="Text 2"/>
          <p:cNvSpPr/>
          <p:nvPr/>
        </p:nvSpPr>
        <p:spPr>
          <a:xfrm>
            <a:off x="548640" y="621792"/>
            <a:ext cx="9326880" cy="731520"/>
          </a:xfrm>
          <a:prstGeom prst="rect">
            <a:avLst/>
          </a:prstGeom>
          <a:noFill/>
          <a:ln/>
        </p:spPr>
        <p:txBody>
          <a:bodyPr wrap="square" lIns="0" tIns="0" rIns="0" bIns="0" rtlCol="0" anchor="t">
            <a:normAutofit/>
          </a:bodyPr>
          <a:lstStyle/>
          <a:p>
            <a:pPr indent="0" marL="0">
              <a:buNone/>
            </a:pPr>
            <a:r>
              <a:rPr lang="en-US" sz="2800" b="1" dirty="0">
                <a:solidFill>
                  <a:srgbClr val="0B1B5E"/>
                </a:solidFill>
                <a:latin typeface="Calibri" pitchFamily="34" charset="0"/>
                <a:ea typeface="Calibri" pitchFamily="34" charset="-122"/>
                <a:cs typeface="Calibri" pitchFamily="34" charset="-120"/>
              </a:rPr>
              <a:t>What we found (1 of 2)</a:t>
            </a:r>
            <a:endParaRPr lang="en-US" sz="2800" dirty="0"/>
          </a:p>
        </p:txBody>
      </p:sp>
      <p:pic>
        <p:nvPicPr>
          <p:cNvPr id="5" name="Image 0" descr="Samsung logo">    </p:cNvPr>
          <p:cNvPicPr>
            <a:picLocks noChangeAspect="1"/>
          </p:cNvPicPr>
          <p:nvPr/>
        </p:nvPicPr>
        <p:blipFill>
          <a:blip r:embed="rId1"/>
          <a:stretch>
            <a:fillRect/>
          </a:stretch>
        </p:blipFill>
        <p:spPr>
          <a:xfrm>
            <a:off x="10454335" y="347472"/>
            <a:ext cx="1188720" cy="377258"/>
          </a:xfrm>
          <a:prstGeom prst="rect">
            <a:avLst/>
          </a:prstGeom>
        </p:spPr>
      </p:pic>
      <p:sp>
        <p:nvSpPr>
          <p:cNvPr id="6" name="Text 3"/>
          <p:cNvSpPr/>
          <p:nvPr/>
        </p:nvSpPr>
        <p:spPr>
          <a:xfrm>
            <a:off x="548640" y="6446520"/>
            <a:ext cx="7315200" cy="256032"/>
          </a:xfrm>
          <a:prstGeom prst="rect">
            <a:avLst/>
          </a:prstGeom>
          <a:noFill/>
          <a:ln/>
        </p:spPr>
        <p:txBody>
          <a:bodyPr wrap="square" lIns="0" tIns="0" rIns="0" bIns="0" rtlCol="0" anchor="t"/>
          <a:lstStyle/>
          <a:p>
            <a:pPr indent="0" marL="0">
              <a:buNone/>
            </a:pPr>
            <a:r>
              <a:rPr lang="en-US" sz="1000" dirty="0">
                <a:solidFill>
                  <a:srgbClr val="5B6477"/>
                </a:solidFill>
                <a:latin typeface="Calibri" pitchFamily="34" charset="0"/>
                <a:ea typeface="Calibri" pitchFamily="34" charset="-122"/>
                <a:cs typeface="Calibri" pitchFamily="34" charset="-120"/>
              </a:rPr>
              <a:t>Nike. Just Do It. Nike IN  ·  Prepared by Samsung SDS</a:t>
            </a:r>
            <a:endParaRPr lang="en-US" sz="1000" dirty="0"/>
          </a:p>
        </p:txBody>
      </p:sp>
      <p:sp>
        <p:nvSpPr>
          <p:cNvPr id="7" name="Text 4"/>
          <p:cNvSpPr/>
          <p:nvPr/>
        </p:nvSpPr>
        <p:spPr>
          <a:xfrm>
            <a:off x="11185855" y="6446520"/>
            <a:ext cx="457200" cy="256032"/>
          </a:xfrm>
          <a:prstGeom prst="rect">
            <a:avLst/>
          </a:prstGeom>
          <a:noFill/>
          <a:ln/>
        </p:spPr>
        <p:txBody>
          <a:bodyPr wrap="square" lIns="0" tIns="0" rIns="0" bIns="0" rtlCol="0" anchor="t"/>
          <a:lstStyle/>
          <a:p>
            <a:pPr algn="r" indent="0" marL="0">
              <a:buNone/>
            </a:pPr>
            <a:r>
              <a:rPr lang="en-US" sz="1000" dirty="0">
                <a:solidFill>
                  <a:srgbClr val="5B6477"/>
                </a:solidFill>
                <a:latin typeface="Calibri" pitchFamily="34" charset="0"/>
                <a:ea typeface="Calibri" pitchFamily="34" charset="-122"/>
                <a:cs typeface="Calibri" pitchFamily="34" charset="-120"/>
              </a:rPr>
              <a:t>4</a:t>
            </a:r>
            <a:endParaRPr lang="en-US" sz="1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4415" cy="914400"/>
        </p:xfrm>
        <a:graphic>
          <a:graphicData uri="http://schemas.openxmlformats.org/drawingml/2006/table">
            <a:tbl>
              <a:tblPr/>
              <a:tblGrid>
                <a:gridCol w="1234440"/>
                <a:gridCol w="2834640"/>
                <a:gridCol w="3108960"/>
                <a:gridCol w="3154680"/>
                <a:gridCol w="758952"/>
              </a:tblGrid>
              <a:tr h="731520">
                <a:tc>
                  <a:txBody>
                    <a:bodyPr/>
                    <a:lstStyle/>
                    <a:p>
                      <a:pPr indent="0" marL="0">
                        <a:buNone/>
                      </a:pPr>
                      <a:r>
                        <a:rPr lang="en-US" sz="1000" b="1" dirty="0">
                          <a:solidFill>
                            <a:srgbClr val="5B6477"/>
                          </a:solidFill>
                          <a:latin typeface="Calibri" pitchFamily="34" charset="0"/>
                          <a:ea typeface="Calibri" pitchFamily="34" charset="-122"/>
                          <a:cs typeface="Calibri" pitchFamily="34" charset="-120"/>
                        </a:rPr>
                        <a:t>AREA</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4F6FB"/>
                    </a:solidFill>
                  </a:tcPr>
                </a:tc>
                <a:tc>
                  <a:txBody>
                    <a:bodyPr/>
                    <a:lstStyle/>
                    <a:p>
                      <a:pPr indent="0" marL="0">
                        <a:buNone/>
                      </a:pPr>
                      <a:r>
                        <a:rPr lang="en-US" sz="1000" b="1" dirty="0">
                          <a:solidFill>
                            <a:srgbClr val="5B6477"/>
                          </a:solidFill>
                          <a:latin typeface="Calibri" pitchFamily="34" charset="0"/>
                          <a:ea typeface="Calibri" pitchFamily="34" charset="-122"/>
                          <a:cs typeface="Calibri" pitchFamily="34" charset="-120"/>
                        </a:rPr>
                        <a:t>FINDING</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4F6FB"/>
                    </a:solidFill>
                  </a:tcPr>
                </a:tc>
                <a:tc>
                  <a:txBody>
                    <a:bodyPr/>
                    <a:lstStyle/>
                    <a:p>
                      <a:pPr indent="0" marL="0">
                        <a:buNone/>
                      </a:pPr>
                      <a:r>
                        <a:rPr lang="en-US" sz="1000" b="1" dirty="0">
                          <a:solidFill>
                            <a:srgbClr val="5B6477"/>
                          </a:solidFill>
                          <a:latin typeface="Calibri" pitchFamily="34" charset="0"/>
                          <a:ea typeface="Calibri" pitchFamily="34" charset="-122"/>
                          <a:cs typeface="Calibri" pitchFamily="34" charset="-120"/>
                        </a:rPr>
                        <a:t>EVIDENCE</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4F6FB"/>
                    </a:solidFill>
                  </a:tcPr>
                </a:tc>
                <a:tc>
                  <a:txBody>
                    <a:bodyPr/>
                    <a:lstStyle/>
                    <a:p>
                      <a:pPr indent="0" marL="0">
                        <a:buNone/>
                      </a:pPr>
                      <a:r>
                        <a:rPr lang="en-US" sz="1000" b="1" dirty="0">
                          <a:solidFill>
                            <a:srgbClr val="5B6477"/>
                          </a:solidFill>
                          <a:latin typeface="Calibri" pitchFamily="34" charset="0"/>
                          <a:ea typeface="Calibri" pitchFamily="34" charset="-122"/>
                          <a:cs typeface="Calibri" pitchFamily="34" charset="-120"/>
                        </a:rPr>
                        <a:t>RECOMMENDED FIX</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4F6FB"/>
                    </a:solidFill>
                  </a:tcPr>
                </a:tc>
                <a:tc>
                  <a:txBody>
                    <a:bodyPr/>
                    <a:lstStyle/>
                    <a:p>
                      <a:pPr indent="0" marL="0">
                        <a:buNone/>
                      </a:pPr>
                      <a:r>
                        <a:rPr lang="en-US" sz="1000" b="1" dirty="0">
                          <a:solidFill>
                            <a:srgbClr val="5B6477"/>
                          </a:solidFill>
                          <a:latin typeface="Calibri" pitchFamily="34" charset="0"/>
                          <a:ea typeface="Calibri" pitchFamily="34" charset="-122"/>
                          <a:cs typeface="Calibri" pitchFamily="34" charset="-120"/>
                        </a:rPr>
                        <a:t>IMPACT</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4F6FB"/>
                    </a:solidFill>
                  </a:tcPr>
                </a:tc>
              </a:tr>
              <a:tr h="731520">
                <a:tc>
                  <a:txBody>
                    <a:bodyPr/>
                    <a:lstStyle/>
                    <a:p>
                      <a:pPr indent="0" marL="0">
                        <a:buNone/>
                      </a:pPr>
                      <a:r>
                        <a:rPr lang="en-US" sz="1100" b="1" dirty="0">
                          <a:solidFill>
                            <a:srgbClr val="2D69E2"/>
                          </a:solidFill>
                          <a:latin typeface="Calibri" pitchFamily="34" charset="0"/>
                          <a:ea typeface="Calibri" pitchFamily="34" charset="-122"/>
                          <a:cs typeface="Calibri" pitchFamily="34" charset="-120"/>
                        </a:rPr>
                        <a:t>Speed</a:t>
                      </a:r>
                      <a:endParaRPr lang="en-US" sz="11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indent="0" marL="0">
                        <a:buNone/>
                      </a:pPr>
                      <a:r>
                        <a:rPr lang="en-US" sz="1100" b="1" dirty="0">
                          <a:solidFill>
                            <a:srgbClr val="111827"/>
                          </a:solidFill>
                          <a:latin typeface="Calibri" pitchFamily="34" charset="0"/>
                          <a:ea typeface="Calibri" pitchFamily="34" charset="-122"/>
                          <a:cs typeface="Calibri" pitchFamily="34" charset="-120"/>
                        </a:rPr>
                        <a:t>Main content takes 16.9s to appear on mobile</a:t>
                      </a:r>
                      <a:endParaRPr lang="en-US" sz="11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indent="0" marL="0">
                        <a:buNone/>
                      </a:pPr>
                      <a:r>
                        <a:rPr lang="en-US" sz="1000" dirty="0">
                          <a:solidFill>
                            <a:srgbClr val="5B6477"/>
                          </a:solidFill>
                          <a:latin typeface="Calibri" pitchFamily="34" charset="0"/>
                          <a:ea typeface="Calibri" pitchFamily="34" charset="-122"/>
                          <a:cs typeface="Calibri" pitchFamily="34" charset="-120"/>
                        </a:rPr>
                        <a:t>Lighthouse mobile LCP 16894 ms (target &lt; 2500 ms), FCP 3059 ms</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indent="0" marL="0">
                        <a:buNone/>
                      </a:pPr>
                      <a:r>
                        <a:rPr lang="en-US" sz="1000" dirty="0">
                          <a:solidFill>
                            <a:srgbClr val="111827"/>
                          </a:solidFill>
                          <a:latin typeface="Calibri" pitchFamily="34" charset="0"/>
                          <a:ea typeface="Calibri" pitchFamily="34" charset="-122"/>
                          <a:cs typeface="Calibri" pitchFamily="34" charset="-120"/>
                        </a:rPr>
                        <a:t>Compress and preload the hero image, defer non-critical scripts, serve via a CDN.</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D64545"/>
                          </a:solidFill>
                          <a:latin typeface="Calibri" pitchFamily="34" charset="0"/>
                          <a:ea typeface="Calibri" pitchFamily="34" charset="-122"/>
                          <a:cs typeface="Calibri" pitchFamily="34" charset="-120"/>
                        </a:rPr>
                        <a:t>High</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DE4E4"/>
                    </a:solidFill>
                  </a:tcPr>
                </a:tc>
              </a:tr>
              <a:tr h="731520">
                <a:tc>
                  <a:txBody>
                    <a:bodyPr/>
                    <a:lstStyle/>
                    <a:p>
                      <a:pPr indent="0" marL="0">
                        <a:buNone/>
                      </a:pPr>
                      <a:r>
                        <a:rPr lang="en-US" sz="1100" b="1" dirty="0">
                          <a:solidFill>
                            <a:srgbClr val="2D69E2"/>
                          </a:solidFill>
                          <a:latin typeface="Calibri" pitchFamily="34" charset="0"/>
                          <a:ea typeface="Calibri" pitchFamily="34" charset="-122"/>
                          <a:cs typeface="Calibri" pitchFamily="34" charset="-120"/>
                        </a:rPr>
                        <a:t>Speed</a:t>
                      </a:r>
                      <a:endParaRPr lang="en-US" sz="11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indent="0" marL="0">
                        <a:buNone/>
                      </a:pPr>
                      <a:r>
                        <a:rPr lang="en-US" sz="1100" b="1" dirty="0">
                          <a:solidFill>
                            <a:srgbClr val="111827"/>
                          </a:solidFill>
                          <a:latin typeface="Calibri" pitchFamily="34" charset="0"/>
                          <a:ea typeface="Calibri" pitchFamily="34" charset="-122"/>
                          <a:cs typeface="Calibri" pitchFamily="34" charset="-120"/>
                        </a:rPr>
                        <a:t>Page is unresponsive for 1.3s while loading</a:t>
                      </a:r>
                      <a:endParaRPr lang="en-US" sz="11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indent="0" marL="0">
                        <a:buNone/>
                      </a:pPr>
                      <a:r>
                        <a:rPr lang="en-US" sz="1000" dirty="0">
                          <a:solidFill>
                            <a:srgbClr val="5B6477"/>
                          </a:solidFill>
                          <a:latin typeface="Calibri" pitchFamily="34" charset="0"/>
                          <a:ea typeface="Calibri" pitchFamily="34" charset="-122"/>
                          <a:cs typeface="Calibri" pitchFamily="34" charset="-120"/>
                        </a:rPr>
                        <a:t>Total blocking time 1263 ms (target &lt; 200 ms)</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indent="0" marL="0">
                        <a:buNone/>
                      </a:pPr>
                      <a:r>
                        <a:rPr lang="en-US" sz="1000" dirty="0">
                          <a:solidFill>
                            <a:srgbClr val="111827"/>
                          </a:solidFill>
                          <a:latin typeface="Calibri" pitchFamily="34" charset="0"/>
                          <a:ea typeface="Calibri" pitchFamily="34" charset="-122"/>
                          <a:cs typeface="Calibri" pitchFamily="34" charset="-120"/>
                        </a:rPr>
                        <a:t>Split and defer JavaScript, remove unused third-party scripts.</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D64545"/>
                          </a:solidFill>
                          <a:latin typeface="Calibri" pitchFamily="34" charset="0"/>
                          <a:ea typeface="Calibri" pitchFamily="34" charset="-122"/>
                          <a:cs typeface="Calibri" pitchFamily="34" charset="-120"/>
                        </a:rPr>
                        <a:t>High</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DE4E4"/>
                    </a:solidFill>
                  </a:tcPr>
                </a:tc>
              </a:tr>
              <a:tr h="731520">
                <a:tc>
                  <a:txBody>
                    <a:bodyPr/>
                    <a:lstStyle/>
                    <a:p>
                      <a:pPr indent="0" marL="0">
                        <a:buNone/>
                      </a:pPr>
                      <a:r>
                        <a:rPr lang="en-US" sz="1100" b="1" dirty="0">
                          <a:solidFill>
                            <a:srgbClr val="2D69E2"/>
                          </a:solidFill>
                          <a:latin typeface="Calibri" pitchFamily="34" charset="0"/>
                          <a:ea typeface="Calibri" pitchFamily="34" charset="-122"/>
                          <a:cs typeface="Calibri" pitchFamily="34" charset="-120"/>
                        </a:rPr>
                        <a:t>Speed</a:t>
                      </a:r>
                      <a:endParaRPr lang="en-US" sz="11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indent="0" marL="0">
                        <a:buNone/>
                      </a:pPr>
                      <a:r>
                        <a:rPr lang="en-US" sz="1100" b="1" dirty="0">
                          <a:solidFill>
                            <a:srgbClr val="111827"/>
                          </a:solidFill>
                          <a:latin typeface="Calibri" pitchFamily="34" charset="0"/>
                          <a:ea typeface="Calibri" pitchFamily="34" charset="-122"/>
                          <a:cs typeface="Calibri" pitchFamily="34" charset="-120"/>
                        </a:rPr>
                        <a:t>Reduce unused JavaScript: about 2.4s to gain</a:t>
                      </a:r>
                      <a:endParaRPr lang="en-US" sz="11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indent="0" marL="0">
                        <a:buNone/>
                      </a:pPr>
                      <a:r>
                        <a:rPr lang="en-US" sz="1000" dirty="0">
                          <a:solidFill>
                            <a:srgbClr val="5B6477"/>
                          </a:solidFill>
                          <a:latin typeface="Calibri" pitchFamily="34" charset="0"/>
                          <a:ea typeface="Calibri" pitchFamily="34" charset="-122"/>
                          <a:cs typeface="Calibri" pitchFamily="34" charset="-120"/>
                        </a:rPr>
                        <a:t>Lighthouse opportunity, estimated saving 2360 ms</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indent="0" marL="0">
                        <a:buNone/>
                      </a:pPr>
                      <a:r>
                        <a:rPr lang="en-US" sz="1000" dirty="0">
                          <a:solidFill>
                            <a:srgbClr val="111827"/>
                          </a:solidFill>
                          <a:latin typeface="Calibri" pitchFamily="34" charset="0"/>
                          <a:ea typeface="Calibri" pitchFamily="34" charset="-122"/>
                          <a:cs typeface="Calibri" pitchFamily="34" charset="-120"/>
                        </a:rPr>
                        <a:t>Address "Reduce unused JavaScript".</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D64545"/>
                          </a:solidFill>
                          <a:latin typeface="Calibri" pitchFamily="34" charset="0"/>
                          <a:ea typeface="Calibri" pitchFamily="34" charset="-122"/>
                          <a:cs typeface="Calibri" pitchFamily="34" charset="-120"/>
                        </a:rPr>
                        <a:t>High</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DE4E4"/>
                    </a:solidFill>
                  </a:tcPr>
                </a:tc>
              </a:tr>
              <a:tr h="731520">
                <a:tc>
                  <a:txBody>
                    <a:bodyPr/>
                    <a:lstStyle/>
                    <a:p>
                      <a:pPr indent="0" marL="0">
                        <a:buNone/>
                      </a:pPr>
                      <a:r>
                        <a:rPr lang="en-US" sz="1100" b="1" dirty="0">
                          <a:solidFill>
                            <a:srgbClr val="2D69E2"/>
                          </a:solidFill>
                          <a:latin typeface="Calibri" pitchFamily="34" charset="0"/>
                          <a:ea typeface="Calibri" pitchFamily="34" charset="-122"/>
                          <a:cs typeface="Calibri" pitchFamily="34" charset="-120"/>
                        </a:rPr>
                        <a:t>Mobile</a:t>
                      </a:r>
                      <a:endParaRPr lang="en-US" sz="11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indent="0" marL="0">
                        <a:buNone/>
                      </a:pPr>
                      <a:r>
                        <a:rPr lang="en-US" sz="1100" b="1" dirty="0">
                          <a:solidFill>
                            <a:srgbClr val="111827"/>
                          </a:solidFill>
                          <a:latin typeface="Calibri" pitchFamily="34" charset="0"/>
                          <a:ea typeface="Calibri" pitchFamily="34" charset="-122"/>
                          <a:cs typeface="Calibri" pitchFamily="34" charset="-120"/>
                        </a:rPr>
                        <a:t>64 tap targets are too small</a:t>
                      </a:r>
                      <a:endParaRPr lang="en-US" sz="11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indent="0" marL="0">
                        <a:buNone/>
                      </a:pPr>
                      <a:r>
                        <a:rPr lang="en-US" sz="1000" dirty="0">
                          <a:solidFill>
                            <a:srgbClr val="5B6477"/>
                          </a:solidFill>
                          <a:latin typeface="Calibri" pitchFamily="34" charset="0"/>
                          <a:ea typeface="Calibri" pitchFamily="34" charset="-122"/>
                          <a:cs typeface="Calibri" pitchFamily="34" charset="-120"/>
                        </a:rPr>
                        <a:t>64 of 87 links/buttons are under 32px</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indent="0" marL="0">
                        <a:buNone/>
                      </a:pPr>
                      <a:r>
                        <a:rPr lang="en-US" sz="1000" dirty="0">
                          <a:solidFill>
                            <a:srgbClr val="111827"/>
                          </a:solidFill>
                          <a:latin typeface="Calibri" pitchFamily="34" charset="0"/>
                          <a:ea typeface="Calibri" pitchFamily="34" charset="-122"/>
                          <a:cs typeface="Calibri" pitchFamily="34" charset="-120"/>
                        </a:rPr>
                        <a:t>Make interactive elements at least 44x44px with spacing between them.</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D64545"/>
                          </a:solidFill>
                          <a:latin typeface="Calibri" pitchFamily="34" charset="0"/>
                          <a:ea typeface="Calibri" pitchFamily="34" charset="-122"/>
                          <a:cs typeface="Calibri" pitchFamily="34" charset="-120"/>
                        </a:rPr>
                        <a:t>High</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DE4E4"/>
                    </a:solidFill>
                  </a:tcPr>
                </a:tc>
              </a:tr>
              <a:tr h="731520">
                <a:tc>
                  <a:txBody>
                    <a:bodyPr/>
                    <a:lstStyle/>
                    <a:p>
                      <a:pPr indent="0" marL="0">
                        <a:buNone/>
                      </a:pPr>
                      <a:r>
                        <a:rPr lang="en-US" sz="1100" b="1" dirty="0">
                          <a:solidFill>
                            <a:srgbClr val="2D69E2"/>
                          </a:solidFill>
                          <a:latin typeface="Calibri" pitchFamily="34" charset="0"/>
                          <a:ea typeface="Calibri" pitchFamily="34" charset="-122"/>
                          <a:cs typeface="Calibri" pitchFamily="34" charset="-120"/>
                        </a:rPr>
                        <a:t>Accessibility</a:t>
                      </a:r>
                      <a:endParaRPr lang="en-US" sz="11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indent="0" marL="0">
                        <a:buNone/>
                      </a:pPr>
                      <a:r>
                        <a:rPr lang="en-US" sz="1100" b="1" dirty="0">
                          <a:solidFill>
                            <a:srgbClr val="111827"/>
                          </a:solidFill>
                          <a:latin typeface="Calibri" pitchFamily="34" charset="0"/>
                          <a:ea typeface="Calibri" pitchFamily="34" charset="-122"/>
                          <a:cs typeface="Calibri" pitchFamily="34" charset="-120"/>
                        </a:rPr>
                        <a:t>Elements must only use permitted ARIA attributes</a:t>
                      </a:r>
                      <a:endParaRPr lang="en-US" sz="11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indent="0" marL="0">
                        <a:buNone/>
                      </a:pPr>
                      <a:r>
                        <a:rPr lang="en-US" sz="1000" dirty="0">
                          <a:solidFill>
                            <a:srgbClr val="5B6477"/>
                          </a:solidFill>
                          <a:latin typeface="Calibri" pitchFamily="34" charset="0"/>
                          <a:ea typeface="Calibri" pitchFamily="34" charset="-122"/>
                          <a:cs typeface="Calibri" pitchFamily="34" charset="-120"/>
                        </a:rPr>
                        <a:t>aria-prohibited-attr: 3 element(s), e.g. .css-1kexv9i</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indent="0" marL="0">
                        <a:buNone/>
                      </a:pPr>
                      <a:r>
                        <a:rPr lang="en-US" sz="1000" dirty="0">
                          <a:solidFill>
                            <a:srgbClr val="111827"/>
                          </a:solidFill>
                          <a:latin typeface="Calibri" pitchFamily="34" charset="0"/>
                          <a:ea typeface="Calibri" pitchFamily="34" charset="-122"/>
                          <a:cs typeface="Calibri" pitchFamily="34" charset="-120"/>
                        </a:rPr>
                        <a:t>Fix the flagged elements and add automated a11y checks to CI.</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D64545"/>
                          </a:solidFill>
                          <a:latin typeface="Calibri" pitchFamily="34" charset="0"/>
                          <a:ea typeface="Calibri" pitchFamily="34" charset="-122"/>
                          <a:cs typeface="Calibri" pitchFamily="34" charset="-120"/>
                        </a:rPr>
                        <a:t>High</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DE4E4"/>
                    </a:solidFill>
                  </a:tcPr>
                </a:tc>
              </a:tr>
              <a:tr h="731520">
                <a:tc>
                  <a:txBody>
                    <a:bodyPr/>
                    <a:lstStyle/>
                    <a:p>
                      <a:pPr indent="0" marL="0">
                        <a:buNone/>
                      </a:pPr>
                      <a:r>
                        <a:rPr lang="en-US" sz="1100" b="1" dirty="0">
                          <a:solidFill>
                            <a:srgbClr val="2D69E2"/>
                          </a:solidFill>
                          <a:latin typeface="Calibri" pitchFamily="34" charset="0"/>
                          <a:ea typeface="Calibri" pitchFamily="34" charset="-122"/>
                          <a:cs typeface="Calibri" pitchFamily="34" charset="-120"/>
                        </a:rPr>
                        <a:t>Accessibility</a:t>
                      </a:r>
                      <a:endParaRPr lang="en-US" sz="11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indent="0" marL="0">
                        <a:buNone/>
                      </a:pPr>
                      <a:r>
                        <a:rPr lang="en-US" sz="1100" b="1" dirty="0">
                          <a:solidFill>
                            <a:srgbClr val="111827"/>
                          </a:solidFill>
                          <a:latin typeface="Calibri" pitchFamily="34" charset="0"/>
                          <a:ea typeface="Calibri" pitchFamily="34" charset="-122"/>
                          <a:cs typeface="Calibri" pitchFamily="34" charset="-120"/>
                        </a:rPr>
                        <a:t>&lt;ul&gt; and &lt;ol&gt; must only directly contain &lt;li&gt;, &lt;script&gt; or &lt;template&gt;…</a:t>
                      </a:r>
                      <a:endParaRPr lang="en-US" sz="11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indent="0" marL="0">
                        <a:buNone/>
                      </a:pPr>
                      <a:r>
                        <a:rPr lang="en-US" sz="1000" dirty="0">
                          <a:solidFill>
                            <a:srgbClr val="5B6477"/>
                          </a:solidFill>
                          <a:latin typeface="Calibri" pitchFamily="34" charset="0"/>
                          <a:ea typeface="Calibri" pitchFamily="34" charset="-122"/>
                          <a:cs typeface="Calibri" pitchFamily="34" charset="-120"/>
                        </a:rPr>
                        <a:t>list: 5 element(s), e.g. #\36 95780a4108b98bd4b9d2756 &gt; .css-1qertln &gt; .edgetoedgetextare…</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indent="0" marL="0">
                        <a:buNone/>
                      </a:pPr>
                      <a:r>
                        <a:rPr lang="en-US" sz="1000" dirty="0">
                          <a:solidFill>
                            <a:srgbClr val="111827"/>
                          </a:solidFill>
                          <a:latin typeface="Calibri" pitchFamily="34" charset="0"/>
                          <a:ea typeface="Calibri" pitchFamily="34" charset="-122"/>
                          <a:cs typeface="Calibri" pitchFamily="34" charset="-120"/>
                        </a:rPr>
                        <a:t>Fix the flagged elements and add automated a11y checks to CI.</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D64545"/>
                          </a:solidFill>
                          <a:latin typeface="Calibri" pitchFamily="34" charset="0"/>
                          <a:ea typeface="Calibri" pitchFamily="34" charset="-122"/>
                          <a:cs typeface="Calibri" pitchFamily="34" charset="-120"/>
                        </a:rPr>
                        <a:t>High</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DE4E4"/>
                    </a:solid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6FB"/>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2D69E2"/>
          </a:solidFill>
          <a:ln w="12700">
            <a:solidFill>
              <a:srgbClr val="2D69E2"/>
            </a:solidFill>
            <a:prstDash val="solid"/>
          </a:ln>
        </p:spPr>
      </p:sp>
      <p:sp>
        <p:nvSpPr>
          <p:cNvPr id="3" name="Text 1"/>
          <p:cNvSpPr/>
          <p:nvPr/>
        </p:nvSpPr>
        <p:spPr>
          <a:xfrm>
            <a:off x="548640" y="347472"/>
            <a:ext cx="8229600" cy="274320"/>
          </a:xfrm>
          <a:prstGeom prst="rect">
            <a:avLst/>
          </a:prstGeom>
          <a:noFill/>
          <a:ln/>
        </p:spPr>
        <p:txBody>
          <a:bodyPr wrap="square" lIns="0" tIns="0" rIns="0" bIns="0" rtlCol="0" anchor="t"/>
          <a:lstStyle/>
          <a:p>
            <a:pPr indent="0" marL="0">
              <a:buNone/>
            </a:pPr>
            <a:r>
              <a:rPr lang="en-US" sz="1100" b="1" spc="300" kern="0" dirty="0">
                <a:solidFill>
                  <a:srgbClr val="2D69E2"/>
                </a:solidFill>
                <a:latin typeface="Calibri" pitchFamily="34" charset="0"/>
                <a:ea typeface="Calibri" pitchFamily="34" charset="-122"/>
                <a:cs typeface="Calibri" pitchFamily="34" charset="-120"/>
              </a:rPr>
              <a:t>THE AUDIT · FINDINGS AND EVIDENCE</a:t>
            </a:r>
            <a:endParaRPr lang="en-US" sz="1100" dirty="0"/>
          </a:p>
        </p:txBody>
      </p:sp>
      <p:sp>
        <p:nvSpPr>
          <p:cNvPr id="4" name="Text 2"/>
          <p:cNvSpPr/>
          <p:nvPr/>
        </p:nvSpPr>
        <p:spPr>
          <a:xfrm>
            <a:off x="548640" y="621792"/>
            <a:ext cx="9326880" cy="731520"/>
          </a:xfrm>
          <a:prstGeom prst="rect">
            <a:avLst/>
          </a:prstGeom>
          <a:noFill/>
          <a:ln/>
        </p:spPr>
        <p:txBody>
          <a:bodyPr wrap="square" lIns="0" tIns="0" rIns="0" bIns="0" rtlCol="0" anchor="t">
            <a:normAutofit/>
          </a:bodyPr>
          <a:lstStyle/>
          <a:p>
            <a:pPr indent="0" marL="0">
              <a:buNone/>
            </a:pPr>
            <a:r>
              <a:rPr lang="en-US" sz="2800" b="1" dirty="0">
                <a:solidFill>
                  <a:srgbClr val="0B1B5E"/>
                </a:solidFill>
                <a:latin typeface="Calibri" pitchFamily="34" charset="0"/>
                <a:ea typeface="Calibri" pitchFamily="34" charset="-122"/>
                <a:cs typeface="Calibri" pitchFamily="34" charset="-120"/>
              </a:rPr>
              <a:t>What we found (2 of 2)</a:t>
            </a:r>
            <a:endParaRPr lang="en-US" sz="2800" dirty="0"/>
          </a:p>
        </p:txBody>
      </p:sp>
      <p:pic>
        <p:nvPicPr>
          <p:cNvPr id="5" name="Image 0" descr="Samsung logo">    </p:cNvPr>
          <p:cNvPicPr>
            <a:picLocks noChangeAspect="1"/>
          </p:cNvPicPr>
          <p:nvPr/>
        </p:nvPicPr>
        <p:blipFill>
          <a:blip r:embed="rId1"/>
          <a:stretch>
            <a:fillRect/>
          </a:stretch>
        </p:blipFill>
        <p:spPr>
          <a:xfrm>
            <a:off x="10454335" y="347472"/>
            <a:ext cx="1188720" cy="377258"/>
          </a:xfrm>
          <a:prstGeom prst="rect">
            <a:avLst/>
          </a:prstGeom>
        </p:spPr>
      </p:pic>
      <p:sp>
        <p:nvSpPr>
          <p:cNvPr id="6" name="Text 3"/>
          <p:cNvSpPr/>
          <p:nvPr/>
        </p:nvSpPr>
        <p:spPr>
          <a:xfrm>
            <a:off x="548640" y="6446520"/>
            <a:ext cx="7315200" cy="256032"/>
          </a:xfrm>
          <a:prstGeom prst="rect">
            <a:avLst/>
          </a:prstGeom>
          <a:noFill/>
          <a:ln/>
        </p:spPr>
        <p:txBody>
          <a:bodyPr wrap="square" lIns="0" tIns="0" rIns="0" bIns="0" rtlCol="0" anchor="t"/>
          <a:lstStyle/>
          <a:p>
            <a:pPr indent="0" marL="0">
              <a:buNone/>
            </a:pPr>
            <a:r>
              <a:rPr lang="en-US" sz="1000" dirty="0">
                <a:solidFill>
                  <a:srgbClr val="5B6477"/>
                </a:solidFill>
                <a:latin typeface="Calibri" pitchFamily="34" charset="0"/>
                <a:ea typeface="Calibri" pitchFamily="34" charset="-122"/>
                <a:cs typeface="Calibri" pitchFamily="34" charset="-120"/>
              </a:rPr>
              <a:t>Nike. Just Do It. Nike IN  ·  Prepared by Samsung SDS</a:t>
            </a:r>
            <a:endParaRPr lang="en-US" sz="1000" dirty="0"/>
          </a:p>
        </p:txBody>
      </p:sp>
      <p:sp>
        <p:nvSpPr>
          <p:cNvPr id="7" name="Text 4"/>
          <p:cNvSpPr/>
          <p:nvPr/>
        </p:nvSpPr>
        <p:spPr>
          <a:xfrm>
            <a:off x="11185855" y="6446520"/>
            <a:ext cx="457200" cy="256032"/>
          </a:xfrm>
          <a:prstGeom prst="rect">
            <a:avLst/>
          </a:prstGeom>
          <a:noFill/>
          <a:ln/>
        </p:spPr>
        <p:txBody>
          <a:bodyPr wrap="square" lIns="0" tIns="0" rIns="0" bIns="0" rtlCol="0" anchor="t"/>
          <a:lstStyle/>
          <a:p>
            <a:pPr algn="r" indent="0" marL="0">
              <a:buNone/>
            </a:pPr>
            <a:r>
              <a:rPr lang="en-US" sz="1000" dirty="0">
                <a:solidFill>
                  <a:srgbClr val="5B6477"/>
                </a:solidFill>
                <a:latin typeface="Calibri" pitchFamily="34" charset="0"/>
                <a:ea typeface="Calibri" pitchFamily="34" charset="-122"/>
                <a:cs typeface="Calibri" pitchFamily="34" charset="-120"/>
              </a:rPr>
              <a:t>5</a:t>
            </a:r>
            <a:endParaRPr lang="en-US" sz="1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4415" cy="914400"/>
        </p:xfrm>
        <a:graphic>
          <a:graphicData uri="http://schemas.openxmlformats.org/drawingml/2006/table">
            <a:tbl>
              <a:tblPr/>
              <a:tblGrid>
                <a:gridCol w="1234440"/>
                <a:gridCol w="2834640"/>
                <a:gridCol w="3108960"/>
                <a:gridCol w="3154680"/>
                <a:gridCol w="758952"/>
              </a:tblGrid>
              <a:tr h="731520">
                <a:tc>
                  <a:txBody>
                    <a:bodyPr/>
                    <a:lstStyle/>
                    <a:p>
                      <a:pPr indent="0" marL="0">
                        <a:buNone/>
                      </a:pPr>
                      <a:r>
                        <a:rPr lang="en-US" sz="1000" b="1" dirty="0">
                          <a:solidFill>
                            <a:srgbClr val="5B6477"/>
                          </a:solidFill>
                          <a:latin typeface="Calibri" pitchFamily="34" charset="0"/>
                          <a:ea typeface="Calibri" pitchFamily="34" charset="-122"/>
                          <a:cs typeface="Calibri" pitchFamily="34" charset="-120"/>
                        </a:rPr>
                        <a:t>AREA</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4F6FB"/>
                    </a:solidFill>
                  </a:tcPr>
                </a:tc>
                <a:tc>
                  <a:txBody>
                    <a:bodyPr/>
                    <a:lstStyle/>
                    <a:p>
                      <a:pPr indent="0" marL="0">
                        <a:buNone/>
                      </a:pPr>
                      <a:r>
                        <a:rPr lang="en-US" sz="1000" b="1" dirty="0">
                          <a:solidFill>
                            <a:srgbClr val="5B6477"/>
                          </a:solidFill>
                          <a:latin typeface="Calibri" pitchFamily="34" charset="0"/>
                          <a:ea typeface="Calibri" pitchFamily="34" charset="-122"/>
                          <a:cs typeface="Calibri" pitchFamily="34" charset="-120"/>
                        </a:rPr>
                        <a:t>FINDING</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4F6FB"/>
                    </a:solidFill>
                  </a:tcPr>
                </a:tc>
                <a:tc>
                  <a:txBody>
                    <a:bodyPr/>
                    <a:lstStyle/>
                    <a:p>
                      <a:pPr indent="0" marL="0">
                        <a:buNone/>
                      </a:pPr>
                      <a:r>
                        <a:rPr lang="en-US" sz="1000" b="1" dirty="0">
                          <a:solidFill>
                            <a:srgbClr val="5B6477"/>
                          </a:solidFill>
                          <a:latin typeface="Calibri" pitchFamily="34" charset="0"/>
                          <a:ea typeface="Calibri" pitchFamily="34" charset="-122"/>
                          <a:cs typeface="Calibri" pitchFamily="34" charset="-120"/>
                        </a:rPr>
                        <a:t>EVIDENCE</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4F6FB"/>
                    </a:solidFill>
                  </a:tcPr>
                </a:tc>
                <a:tc>
                  <a:txBody>
                    <a:bodyPr/>
                    <a:lstStyle/>
                    <a:p>
                      <a:pPr indent="0" marL="0">
                        <a:buNone/>
                      </a:pPr>
                      <a:r>
                        <a:rPr lang="en-US" sz="1000" b="1" dirty="0">
                          <a:solidFill>
                            <a:srgbClr val="5B6477"/>
                          </a:solidFill>
                          <a:latin typeface="Calibri" pitchFamily="34" charset="0"/>
                          <a:ea typeface="Calibri" pitchFamily="34" charset="-122"/>
                          <a:cs typeface="Calibri" pitchFamily="34" charset="-120"/>
                        </a:rPr>
                        <a:t>RECOMMENDED FIX</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4F6FB"/>
                    </a:solidFill>
                  </a:tcPr>
                </a:tc>
                <a:tc>
                  <a:txBody>
                    <a:bodyPr/>
                    <a:lstStyle/>
                    <a:p>
                      <a:pPr indent="0" marL="0">
                        <a:buNone/>
                      </a:pPr>
                      <a:r>
                        <a:rPr lang="en-US" sz="1000" b="1" dirty="0">
                          <a:solidFill>
                            <a:srgbClr val="5B6477"/>
                          </a:solidFill>
                          <a:latin typeface="Calibri" pitchFamily="34" charset="0"/>
                          <a:ea typeface="Calibri" pitchFamily="34" charset="-122"/>
                          <a:cs typeface="Calibri" pitchFamily="34" charset="-120"/>
                        </a:rPr>
                        <a:t>IMPACT</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4F6FB"/>
                    </a:solidFill>
                  </a:tcPr>
                </a:tc>
              </a:tr>
              <a:tr h="731520">
                <a:tc>
                  <a:txBody>
                    <a:bodyPr/>
                    <a:lstStyle/>
                    <a:p>
                      <a:pPr indent="0" marL="0">
                        <a:buNone/>
                      </a:pPr>
                      <a:r>
                        <a:rPr lang="en-US" sz="1100" b="1" dirty="0">
                          <a:solidFill>
                            <a:srgbClr val="2D69E2"/>
                          </a:solidFill>
                          <a:latin typeface="Calibri" pitchFamily="34" charset="0"/>
                          <a:ea typeface="Calibri" pitchFamily="34" charset="-122"/>
                          <a:cs typeface="Calibri" pitchFamily="34" charset="-120"/>
                        </a:rPr>
                        <a:t>Accessibility</a:t>
                      </a:r>
                      <a:endParaRPr lang="en-US" sz="11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indent="0" marL="0">
                        <a:buNone/>
                      </a:pPr>
                      <a:r>
                        <a:rPr lang="en-US" sz="1100" b="1" dirty="0">
                          <a:solidFill>
                            <a:srgbClr val="111827"/>
                          </a:solidFill>
                          <a:latin typeface="Calibri" pitchFamily="34" charset="0"/>
                          <a:ea typeface="Calibri" pitchFamily="34" charset="-122"/>
                          <a:cs typeface="Calibri" pitchFamily="34" charset="-120"/>
                        </a:rPr>
                        <a:t>&lt;li&gt; elements must be contained in a &lt;ul&gt; or &lt;ol&gt;</a:t>
                      </a:r>
                      <a:endParaRPr lang="en-US" sz="11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indent="0" marL="0">
                        <a:buNone/>
                      </a:pPr>
                      <a:r>
                        <a:rPr lang="en-US" sz="1000" dirty="0">
                          <a:solidFill>
                            <a:srgbClr val="5B6477"/>
                          </a:solidFill>
                          <a:latin typeface="Calibri" pitchFamily="34" charset="0"/>
                          <a:ea typeface="Calibri" pitchFamily="34" charset="-122"/>
                          <a:cs typeface="Calibri" pitchFamily="34" charset="-120"/>
                        </a:rPr>
                        <a:t>listitem: 5 element(s), e.g. #\36 95780a4108b98bd4b9d2756 &gt; .css-1qertln &gt; .edgetoedgetex…</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indent="0" marL="0">
                        <a:buNone/>
                      </a:pPr>
                      <a:r>
                        <a:rPr lang="en-US" sz="1000" dirty="0">
                          <a:solidFill>
                            <a:srgbClr val="111827"/>
                          </a:solidFill>
                          <a:latin typeface="Calibri" pitchFamily="34" charset="0"/>
                          <a:ea typeface="Calibri" pitchFamily="34" charset="-122"/>
                          <a:cs typeface="Calibri" pitchFamily="34" charset="-120"/>
                        </a:rPr>
                        <a:t>Fix the flagged elements and add automated a11y checks to CI.</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D64545"/>
                          </a:solidFill>
                          <a:latin typeface="Calibri" pitchFamily="34" charset="0"/>
                          <a:ea typeface="Calibri" pitchFamily="34" charset="-122"/>
                          <a:cs typeface="Calibri" pitchFamily="34" charset="-120"/>
                        </a:rPr>
                        <a:t>High</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DE4E4"/>
                    </a:solidFill>
                  </a:tcPr>
                </a:tc>
              </a:tr>
              <a:tr h="731520">
                <a:tc>
                  <a:txBody>
                    <a:bodyPr/>
                    <a:lstStyle/>
                    <a:p>
                      <a:pPr indent="0" marL="0">
                        <a:buNone/>
                      </a:pPr>
                      <a:r>
                        <a:rPr lang="en-US" sz="1100" b="1" dirty="0">
                          <a:solidFill>
                            <a:srgbClr val="2D69E2"/>
                          </a:solidFill>
                          <a:latin typeface="Calibri" pitchFamily="34" charset="0"/>
                          <a:ea typeface="Calibri" pitchFamily="34" charset="-122"/>
                          <a:cs typeface="Calibri" pitchFamily="34" charset="-120"/>
                        </a:rPr>
                        <a:t>Speed</a:t>
                      </a:r>
                      <a:endParaRPr lang="en-US" sz="11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indent="0" marL="0">
                        <a:buNone/>
                      </a:pPr>
                      <a:r>
                        <a:rPr lang="en-US" sz="1100" b="1" dirty="0">
                          <a:solidFill>
                            <a:srgbClr val="111827"/>
                          </a:solidFill>
                          <a:latin typeface="Calibri" pitchFamily="34" charset="0"/>
                          <a:ea typeface="Calibri" pitchFamily="34" charset="-122"/>
                          <a:cs typeface="Calibri" pitchFamily="34" charset="-120"/>
                        </a:rPr>
                        <a:t>Eliminate render-blocking resources: about 0.5s to gain</a:t>
                      </a:r>
                      <a:endParaRPr lang="en-US" sz="11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indent="0" marL="0">
                        <a:buNone/>
                      </a:pPr>
                      <a:r>
                        <a:rPr lang="en-US" sz="1000" dirty="0">
                          <a:solidFill>
                            <a:srgbClr val="5B6477"/>
                          </a:solidFill>
                          <a:latin typeface="Calibri" pitchFamily="34" charset="0"/>
                          <a:ea typeface="Calibri" pitchFamily="34" charset="-122"/>
                          <a:cs typeface="Calibri" pitchFamily="34" charset="-120"/>
                        </a:rPr>
                        <a:t>Lighthouse opportunity, estimated saving 519 ms</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indent="0" marL="0">
                        <a:buNone/>
                      </a:pPr>
                      <a:r>
                        <a:rPr lang="en-US" sz="1000" dirty="0">
                          <a:solidFill>
                            <a:srgbClr val="111827"/>
                          </a:solidFill>
                          <a:latin typeface="Calibri" pitchFamily="34" charset="0"/>
                          <a:ea typeface="Calibri" pitchFamily="34" charset="-122"/>
                          <a:cs typeface="Calibri" pitchFamily="34" charset="-120"/>
                        </a:rPr>
                        <a:t>Address "Eliminate render-blocking resources".</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B7791F"/>
                          </a:solidFill>
                          <a:latin typeface="Calibri" pitchFamily="34" charset="0"/>
                          <a:ea typeface="Calibri" pitchFamily="34" charset="-122"/>
                          <a:cs typeface="Calibri" pitchFamily="34" charset="-120"/>
                        </a:rPr>
                        <a:t>Medium</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DF0D5"/>
                    </a:solidFill>
                  </a:tcPr>
                </a:tc>
              </a:tr>
              <a:tr h="731520">
                <a:tc>
                  <a:txBody>
                    <a:bodyPr/>
                    <a:lstStyle/>
                    <a:p>
                      <a:pPr indent="0" marL="0">
                        <a:buNone/>
                      </a:pPr>
                      <a:r>
                        <a:rPr lang="en-US" sz="1100" b="1" dirty="0">
                          <a:solidFill>
                            <a:srgbClr val="2D69E2"/>
                          </a:solidFill>
                          <a:latin typeface="Calibri" pitchFamily="34" charset="0"/>
                          <a:ea typeface="Calibri" pitchFamily="34" charset="-122"/>
                          <a:cs typeface="Calibri" pitchFamily="34" charset="-120"/>
                        </a:rPr>
                        <a:t>Accessibility</a:t>
                      </a:r>
                      <a:endParaRPr lang="en-US" sz="11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indent="0" marL="0">
                        <a:buNone/>
                      </a:pPr>
                      <a:r>
                        <a:rPr lang="en-US" sz="1100" b="1" dirty="0">
                          <a:solidFill>
                            <a:srgbClr val="111827"/>
                          </a:solidFill>
                          <a:latin typeface="Calibri" pitchFamily="34" charset="0"/>
                          <a:ea typeface="Calibri" pitchFamily="34" charset="-122"/>
                          <a:cs typeface="Calibri" pitchFamily="34" charset="-120"/>
                        </a:rPr>
                        <a:t>Heading levels should only increase by one</a:t>
                      </a:r>
                      <a:endParaRPr lang="en-US" sz="11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indent="0" marL="0">
                        <a:buNone/>
                      </a:pPr>
                      <a:r>
                        <a:rPr lang="en-US" sz="1000" dirty="0">
                          <a:solidFill>
                            <a:srgbClr val="5B6477"/>
                          </a:solidFill>
                          <a:latin typeface="Calibri" pitchFamily="34" charset="0"/>
                          <a:ea typeface="Calibri" pitchFamily="34" charset="-122"/>
                          <a:cs typeface="Calibri" pitchFamily="34" charset="-120"/>
                        </a:rPr>
                        <a:t>heading-order: 1 element(s), e.g. .css-1pbcgmn:nth-child(1) &gt; .css-7ftx9x &gt; .css-ikd9jw &gt;…</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indent="0" marL="0">
                        <a:buNone/>
                      </a:pPr>
                      <a:r>
                        <a:rPr lang="en-US" sz="1000" dirty="0">
                          <a:solidFill>
                            <a:srgbClr val="111827"/>
                          </a:solidFill>
                          <a:latin typeface="Calibri" pitchFamily="34" charset="0"/>
                          <a:ea typeface="Calibri" pitchFamily="34" charset="-122"/>
                          <a:cs typeface="Calibri" pitchFamily="34" charset="-120"/>
                        </a:rPr>
                        <a:t>Fix the flagged elements and add automated a11y checks to CI.</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B7791F"/>
                          </a:solidFill>
                          <a:latin typeface="Calibri" pitchFamily="34" charset="0"/>
                          <a:ea typeface="Calibri" pitchFamily="34" charset="-122"/>
                          <a:cs typeface="Calibri" pitchFamily="34" charset="-120"/>
                        </a:rPr>
                        <a:t>Medium</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DF0D5"/>
                    </a:solidFill>
                  </a:tcPr>
                </a:tc>
              </a:tr>
              <a:tr h="731520">
                <a:tc>
                  <a:txBody>
                    <a:bodyPr/>
                    <a:lstStyle/>
                    <a:p>
                      <a:pPr indent="0" marL="0">
                        <a:buNone/>
                      </a:pPr>
                      <a:r>
                        <a:rPr lang="en-US" sz="1100" b="1" dirty="0">
                          <a:solidFill>
                            <a:srgbClr val="2D69E2"/>
                          </a:solidFill>
                          <a:latin typeface="Calibri" pitchFamily="34" charset="0"/>
                          <a:ea typeface="Calibri" pitchFamily="34" charset="-122"/>
                          <a:cs typeface="Calibri" pitchFamily="34" charset="-120"/>
                        </a:rPr>
                        <a:t>UX</a:t>
                      </a:r>
                      <a:endParaRPr lang="en-US" sz="11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indent="0" marL="0">
                        <a:buNone/>
                      </a:pPr>
                      <a:r>
                        <a:rPr lang="en-US" sz="1100" b="1" dirty="0">
                          <a:solidFill>
                            <a:srgbClr val="111827"/>
                          </a:solidFill>
                          <a:latin typeface="Calibri" pitchFamily="34" charset="0"/>
                          <a:ea typeface="Calibri" pitchFamily="34" charset="-122"/>
                          <a:cs typeface="Calibri" pitchFamily="34" charset="-120"/>
                        </a:rPr>
                        <a:t>Hero CTAs are generic and compete with each other</a:t>
                      </a:r>
                      <a:endParaRPr lang="en-US" sz="11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indent="0" marL="0">
                        <a:buNone/>
                      </a:pPr>
                      <a:r>
                        <a:rPr lang="en-US" sz="1000" dirty="0">
                          <a:solidFill>
                            <a:srgbClr val="5B6477"/>
                          </a:solidFill>
                          <a:latin typeface="Calibri" pitchFamily="34" charset="0"/>
                          <a:ea typeface="Calibri" pitchFamily="34" charset="-122"/>
                          <a:cs typeface="Calibri" pitchFamily="34" charset="-120"/>
                        </a:rPr>
                        <a:t>The hero has two equal white pill buttons, 'Shop' and 'Watch ▶', with no indication of wh…</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indent="0" marL="0">
                        <a:buNone/>
                      </a:pPr>
                      <a:r>
                        <a:rPr lang="en-US" sz="1000" dirty="0">
                          <a:solidFill>
                            <a:srgbClr val="111827"/>
                          </a:solidFill>
                          <a:latin typeface="Calibri" pitchFamily="34" charset="0"/>
                          <a:ea typeface="Calibri" pitchFamily="34" charset="-122"/>
                          <a:cs typeface="Calibri" pitchFamily="34" charset="-120"/>
                        </a:rPr>
                        <a:t>Label the primary CTA with its destination ('Shop Pegasus Plus 2') and style it as the clear p…</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B7791F"/>
                          </a:solidFill>
                          <a:latin typeface="Calibri" pitchFamily="34" charset="0"/>
                          <a:ea typeface="Calibri" pitchFamily="34" charset="-122"/>
                          <a:cs typeface="Calibri" pitchFamily="34" charset="-120"/>
                        </a:rPr>
                        <a:t>Medium</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DF0D5"/>
                    </a:solidFill>
                  </a:tcPr>
                </a:tc>
              </a:tr>
              <a:tr h="731520">
                <a:tc>
                  <a:txBody>
                    <a:bodyPr/>
                    <a:lstStyle/>
                    <a:p>
                      <a:pPr indent="0" marL="0">
                        <a:buNone/>
                      </a:pPr>
                      <a:r>
                        <a:rPr lang="en-US" sz="1100" b="1" dirty="0">
                          <a:solidFill>
                            <a:srgbClr val="2D69E2"/>
                          </a:solidFill>
                          <a:latin typeface="Calibri" pitchFamily="34" charset="0"/>
                          <a:ea typeface="Calibri" pitchFamily="34" charset="-122"/>
                          <a:cs typeface="Calibri" pitchFamily="34" charset="-120"/>
                        </a:rPr>
                        <a:t>UX</a:t>
                      </a:r>
                      <a:endParaRPr lang="en-US" sz="11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indent="0" marL="0">
                        <a:buNone/>
                      </a:pPr>
                      <a:r>
                        <a:rPr lang="en-US" sz="1100" b="1" dirty="0">
                          <a:solidFill>
                            <a:srgbClr val="111827"/>
                          </a:solidFill>
                          <a:latin typeface="Calibri" pitchFamily="34" charset="0"/>
                          <a:ea typeface="Calibri" pitchFamily="34" charset="-122"/>
                          <a:cs typeface="Calibri" pitchFamily="34" charset="-120"/>
                        </a:rPr>
                        <a:t>Almost no trust signals above the fold</a:t>
                      </a:r>
                      <a:endParaRPr lang="en-US" sz="11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indent="0" marL="0">
                        <a:buNone/>
                      </a:pPr>
                      <a:r>
                        <a:rPr lang="en-US" sz="1000" dirty="0">
                          <a:solidFill>
                            <a:srgbClr val="5B6477"/>
                          </a:solidFill>
                          <a:latin typeface="Calibri" pitchFamily="34" charset="0"/>
                          <a:ea typeface="Calibri" pitchFamily="34" charset="-122"/>
                          <a:cs typeface="Calibri" pitchFamily="34" charset="-120"/>
                        </a:rPr>
                        <a:t>The page shows no visible delivery or returns information, no payment or security cues, n…</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indent="0" marL="0">
                        <a:buNone/>
                      </a:pPr>
                      <a:r>
                        <a:rPr lang="en-US" sz="1000" dirty="0">
                          <a:solidFill>
                            <a:srgbClr val="111827"/>
                          </a:solidFill>
                          <a:latin typeface="Calibri" pitchFamily="34" charset="0"/>
                          <a:ea typeface="Calibri" pitchFamily="34" charset="-122"/>
                          <a:cs typeface="Calibri" pitchFamily="34" charset="-120"/>
                        </a:rPr>
                        <a:t>Add a slim benefits strip with free delivery, easy returns and secure payment. Add review rati…</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B7791F"/>
                          </a:solidFill>
                          <a:latin typeface="Calibri" pitchFamily="34" charset="0"/>
                          <a:ea typeface="Calibri" pitchFamily="34" charset="-122"/>
                          <a:cs typeface="Calibri" pitchFamily="34" charset="-120"/>
                        </a:rPr>
                        <a:t>Medium</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DF0D5"/>
                    </a:solidFill>
                  </a:tcPr>
                </a:tc>
              </a:tr>
              <a:tr h="731520">
                <a:tc>
                  <a:txBody>
                    <a:bodyPr/>
                    <a:lstStyle/>
                    <a:p>
                      <a:pPr indent="0" marL="0">
                        <a:buNone/>
                      </a:pPr>
                      <a:r>
                        <a:rPr lang="en-US" sz="1100" b="1" dirty="0">
                          <a:solidFill>
                            <a:srgbClr val="2D69E2"/>
                          </a:solidFill>
                          <a:latin typeface="Calibri" pitchFamily="34" charset="0"/>
                          <a:ea typeface="Calibri" pitchFamily="34" charset="-122"/>
                          <a:cs typeface="Calibri" pitchFamily="34" charset="-120"/>
                        </a:rPr>
                        <a:t>UX</a:t>
                      </a:r>
                      <a:endParaRPr lang="en-US" sz="11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indent="0" marL="0">
                        <a:buNone/>
                      </a:pPr>
                      <a:r>
                        <a:rPr lang="en-US" sz="1100" b="1" dirty="0">
                          <a:solidFill>
                            <a:srgbClr val="111827"/>
                          </a:solidFill>
                          <a:latin typeface="Calibri" pitchFamily="34" charset="0"/>
                          <a:ea typeface="Calibri" pitchFamily="34" charset="-122"/>
                          <a:cs typeface="Calibri" pitchFamily="34" charset="-120"/>
                        </a:rPr>
                        <a:t>Hero text contrast, carousel controls and small utility text hurt leg…</a:t>
                      </a:r>
                      <a:endParaRPr lang="en-US" sz="11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indent="0" marL="0">
                        <a:buNone/>
                      </a:pPr>
                      <a:r>
                        <a:rPr lang="en-US" sz="1000" dirty="0">
                          <a:solidFill>
                            <a:srgbClr val="5B6477"/>
                          </a:solidFill>
                          <a:latin typeface="Calibri" pitchFamily="34" charset="0"/>
                          <a:ea typeface="Calibri" pitchFamily="34" charset="-122"/>
                          <a:cs typeface="Calibri" pitchFamily="34" charset="-120"/>
                        </a:rPr>
                        <a:t>The grey subcopy 'You can't be fast on Sunday…' sits over a mottled, blurred background w…</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indent="0" marL="0">
                        <a:buNone/>
                      </a:pPr>
                      <a:r>
                        <a:rPr lang="en-US" sz="1000" dirty="0">
                          <a:solidFill>
                            <a:srgbClr val="111827"/>
                          </a:solidFill>
                          <a:latin typeface="Calibri" pitchFamily="34" charset="0"/>
                          <a:ea typeface="Calibri" pitchFamily="34" charset="-122"/>
                          <a:cs typeface="Calibri" pitchFamily="34" charset="-120"/>
                        </a:rPr>
                        <a:t>Add a darker gradient scrim behind the text, or move the copy to a calmer area of the image. E…</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B7791F"/>
                          </a:solidFill>
                          <a:latin typeface="Calibri" pitchFamily="34" charset="0"/>
                          <a:ea typeface="Calibri" pitchFamily="34" charset="-122"/>
                          <a:cs typeface="Calibri" pitchFamily="34" charset="-120"/>
                        </a:rPr>
                        <a:t>Medium</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DF0D5"/>
                    </a:solid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6FB"/>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2D69E2"/>
          </a:solidFill>
          <a:ln w="12700">
            <a:solidFill>
              <a:srgbClr val="2D69E2"/>
            </a:solidFill>
            <a:prstDash val="solid"/>
          </a:ln>
        </p:spPr>
      </p:sp>
      <p:sp>
        <p:nvSpPr>
          <p:cNvPr id="3" name="Text 1"/>
          <p:cNvSpPr/>
          <p:nvPr/>
        </p:nvSpPr>
        <p:spPr>
          <a:xfrm>
            <a:off x="548640" y="347472"/>
            <a:ext cx="8229600" cy="274320"/>
          </a:xfrm>
          <a:prstGeom prst="rect">
            <a:avLst/>
          </a:prstGeom>
          <a:noFill/>
          <a:ln/>
        </p:spPr>
        <p:txBody>
          <a:bodyPr wrap="square" lIns="0" tIns="0" rIns="0" bIns="0" rtlCol="0" anchor="t"/>
          <a:lstStyle/>
          <a:p>
            <a:pPr indent="0" marL="0">
              <a:buNone/>
            </a:pPr>
            <a:r>
              <a:rPr lang="en-US" sz="1100" b="1" spc="300" kern="0" dirty="0">
                <a:solidFill>
                  <a:srgbClr val="2D69E2"/>
                </a:solidFill>
                <a:latin typeface="Calibri" pitchFamily="34" charset="0"/>
                <a:ea typeface="Calibri" pitchFamily="34" charset="-122"/>
                <a:cs typeface="Calibri" pitchFamily="34" charset="-120"/>
              </a:rPr>
              <a:t>TECHNOLOGY REVIEW</a:t>
            </a:r>
            <a:endParaRPr lang="en-US" sz="1100" dirty="0"/>
          </a:p>
        </p:txBody>
      </p:sp>
      <p:sp>
        <p:nvSpPr>
          <p:cNvPr id="4" name="Text 2"/>
          <p:cNvSpPr/>
          <p:nvPr/>
        </p:nvSpPr>
        <p:spPr>
          <a:xfrm>
            <a:off x="548640" y="621792"/>
            <a:ext cx="9326880" cy="731520"/>
          </a:xfrm>
          <a:prstGeom prst="rect">
            <a:avLst/>
          </a:prstGeom>
          <a:noFill/>
          <a:ln/>
        </p:spPr>
        <p:txBody>
          <a:bodyPr wrap="square" lIns="0" tIns="0" rIns="0" bIns="0" rtlCol="0" anchor="t">
            <a:normAutofit/>
          </a:bodyPr>
          <a:lstStyle/>
          <a:p>
            <a:pPr indent="0" marL="0">
              <a:buNone/>
            </a:pPr>
            <a:r>
              <a:rPr lang="en-US" sz="2800" b="1" dirty="0">
                <a:solidFill>
                  <a:srgbClr val="0B1B5E"/>
                </a:solidFill>
                <a:latin typeface="Calibri" pitchFamily="34" charset="0"/>
                <a:ea typeface="Calibri" pitchFamily="34" charset="-122"/>
                <a:cs typeface="Calibri" pitchFamily="34" charset="-120"/>
              </a:rPr>
              <a:t>The technology behind nike.in</a:t>
            </a:r>
            <a:endParaRPr lang="en-US" sz="2800" dirty="0"/>
          </a:p>
        </p:txBody>
      </p:sp>
      <p:pic>
        <p:nvPicPr>
          <p:cNvPr id="5" name="Image 0" descr="Samsung logo">    </p:cNvPr>
          <p:cNvPicPr>
            <a:picLocks noChangeAspect="1"/>
          </p:cNvPicPr>
          <p:nvPr/>
        </p:nvPicPr>
        <p:blipFill>
          <a:blip r:embed="rId1"/>
          <a:stretch>
            <a:fillRect/>
          </a:stretch>
        </p:blipFill>
        <p:spPr>
          <a:xfrm>
            <a:off x="10454335" y="347472"/>
            <a:ext cx="1188720" cy="377258"/>
          </a:xfrm>
          <a:prstGeom prst="rect">
            <a:avLst/>
          </a:prstGeom>
        </p:spPr>
      </p:pic>
      <p:sp>
        <p:nvSpPr>
          <p:cNvPr id="6" name="Text 3"/>
          <p:cNvSpPr/>
          <p:nvPr/>
        </p:nvSpPr>
        <p:spPr>
          <a:xfrm>
            <a:off x="548640" y="6446520"/>
            <a:ext cx="7315200" cy="256032"/>
          </a:xfrm>
          <a:prstGeom prst="rect">
            <a:avLst/>
          </a:prstGeom>
          <a:noFill/>
          <a:ln/>
        </p:spPr>
        <p:txBody>
          <a:bodyPr wrap="square" lIns="0" tIns="0" rIns="0" bIns="0" rtlCol="0" anchor="t"/>
          <a:lstStyle/>
          <a:p>
            <a:pPr indent="0" marL="0">
              <a:buNone/>
            </a:pPr>
            <a:r>
              <a:rPr lang="en-US" sz="1000" dirty="0">
                <a:solidFill>
                  <a:srgbClr val="5B6477"/>
                </a:solidFill>
                <a:latin typeface="Calibri" pitchFamily="34" charset="0"/>
                <a:ea typeface="Calibri" pitchFamily="34" charset="-122"/>
                <a:cs typeface="Calibri" pitchFamily="34" charset="-120"/>
              </a:rPr>
              <a:t>Nike. Just Do It. Nike IN  ·  Prepared by Samsung SDS</a:t>
            </a:r>
            <a:endParaRPr lang="en-US" sz="1000" dirty="0"/>
          </a:p>
        </p:txBody>
      </p:sp>
      <p:sp>
        <p:nvSpPr>
          <p:cNvPr id="7" name="Text 4"/>
          <p:cNvSpPr/>
          <p:nvPr/>
        </p:nvSpPr>
        <p:spPr>
          <a:xfrm>
            <a:off x="11185855" y="6446520"/>
            <a:ext cx="457200" cy="256032"/>
          </a:xfrm>
          <a:prstGeom prst="rect">
            <a:avLst/>
          </a:prstGeom>
          <a:noFill/>
          <a:ln/>
        </p:spPr>
        <p:txBody>
          <a:bodyPr wrap="square" lIns="0" tIns="0" rIns="0" bIns="0" rtlCol="0" anchor="t"/>
          <a:lstStyle/>
          <a:p>
            <a:pPr algn="r" indent="0" marL="0">
              <a:buNone/>
            </a:pPr>
            <a:r>
              <a:rPr lang="en-US" sz="1000" dirty="0">
                <a:solidFill>
                  <a:srgbClr val="5B6477"/>
                </a:solidFill>
                <a:latin typeface="Calibri" pitchFamily="34" charset="0"/>
                <a:ea typeface="Calibri" pitchFamily="34" charset="-122"/>
                <a:cs typeface="Calibri" pitchFamily="34" charset="-120"/>
              </a:rPr>
              <a:t>6</a:t>
            </a:r>
            <a:endParaRPr lang="en-US" sz="1000" dirty="0"/>
          </a:p>
        </p:txBody>
      </p:sp>
      <p:sp>
        <p:nvSpPr>
          <p:cNvPr id="9" name="Shape 5"/>
          <p:cNvSpPr/>
          <p:nvPr/>
        </p:nvSpPr>
        <p:spPr>
          <a:xfrm>
            <a:off x="548640" y="1463040"/>
            <a:ext cx="2636444" cy="1097280"/>
          </a:xfrm>
          <a:prstGeom prst="roundRect">
            <a:avLst>
              <a:gd name="adj" fmla="val 8333"/>
            </a:avLst>
          </a:prstGeom>
          <a:solidFill>
            <a:srgbClr val="FFFFFF"/>
          </a:solidFill>
          <a:ln w="12700">
            <a:solidFill>
              <a:srgbClr val="DDE2EE"/>
            </a:solidFill>
            <a:prstDash val="solid"/>
          </a:ln>
        </p:spPr>
      </p:sp>
      <p:sp>
        <p:nvSpPr>
          <p:cNvPr id="10" name="Text 6"/>
          <p:cNvSpPr/>
          <p:nvPr/>
        </p:nvSpPr>
        <p:spPr>
          <a:xfrm>
            <a:off x="731520" y="1572768"/>
            <a:ext cx="2270684" cy="603504"/>
          </a:xfrm>
          <a:prstGeom prst="rect">
            <a:avLst/>
          </a:prstGeom>
          <a:noFill/>
          <a:ln/>
        </p:spPr>
        <p:txBody>
          <a:bodyPr wrap="square" lIns="0" tIns="0" rIns="0" bIns="0" rtlCol="0" anchor="ctr"/>
          <a:lstStyle/>
          <a:p>
            <a:pPr indent="0" marL="0">
              <a:buNone/>
            </a:pPr>
            <a:r>
              <a:rPr lang="en-US" sz="2800" b="1" dirty="0">
                <a:solidFill>
                  <a:srgbClr val="111827"/>
                </a:solidFill>
                <a:latin typeface="Calibri" pitchFamily="34" charset="0"/>
                <a:ea typeface="Calibri" pitchFamily="34" charset="-122"/>
                <a:cs typeface="Calibri" pitchFamily="34" charset="-120"/>
              </a:rPr>
              <a:t>9</a:t>
            </a:r>
            <a:endParaRPr lang="en-US" sz="2800" dirty="0"/>
          </a:p>
        </p:txBody>
      </p:sp>
      <p:sp>
        <p:nvSpPr>
          <p:cNvPr id="11" name="Text 7"/>
          <p:cNvSpPr/>
          <p:nvPr/>
        </p:nvSpPr>
        <p:spPr>
          <a:xfrm>
            <a:off x="731520" y="2176272"/>
            <a:ext cx="2270684" cy="329184"/>
          </a:xfrm>
          <a:prstGeom prst="rect">
            <a:avLst/>
          </a:prstGeom>
          <a:noFill/>
          <a:ln/>
        </p:spPr>
        <p:txBody>
          <a:bodyPr wrap="square" lIns="0" tIns="0" rIns="0" bIns="0" rtlCol="0" anchor="t"/>
          <a:lstStyle/>
          <a:p>
            <a:pPr indent="0" marL="0">
              <a:buNone/>
            </a:pPr>
            <a:r>
              <a:rPr lang="en-US" sz="1100" dirty="0">
                <a:solidFill>
                  <a:srgbClr val="5B6477"/>
                </a:solidFill>
                <a:latin typeface="Calibri" pitchFamily="34" charset="0"/>
                <a:ea typeface="Calibri" pitchFamily="34" charset="-122"/>
                <a:cs typeface="Calibri" pitchFamily="34" charset="-120"/>
              </a:rPr>
              <a:t>technologies detected</a:t>
            </a:r>
            <a:endParaRPr lang="en-US" sz="1100" dirty="0"/>
          </a:p>
        </p:txBody>
      </p:sp>
      <p:sp>
        <p:nvSpPr>
          <p:cNvPr id="12" name="Shape 8"/>
          <p:cNvSpPr/>
          <p:nvPr/>
        </p:nvSpPr>
        <p:spPr>
          <a:xfrm>
            <a:off x="3367964" y="1463040"/>
            <a:ext cx="2636444" cy="1097280"/>
          </a:xfrm>
          <a:prstGeom prst="roundRect">
            <a:avLst>
              <a:gd name="adj" fmla="val 8333"/>
            </a:avLst>
          </a:prstGeom>
          <a:solidFill>
            <a:srgbClr val="FFFFFF"/>
          </a:solidFill>
          <a:ln w="12700">
            <a:solidFill>
              <a:srgbClr val="DDE2EE"/>
            </a:solidFill>
            <a:prstDash val="solid"/>
          </a:ln>
        </p:spPr>
      </p:sp>
      <p:sp>
        <p:nvSpPr>
          <p:cNvPr id="13" name="Text 9"/>
          <p:cNvSpPr/>
          <p:nvPr/>
        </p:nvSpPr>
        <p:spPr>
          <a:xfrm>
            <a:off x="3550844" y="1572768"/>
            <a:ext cx="2270684" cy="603504"/>
          </a:xfrm>
          <a:prstGeom prst="rect">
            <a:avLst/>
          </a:prstGeom>
          <a:noFill/>
          <a:ln/>
        </p:spPr>
        <p:txBody>
          <a:bodyPr wrap="square" lIns="0" tIns="0" rIns="0" bIns="0" rtlCol="0" anchor="ctr"/>
          <a:lstStyle/>
          <a:p>
            <a:pPr indent="0" marL="0">
              <a:buNone/>
            </a:pPr>
            <a:r>
              <a:rPr lang="en-US" sz="2800" b="1" dirty="0">
                <a:solidFill>
                  <a:srgbClr val="111827"/>
                </a:solidFill>
                <a:latin typeface="Calibri" pitchFamily="34" charset="0"/>
                <a:ea typeface="Calibri" pitchFamily="34" charset="-122"/>
                <a:cs typeface="Calibri" pitchFamily="34" charset="-120"/>
              </a:rPr>
              <a:t>180</a:t>
            </a:r>
            <a:endParaRPr lang="en-US" sz="2800" dirty="0"/>
          </a:p>
        </p:txBody>
      </p:sp>
      <p:sp>
        <p:nvSpPr>
          <p:cNvPr id="14" name="Text 10"/>
          <p:cNvSpPr/>
          <p:nvPr/>
        </p:nvSpPr>
        <p:spPr>
          <a:xfrm>
            <a:off x="3550844" y="2176272"/>
            <a:ext cx="2270684" cy="329184"/>
          </a:xfrm>
          <a:prstGeom prst="rect">
            <a:avLst/>
          </a:prstGeom>
          <a:noFill/>
          <a:ln/>
        </p:spPr>
        <p:txBody>
          <a:bodyPr wrap="square" lIns="0" tIns="0" rIns="0" bIns="0" rtlCol="0" anchor="t"/>
          <a:lstStyle/>
          <a:p>
            <a:pPr indent="0" marL="0">
              <a:buNone/>
            </a:pPr>
            <a:r>
              <a:rPr lang="en-US" sz="1100" dirty="0">
                <a:solidFill>
                  <a:srgbClr val="5B6477"/>
                </a:solidFill>
                <a:latin typeface="Calibri" pitchFamily="34" charset="0"/>
                <a:ea typeface="Calibri" pitchFamily="34" charset="-122"/>
                <a:cs typeface="Calibri" pitchFamily="34" charset="-120"/>
              </a:rPr>
              <a:t>network requests</a:t>
            </a:r>
            <a:endParaRPr lang="en-US" sz="1100" dirty="0"/>
          </a:p>
        </p:txBody>
      </p:sp>
      <p:sp>
        <p:nvSpPr>
          <p:cNvPr id="15" name="Shape 11"/>
          <p:cNvSpPr/>
          <p:nvPr/>
        </p:nvSpPr>
        <p:spPr>
          <a:xfrm>
            <a:off x="6187288" y="1463040"/>
            <a:ext cx="2636444" cy="1097280"/>
          </a:xfrm>
          <a:prstGeom prst="roundRect">
            <a:avLst>
              <a:gd name="adj" fmla="val 8333"/>
            </a:avLst>
          </a:prstGeom>
          <a:solidFill>
            <a:srgbClr val="FFFFFF"/>
          </a:solidFill>
          <a:ln w="12700">
            <a:solidFill>
              <a:srgbClr val="DDE2EE"/>
            </a:solidFill>
            <a:prstDash val="solid"/>
          </a:ln>
        </p:spPr>
      </p:sp>
      <p:sp>
        <p:nvSpPr>
          <p:cNvPr id="16" name="Text 12"/>
          <p:cNvSpPr/>
          <p:nvPr/>
        </p:nvSpPr>
        <p:spPr>
          <a:xfrm>
            <a:off x="6370168" y="1572768"/>
            <a:ext cx="2270684" cy="603504"/>
          </a:xfrm>
          <a:prstGeom prst="rect">
            <a:avLst/>
          </a:prstGeom>
          <a:noFill/>
          <a:ln/>
        </p:spPr>
        <p:txBody>
          <a:bodyPr wrap="square" lIns="0" tIns="0" rIns="0" bIns="0" rtlCol="0" anchor="ctr"/>
          <a:lstStyle/>
          <a:p>
            <a:pPr indent="0" marL="0">
              <a:buNone/>
            </a:pPr>
            <a:r>
              <a:rPr lang="en-US" sz="2800" b="1" dirty="0">
                <a:solidFill>
                  <a:srgbClr val="B7791F"/>
                </a:solidFill>
                <a:latin typeface="Calibri" pitchFamily="34" charset="0"/>
                <a:ea typeface="Calibri" pitchFamily="34" charset="-122"/>
                <a:cs typeface="Calibri" pitchFamily="34" charset="-120"/>
              </a:rPr>
              <a:t>66%</a:t>
            </a:r>
            <a:endParaRPr lang="en-US" sz="2800" dirty="0"/>
          </a:p>
        </p:txBody>
      </p:sp>
      <p:sp>
        <p:nvSpPr>
          <p:cNvPr id="17" name="Text 13"/>
          <p:cNvSpPr/>
          <p:nvPr/>
        </p:nvSpPr>
        <p:spPr>
          <a:xfrm>
            <a:off x="6370168" y="2176272"/>
            <a:ext cx="2270684" cy="329184"/>
          </a:xfrm>
          <a:prstGeom prst="rect">
            <a:avLst/>
          </a:prstGeom>
          <a:noFill/>
          <a:ln/>
        </p:spPr>
        <p:txBody>
          <a:bodyPr wrap="square" lIns="0" tIns="0" rIns="0" bIns="0" rtlCol="0" anchor="t"/>
          <a:lstStyle/>
          <a:p>
            <a:pPr indent="0" marL="0">
              <a:buNone/>
            </a:pPr>
            <a:r>
              <a:rPr lang="en-US" sz="1100" dirty="0">
                <a:solidFill>
                  <a:srgbClr val="5B6477"/>
                </a:solidFill>
                <a:latin typeface="Calibri" pitchFamily="34" charset="0"/>
                <a:ea typeface="Calibri" pitchFamily="34" charset="-122"/>
                <a:cs typeface="Calibri" pitchFamily="34" charset="-120"/>
              </a:rPr>
              <a:t>third-party requests</a:t>
            </a:r>
            <a:endParaRPr lang="en-US" sz="1100" dirty="0"/>
          </a:p>
        </p:txBody>
      </p:sp>
      <p:sp>
        <p:nvSpPr>
          <p:cNvPr id="18" name="Shape 14"/>
          <p:cNvSpPr/>
          <p:nvPr/>
        </p:nvSpPr>
        <p:spPr>
          <a:xfrm>
            <a:off x="9006611" y="1463040"/>
            <a:ext cx="2636444" cy="1097280"/>
          </a:xfrm>
          <a:prstGeom prst="roundRect">
            <a:avLst>
              <a:gd name="adj" fmla="val 8333"/>
            </a:avLst>
          </a:prstGeom>
          <a:solidFill>
            <a:srgbClr val="FFFFFF"/>
          </a:solidFill>
          <a:ln w="12700">
            <a:solidFill>
              <a:srgbClr val="DDE2EE"/>
            </a:solidFill>
            <a:prstDash val="solid"/>
          </a:ln>
        </p:spPr>
      </p:sp>
      <p:sp>
        <p:nvSpPr>
          <p:cNvPr id="19" name="Text 15"/>
          <p:cNvSpPr/>
          <p:nvPr/>
        </p:nvSpPr>
        <p:spPr>
          <a:xfrm>
            <a:off x="9189491" y="1572768"/>
            <a:ext cx="2270684" cy="603504"/>
          </a:xfrm>
          <a:prstGeom prst="rect">
            <a:avLst/>
          </a:prstGeom>
          <a:noFill/>
          <a:ln/>
        </p:spPr>
        <p:txBody>
          <a:bodyPr wrap="square" lIns="0" tIns="0" rIns="0" bIns="0" rtlCol="0" anchor="ctr"/>
          <a:lstStyle/>
          <a:p>
            <a:pPr indent="0" marL="0">
              <a:buNone/>
            </a:pPr>
            <a:r>
              <a:rPr lang="en-US" sz="2800" b="1" dirty="0">
                <a:solidFill>
                  <a:srgbClr val="111827"/>
                </a:solidFill>
                <a:latin typeface="Calibri" pitchFamily="34" charset="0"/>
                <a:ea typeface="Calibri" pitchFamily="34" charset="-122"/>
                <a:cs typeface="Calibri" pitchFamily="34" charset="-120"/>
              </a:rPr>
              <a:t>17</a:t>
            </a:r>
            <a:endParaRPr lang="en-US" sz="2800" dirty="0"/>
          </a:p>
        </p:txBody>
      </p:sp>
      <p:sp>
        <p:nvSpPr>
          <p:cNvPr id="20" name="Text 16"/>
          <p:cNvSpPr/>
          <p:nvPr/>
        </p:nvSpPr>
        <p:spPr>
          <a:xfrm>
            <a:off x="9189491" y="2176272"/>
            <a:ext cx="2270684" cy="329184"/>
          </a:xfrm>
          <a:prstGeom prst="rect">
            <a:avLst/>
          </a:prstGeom>
          <a:noFill/>
          <a:ln/>
        </p:spPr>
        <p:txBody>
          <a:bodyPr wrap="square" lIns="0" tIns="0" rIns="0" bIns="0" rtlCol="0" anchor="t"/>
          <a:lstStyle/>
          <a:p>
            <a:pPr indent="0" marL="0">
              <a:buNone/>
            </a:pPr>
            <a:r>
              <a:rPr lang="en-US" sz="1100" dirty="0">
                <a:solidFill>
                  <a:srgbClr val="5B6477"/>
                </a:solidFill>
                <a:latin typeface="Calibri" pitchFamily="34" charset="0"/>
                <a:ea typeface="Calibri" pitchFamily="34" charset="-122"/>
                <a:cs typeface="Calibri" pitchFamily="34" charset="-120"/>
              </a:rPr>
              <a:t>domains contacted</a:t>
            </a:r>
            <a:endParaRPr lang="en-US" sz="1100" dirty="0"/>
          </a:p>
        </p:txBody>
      </p:sp>
      <p:sp>
        <p:nvSpPr>
          <p:cNvPr id="21" name="Text 17"/>
          <p:cNvSpPr/>
          <p:nvPr/>
        </p:nvSpPr>
        <p:spPr>
          <a:xfrm>
            <a:off x="548640" y="2834640"/>
            <a:ext cx="2103120" cy="274320"/>
          </a:xfrm>
          <a:prstGeom prst="rect">
            <a:avLst/>
          </a:prstGeom>
          <a:noFill/>
          <a:ln/>
        </p:spPr>
        <p:txBody>
          <a:bodyPr wrap="square" lIns="0" tIns="0" rIns="0" bIns="0" rtlCol="0" anchor="t"/>
          <a:lstStyle/>
          <a:p>
            <a:pPr indent="0" marL="0">
              <a:buNone/>
            </a:pPr>
            <a:r>
              <a:rPr lang="en-US" sz="950" b="1" spc="100" kern="0" dirty="0">
                <a:solidFill>
                  <a:srgbClr val="5B6477"/>
                </a:solidFill>
                <a:latin typeface="Calibri" pitchFamily="34" charset="0"/>
                <a:ea typeface="Calibri" pitchFamily="34" charset="-122"/>
                <a:cs typeface="Calibri" pitchFamily="34" charset="-120"/>
              </a:rPr>
              <a:t>FRONTEND FRAMEWORK</a:t>
            </a:r>
            <a:endParaRPr lang="en-US" sz="950" dirty="0"/>
          </a:p>
        </p:txBody>
      </p:sp>
      <p:sp>
        <p:nvSpPr>
          <p:cNvPr id="22" name="Shape 18"/>
          <p:cNvSpPr/>
          <p:nvPr/>
        </p:nvSpPr>
        <p:spPr>
          <a:xfrm>
            <a:off x="2743200" y="2788920"/>
            <a:ext cx="1065276" cy="329184"/>
          </a:xfrm>
          <a:prstGeom prst="roundRect">
            <a:avLst>
              <a:gd name="adj" fmla="val 27778"/>
            </a:avLst>
          </a:prstGeom>
          <a:solidFill>
            <a:srgbClr val="FFFFFF"/>
          </a:solidFill>
          <a:ln w="12700">
            <a:solidFill>
              <a:srgbClr val="0F9D6B"/>
            </a:solidFill>
            <a:prstDash val="solid"/>
          </a:ln>
        </p:spPr>
      </p:sp>
      <p:pic>
        <p:nvPicPr>
          <p:cNvPr id="23" name="Image 1" descr="React logo">    </p:cNvPr>
          <p:cNvPicPr>
            <a:picLocks noChangeAspect="1"/>
          </p:cNvPicPr>
          <p:nvPr/>
        </p:nvPicPr>
        <p:blipFill>
          <a:blip r:embed="rId2"/>
          <a:stretch>
            <a:fillRect/>
          </a:stretch>
        </p:blipFill>
        <p:spPr>
          <a:xfrm>
            <a:off x="2834640" y="2852928"/>
            <a:ext cx="201168" cy="201168"/>
          </a:xfrm>
          <a:prstGeom prst="rect">
            <a:avLst/>
          </a:prstGeom>
        </p:spPr>
      </p:pic>
      <p:sp>
        <p:nvSpPr>
          <p:cNvPr id="24" name="Text 19"/>
          <p:cNvSpPr/>
          <p:nvPr/>
        </p:nvSpPr>
        <p:spPr>
          <a:xfrm>
            <a:off x="3054096" y="2788920"/>
            <a:ext cx="754380" cy="329184"/>
          </a:xfrm>
          <a:prstGeom prst="rect">
            <a:avLst/>
          </a:prstGeom>
          <a:noFill/>
          <a:ln/>
        </p:spPr>
        <p:txBody>
          <a:bodyPr wrap="square" lIns="0" tIns="0" rIns="0" bIns="0" rtlCol="0" anchor="ctr"/>
          <a:lstStyle/>
          <a:p>
            <a:pPr algn="ctr" indent="0" marL="0">
              <a:buNone/>
            </a:pPr>
            <a:r>
              <a:rPr lang="en-US" sz="1000" b="1" dirty="0">
                <a:solidFill>
                  <a:srgbClr val="111827"/>
                </a:solidFill>
                <a:latin typeface="Calibri" pitchFamily="34" charset="0"/>
                <a:ea typeface="Calibri" pitchFamily="34" charset="-122"/>
                <a:cs typeface="Calibri" pitchFamily="34" charset="-120"/>
              </a:rPr>
              <a:t>React</a:t>
            </a:r>
            <a:endParaRPr lang="en-US" sz="1000" dirty="0"/>
          </a:p>
        </p:txBody>
      </p:sp>
      <p:sp>
        <p:nvSpPr>
          <p:cNvPr id="25" name="Text 20"/>
          <p:cNvSpPr/>
          <p:nvPr/>
        </p:nvSpPr>
        <p:spPr>
          <a:xfrm>
            <a:off x="548640" y="3246120"/>
            <a:ext cx="2103120" cy="274320"/>
          </a:xfrm>
          <a:prstGeom prst="rect">
            <a:avLst/>
          </a:prstGeom>
          <a:noFill/>
          <a:ln/>
        </p:spPr>
        <p:txBody>
          <a:bodyPr wrap="square" lIns="0" tIns="0" rIns="0" bIns="0" rtlCol="0" anchor="t"/>
          <a:lstStyle/>
          <a:p>
            <a:pPr indent="0" marL="0">
              <a:buNone/>
            </a:pPr>
            <a:r>
              <a:rPr lang="en-US" sz="950" b="1" spc="100" kern="0" dirty="0">
                <a:solidFill>
                  <a:srgbClr val="5B6477"/>
                </a:solidFill>
                <a:latin typeface="Calibri" pitchFamily="34" charset="0"/>
                <a:ea typeface="Calibri" pitchFamily="34" charset="-122"/>
                <a:cs typeface="Calibri" pitchFamily="34" charset="-120"/>
              </a:rPr>
              <a:t>ANALYTICS</a:t>
            </a:r>
            <a:endParaRPr lang="en-US" sz="950" dirty="0"/>
          </a:p>
        </p:txBody>
      </p:sp>
      <p:sp>
        <p:nvSpPr>
          <p:cNvPr id="26" name="Shape 21"/>
          <p:cNvSpPr/>
          <p:nvPr/>
        </p:nvSpPr>
        <p:spPr>
          <a:xfrm>
            <a:off x="2743200" y="3200400"/>
            <a:ext cx="2075688" cy="329184"/>
          </a:xfrm>
          <a:prstGeom prst="roundRect">
            <a:avLst>
              <a:gd name="adj" fmla="val 27778"/>
            </a:avLst>
          </a:prstGeom>
          <a:solidFill>
            <a:srgbClr val="FFFFFF"/>
          </a:solidFill>
          <a:ln w="25400">
            <a:solidFill>
              <a:srgbClr val="0F9D6B"/>
            </a:solidFill>
            <a:prstDash val="solid"/>
          </a:ln>
        </p:spPr>
      </p:sp>
      <p:pic>
        <p:nvPicPr>
          <p:cNvPr id="27" name="Image 2" descr="Google Analytics 4 logo">    </p:cNvPr>
          <p:cNvPicPr>
            <a:picLocks noChangeAspect="1"/>
          </p:cNvPicPr>
          <p:nvPr/>
        </p:nvPicPr>
        <p:blipFill>
          <a:blip r:embed="rId3"/>
          <a:stretch>
            <a:fillRect/>
          </a:stretch>
        </p:blipFill>
        <p:spPr>
          <a:xfrm>
            <a:off x="2834640" y="3264408"/>
            <a:ext cx="201168" cy="201168"/>
          </a:xfrm>
          <a:prstGeom prst="rect">
            <a:avLst/>
          </a:prstGeom>
        </p:spPr>
      </p:pic>
      <p:sp>
        <p:nvSpPr>
          <p:cNvPr id="28" name="Text 22"/>
          <p:cNvSpPr/>
          <p:nvPr/>
        </p:nvSpPr>
        <p:spPr>
          <a:xfrm>
            <a:off x="3054096" y="3200400"/>
            <a:ext cx="1764792" cy="329184"/>
          </a:xfrm>
          <a:prstGeom prst="rect">
            <a:avLst/>
          </a:prstGeom>
          <a:noFill/>
          <a:ln/>
        </p:spPr>
        <p:txBody>
          <a:bodyPr wrap="square" lIns="0" tIns="0" rIns="0" bIns="0" rtlCol="0" anchor="ctr"/>
          <a:lstStyle/>
          <a:p>
            <a:pPr algn="ctr" indent="0" marL="0">
              <a:buNone/>
            </a:pPr>
            <a:r>
              <a:rPr lang="en-US" sz="1000" b="1" dirty="0">
                <a:solidFill>
                  <a:srgbClr val="111827"/>
                </a:solidFill>
                <a:latin typeface="Calibri" pitchFamily="34" charset="0"/>
                <a:ea typeface="Calibri" pitchFamily="34" charset="-122"/>
                <a:cs typeface="Calibri" pitchFamily="34" charset="-120"/>
              </a:rPr>
              <a:t>Google Analytics 4</a:t>
            </a:r>
            <a:endParaRPr lang="en-US" sz="1000" dirty="0"/>
          </a:p>
        </p:txBody>
      </p:sp>
      <p:sp>
        <p:nvSpPr>
          <p:cNvPr id="29" name="Shape 23"/>
          <p:cNvSpPr/>
          <p:nvPr/>
        </p:nvSpPr>
        <p:spPr>
          <a:xfrm>
            <a:off x="4910328" y="3200400"/>
            <a:ext cx="1298448" cy="329184"/>
          </a:xfrm>
          <a:prstGeom prst="roundRect">
            <a:avLst>
              <a:gd name="adj" fmla="val 27778"/>
            </a:avLst>
          </a:prstGeom>
          <a:solidFill>
            <a:srgbClr val="FFFFFF"/>
          </a:solidFill>
          <a:ln w="25400">
            <a:solidFill>
              <a:srgbClr val="0F9D6B"/>
            </a:solidFill>
            <a:prstDash val="solid"/>
          </a:ln>
        </p:spPr>
      </p:sp>
      <p:pic>
        <p:nvPicPr>
          <p:cNvPr id="30" name="Image 3" descr="Mixpanel logo">    </p:cNvPr>
          <p:cNvPicPr>
            <a:picLocks noChangeAspect="1"/>
          </p:cNvPicPr>
          <p:nvPr/>
        </p:nvPicPr>
        <p:blipFill>
          <a:blip r:embed="rId4"/>
          <a:stretch>
            <a:fillRect/>
          </a:stretch>
        </p:blipFill>
        <p:spPr>
          <a:xfrm>
            <a:off x="5001768" y="3264408"/>
            <a:ext cx="201168" cy="201168"/>
          </a:xfrm>
          <a:prstGeom prst="rect">
            <a:avLst/>
          </a:prstGeom>
        </p:spPr>
      </p:pic>
      <p:sp>
        <p:nvSpPr>
          <p:cNvPr id="31" name="Text 24"/>
          <p:cNvSpPr/>
          <p:nvPr/>
        </p:nvSpPr>
        <p:spPr>
          <a:xfrm>
            <a:off x="5221224" y="3200400"/>
            <a:ext cx="987552" cy="329184"/>
          </a:xfrm>
          <a:prstGeom prst="rect">
            <a:avLst/>
          </a:prstGeom>
          <a:noFill/>
          <a:ln/>
        </p:spPr>
        <p:txBody>
          <a:bodyPr wrap="square" lIns="0" tIns="0" rIns="0" bIns="0" rtlCol="0" anchor="ctr"/>
          <a:lstStyle/>
          <a:p>
            <a:pPr algn="ctr" indent="0" marL="0">
              <a:buNone/>
            </a:pPr>
            <a:r>
              <a:rPr lang="en-US" sz="1000" b="1" dirty="0">
                <a:solidFill>
                  <a:srgbClr val="111827"/>
                </a:solidFill>
                <a:latin typeface="Calibri" pitchFamily="34" charset="0"/>
                <a:ea typeface="Calibri" pitchFamily="34" charset="-122"/>
                <a:cs typeface="Calibri" pitchFamily="34" charset="-120"/>
              </a:rPr>
              <a:t>Mixpanel</a:t>
            </a:r>
            <a:endParaRPr lang="en-US" sz="1000" dirty="0"/>
          </a:p>
        </p:txBody>
      </p:sp>
      <p:sp>
        <p:nvSpPr>
          <p:cNvPr id="32" name="Text 25"/>
          <p:cNvSpPr/>
          <p:nvPr/>
        </p:nvSpPr>
        <p:spPr>
          <a:xfrm>
            <a:off x="548640" y="3657600"/>
            <a:ext cx="2103120" cy="274320"/>
          </a:xfrm>
          <a:prstGeom prst="rect">
            <a:avLst/>
          </a:prstGeom>
          <a:noFill/>
          <a:ln/>
        </p:spPr>
        <p:txBody>
          <a:bodyPr wrap="square" lIns="0" tIns="0" rIns="0" bIns="0" rtlCol="0" anchor="t"/>
          <a:lstStyle/>
          <a:p>
            <a:pPr indent="0" marL="0">
              <a:buNone/>
            </a:pPr>
            <a:r>
              <a:rPr lang="en-US" sz="950" b="1" spc="100" kern="0" dirty="0">
                <a:solidFill>
                  <a:srgbClr val="5B6477"/>
                </a:solidFill>
                <a:latin typeface="Calibri" pitchFamily="34" charset="0"/>
                <a:ea typeface="Calibri" pitchFamily="34" charset="-122"/>
                <a:cs typeface="Calibri" pitchFamily="34" charset="-120"/>
              </a:rPr>
              <a:t>TAG MANAGER</a:t>
            </a:r>
            <a:endParaRPr lang="en-US" sz="950" dirty="0"/>
          </a:p>
        </p:txBody>
      </p:sp>
      <p:sp>
        <p:nvSpPr>
          <p:cNvPr id="33" name="Shape 26"/>
          <p:cNvSpPr/>
          <p:nvPr/>
        </p:nvSpPr>
        <p:spPr>
          <a:xfrm>
            <a:off x="2743200" y="3611880"/>
            <a:ext cx="2075688" cy="329184"/>
          </a:xfrm>
          <a:prstGeom prst="roundRect">
            <a:avLst>
              <a:gd name="adj" fmla="val 27778"/>
            </a:avLst>
          </a:prstGeom>
          <a:solidFill>
            <a:srgbClr val="FFFFFF"/>
          </a:solidFill>
          <a:ln w="25400">
            <a:solidFill>
              <a:srgbClr val="0F9D6B"/>
            </a:solidFill>
            <a:prstDash val="solid"/>
          </a:ln>
        </p:spPr>
      </p:sp>
      <p:pic>
        <p:nvPicPr>
          <p:cNvPr id="34" name="Image 4" descr="Google Tag Manager logo">    </p:cNvPr>
          <p:cNvPicPr>
            <a:picLocks noChangeAspect="1"/>
          </p:cNvPicPr>
          <p:nvPr/>
        </p:nvPicPr>
        <p:blipFill>
          <a:blip r:embed="rId5"/>
          <a:stretch>
            <a:fillRect/>
          </a:stretch>
        </p:blipFill>
        <p:spPr>
          <a:xfrm>
            <a:off x="2834640" y="3675888"/>
            <a:ext cx="201168" cy="201168"/>
          </a:xfrm>
          <a:prstGeom prst="rect">
            <a:avLst/>
          </a:prstGeom>
        </p:spPr>
      </p:pic>
      <p:sp>
        <p:nvSpPr>
          <p:cNvPr id="35" name="Text 27"/>
          <p:cNvSpPr/>
          <p:nvPr/>
        </p:nvSpPr>
        <p:spPr>
          <a:xfrm>
            <a:off x="3054096" y="3611880"/>
            <a:ext cx="1764792" cy="329184"/>
          </a:xfrm>
          <a:prstGeom prst="rect">
            <a:avLst/>
          </a:prstGeom>
          <a:noFill/>
          <a:ln/>
        </p:spPr>
        <p:txBody>
          <a:bodyPr wrap="square" lIns="0" tIns="0" rIns="0" bIns="0" rtlCol="0" anchor="ctr"/>
          <a:lstStyle/>
          <a:p>
            <a:pPr algn="ctr" indent="0" marL="0">
              <a:buNone/>
            </a:pPr>
            <a:r>
              <a:rPr lang="en-US" sz="1000" b="1" dirty="0">
                <a:solidFill>
                  <a:srgbClr val="111827"/>
                </a:solidFill>
                <a:latin typeface="Calibri" pitchFamily="34" charset="0"/>
                <a:ea typeface="Calibri" pitchFamily="34" charset="-122"/>
                <a:cs typeface="Calibri" pitchFamily="34" charset="-120"/>
              </a:rPr>
              <a:t>Google Tag Manager</a:t>
            </a:r>
            <a:endParaRPr lang="en-US" sz="1000" dirty="0"/>
          </a:p>
        </p:txBody>
      </p:sp>
      <p:sp>
        <p:nvSpPr>
          <p:cNvPr id="36" name="Text 28"/>
          <p:cNvSpPr/>
          <p:nvPr/>
        </p:nvSpPr>
        <p:spPr>
          <a:xfrm>
            <a:off x="548640" y="4069080"/>
            <a:ext cx="2103120" cy="274320"/>
          </a:xfrm>
          <a:prstGeom prst="rect">
            <a:avLst/>
          </a:prstGeom>
          <a:noFill/>
          <a:ln/>
        </p:spPr>
        <p:txBody>
          <a:bodyPr wrap="square" lIns="0" tIns="0" rIns="0" bIns="0" rtlCol="0" anchor="t"/>
          <a:lstStyle/>
          <a:p>
            <a:pPr indent="0" marL="0">
              <a:buNone/>
            </a:pPr>
            <a:r>
              <a:rPr lang="en-US" sz="950" b="1" spc="100" kern="0" dirty="0">
                <a:solidFill>
                  <a:srgbClr val="5B6477"/>
                </a:solidFill>
                <a:latin typeface="Calibri" pitchFamily="34" charset="0"/>
                <a:ea typeface="Calibri" pitchFamily="34" charset="-122"/>
                <a:cs typeface="Calibri" pitchFamily="34" charset="-120"/>
              </a:rPr>
              <a:t>TRACKING PIXELS</a:t>
            </a:r>
            <a:endParaRPr lang="en-US" sz="950" dirty="0"/>
          </a:p>
        </p:txBody>
      </p:sp>
      <p:sp>
        <p:nvSpPr>
          <p:cNvPr id="37" name="Shape 29"/>
          <p:cNvSpPr/>
          <p:nvPr/>
        </p:nvSpPr>
        <p:spPr>
          <a:xfrm>
            <a:off x="2743200" y="4023360"/>
            <a:ext cx="1453896" cy="329184"/>
          </a:xfrm>
          <a:prstGeom prst="roundRect">
            <a:avLst>
              <a:gd name="adj" fmla="val 27778"/>
            </a:avLst>
          </a:prstGeom>
          <a:solidFill>
            <a:srgbClr val="FFFFFF"/>
          </a:solidFill>
          <a:ln w="25400">
            <a:solidFill>
              <a:srgbClr val="DDE2EE"/>
            </a:solidFill>
            <a:prstDash val="solid"/>
          </a:ln>
        </p:spPr>
      </p:sp>
      <p:pic>
        <p:nvPicPr>
          <p:cNvPr id="38" name="Image 5" descr="Meta Pixel logo">    </p:cNvPr>
          <p:cNvPicPr>
            <a:picLocks noChangeAspect="1"/>
          </p:cNvPicPr>
          <p:nvPr/>
        </p:nvPicPr>
        <p:blipFill>
          <a:blip r:embed="rId6"/>
          <a:stretch>
            <a:fillRect/>
          </a:stretch>
        </p:blipFill>
        <p:spPr>
          <a:xfrm>
            <a:off x="2834640" y="4087368"/>
            <a:ext cx="201168" cy="201168"/>
          </a:xfrm>
          <a:prstGeom prst="rect">
            <a:avLst/>
          </a:prstGeom>
        </p:spPr>
      </p:pic>
      <p:sp>
        <p:nvSpPr>
          <p:cNvPr id="39" name="Text 30"/>
          <p:cNvSpPr/>
          <p:nvPr/>
        </p:nvSpPr>
        <p:spPr>
          <a:xfrm>
            <a:off x="3054096" y="4023360"/>
            <a:ext cx="1143000" cy="329184"/>
          </a:xfrm>
          <a:prstGeom prst="rect">
            <a:avLst/>
          </a:prstGeom>
          <a:noFill/>
          <a:ln/>
        </p:spPr>
        <p:txBody>
          <a:bodyPr wrap="square" lIns="0" tIns="0" rIns="0" bIns="0" rtlCol="0" anchor="ctr"/>
          <a:lstStyle/>
          <a:p>
            <a:pPr algn="ctr" indent="0" marL="0">
              <a:buNone/>
            </a:pPr>
            <a:r>
              <a:rPr lang="en-US" sz="1000" b="1" dirty="0">
                <a:solidFill>
                  <a:srgbClr val="111827"/>
                </a:solidFill>
                <a:latin typeface="Calibri" pitchFamily="34" charset="0"/>
                <a:ea typeface="Calibri" pitchFamily="34" charset="-122"/>
                <a:cs typeface="Calibri" pitchFamily="34" charset="-120"/>
              </a:rPr>
              <a:t>Meta Pixel</a:t>
            </a:r>
            <a:endParaRPr lang="en-US" sz="1000" dirty="0"/>
          </a:p>
        </p:txBody>
      </p:sp>
      <p:sp>
        <p:nvSpPr>
          <p:cNvPr id="40" name="Shape 31"/>
          <p:cNvSpPr/>
          <p:nvPr/>
        </p:nvSpPr>
        <p:spPr>
          <a:xfrm>
            <a:off x="4288536" y="4023360"/>
            <a:ext cx="2542032" cy="329184"/>
          </a:xfrm>
          <a:prstGeom prst="roundRect">
            <a:avLst>
              <a:gd name="adj" fmla="val 27778"/>
            </a:avLst>
          </a:prstGeom>
          <a:solidFill>
            <a:srgbClr val="FFFFFF"/>
          </a:solidFill>
          <a:ln w="12700">
            <a:solidFill>
              <a:srgbClr val="DDE2EE"/>
            </a:solidFill>
            <a:prstDash val="solid"/>
          </a:ln>
        </p:spPr>
      </p:sp>
      <p:pic>
        <p:nvPicPr>
          <p:cNvPr id="41" name="Image 6" descr="Google Ads / DoubleClick logo">    </p:cNvPr>
          <p:cNvPicPr>
            <a:picLocks noChangeAspect="1"/>
          </p:cNvPicPr>
          <p:nvPr/>
        </p:nvPicPr>
        <p:blipFill>
          <a:blip r:embed="rId7"/>
          <a:stretch>
            <a:fillRect/>
          </a:stretch>
        </p:blipFill>
        <p:spPr>
          <a:xfrm>
            <a:off x="4379976" y="4087368"/>
            <a:ext cx="201168" cy="201168"/>
          </a:xfrm>
          <a:prstGeom prst="rect">
            <a:avLst/>
          </a:prstGeom>
        </p:spPr>
      </p:pic>
      <p:sp>
        <p:nvSpPr>
          <p:cNvPr id="42" name="Text 32"/>
          <p:cNvSpPr/>
          <p:nvPr/>
        </p:nvSpPr>
        <p:spPr>
          <a:xfrm>
            <a:off x="4599432" y="4023360"/>
            <a:ext cx="2231136" cy="329184"/>
          </a:xfrm>
          <a:prstGeom prst="rect">
            <a:avLst/>
          </a:prstGeom>
          <a:noFill/>
          <a:ln/>
        </p:spPr>
        <p:txBody>
          <a:bodyPr wrap="square" lIns="0" tIns="0" rIns="0" bIns="0" rtlCol="0" anchor="ctr"/>
          <a:lstStyle/>
          <a:p>
            <a:pPr algn="ctr" indent="0" marL="0">
              <a:buNone/>
            </a:pPr>
            <a:r>
              <a:rPr lang="en-US" sz="1000" b="1" dirty="0">
                <a:solidFill>
                  <a:srgbClr val="111827"/>
                </a:solidFill>
                <a:latin typeface="Calibri" pitchFamily="34" charset="0"/>
                <a:ea typeface="Calibri" pitchFamily="34" charset="-122"/>
                <a:cs typeface="Calibri" pitchFamily="34" charset="-120"/>
              </a:rPr>
              <a:t>Google Ads / DoubleClick</a:t>
            </a:r>
            <a:endParaRPr lang="en-US" sz="1000" dirty="0"/>
          </a:p>
        </p:txBody>
      </p:sp>
      <p:sp>
        <p:nvSpPr>
          <p:cNvPr id="43" name="Text 33"/>
          <p:cNvSpPr/>
          <p:nvPr/>
        </p:nvSpPr>
        <p:spPr>
          <a:xfrm>
            <a:off x="548640" y="4480560"/>
            <a:ext cx="2103120" cy="274320"/>
          </a:xfrm>
          <a:prstGeom prst="rect">
            <a:avLst/>
          </a:prstGeom>
          <a:noFill/>
          <a:ln/>
        </p:spPr>
        <p:txBody>
          <a:bodyPr wrap="square" lIns="0" tIns="0" rIns="0" bIns="0" rtlCol="0" anchor="t"/>
          <a:lstStyle/>
          <a:p>
            <a:pPr indent="0" marL="0">
              <a:buNone/>
            </a:pPr>
            <a:r>
              <a:rPr lang="en-US" sz="950" b="1" spc="100" kern="0" dirty="0">
                <a:solidFill>
                  <a:srgbClr val="5B6477"/>
                </a:solidFill>
                <a:latin typeface="Calibri" pitchFamily="34" charset="0"/>
                <a:ea typeface="Calibri" pitchFamily="34" charset="-122"/>
                <a:cs typeface="Calibri" pitchFamily="34" charset="-120"/>
              </a:rPr>
              <a:t>MONITORING</a:t>
            </a:r>
            <a:endParaRPr lang="en-US" sz="950" dirty="0"/>
          </a:p>
        </p:txBody>
      </p:sp>
      <p:sp>
        <p:nvSpPr>
          <p:cNvPr id="44" name="Shape 34"/>
          <p:cNvSpPr/>
          <p:nvPr/>
        </p:nvSpPr>
        <p:spPr>
          <a:xfrm>
            <a:off x="2743200" y="4434840"/>
            <a:ext cx="1376172" cy="329184"/>
          </a:xfrm>
          <a:prstGeom prst="roundRect">
            <a:avLst>
              <a:gd name="adj" fmla="val 27778"/>
            </a:avLst>
          </a:prstGeom>
          <a:solidFill>
            <a:srgbClr val="FFFFFF"/>
          </a:solidFill>
          <a:ln w="25400">
            <a:solidFill>
              <a:srgbClr val="DDE2EE"/>
            </a:solidFill>
            <a:prstDash val="solid"/>
          </a:ln>
        </p:spPr>
      </p:sp>
      <p:pic>
        <p:nvPicPr>
          <p:cNvPr id="45" name="Image 7" descr="New Relic logo">    </p:cNvPr>
          <p:cNvPicPr>
            <a:picLocks noChangeAspect="1"/>
          </p:cNvPicPr>
          <p:nvPr/>
        </p:nvPicPr>
        <p:blipFill>
          <a:blip r:embed="rId8"/>
          <a:stretch>
            <a:fillRect/>
          </a:stretch>
        </p:blipFill>
        <p:spPr>
          <a:xfrm>
            <a:off x="2834640" y="4498848"/>
            <a:ext cx="201168" cy="201168"/>
          </a:xfrm>
          <a:prstGeom prst="rect">
            <a:avLst/>
          </a:prstGeom>
        </p:spPr>
      </p:pic>
      <p:sp>
        <p:nvSpPr>
          <p:cNvPr id="46" name="Text 35"/>
          <p:cNvSpPr/>
          <p:nvPr/>
        </p:nvSpPr>
        <p:spPr>
          <a:xfrm>
            <a:off x="3054096" y="4434840"/>
            <a:ext cx="1065276" cy="329184"/>
          </a:xfrm>
          <a:prstGeom prst="rect">
            <a:avLst/>
          </a:prstGeom>
          <a:noFill/>
          <a:ln/>
        </p:spPr>
        <p:txBody>
          <a:bodyPr wrap="square" lIns="0" tIns="0" rIns="0" bIns="0" rtlCol="0" anchor="ctr"/>
          <a:lstStyle/>
          <a:p>
            <a:pPr algn="ctr" indent="0" marL="0">
              <a:buNone/>
            </a:pPr>
            <a:r>
              <a:rPr lang="en-US" sz="1000" b="1" dirty="0">
                <a:solidFill>
                  <a:srgbClr val="111827"/>
                </a:solidFill>
                <a:latin typeface="Calibri" pitchFamily="34" charset="0"/>
                <a:ea typeface="Calibri" pitchFamily="34" charset="-122"/>
                <a:cs typeface="Calibri" pitchFamily="34" charset="-120"/>
              </a:rPr>
              <a:t>New Relic</a:t>
            </a:r>
            <a:endParaRPr lang="en-US" sz="1000" dirty="0"/>
          </a:p>
        </p:txBody>
      </p:sp>
      <p:sp>
        <p:nvSpPr>
          <p:cNvPr id="47" name="Text 36"/>
          <p:cNvSpPr/>
          <p:nvPr/>
        </p:nvSpPr>
        <p:spPr>
          <a:xfrm>
            <a:off x="548640" y="4892040"/>
            <a:ext cx="2103120" cy="274320"/>
          </a:xfrm>
          <a:prstGeom prst="rect">
            <a:avLst/>
          </a:prstGeom>
          <a:noFill/>
          <a:ln/>
        </p:spPr>
        <p:txBody>
          <a:bodyPr wrap="square" lIns="0" tIns="0" rIns="0" bIns="0" rtlCol="0" anchor="t"/>
          <a:lstStyle/>
          <a:p>
            <a:pPr indent="0" marL="0">
              <a:buNone/>
            </a:pPr>
            <a:r>
              <a:rPr lang="en-US" sz="950" b="1" spc="100" kern="0" dirty="0">
                <a:solidFill>
                  <a:srgbClr val="5B6477"/>
                </a:solidFill>
                <a:latin typeface="Calibri" pitchFamily="34" charset="0"/>
                <a:ea typeface="Calibri" pitchFamily="34" charset="-122"/>
                <a:cs typeface="Calibri" pitchFamily="34" charset="-120"/>
              </a:rPr>
              <a:t>CDN &amp; HOSTING</a:t>
            </a:r>
            <a:endParaRPr lang="en-US" sz="950" dirty="0"/>
          </a:p>
        </p:txBody>
      </p:sp>
      <p:sp>
        <p:nvSpPr>
          <p:cNvPr id="48" name="Shape 37"/>
          <p:cNvSpPr/>
          <p:nvPr/>
        </p:nvSpPr>
        <p:spPr>
          <a:xfrm>
            <a:off x="2743200" y="4846320"/>
            <a:ext cx="1143000" cy="329184"/>
          </a:xfrm>
          <a:prstGeom prst="roundRect">
            <a:avLst>
              <a:gd name="adj" fmla="val 27778"/>
            </a:avLst>
          </a:prstGeom>
          <a:solidFill>
            <a:srgbClr val="FFFFFF"/>
          </a:solidFill>
          <a:ln w="25400">
            <a:solidFill>
              <a:srgbClr val="0F9D6B"/>
            </a:solidFill>
            <a:prstDash val="solid"/>
          </a:ln>
        </p:spPr>
      </p:sp>
      <p:pic>
        <p:nvPicPr>
          <p:cNvPr id="49" name="Image 8" descr="Akamai logo">    </p:cNvPr>
          <p:cNvPicPr>
            <a:picLocks noChangeAspect="1"/>
          </p:cNvPicPr>
          <p:nvPr/>
        </p:nvPicPr>
        <p:blipFill>
          <a:blip r:embed="rId9"/>
          <a:stretch>
            <a:fillRect/>
          </a:stretch>
        </p:blipFill>
        <p:spPr>
          <a:xfrm>
            <a:off x="2834640" y="4910328"/>
            <a:ext cx="201168" cy="201168"/>
          </a:xfrm>
          <a:prstGeom prst="rect">
            <a:avLst/>
          </a:prstGeom>
        </p:spPr>
      </p:pic>
      <p:sp>
        <p:nvSpPr>
          <p:cNvPr id="50" name="Text 38"/>
          <p:cNvSpPr/>
          <p:nvPr/>
        </p:nvSpPr>
        <p:spPr>
          <a:xfrm>
            <a:off x="3054096" y="4846320"/>
            <a:ext cx="832104" cy="329184"/>
          </a:xfrm>
          <a:prstGeom prst="rect">
            <a:avLst/>
          </a:prstGeom>
          <a:noFill/>
          <a:ln/>
        </p:spPr>
        <p:txBody>
          <a:bodyPr wrap="square" lIns="0" tIns="0" rIns="0" bIns="0" rtlCol="0" anchor="ctr"/>
          <a:lstStyle/>
          <a:p>
            <a:pPr algn="ctr" indent="0" marL="0">
              <a:buNone/>
            </a:pPr>
            <a:r>
              <a:rPr lang="en-US" sz="1000" b="1" dirty="0">
                <a:solidFill>
                  <a:srgbClr val="111827"/>
                </a:solidFill>
                <a:latin typeface="Calibri" pitchFamily="34" charset="0"/>
                <a:ea typeface="Calibri" pitchFamily="34" charset="-122"/>
                <a:cs typeface="Calibri" pitchFamily="34" charset="-120"/>
              </a:rPr>
              <a:t>Akamai</a:t>
            </a:r>
            <a:endParaRPr lang="en-US" sz="1000" dirty="0"/>
          </a:p>
        </p:txBody>
      </p:sp>
      <p:sp>
        <p:nvSpPr>
          <p:cNvPr id="51" name="Text 39"/>
          <p:cNvSpPr/>
          <p:nvPr/>
        </p:nvSpPr>
        <p:spPr>
          <a:xfrm>
            <a:off x="548640" y="5303520"/>
            <a:ext cx="2103120" cy="274320"/>
          </a:xfrm>
          <a:prstGeom prst="rect">
            <a:avLst/>
          </a:prstGeom>
          <a:noFill/>
          <a:ln/>
        </p:spPr>
        <p:txBody>
          <a:bodyPr wrap="square" lIns="0" tIns="0" rIns="0" bIns="0" rtlCol="0" anchor="t"/>
          <a:lstStyle/>
          <a:p>
            <a:pPr indent="0" marL="0">
              <a:buNone/>
            </a:pPr>
            <a:r>
              <a:rPr lang="en-US" sz="950" b="1" spc="100" kern="0" dirty="0">
                <a:solidFill>
                  <a:srgbClr val="5B6477"/>
                </a:solidFill>
                <a:latin typeface="Calibri" pitchFamily="34" charset="0"/>
                <a:ea typeface="Calibri" pitchFamily="34" charset="-122"/>
                <a:cs typeface="Calibri" pitchFamily="34" charset="-120"/>
              </a:rPr>
              <a:t>SERVER &amp; LANGUAGE</a:t>
            </a:r>
            <a:endParaRPr lang="en-US" sz="950" dirty="0"/>
          </a:p>
        </p:txBody>
      </p:sp>
      <p:sp>
        <p:nvSpPr>
          <p:cNvPr id="52" name="Shape 40"/>
          <p:cNvSpPr/>
          <p:nvPr/>
        </p:nvSpPr>
        <p:spPr>
          <a:xfrm>
            <a:off x="2743200" y="5257800"/>
            <a:ext cx="909828" cy="329184"/>
          </a:xfrm>
          <a:prstGeom prst="roundRect">
            <a:avLst>
              <a:gd name="adj" fmla="val 27778"/>
            </a:avLst>
          </a:prstGeom>
          <a:solidFill>
            <a:srgbClr val="FFFFFF"/>
          </a:solidFill>
          <a:ln w="12700">
            <a:solidFill>
              <a:srgbClr val="B7791F"/>
            </a:solidFill>
            <a:prstDash val="solid"/>
          </a:ln>
        </p:spPr>
      </p:sp>
      <p:pic>
        <p:nvPicPr>
          <p:cNvPr id="53" name="Image 9" descr="PHP logo">    </p:cNvPr>
          <p:cNvPicPr>
            <a:picLocks noChangeAspect="1"/>
          </p:cNvPicPr>
          <p:nvPr/>
        </p:nvPicPr>
        <p:blipFill>
          <a:blip r:embed="rId10"/>
          <a:stretch>
            <a:fillRect/>
          </a:stretch>
        </p:blipFill>
        <p:spPr>
          <a:xfrm>
            <a:off x="2834640" y="5321808"/>
            <a:ext cx="201168" cy="201168"/>
          </a:xfrm>
          <a:prstGeom prst="rect">
            <a:avLst/>
          </a:prstGeom>
        </p:spPr>
      </p:pic>
      <p:sp>
        <p:nvSpPr>
          <p:cNvPr id="54" name="Text 41"/>
          <p:cNvSpPr/>
          <p:nvPr/>
        </p:nvSpPr>
        <p:spPr>
          <a:xfrm>
            <a:off x="3054096" y="5257800"/>
            <a:ext cx="598932" cy="329184"/>
          </a:xfrm>
          <a:prstGeom prst="rect">
            <a:avLst/>
          </a:prstGeom>
          <a:noFill/>
          <a:ln/>
        </p:spPr>
        <p:txBody>
          <a:bodyPr wrap="square" lIns="0" tIns="0" rIns="0" bIns="0" rtlCol="0" anchor="ctr"/>
          <a:lstStyle/>
          <a:p>
            <a:pPr algn="ctr" indent="0" marL="0">
              <a:buNone/>
            </a:pPr>
            <a:r>
              <a:rPr lang="en-US" sz="1000" b="1" dirty="0">
                <a:solidFill>
                  <a:srgbClr val="111827"/>
                </a:solidFill>
                <a:latin typeface="Calibri" pitchFamily="34" charset="0"/>
                <a:ea typeface="Calibri" pitchFamily="34" charset="-122"/>
                <a:cs typeface="Calibri" pitchFamily="34" charset="-120"/>
              </a:rPr>
              <a:t>PHP</a:t>
            </a:r>
            <a:endParaRPr lang="en-US" sz="1000" dirty="0"/>
          </a:p>
        </p:txBody>
      </p:sp>
      <p:sp>
        <p:nvSpPr>
          <p:cNvPr id="55" name="Text 42"/>
          <p:cNvSpPr/>
          <p:nvPr/>
        </p:nvSpPr>
        <p:spPr>
          <a:xfrm>
            <a:off x="548640" y="5989320"/>
            <a:ext cx="8686800" cy="274320"/>
          </a:xfrm>
          <a:prstGeom prst="rect">
            <a:avLst/>
          </a:prstGeom>
          <a:noFill/>
          <a:ln/>
        </p:spPr>
        <p:txBody>
          <a:bodyPr wrap="square" lIns="0" tIns="0" rIns="0" bIns="0" rtlCol="0" anchor="t"/>
          <a:lstStyle/>
          <a:p>
            <a:pPr indent="0" marL="0">
              <a:buNone/>
            </a:pPr>
            <a:r>
              <a:rPr lang="en-US" sz="1000" dirty="0">
                <a:solidFill>
                  <a:srgbClr val="5B6477"/>
                </a:solidFill>
                <a:latin typeface="Calibri" pitchFamily="34" charset="0"/>
                <a:ea typeface="Calibri" pitchFamily="34" charset="-122"/>
                <a:cs typeface="Calibri" pitchFamily="34" charset="-120"/>
              </a:rPr>
              <a:t>Border colour: our coverage (green strong, amber partial, red gap). Thin border: a single signal, so likely rather than confirmed.</a:t>
            </a:r>
            <a:endParaRPr lang="en-US" sz="1000" dirty="0"/>
          </a:p>
        </p:txBody>
      </p:sp>
      <p:sp>
        <p:nvSpPr>
          <p:cNvPr id="56" name="Shape 43"/>
          <p:cNvSpPr/>
          <p:nvPr/>
        </p:nvSpPr>
        <p:spPr>
          <a:xfrm>
            <a:off x="9418320" y="2788920"/>
            <a:ext cx="2221992" cy="3063240"/>
          </a:xfrm>
          <a:prstGeom prst="roundRect">
            <a:avLst>
              <a:gd name="adj" fmla="val 4115"/>
            </a:avLst>
          </a:prstGeom>
          <a:solidFill>
            <a:srgbClr val="FFFFFF"/>
          </a:solidFill>
          <a:ln w="12700">
            <a:solidFill>
              <a:srgbClr val="DDE2EE"/>
            </a:solidFill>
            <a:prstDash val="solid"/>
          </a:ln>
        </p:spPr>
      </p:sp>
      <p:sp>
        <p:nvSpPr>
          <p:cNvPr id="57" name="Text 44"/>
          <p:cNvSpPr/>
          <p:nvPr/>
        </p:nvSpPr>
        <p:spPr>
          <a:xfrm>
            <a:off x="9555480" y="2880360"/>
            <a:ext cx="2011680" cy="228600"/>
          </a:xfrm>
          <a:prstGeom prst="rect">
            <a:avLst/>
          </a:prstGeom>
          <a:noFill/>
          <a:ln/>
        </p:spPr>
        <p:txBody>
          <a:bodyPr wrap="square" lIns="0" tIns="0" rIns="0" bIns="0" rtlCol="0" anchor="t"/>
          <a:lstStyle/>
          <a:p>
            <a:pPr indent="0" marL="0">
              <a:buNone/>
            </a:pPr>
            <a:r>
              <a:rPr lang="en-US" sz="900" b="1" spc="100" kern="0" dirty="0">
                <a:solidFill>
                  <a:srgbClr val="5B6477"/>
                </a:solidFill>
                <a:latin typeface="Calibri" pitchFamily="34" charset="0"/>
                <a:ea typeface="Calibri" pitchFamily="34" charset="-122"/>
                <a:cs typeface="Calibri" pitchFamily="34" charset="-120"/>
              </a:rPr>
              <a:t>BUSIEST DOMAINS</a:t>
            </a:r>
            <a:endParaRPr lang="en-US" sz="900" dirty="0"/>
          </a:p>
        </p:txBody>
      </p:sp>
      <p:sp>
        <p:nvSpPr>
          <p:cNvPr id="58" name="Text 45"/>
          <p:cNvSpPr/>
          <p:nvPr/>
        </p:nvSpPr>
        <p:spPr>
          <a:xfrm>
            <a:off x="9555480" y="3200400"/>
            <a:ext cx="2011680" cy="182880"/>
          </a:xfrm>
          <a:prstGeom prst="rect">
            <a:avLst/>
          </a:prstGeom>
          <a:noFill/>
          <a:ln/>
        </p:spPr>
        <p:txBody>
          <a:bodyPr wrap="square" lIns="0" tIns="0" rIns="0" bIns="0" rtlCol="0" anchor="t"/>
          <a:lstStyle/>
          <a:p>
            <a:pPr indent="0" marL="0">
              <a:buNone/>
            </a:pPr>
            <a:r>
              <a:rPr lang="en-US" sz="900" dirty="0">
                <a:solidFill>
                  <a:srgbClr val="111827"/>
                </a:solidFill>
                <a:latin typeface="Calibri" pitchFamily="34" charset="0"/>
                <a:ea typeface="Calibri" pitchFamily="34" charset="-122"/>
                <a:cs typeface="Calibri" pitchFamily="34" charset="-120"/>
              </a:rPr>
              <a:t>nike.in</a:t>
            </a:r>
            <a:endParaRPr lang="en-US" sz="900" dirty="0"/>
          </a:p>
        </p:txBody>
      </p:sp>
      <p:sp>
        <p:nvSpPr>
          <p:cNvPr id="59" name="Shape 46"/>
          <p:cNvSpPr/>
          <p:nvPr/>
        </p:nvSpPr>
        <p:spPr>
          <a:xfrm>
            <a:off x="9555480" y="3401568"/>
            <a:ext cx="1920240" cy="91440"/>
          </a:xfrm>
          <a:prstGeom prst="roundRect">
            <a:avLst>
              <a:gd name="adj" fmla="val 100000"/>
            </a:avLst>
          </a:prstGeom>
          <a:solidFill>
            <a:srgbClr val="E6E9F3"/>
          </a:solidFill>
          <a:ln w="12700">
            <a:solidFill>
              <a:srgbClr val="E6E9F3"/>
            </a:solidFill>
            <a:prstDash val="solid"/>
          </a:ln>
        </p:spPr>
      </p:sp>
      <p:sp>
        <p:nvSpPr>
          <p:cNvPr id="60" name="Shape 47"/>
          <p:cNvSpPr/>
          <p:nvPr/>
        </p:nvSpPr>
        <p:spPr>
          <a:xfrm>
            <a:off x="9555480" y="3401568"/>
            <a:ext cx="1920240" cy="91440"/>
          </a:xfrm>
          <a:prstGeom prst="roundRect">
            <a:avLst>
              <a:gd name="adj" fmla="val 100000"/>
            </a:avLst>
          </a:prstGeom>
          <a:solidFill>
            <a:srgbClr val="2D69E2"/>
          </a:solidFill>
          <a:ln w="12700">
            <a:solidFill>
              <a:srgbClr val="2D69E2"/>
            </a:solidFill>
            <a:prstDash val="solid"/>
          </a:ln>
        </p:spPr>
      </p:sp>
      <p:sp>
        <p:nvSpPr>
          <p:cNvPr id="61" name="Text 48"/>
          <p:cNvSpPr/>
          <p:nvPr/>
        </p:nvSpPr>
        <p:spPr>
          <a:xfrm>
            <a:off x="9555480" y="3630168"/>
            <a:ext cx="2011680" cy="182880"/>
          </a:xfrm>
          <a:prstGeom prst="rect">
            <a:avLst/>
          </a:prstGeom>
          <a:noFill/>
          <a:ln/>
        </p:spPr>
        <p:txBody>
          <a:bodyPr wrap="square" lIns="0" tIns="0" rIns="0" bIns="0" rtlCol="0" anchor="t"/>
          <a:lstStyle/>
          <a:p>
            <a:pPr indent="0" marL="0">
              <a:buNone/>
            </a:pPr>
            <a:r>
              <a:rPr lang="en-US" sz="900" dirty="0">
                <a:solidFill>
                  <a:srgbClr val="B7791F"/>
                </a:solidFill>
                <a:latin typeface="Calibri" pitchFamily="34" charset="0"/>
                <a:ea typeface="Calibri" pitchFamily="34" charset="-122"/>
                <a:cs typeface="Calibri" pitchFamily="34" charset="-120"/>
              </a:rPr>
              <a:t>nykaa.com</a:t>
            </a:r>
            <a:endParaRPr lang="en-US" sz="900" dirty="0"/>
          </a:p>
        </p:txBody>
      </p:sp>
      <p:sp>
        <p:nvSpPr>
          <p:cNvPr id="62" name="Shape 49"/>
          <p:cNvSpPr/>
          <p:nvPr/>
        </p:nvSpPr>
        <p:spPr>
          <a:xfrm>
            <a:off x="9555480" y="3831336"/>
            <a:ext cx="1920240" cy="91440"/>
          </a:xfrm>
          <a:prstGeom prst="roundRect">
            <a:avLst>
              <a:gd name="adj" fmla="val 100000"/>
            </a:avLst>
          </a:prstGeom>
          <a:solidFill>
            <a:srgbClr val="E6E9F3"/>
          </a:solidFill>
          <a:ln w="12700">
            <a:solidFill>
              <a:srgbClr val="E6E9F3"/>
            </a:solidFill>
            <a:prstDash val="solid"/>
          </a:ln>
        </p:spPr>
      </p:sp>
      <p:sp>
        <p:nvSpPr>
          <p:cNvPr id="63" name="Shape 50"/>
          <p:cNvSpPr/>
          <p:nvPr/>
        </p:nvSpPr>
        <p:spPr>
          <a:xfrm>
            <a:off x="9555480" y="3831336"/>
            <a:ext cx="138625" cy="91440"/>
          </a:xfrm>
          <a:prstGeom prst="roundRect">
            <a:avLst>
              <a:gd name="adj" fmla="val 100000"/>
            </a:avLst>
          </a:prstGeom>
          <a:solidFill>
            <a:srgbClr val="B7791F"/>
          </a:solidFill>
          <a:ln w="12700">
            <a:solidFill>
              <a:srgbClr val="B7791F"/>
            </a:solidFill>
            <a:prstDash val="solid"/>
          </a:ln>
        </p:spPr>
      </p:sp>
      <p:sp>
        <p:nvSpPr>
          <p:cNvPr id="64" name="Text 51"/>
          <p:cNvSpPr/>
          <p:nvPr/>
        </p:nvSpPr>
        <p:spPr>
          <a:xfrm>
            <a:off x="9555480" y="4059936"/>
            <a:ext cx="2011680" cy="182880"/>
          </a:xfrm>
          <a:prstGeom prst="rect">
            <a:avLst/>
          </a:prstGeom>
          <a:noFill/>
          <a:ln/>
        </p:spPr>
        <p:txBody>
          <a:bodyPr wrap="square" lIns="0" tIns="0" rIns="0" bIns="0" rtlCol="0" anchor="t"/>
          <a:lstStyle/>
          <a:p>
            <a:pPr indent="0" marL="0">
              <a:buNone/>
            </a:pPr>
            <a:r>
              <a:rPr lang="en-US" sz="900" dirty="0">
                <a:solidFill>
                  <a:srgbClr val="B7791F"/>
                </a:solidFill>
                <a:latin typeface="Calibri" pitchFamily="34" charset="0"/>
                <a:ea typeface="Calibri" pitchFamily="34" charset="-122"/>
                <a:cs typeface="Calibri" pitchFamily="34" charset="-120"/>
              </a:rPr>
              <a:t>googletagmanager.com</a:t>
            </a:r>
            <a:endParaRPr lang="en-US" sz="900" dirty="0"/>
          </a:p>
        </p:txBody>
      </p:sp>
      <p:sp>
        <p:nvSpPr>
          <p:cNvPr id="65" name="Shape 52"/>
          <p:cNvSpPr/>
          <p:nvPr/>
        </p:nvSpPr>
        <p:spPr>
          <a:xfrm>
            <a:off x="9555480" y="4261104"/>
            <a:ext cx="1920240" cy="91440"/>
          </a:xfrm>
          <a:prstGeom prst="roundRect">
            <a:avLst>
              <a:gd name="adj" fmla="val 100000"/>
            </a:avLst>
          </a:prstGeom>
          <a:solidFill>
            <a:srgbClr val="E6E9F3"/>
          </a:solidFill>
          <a:ln w="12700">
            <a:solidFill>
              <a:srgbClr val="E6E9F3"/>
            </a:solidFill>
            <a:prstDash val="solid"/>
          </a:ln>
        </p:spPr>
      </p:sp>
      <p:sp>
        <p:nvSpPr>
          <p:cNvPr id="66" name="Shape 53"/>
          <p:cNvSpPr/>
          <p:nvPr/>
        </p:nvSpPr>
        <p:spPr>
          <a:xfrm>
            <a:off x="9555480" y="4261104"/>
            <a:ext cx="103752" cy="91440"/>
          </a:xfrm>
          <a:prstGeom prst="roundRect">
            <a:avLst>
              <a:gd name="adj" fmla="val 100000"/>
            </a:avLst>
          </a:prstGeom>
          <a:solidFill>
            <a:srgbClr val="B7791F"/>
          </a:solidFill>
          <a:ln w="12700">
            <a:solidFill>
              <a:srgbClr val="B7791F"/>
            </a:solidFill>
            <a:prstDash val="solid"/>
          </a:ln>
        </p:spPr>
      </p:sp>
      <p:sp>
        <p:nvSpPr>
          <p:cNvPr id="67" name="Text 54"/>
          <p:cNvSpPr/>
          <p:nvPr/>
        </p:nvSpPr>
        <p:spPr>
          <a:xfrm>
            <a:off x="9555480" y="4489704"/>
            <a:ext cx="2011680" cy="182880"/>
          </a:xfrm>
          <a:prstGeom prst="rect">
            <a:avLst/>
          </a:prstGeom>
          <a:noFill/>
          <a:ln/>
        </p:spPr>
        <p:txBody>
          <a:bodyPr wrap="square" lIns="0" tIns="0" rIns="0" bIns="0" rtlCol="0" anchor="t"/>
          <a:lstStyle/>
          <a:p>
            <a:pPr indent="0" marL="0">
              <a:buNone/>
            </a:pPr>
            <a:r>
              <a:rPr lang="en-US" sz="900" dirty="0">
                <a:solidFill>
                  <a:srgbClr val="B7791F"/>
                </a:solidFill>
                <a:latin typeface="Calibri" pitchFamily="34" charset="0"/>
                <a:ea typeface="Calibri" pitchFamily="34" charset="-122"/>
                <a:cs typeface="Calibri" pitchFamily="34" charset="-120"/>
              </a:rPr>
              <a:t>facebook.net</a:t>
            </a:r>
            <a:endParaRPr lang="en-US" sz="900" dirty="0"/>
          </a:p>
        </p:txBody>
      </p:sp>
      <p:sp>
        <p:nvSpPr>
          <p:cNvPr id="68" name="Shape 55"/>
          <p:cNvSpPr/>
          <p:nvPr/>
        </p:nvSpPr>
        <p:spPr>
          <a:xfrm>
            <a:off x="9555480" y="4690872"/>
            <a:ext cx="1920240" cy="91440"/>
          </a:xfrm>
          <a:prstGeom prst="roundRect">
            <a:avLst>
              <a:gd name="adj" fmla="val 100000"/>
            </a:avLst>
          </a:prstGeom>
          <a:solidFill>
            <a:srgbClr val="E6E9F3"/>
          </a:solidFill>
          <a:ln w="12700">
            <a:solidFill>
              <a:srgbClr val="E6E9F3"/>
            </a:solidFill>
            <a:prstDash val="solid"/>
          </a:ln>
        </p:spPr>
      </p:sp>
      <p:sp>
        <p:nvSpPr>
          <p:cNvPr id="69" name="Shape 56"/>
          <p:cNvSpPr/>
          <p:nvPr/>
        </p:nvSpPr>
        <p:spPr>
          <a:xfrm>
            <a:off x="9555480" y="4690872"/>
            <a:ext cx="73152" cy="91440"/>
          </a:xfrm>
          <a:prstGeom prst="roundRect">
            <a:avLst>
              <a:gd name="adj" fmla="val 125000"/>
            </a:avLst>
          </a:prstGeom>
          <a:solidFill>
            <a:srgbClr val="B7791F"/>
          </a:solidFill>
          <a:ln w="12700">
            <a:solidFill>
              <a:srgbClr val="B7791F"/>
            </a:solidFill>
            <a:prstDash val="solid"/>
          </a:ln>
        </p:spPr>
      </p:sp>
      <p:sp>
        <p:nvSpPr>
          <p:cNvPr id="70" name="Text 57"/>
          <p:cNvSpPr/>
          <p:nvPr/>
        </p:nvSpPr>
        <p:spPr>
          <a:xfrm>
            <a:off x="9555480" y="4919472"/>
            <a:ext cx="2011680" cy="182880"/>
          </a:xfrm>
          <a:prstGeom prst="rect">
            <a:avLst/>
          </a:prstGeom>
          <a:noFill/>
          <a:ln/>
        </p:spPr>
        <p:txBody>
          <a:bodyPr wrap="square" lIns="0" tIns="0" rIns="0" bIns="0" rtlCol="0" anchor="t"/>
          <a:lstStyle/>
          <a:p>
            <a:pPr indent="0" marL="0">
              <a:buNone/>
            </a:pPr>
            <a:r>
              <a:rPr lang="en-US" sz="900" dirty="0">
                <a:solidFill>
                  <a:srgbClr val="B7791F"/>
                </a:solidFill>
                <a:latin typeface="Calibri" pitchFamily="34" charset="0"/>
                <a:ea typeface="Calibri" pitchFamily="34" charset="-122"/>
                <a:cs typeface="Calibri" pitchFamily="34" charset="-120"/>
              </a:rPr>
              <a:t>cloudfront.net</a:t>
            </a:r>
            <a:endParaRPr lang="en-US" sz="900" dirty="0"/>
          </a:p>
        </p:txBody>
      </p:sp>
      <p:sp>
        <p:nvSpPr>
          <p:cNvPr id="71" name="Shape 58"/>
          <p:cNvSpPr/>
          <p:nvPr/>
        </p:nvSpPr>
        <p:spPr>
          <a:xfrm>
            <a:off x="9555480" y="5120640"/>
            <a:ext cx="1920240" cy="91440"/>
          </a:xfrm>
          <a:prstGeom prst="roundRect">
            <a:avLst>
              <a:gd name="adj" fmla="val 100000"/>
            </a:avLst>
          </a:prstGeom>
          <a:solidFill>
            <a:srgbClr val="E6E9F3"/>
          </a:solidFill>
          <a:ln w="12700">
            <a:solidFill>
              <a:srgbClr val="E6E9F3"/>
            </a:solidFill>
            <a:prstDash val="solid"/>
          </a:ln>
        </p:spPr>
      </p:sp>
      <p:sp>
        <p:nvSpPr>
          <p:cNvPr id="72" name="Shape 59"/>
          <p:cNvSpPr/>
          <p:nvPr/>
        </p:nvSpPr>
        <p:spPr>
          <a:xfrm>
            <a:off x="9555480" y="5120640"/>
            <a:ext cx="73152" cy="91440"/>
          </a:xfrm>
          <a:prstGeom prst="roundRect">
            <a:avLst>
              <a:gd name="adj" fmla="val 125000"/>
            </a:avLst>
          </a:prstGeom>
          <a:solidFill>
            <a:srgbClr val="B7791F"/>
          </a:solidFill>
          <a:ln w="12700">
            <a:solidFill>
              <a:srgbClr val="B7791F"/>
            </a:solidFill>
            <a:prstDash val="solid"/>
          </a:ln>
        </p:spPr>
      </p:sp>
      <p:sp>
        <p:nvSpPr>
          <p:cNvPr id="73" name="Text 60"/>
          <p:cNvSpPr/>
          <p:nvPr/>
        </p:nvSpPr>
        <p:spPr>
          <a:xfrm>
            <a:off x="9555480" y="5349240"/>
            <a:ext cx="2011680" cy="182880"/>
          </a:xfrm>
          <a:prstGeom prst="rect">
            <a:avLst/>
          </a:prstGeom>
          <a:noFill/>
          <a:ln/>
        </p:spPr>
        <p:txBody>
          <a:bodyPr wrap="square" lIns="0" tIns="0" rIns="0" bIns="0" rtlCol="0" anchor="t"/>
          <a:lstStyle/>
          <a:p>
            <a:pPr indent="0" marL="0">
              <a:buNone/>
            </a:pPr>
            <a:r>
              <a:rPr lang="en-US" sz="900" dirty="0">
                <a:solidFill>
                  <a:srgbClr val="B7791F"/>
                </a:solidFill>
                <a:latin typeface="Calibri" pitchFamily="34" charset="0"/>
                <a:ea typeface="Calibri" pitchFamily="34" charset="-122"/>
                <a:cs typeface="Calibri" pitchFamily="34" charset="-120"/>
              </a:rPr>
              <a:t>newrelic.com</a:t>
            </a:r>
            <a:endParaRPr lang="en-US" sz="900" dirty="0"/>
          </a:p>
        </p:txBody>
      </p:sp>
      <p:sp>
        <p:nvSpPr>
          <p:cNvPr id="74" name="Shape 61"/>
          <p:cNvSpPr/>
          <p:nvPr/>
        </p:nvSpPr>
        <p:spPr>
          <a:xfrm>
            <a:off x="9555480" y="5550408"/>
            <a:ext cx="1920240" cy="91440"/>
          </a:xfrm>
          <a:prstGeom prst="roundRect">
            <a:avLst>
              <a:gd name="adj" fmla="val 100000"/>
            </a:avLst>
          </a:prstGeom>
          <a:solidFill>
            <a:srgbClr val="E6E9F3"/>
          </a:solidFill>
          <a:ln w="12700">
            <a:solidFill>
              <a:srgbClr val="E6E9F3"/>
            </a:solidFill>
            <a:prstDash val="solid"/>
          </a:ln>
        </p:spPr>
      </p:sp>
      <p:sp>
        <p:nvSpPr>
          <p:cNvPr id="75" name="Shape 62"/>
          <p:cNvSpPr/>
          <p:nvPr/>
        </p:nvSpPr>
        <p:spPr>
          <a:xfrm>
            <a:off x="9555480" y="5550408"/>
            <a:ext cx="73152" cy="91440"/>
          </a:xfrm>
          <a:prstGeom prst="roundRect">
            <a:avLst>
              <a:gd name="adj" fmla="val 125000"/>
            </a:avLst>
          </a:prstGeom>
          <a:solidFill>
            <a:srgbClr val="B7791F"/>
          </a:solidFill>
          <a:ln w="12700">
            <a:solidFill>
              <a:srgbClr val="B7791F"/>
            </a:solidFill>
            <a:prstDash val="solid"/>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6FB"/>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2D69E2"/>
          </a:solidFill>
          <a:ln w="12700">
            <a:solidFill>
              <a:srgbClr val="2D69E2"/>
            </a:solidFill>
            <a:prstDash val="solid"/>
          </a:ln>
        </p:spPr>
      </p:sp>
      <p:sp>
        <p:nvSpPr>
          <p:cNvPr id="3" name="Text 1"/>
          <p:cNvSpPr/>
          <p:nvPr/>
        </p:nvSpPr>
        <p:spPr>
          <a:xfrm>
            <a:off x="548640" y="347472"/>
            <a:ext cx="8229600" cy="274320"/>
          </a:xfrm>
          <a:prstGeom prst="rect">
            <a:avLst/>
          </a:prstGeom>
          <a:noFill/>
          <a:ln/>
        </p:spPr>
        <p:txBody>
          <a:bodyPr wrap="square" lIns="0" tIns="0" rIns="0" bIns="0" rtlCol="0" anchor="t"/>
          <a:lstStyle/>
          <a:p>
            <a:pPr indent="0" marL="0">
              <a:buNone/>
            </a:pPr>
            <a:r>
              <a:rPr lang="en-US" sz="1100" b="1" spc="300" kern="0" dirty="0">
                <a:solidFill>
                  <a:srgbClr val="2D69E2"/>
                </a:solidFill>
                <a:latin typeface="Calibri" pitchFamily="34" charset="0"/>
                <a:ea typeface="Calibri" pitchFamily="34" charset="-122"/>
                <a:cs typeface="Calibri" pitchFamily="34" charset="-120"/>
              </a:rPr>
              <a:t>TECHNOLOGY REVIEW · OUR COVERAGE</a:t>
            </a:r>
            <a:endParaRPr lang="en-US" sz="1100" dirty="0"/>
          </a:p>
        </p:txBody>
      </p:sp>
      <p:sp>
        <p:nvSpPr>
          <p:cNvPr id="4" name="Text 2"/>
          <p:cNvSpPr/>
          <p:nvPr/>
        </p:nvSpPr>
        <p:spPr>
          <a:xfrm>
            <a:off x="548640" y="621792"/>
            <a:ext cx="9326880" cy="731520"/>
          </a:xfrm>
          <a:prstGeom prst="rect">
            <a:avLst/>
          </a:prstGeom>
          <a:noFill/>
          <a:ln/>
        </p:spPr>
        <p:txBody>
          <a:bodyPr wrap="square" lIns="0" tIns="0" rIns="0" bIns="0" rtlCol="0" anchor="t">
            <a:normAutofit/>
          </a:bodyPr>
          <a:lstStyle/>
          <a:p>
            <a:pPr indent="0" marL="0">
              <a:buNone/>
            </a:pPr>
            <a:r>
              <a:rPr lang="en-US" sz="2800" b="1" dirty="0">
                <a:solidFill>
                  <a:srgbClr val="0B1B5E"/>
                </a:solidFill>
                <a:latin typeface="Calibri" pitchFamily="34" charset="0"/>
                <a:ea typeface="Calibri" pitchFamily="34" charset="-122"/>
                <a:cs typeface="Calibri" pitchFamily="34" charset="-120"/>
              </a:rPr>
              <a:t>How Samsung SDS supports your stack</a:t>
            </a:r>
            <a:endParaRPr lang="en-US" sz="2800" dirty="0"/>
          </a:p>
        </p:txBody>
      </p:sp>
      <p:pic>
        <p:nvPicPr>
          <p:cNvPr id="5" name="Image 0" descr="Samsung logo">    </p:cNvPr>
          <p:cNvPicPr>
            <a:picLocks noChangeAspect="1"/>
          </p:cNvPicPr>
          <p:nvPr/>
        </p:nvPicPr>
        <p:blipFill>
          <a:blip r:embed="rId1"/>
          <a:stretch>
            <a:fillRect/>
          </a:stretch>
        </p:blipFill>
        <p:spPr>
          <a:xfrm>
            <a:off x="10454335" y="347472"/>
            <a:ext cx="1188720" cy="377258"/>
          </a:xfrm>
          <a:prstGeom prst="rect">
            <a:avLst/>
          </a:prstGeom>
        </p:spPr>
      </p:pic>
      <p:sp>
        <p:nvSpPr>
          <p:cNvPr id="6" name="Text 3"/>
          <p:cNvSpPr/>
          <p:nvPr/>
        </p:nvSpPr>
        <p:spPr>
          <a:xfrm>
            <a:off x="548640" y="6446520"/>
            <a:ext cx="7315200" cy="256032"/>
          </a:xfrm>
          <a:prstGeom prst="rect">
            <a:avLst/>
          </a:prstGeom>
          <a:noFill/>
          <a:ln/>
        </p:spPr>
        <p:txBody>
          <a:bodyPr wrap="square" lIns="0" tIns="0" rIns="0" bIns="0" rtlCol="0" anchor="t"/>
          <a:lstStyle/>
          <a:p>
            <a:pPr indent="0" marL="0">
              <a:buNone/>
            </a:pPr>
            <a:r>
              <a:rPr lang="en-US" sz="1000" dirty="0">
                <a:solidFill>
                  <a:srgbClr val="5B6477"/>
                </a:solidFill>
                <a:latin typeface="Calibri" pitchFamily="34" charset="0"/>
                <a:ea typeface="Calibri" pitchFamily="34" charset="-122"/>
                <a:cs typeface="Calibri" pitchFamily="34" charset="-120"/>
              </a:rPr>
              <a:t>Nike. Just Do It. Nike IN  ·  Prepared by Samsung SDS</a:t>
            </a:r>
            <a:endParaRPr lang="en-US" sz="1000" dirty="0"/>
          </a:p>
        </p:txBody>
      </p:sp>
      <p:sp>
        <p:nvSpPr>
          <p:cNvPr id="7" name="Text 4"/>
          <p:cNvSpPr/>
          <p:nvPr/>
        </p:nvSpPr>
        <p:spPr>
          <a:xfrm>
            <a:off x="11185855" y="6446520"/>
            <a:ext cx="457200" cy="256032"/>
          </a:xfrm>
          <a:prstGeom prst="rect">
            <a:avLst/>
          </a:prstGeom>
          <a:noFill/>
          <a:ln/>
        </p:spPr>
        <p:txBody>
          <a:bodyPr wrap="square" lIns="0" tIns="0" rIns="0" bIns="0" rtlCol="0" anchor="t"/>
          <a:lstStyle/>
          <a:p>
            <a:pPr algn="r" indent="0" marL="0">
              <a:buNone/>
            </a:pPr>
            <a:r>
              <a:rPr lang="en-US" sz="1000" dirty="0">
                <a:solidFill>
                  <a:srgbClr val="5B6477"/>
                </a:solidFill>
                <a:latin typeface="Calibri" pitchFamily="34" charset="0"/>
                <a:ea typeface="Calibri" pitchFamily="34" charset="-122"/>
                <a:cs typeface="Calibri" pitchFamily="34" charset="-120"/>
              </a:rPr>
              <a:t>7</a:t>
            </a:r>
            <a:endParaRPr lang="en-US" sz="1000" dirty="0"/>
          </a:p>
        </p:txBody>
      </p:sp>
      <p:sp>
        <p:nvSpPr>
          <p:cNvPr id="9" name="Text 5"/>
          <p:cNvSpPr/>
          <p:nvPr/>
        </p:nvSpPr>
        <p:spPr>
          <a:xfrm>
            <a:off x="1051560" y="1508760"/>
            <a:ext cx="2560320" cy="228600"/>
          </a:xfrm>
          <a:prstGeom prst="rect">
            <a:avLst/>
          </a:prstGeom>
          <a:noFill/>
          <a:ln/>
        </p:spPr>
        <p:txBody>
          <a:bodyPr wrap="square" lIns="0" tIns="0" rIns="0" bIns="0" rtlCol="0" anchor="t"/>
          <a:lstStyle/>
          <a:p>
            <a:pPr indent="0" marL="0">
              <a:buNone/>
            </a:pPr>
            <a:r>
              <a:rPr lang="en-US" sz="950" b="1" spc="100" kern="0" dirty="0">
                <a:solidFill>
                  <a:srgbClr val="5B6477"/>
                </a:solidFill>
                <a:latin typeface="Calibri" pitchFamily="34" charset="0"/>
                <a:ea typeface="Calibri" pitchFamily="34" charset="-122"/>
                <a:cs typeface="Calibri" pitchFamily="34" charset="-120"/>
              </a:rPr>
              <a:t>TECHNOLOGY</a:t>
            </a:r>
            <a:endParaRPr lang="en-US" sz="950" dirty="0"/>
          </a:p>
        </p:txBody>
      </p:sp>
      <p:sp>
        <p:nvSpPr>
          <p:cNvPr id="10" name="Text 6"/>
          <p:cNvSpPr/>
          <p:nvPr/>
        </p:nvSpPr>
        <p:spPr>
          <a:xfrm>
            <a:off x="3657600" y="1508760"/>
            <a:ext cx="2194560" cy="228600"/>
          </a:xfrm>
          <a:prstGeom prst="rect">
            <a:avLst/>
          </a:prstGeom>
          <a:noFill/>
          <a:ln/>
        </p:spPr>
        <p:txBody>
          <a:bodyPr wrap="square" lIns="0" tIns="0" rIns="0" bIns="0" rtlCol="0" anchor="t"/>
          <a:lstStyle/>
          <a:p>
            <a:pPr indent="0" marL="0">
              <a:buNone/>
            </a:pPr>
            <a:r>
              <a:rPr lang="en-US" sz="950" b="1" spc="100" kern="0" dirty="0">
                <a:solidFill>
                  <a:srgbClr val="5B6477"/>
                </a:solidFill>
                <a:latin typeface="Calibri" pitchFamily="34" charset="0"/>
                <a:ea typeface="Calibri" pitchFamily="34" charset="-122"/>
                <a:cs typeface="Calibri" pitchFamily="34" charset="-120"/>
              </a:rPr>
              <a:t>CATEGORY</a:t>
            </a:r>
            <a:endParaRPr lang="en-US" sz="950" dirty="0"/>
          </a:p>
        </p:txBody>
      </p:sp>
      <p:sp>
        <p:nvSpPr>
          <p:cNvPr id="11" name="Text 7"/>
          <p:cNvSpPr/>
          <p:nvPr/>
        </p:nvSpPr>
        <p:spPr>
          <a:xfrm>
            <a:off x="5943600" y="1508760"/>
            <a:ext cx="2926080" cy="228600"/>
          </a:xfrm>
          <a:prstGeom prst="rect">
            <a:avLst/>
          </a:prstGeom>
          <a:noFill/>
          <a:ln/>
        </p:spPr>
        <p:txBody>
          <a:bodyPr wrap="square" lIns="0" tIns="0" rIns="0" bIns="0" rtlCol="0" anchor="t"/>
          <a:lstStyle/>
          <a:p>
            <a:pPr indent="0" marL="0">
              <a:buNone/>
            </a:pPr>
            <a:r>
              <a:rPr lang="en-US" sz="950" b="1" spc="100" kern="0" dirty="0">
                <a:solidFill>
                  <a:srgbClr val="5B6477"/>
                </a:solidFill>
                <a:latin typeface="Calibri" pitchFamily="34" charset="0"/>
                <a:ea typeface="Calibri" pitchFamily="34" charset="-122"/>
                <a:cs typeface="Calibri" pitchFamily="34" charset="-120"/>
              </a:rPr>
              <a:t>OUR SKILL</a:t>
            </a:r>
            <a:endParaRPr lang="en-US" sz="950" dirty="0"/>
          </a:p>
        </p:txBody>
      </p:sp>
      <p:sp>
        <p:nvSpPr>
          <p:cNvPr id="12" name="Text 8"/>
          <p:cNvSpPr/>
          <p:nvPr/>
        </p:nvSpPr>
        <p:spPr>
          <a:xfrm>
            <a:off x="8961120" y="1508760"/>
            <a:ext cx="1645920" cy="228600"/>
          </a:xfrm>
          <a:prstGeom prst="rect">
            <a:avLst/>
          </a:prstGeom>
          <a:noFill/>
          <a:ln/>
        </p:spPr>
        <p:txBody>
          <a:bodyPr wrap="square" lIns="0" tIns="0" rIns="0" bIns="0" rtlCol="0" anchor="t"/>
          <a:lstStyle/>
          <a:p>
            <a:pPr indent="0" marL="0">
              <a:buNone/>
            </a:pPr>
            <a:r>
              <a:rPr lang="en-US" sz="950" b="1" spc="100" kern="0" dirty="0">
                <a:solidFill>
                  <a:srgbClr val="5B6477"/>
                </a:solidFill>
                <a:latin typeface="Calibri" pitchFamily="34" charset="0"/>
                <a:ea typeface="Calibri" pitchFamily="34" charset="-122"/>
                <a:cs typeface="Calibri" pitchFamily="34" charset="-120"/>
              </a:rPr>
              <a:t>PEOPLE FREE</a:t>
            </a:r>
            <a:endParaRPr lang="en-US" sz="950" dirty="0"/>
          </a:p>
        </p:txBody>
      </p:sp>
      <p:sp>
        <p:nvSpPr>
          <p:cNvPr id="13" name="Text 9"/>
          <p:cNvSpPr/>
          <p:nvPr/>
        </p:nvSpPr>
        <p:spPr>
          <a:xfrm>
            <a:off x="10607040" y="1508760"/>
            <a:ext cx="914400" cy="228600"/>
          </a:xfrm>
          <a:prstGeom prst="rect">
            <a:avLst/>
          </a:prstGeom>
          <a:noFill/>
          <a:ln/>
        </p:spPr>
        <p:txBody>
          <a:bodyPr wrap="square" lIns="0" tIns="0" rIns="0" bIns="0" rtlCol="0" anchor="t"/>
          <a:lstStyle/>
          <a:p>
            <a:pPr indent="0" marL="0">
              <a:buNone/>
            </a:pPr>
            <a:r>
              <a:rPr lang="en-US" sz="950" b="1" spc="100" kern="0" dirty="0">
                <a:solidFill>
                  <a:srgbClr val="5B6477"/>
                </a:solidFill>
                <a:latin typeface="Calibri" pitchFamily="34" charset="0"/>
                <a:ea typeface="Calibri" pitchFamily="34" charset="-122"/>
                <a:cs typeface="Calibri" pitchFamily="34" charset="-120"/>
              </a:rPr>
              <a:t>STATUS</a:t>
            </a:r>
            <a:endParaRPr lang="en-US" sz="950" dirty="0"/>
          </a:p>
        </p:txBody>
      </p:sp>
      <p:sp>
        <p:nvSpPr>
          <p:cNvPr id="14" name="Shape 10"/>
          <p:cNvSpPr/>
          <p:nvPr/>
        </p:nvSpPr>
        <p:spPr>
          <a:xfrm>
            <a:off x="548640" y="2231136"/>
            <a:ext cx="11094415" cy="9144"/>
          </a:xfrm>
          <a:prstGeom prst="rect">
            <a:avLst/>
          </a:prstGeom>
          <a:solidFill>
            <a:srgbClr val="DDE2EE"/>
          </a:solidFill>
          <a:ln w="12700">
            <a:solidFill>
              <a:srgbClr val="DDE2EE"/>
            </a:solidFill>
            <a:prstDash val="solid"/>
          </a:ln>
        </p:spPr>
      </p:sp>
      <p:pic>
        <p:nvPicPr>
          <p:cNvPr id="15" name="Image 1" descr="React logo">    </p:cNvPr>
          <p:cNvPicPr>
            <a:picLocks noChangeAspect="1"/>
          </p:cNvPicPr>
          <p:nvPr/>
        </p:nvPicPr>
        <p:blipFill>
          <a:blip r:embed="rId2"/>
          <a:stretch>
            <a:fillRect/>
          </a:stretch>
        </p:blipFill>
        <p:spPr>
          <a:xfrm>
            <a:off x="585216" y="1901952"/>
            <a:ext cx="256032" cy="256032"/>
          </a:xfrm>
          <a:prstGeom prst="rect">
            <a:avLst/>
          </a:prstGeom>
        </p:spPr>
      </p:pic>
      <p:sp>
        <p:nvSpPr>
          <p:cNvPr id="16" name="Text 11"/>
          <p:cNvSpPr/>
          <p:nvPr/>
        </p:nvSpPr>
        <p:spPr>
          <a:xfrm>
            <a:off x="1051560" y="1828800"/>
            <a:ext cx="2560320" cy="384048"/>
          </a:xfrm>
          <a:prstGeom prst="rect">
            <a:avLst/>
          </a:prstGeom>
          <a:noFill/>
          <a:ln/>
        </p:spPr>
        <p:txBody>
          <a:bodyPr wrap="square" lIns="0" tIns="0" rIns="0" bIns="0" rtlCol="0" anchor="ctr"/>
          <a:lstStyle/>
          <a:p>
            <a:pPr indent="0" marL="0">
              <a:buNone/>
            </a:pPr>
            <a:r>
              <a:rPr lang="en-US" sz="1300" b="1" dirty="0">
                <a:solidFill>
                  <a:srgbClr val="111827"/>
                </a:solidFill>
                <a:latin typeface="Calibri" pitchFamily="34" charset="0"/>
                <a:ea typeface="Calibri" pitchFamily="34" charset="-122"/>
                <a:cs typeface="Calibri" pitchFamily="34" charset="-120"/>
              </a:rPr>
              <a:t>React</a:t>
            </a:r>
            <a:endParaRPr lang="en-US" sz="1300" dirty="0"/>
          </a:p>
        </p:txBody>
      </p:sp>
      <p:sp>
        <p:nvSpPr>
          <p:cNvPr id="17" name="Text 12"/>
          <p:cNvSpPr/>
          <p:nvPr/>
        </p:nvSpPr>
        <p:spPr>
          <a:xfrm>
            <a:off x="3657600" y="1828800"/>
            <a:ext cx="2194560" cy="384048"/>
          </a:xfrm>
          <a:prstGeom prst="rect">
            <a:avLst/>
          </a:prstGeom>
          <a:noFill/>
          <a:ln/>
        </p:spPr>
        <p:txBody>
          <a:bodyPr wrap="square" lIns="0" tIns="0" rIns="0" bIns="0" rtlCol="0" anchor="ctr"/>
          <a:lstStyle/>
          <a:p>
            <a:pPr indent="0" marL="0">
              <a:buNone/>
            </a:pPr>
            <a:r>
              <a:rPr lang="en-US" sz="1100" dirty="0">
                <a:solidFill>
                  <a:srgbClr val="5B6477"/>
                </a:solidFill>
                <a:latin typeface="Calibri" pitchFamily="34" charset="0"/>
                <a:ea typeface="Calibri" pitchFamily="34" charset="-122"/>
                <a:cs typeface="Calibri" pitchFamily="34" charset="-120"/>
              </a:rPr>
              <a:t>Frontend framework</a:t>
            </a:r>
            <a:endParaRPr lang="en-US" sz="1100" dirty="0"/>
          </a:p>
        </p:txBody>
      </p:sp>
      <p:sp>
        <p:nvSpPr>
          <p:cNvPr id="18" name="Text 13"/>
          <p:cNvSpPr/>
          <p:nvPr/>
        </p:nvSpPr>
        <p:spPr>
          <a:xfrm>
            <a:off x="5943600" y="1828800"/>
            <a:ext cx="2926080" cy="384048"/>
          </a:xfrm>
          <a:prstGeom prst="rect">
            <a:avLst/>
          </a:prstGeom>
          <a:noFill/>
          <a:ln/>
        </p:spPr>
        <p:txBody>
          <a:bodyPr wrap="square" lIns="0" tIns="0" rIns="0" bIns="0" rtlCol="0" anchor="ctr"/>
          <a:lstStyle/>
          <a:p>
            <a:pPr indent="0" marL="0">
              <a:buNone/>
            </a:pPr>
            <a:r>
              <a:rPr lang="en-US" sz="1200" dirty="0">
                <a:solidFill>
                  <a:srgbClr val="111827"/>
                </a:solidFill>
                <a:latin typeface="Calibri" pitchFamily="34" charset="0"/>
                <a:ea typeface="Calibri" pitchFamily="34" charset="-122"/>
                <a:cs typeface="Calibri" pitchFamily="34" charset="-120"/>
              </a:rPr>
              <a:t>Next.js / React</a:t>
            </a:r>
            <a:endParaRPr lang="en-US" sz="1200" dirty="0"/>
          </a:p>
        </p:txBody>
      </p:sp>
      <p:sp>
        <p:nvSpPr>
          <p:cNvPr id="19" name="Text 14"/>
          <p:cNvSpPr/>
          <p:nvPr/>
        </p:nvSpPr>
        <p:spPr>
          <a:xfrm>
            <a:off x="8961120" y="1828800"/>
            <a:ext cx="1645920" cy="384048"/>
          </a:xfrm>
          <a:prstGeom prst="rect">
            <a:avLst/>
          </a:prstGeom>
          <a:noFill/>
          <a:ln/>
        </p:spPr>
        <p:txBody>
          <a:bodyPr wrap="square" lIns="0" tIns="0" rIns="0" bIns="0" rtlCol="0" anchor="ctr"/>
          <a:lstStyle/>
          <a:p>
            <a:pPr indent="0" marL="0">
              <a:buNone/>
            </a:pPr>
            <a:r>
              <a:rPr lang="en-US" sz="1100" dirty="0">
                <a:solidFill>
                  <a:srgbClr val="111827"/>
                </a:solidFill>
                <a:latin typeface="Calibri" pitchFamily="34" charset="0"/>
                <a:ea typeface="Calibri" pitchFamily="34" charset="-122"/>
                <a:cs typeface="Calibri" pitchFamily="34" charset="-120"/>
              </a:rPr>
              <a:t>5 of 12 · 2026-11-02</a:t>
            </a:r>
            <a:endParaRPr lang="en-US" sz="1100" dirty="0"/>
          </a:p>
        </p:txBody>
      </p:sp>
      <p:sp>
        <p:nvSpPr>
          <p:cNvPr id="20" name="Shape 15"/>
          <p:cNvSpPr/>
          <p:nvPr/>
        </p:nvSpPr>
        <p:spPr>
          <a:xfrm>
            <a:off x="10607040" y="1911096"/>
            <a:ext cx="868680" cy="246888"/>
          </a:xfrm>
          <a:prstGeom prst="roundRect">
            <a:avLst>
              <a:gd name="adj" fmla="val 37037"/>
            </a:avLst>
          </a:prstGeom>
          <a:solidFill>
            <a:srgbClr val="DFF5EA"/>
          </a:solidFill>
          <a:ln w="12700">
            <a:solidFill>
              <a:srgbClr val="DFF5EA"/>
            </a:solidFill>
            <a:prstDash val="solid"/>
          </a:ln>
        </p:spPr>
      </p:sp>
      <p:sp>
        <p:nvSpPr>
          <p:cNvPr id="21" name="Text 16"/>
          <p:cNvSpPr/>
          <p:nvPr/>
        </p:nvSpPr>
        <p:spPr>
          <a:xfrm>
            <a:off x="10607040" y="1911096"/>
            <a:ext cx="868680" cy="246888"/>
          </a:xfrm>
          <a:prstGeom prst="rect">
            <a:avLst/>
          </a:prstGeom>
          <a:noFill/>
          <a:ln/>
        </p:spPr>
        <p:txBody>
          <a:bodyPr wrap="square" lIns="0" tIns="0" rIns="0" bIns="0" rtlCol="0" anchor="ctr"/>
          <a:lstStyle/>
          <a:p>
            <a:pPr algn="ctr" indent="0" marL="0">
              <a:buNone/>
            </a:pPr>
            <a:r>
              <a:rPr lang="en-US" sz="1000" b="1" dirty="0">
                <a:solidFill>
                  <a:srgbClr val="0F9D6B"/>
                </a:solidFill>
                <a:latin typeface="Calibri" pitchFamily="34" charset="0"/>
                <a:ea typeface="Calibri" pitchFamily="34" charset="-122"/>
                <a:cs typeface="Calibri" pitchFamily="34" charset="-120"/>
              </a:rPr>
              <a:t>Strong</a:t>
            </a:r>
            <a:endParaRPr lang="en-US" sz="1000" dirty="0"/>
          </a:p>
        </p:txBody>
      </p:sp>
      <p:sp>
        <p:nvSpPr>
          <p:cNvPr id="22" name="Shape 17"/>
          <p:cNvSpPr/>
          <p:nvPr/>
        </p:nvSpPr>
        <p:spPr>
          <a:xfrm>
            <a:off x="548640" y="2651760"/>
            <a:ext cx="11094415" cy="9144"/>
          </a:xfrm>
          <a:prstGeom prst="rect">
            <a:avLst/>
          </a:prstGeom>
          <a:solidFill>
            <a:srgbClr val="DDE2EE"/>
          </a:solidFill>
          <a:ln w="12700">
            <a:solidFill>
              <a:srgbClr val="DDE2EE"/>
            </a:solidFill>
            <a:prstDash val="solid"/>
          </a:ln>
        </p:spPr>
      </p:sp>
      <p:pic>
        <p:nvPicPr>
          <p:cNvPr id="23" name="Image 2" descr="Google Analytics 4 logo">    </p:cNvPr>
          <p:cNvPicPr>
            <a:picLocks noChangeAspect="1"/>
          </p:cNvPicPr>
          <p:nvPr/>
        </p:nvPicPr>
        <p:blipFill>
          <a:blip r:embed="rId3"/>
          <a:stretch>
            <a:fillRect/>
          </a:stretch>
        </p:blipFill>
        <p:spPr>
          <a:xfrm>
            <a:off x="585216" y="2322576"/>
            <a:ext cx="256032" cy="256032"/>
          </a:xfrm>
          <a:prstGeom prst="rect">
            <a:avLst/>
          </a:prstGeom>
        </p:spPr>
      </p:pic>
      <p:sp>
        <p:nvSpPr>
          <p:cNvPr id="24" name="Text 18"/>
          <p:cNvSpPr/>
          <p:nvPr/>
        </p:nvSpPr>
        <p:spPr>
          <a:xfrm>
            <a:off x="1051560" y="2249424"/>
            <a:ext cx="2560320" cy="384048"/>
          </a:xfrm>
          <a:prstGeom prst="rect">
            <a:avLst/>
          </a:prstGeom>
          <a:noFill/>
          <a:ln/>
        </p:spPr>
        <p:txBody>
          <a:bodyPr wrap="square" lIns="0" tIns="0" rIns="0" bIns="0" rtlCol="0" anchor="ctr"/>
          <a:lstStyle/>
          <a:p>
            <a:pPr indent="0" marL="0">
              <a:buNone/>
            </a:pPr>
            <a:r>
              <a:rPr lang="en-US" sz="1300" b="1" dirty="0">
                <a:solidFill>
                  <a:srgbClr val="111827"/>
                </a:solidFill>
                <a:latin typeface="Calibri" pitchFamily="34" charset="0"/>
                <a:ea typeface="Calibri" pitchFamily="34" charset="-122"/>
                <a:cs typeface="Calibri" pitchFamily="34" charset="-120"/>
              </a:rPr>
              <a:t>Google Analytics 4</a:t>
            </a:r>
            <a:endParaRPr lang="en-US" sz="1300" dirty="0"/>
          </a:p>
        </p:txBody>
      </p:sp>
      <p:sp>
        <p:nvSpPr>
          <p:cNvPr id="25" name="Text 19"/>
          <p:cNvSpPr/>
          <p:nvPr/>
        </p:nvSpPr>
        <p:spPr>
          <a:xfrm>
            <a:off x="3657600" y="2249424"/>
            <a:ext cx="2194560" cy="384048"/>
          </a:xfrm>
          <a:prstGeom prst="rect">
            <a:avLst/>
          </a:prstGeom>
          <a:noFill/>
          <a:ln/>
        </p:spPr>
        <p:txBody>
          <a:bodyPr wrap="square" lIns="0" tIns="0" rIns="0" bIns="0" rtlCol="0" anchor="ctr"/>
          <a:lstStyle/>
          <a:p>
            <a:pPr indent="0" marL="0">
              <a:buNone/>
            </a:pPr>
            <a:r>
              <a:rPr lang="en-US" sz="1100" dirty="0">
                <a:solidFill>
                  <a:srgbClr val="5B6477"/>
                </a:solidFill>
                <a:latin typeface="Calibri" pitchFamily="34" charset="0"/>
                <a:ea typeface="Calibri" pitchFamily="34" charset="-122"/>
                <a:cs typeface="Calibri" pitchFamily="34" charset="-120"/>
              </a:rPr>
              <a:t>Analytics</a:t>
            </a:r>
            <a:endParaRPr lang="en-US" sz="1100" dirty="0"/>
          </a:p>
        </p:txBody>
      </p:sp>
      <p:sp>
        <p:nvSpPr>
          <p:cNvPr id="26" name="Text 20"/>
          <p:cNvSpPr/>
          <p:nvPr/>
        </p:nvSpPr>
        <p:spPr>
          <a:xfrm>
            <a:off x="5943600" y="2249424"/>
            <a:ext cx="2926080" cy="384048"/>
          </a:xfrm>
          <a:prstGeom prst="rect">
            <a:avLst/>
          </a:prstGeom>
          <a:noFill/>
          <a:ln/>
        </p:spPr>
        <p:txBody>
          <a:bodyPr wrap="square" lIns="0" tIns="0" rIns="0" bIns="0" rtlCol="0" anchor="ctr"/>
          <a:lstStyle/>
          <a:p>
            <a:pPr indent="0" marL="0">
              <a:buNone/>
            </a:pPr>
            <a:r>
              <a:rPr lang="en-US" sz="1200" dirty="0">
                <a:solidFill>
                  <a:srgbClr val="111827"/>
                </a:solidFill>
                <a:latin typeface="Calibri" pitchFamily="34" charset="0"/>
                <a:ea typeface="Calibri" pitchFamily="34" charset="-122"/>
                <a:cs typeface="Calibri" pitchFamily="34" charset="-120"/>
              </a:rPr>
              <a:t>Web analytics &amp; tag management</a:t>
            </a:r>
            <a:endParaRPr lang="en-US" sz="1200" dirty="0"/>
          </a:p>
        </p:txBody>
      </p:sp>
      <p:sp>
        <p:nvSpPr>
          <p:cNvPr id="27" name="Text 21"/>
          <p:cNvSpPr/>
          <p:nvPr/>
        </p:nvSpPr>
        <p:spPr>
          <a:xfrm>
            <a:off x="8961120" y="2249424"/>
            <a:ext cx="1645920" cy="384048"/>
          </a:xfrm>
          <a:prstGeom prst="rect">
            <a:avLst/>
          </a:prstGeom>
          <a:noFill/>
          <a:ln/>
        </p:spPr>
        <p:txBody>
          <a:bodyPr wrap="square" lIns="0" tIns="0" rIns="0" bIns="0" rtlCol="0" anchor="ctr"/>
          <a:lstStyle/>
          <a:p>
            <a:pPr indent="0" marL="0">
              <a:buNone/>
            </a:pPr>
            <a:r>
              <a:rPr lang="en-US" sz="1100" dirty="0">
                <a:solidFill>
                  <a:srgbClr val="111827"/>
                </a:solidFill>
                <a:latin typeface="Calibri" pitchFamily="34" charset="0"/>
                <a:ea typeface="Calibri" pitchFamily="34" charset="-122"/>
                <a:cs typeface="Calibri" pitchFamily="34" charset="-120"/>
              </a:rPr>
              <a:t>2 of 5 · 2026-11-02</a:t>
            </a:r>
            <a:endParaRPr lang="en-US" sz="1100" dirty="0"/>
          </a:p>
        </p:txBody>
      </p:sp>
      <p:sp>
        <p:nvSpPr>
          <p:cNvPr id="28" name="Shape 22"/>
          <p:cNvSpPr/>
          <p:nvPr/>
        </p:nvSpPr>
        <p:spPr>
          <a:xfrm>
            <a:off x="10607040" y="2331720"/>
            <a:ext cx="868680" cy="246888"/>
          </a:xfrm>
          <a:prstGeom prst="roundRect">
            <a:avLst>
              <a:gd name="adj" fmla="val 37037"/>
            </a:avLst>
          </a:prstGeom>
          <a:solidFill>
            <a:srgbClr val="DFF5EA"/>
          </a:solidFill>
          <a:ln w="12700">
            <a:solidFill>
              <a:srgbClr val="DFF5EA"/>
            </a:solidFill>
            <a:prstDash val="solid"/>
          </a:ln>
        </p:spPr>
      </p:sp>
      <p:sp>
        <p:nvSpPr>
          <p:cNvPr id="29" name="Text 23"/>
          <p:cNvSpPr/>
          <p:nvPr/>
        </p:nvSpPr>
        <p:spPr>
          <a:xfrm>
            <a:off x="10607040" y="2331720"/>
            <a:ext cx="868680" cy="246888"/>
          </a:xfrm>
          <a:prstGeom prst="rect">
            <a:avLst/>
          </a:prstGeom>
          <a:noFill/>
          <a:ln/>
        </p:spPr>
        <p:txBody>
          <a:bodyPr wrap="square" lIns="0" tIns="0" rIns="0" bIns="0" rtlCol="0" anchor="ctr"/>
          <a:lstStyle/>
          <a:p>
            <a:pPr algn="ctr" indent="0" marL="0">
              <a:buNone/>
            </a:pPr>
            <a:r>
              <a:rPr lang="en-US" sz="1000" b="1" dirty="0">
                <a:solidFill>
                  <a:srgbClr val="0F9D6B"/>
                </a:solidFill>
                <a:latin typeface="Calibri" pitchFamily="34" charset="0"/>
                <a:ea typeface="Calibri" pitchFamily="34" charset="-122"/>
                <a:cs typeface="Calibri" pitchFamily="34" charset="-120"/>
              </a:rPr>
              <a:t>Strong</a:t>
            </a:r>
            <a:endParaRPr lang="en-US" sz="1000" dirty="0"/>
          </a:p>
        </p:txBody>
      </p:sp>
      <p:sp>
        <p:nvSpPr>
          <p:cNvPr id="30" name="Shape 24"/>
          <p:cNvSpPr/>
          <p:nvPr/>
        </p:nvSpPr>
        <p:spPr>
          <a:xfrm>
            <a:off x="548640" y="3072384"/>
            <a:ext cx="11094415" cy="9144"/>
          </a:xfrm>
          <a:prstGeom prst="rect">
            <a:avLst/>
          </a:prstGeom>
          <a:solidFill>
            <a:srgbClr val="DDE2EE"/>
          </a:solidFill>
          <a:ln w="12700">
            <a:solidFill>
              <a:srgbClr val="DDE2EE"/>
            </a:solidFill>
            <a:prstDash val="solid"/>
          </a:ln>
        </p:spPr>
      </p:sp>
      <p:pic>
        <p:nvPicPr>
          <p:cNvPr id="31" name="Image 3" descr="Mixpanel logo">    </p:cNvPr>
          <p:cNvPicPr>
            <a:picLocks noChangeAspect="1"/>
          </p:cNvPicPr>
          <p:nvPr/>
        </p:nvPicPr>
        <p:blipFill>
          <a:blip r:embed="rId4"/>
          <a:stretch>
            <a:fillRect/>
          </a:stretch>
        </p:blipFill>
        <p:spPr>
          <a:xfrm>
            <a:off x="585216" y="2743200"/>
            <a:ext cx="256032" cy="256032"/>
          </a:xfrm>
          <a:prstGeom prst="rect">
            <a:avLst/>
          </a:prstGeom>
        </p:spPr>
      </p:pic>
      <p:sp>
        <p:nvSpPr>
          <p:cNvPr id="32" name="Text 25"/>
          <p:cNvSpPr/>
          <p:nvPr/>
        </p:nvSpPr>
        <p:spPr>
          <a:xfrm>
            <a:off x="1051560" y="2670048"/>
            <a:ext cx="2560320" cy="384048"/>
          </a:xfrm>
          <a:prstGeom prst="rect">
            <a:avLst/>
          </a:prstGeom>
          <a:noFill/>
          <a:ln/>
        </p:spPr>
        <p:txBody>
          <a:bodyPr wrap="square" lIns="0" tIns="0" rIns="0" bIns="0" rtlCol="0" anchor="ctr"/>
          <a:lstStyle/>
          <a:p>
            <a:pPr indent="0" marL="0">
              <a:buNone/>
            </a:pPr>
            <a:r>
              <a:rPr lang="en-US" sz="1300" b="1" dirty="0">
                <a:solidFill>
                  <a:srgbClr val="111827"/>
                </a:solidFill>
                <a:latin typeface="Calibri" pitchFamily="34" charset="0"/>
                <a:ea typeface="Calibri" pitchFamily="34" charset="-122"/>
                <a:cs typeface="Calibri" pitchFamily="34" charset="-120"/>
              </a:rPr>
              <a:t>Mixpanel</a:t>
            </a:r>
            <a:endParaRPr lang="en-US" sz="1300" dirty="0"/>
          </a:p>
        </p:txBody>
      </p:sp>
      <p:sp>
        <p:nvSpPr>
          <p:cNvPr id="33" name="Text 26"/>
          <p:cNvSpPr/>
          <p:nvPr/>
        </p:nvSpPr>
        <p:spPr>
          <a:xfrm>
            <a:off x="3657600" y="2670048"/>
            <a:ext cx="2194560" cy="384048"/>
          </a:xfrm>
          <a:prstGeom prst="rect">
            <a:avLst/>
          </a:prstGeom>
          <a:noFill/>
          <a:ln/>
        </p:spPr>
        <p:txBody>
          <a:bodyPr wrap="square" lIns="0" tIns="0" rIns="0" bIns="0" rtlCol="0" anchor="ctr"/>
          <a:lstStyle/>
          <a:p>
            <a:pPr indent="0" marL="0">
              <a:buNone/>
            </a:pPr>
            <a:r>
              <a:rPr lang="en-US" sz="1100" dirty="0">
                <a:solidFill>
                  <a:srgbClr val="5B6477"/>
                </a:solidFill>
                <a:latin typeface="Calibri" pitchFamily="34" charset="0"/>
                <a:ea typeface="Calibri" pitchFamily="34" charset="-122"/>
                <a:cs typeface="Calibri" pitchFamily="34" charset="-120"/>
              </a:rPr>
              <a:t>Analytics</a:t>
            </a:r>
            <a:endParaRPr lang="en-US" sz="1100" dirty="0"/>
          </a:p>
        </p:txBody>
      </p:sp>
      <p:sp>
        <p:nvSpPr>
          <p:cNvPr id="34" name="Text 27"/>
          <p:cNvSpPr/>
          <p:nvPr/>
        </p:nvSpPr>
        <p:spPr>
          <a:xfrm>
            <a:off x="5943600" y="2670048"/>
            <a:ext cx="2926080" cy="384048"/>
          </a:xfrm>
          <a:prstGeom prst="rect">
            <a:avLst/>
          </a:prstGeom>
          <a:noFill/>
          <a:ln/>
        </p:spPr>
        <p:txBody>
          <a:bodyPr wrap="square" lIns="0" tIns="0" rIns="0" bIns="0" rtlCol="0" anchor="ctr"/>
          <a:lstStyle/>
          <a:p>
            <a:pPr indent="0" marL="0">
              <a:buNone/>
            </a:pPr>
            <a:r>
              <a:rPr lang="en-US" sz="1200" dirty="0">
                <a:solidFill>
                  <a:srgbClr val="111827"/>
                </a:solidFill>
                <a:latin typeface="Calibri" pitchFamily="34" charset="0"/>
                <a:ea typeface="Calibri" pitchFamily="34" charset="-122"/>
                <a:cs typeface="Calibri" pitchFamily="34" charset="-120"/>
              </a:rPr>
              <a:t>Web analytics &amp; tag management</a:t>
            </a:r>
            <a:endParaRPr lang="en-US" sz="1200" dirty="0"/>
          </a:p>
        </p:txBody>
      </p:sp>
      <p:sp>
        <p:nvSpPr>
          <p:cNvPr id="35" name="Text 28"/>
          <p:cNvSpPr/>
          <p:nvPr/>
        </p:nvSpPr>
        <p:spPr>
          <a:xfrm>
            <a:off x="8961120" y="2670048"/>
            <a:ext cx="1645920" cy="384048"/>
          </a:xfrm>
          <a:prstGeom prst="rect">
            <a:avLst/>
          </a:prstGeom>
          <a:noFill/>
          <a:ln/>
        </p:spPr>
        <p:txBody>
          <a:bodyPr wrap="square" lIns="0" tIns="0" rIns="0" bIns="0" rtlCol="0" anchor="ctr"/>
          <a:lstStyle/>
          <a:p>
            <a:pPr indent="0" marL="0">
              <a:buNone/>
            </a:pPr>
            <a:r>
              <a:rPr lang="en-US" sz="1100" dirty="0">
                <a:solidFill>
                  <a:srgbClr val="111827"/>
                </a:solidFill>
                <a:latin typeface="Calibri" pitchFamily="34" charset="0"/>
                <a:ea typeface="Calibri" pitchFamily="34" charset="-122"/>
                <a:cs typeface="Calibri" pitchFamily="34" charset="-120"/>
              </a:rPr>
              <a:t>2 of 5 · 2026-11-02</a:t>
            </a:r>
            <a:endParaRPr lang="en-US" sz="1100" dirty="0"/>
          </a:p>
        </p:txBody>
      </p:sp>
      <p:sp>
        <p:nvSpPr>
          <p:cNvPr id="36" name="Shape 29"/>
          <p:cNvSpPr/>
          <p:nvPr/>
        </p:nvSpPr>
        <p:spPr>
          <a:xfrm>
            <a:off x="10607040" y="2752344"/>
            <a:ext cx="868680" cy="246888"/>
          </a:xfrm>
          <a:prstGeom prst="roundRect">
            <a:avLst>
              <a:gd name="adj" fmla="val 37037"/>
            </a:avLst>
          </a:prstGeom>
          <a:solidFill>
            <a:srgbClr val="DFF5EA"/>
          </a:solidFill>
          <a:ln w="12700">
            <a:solidFill>
              <a:srgbClr val="DFF5EA"/>
            </a:solidFill>
            <a:prstDash val="solid"/>
          </a:ln>
        </p:spPr>
      </p:sp>
      <p:sp>
        <p:nvSpPr>
          <p:cNvPr id="37" name="Text 30"/>
          <p:cNvSpPr/>
          <p:nvPr/>
        </p:nvSpPr>
        <p:spPr>
          <a:xfrm>
            <a:off x="10607040" y="2752344"/>
            <a:ext cx="868680" cy="246888"/>
          </a:xfrm>
          <a:prstGeom prst="rect">
            <a:avLst/>
          </a:prstGeom>
          <a:noFill/>
          <a:ln/>
        </p:spPr>
        <p:txBody>
          <a:bodyPr wrap="square" lIns="0" tIns="0" rIns="0" bIns="0" rtlCol="0" anchor="ctr"/>
          <a:lstStyle/>
          <a:p>
            <a:pPr algn="ctr" indent="0" marL="0">
              <a:buNone/>
            </a:pPr>
            <a:r>
              <a:rPr lang="en-US" sz="1000" b="1" dirty="0">
                <a:solidFill>
                  <a:srgbClr val="0F9D6B"/>
                </a:solidFill>
                <a:latin typeface="Calibri" pitchFamily="34" charset="0"/>
                <a:ea typeface="Calibri" pitchFamily="34" charset="-122"/>
                <a:cs typeface="Calibri" pitchFamily="34" charset="-120"/>
              </a:rPr>
              <a:t>Strong</a:t>
            </a:r>
            <a:endParaRPr lang="en-US" sz="1000" dirty="0"/>
          </a:p>
        </p:txBody>
      </p:sp>
      <p:sp>
        <p:nvSpPr>
          <p:cNvPr id="38" name="Shape 31"/>
          <p:cNvSpPr/>
          <p:nvPr/>
        </p:nvSpPr>
        <p:spPr>
          <a:xfrm>
            <a:off x="548640" y="3493008"/>
            <a:ext cx="11094415" cy="9144"/>
          </a:xfrm>
          <a:prstGeom prst="rect">
            <a:avLst/>
          </a:prstGeom>
          <a:solidFill>
            <a:srgbClr val="DDE2EE"/>
          </a:solidFill>
          <a:ln w="12700">
            <a:solidFill>
              <a:srgbClr val="DDE2EE"/>
            </a:solidFill>
            <a:prstDash val="solid"/>
          </a:ln>
        </p:spPr>
      </p:sp>
      <p:pic>
        <p:nvPicPr>
          <p:cNvPr id="39" name="Image 4" descr="Google Tag Manager logo">    </p:cNvPr>
          <p:cNvPicPr>
            <a:picLocks noChangeAspect="1"/>
          </p:cNvPicPr>
          <p:nvPr/>
        </p:nvPicPr>
        <p:blipFill>
          <a:blip r:embed="rId5"/>
          <a:stretch>
            <a:fillRect/>
          </a:stretch>
        </p:blipFill>
        <p:spPr>
          <a:xfrm>
            <a:off x="585216" y="3163824"/>
            <a:ext cx="256032" cy="256032"/>
          </a:xfrm>
          <a:prstGeom prst="rect">
            <a:avLst/>
          </a:prstGeom>
        </p:spPr>
      </p:pic>
      <p:sp>
        <p:nvSpPr>
          <p:cNvPr id="40" name="Text 32"/>
          <p:cNvSpPr/>
          <p:nvPr/>
        </p:nvSpPr>
        <p:spPr>
          <a:xfrm>
            <a:off x="1051560" y="3090672"/>
            <a:ext cx="2560320" cy="384048"/>
          </a:xfrm>
          <a:prstGeom prst="rect">
            <a:avLst/>
          </a:prstGeom>
          <a:noFill/>
          <a:ln/>
        </p:spPr>
        <p:txBody>
          <a:bodyPr wrap="square" lIns="0" tIns="0" rIns="0" bIns="0" rtlCol="0" anchor="ctr"/>
          <a:lstStyle/>
          <a:p>
            <a:pPr indent="0" marL="0">
              <a:buNone/>
            </a:pPr>
            <a:r>
              <a:rPr lang="en-US" sz="1300" b="1" dirty="0">
                <a:solidFill>
                  <a:srgbClr val="111827"/>
                </a:solidFill>
                <a:latin typeface="Calibri" pitchFamily="34" charset="0"/>
                <a:ea typeface="Calibri" pitchFamily="34" charset="-122"/>
                <a:cs typeface="Calibri" pitchFamily="34" charset="-120"/>
              </a:rPr>
              <a:t>Google Tag Manager</a:t>
            </a:r>
            <a:endParaRPr lang="en-US" sz="1300" dirty="0"/>
          </a:p>
        </p:txBody>
      </p:sp>
      <p:sp>
        <p:nvSpPr>
          <p:cNvPr id="41" name="Text 33"/>
          <p:cNvSpPr/>
          <p:nvPr/>
        </p:nvSpPr>
        <p:spPr>
          <a:xfrm>
            <a:off x="3657600" y="3090672"/>
            <a:ext cx="2194560" cy="384048"/>
          </a:xfrm>
          <a:prstGeom prst="rect">
            <a:avLst/>
          </a:prstGeom>
          <a:noFill/>
          <a:ln/>
        </p:spPr>
        <p:txBody>
          <a:bodyPr wrap="square" lIns="0" tIns="0" rIns="0" bIns="0" rtlCol="0" anchor="ctr"/>
          <a:lstStyle/>
          <a:p>
            <a:pPr indent="0" marL="0">
              <a:buNone/>
            </a:pPr>
            <a:r>
              <a:rPr lang="en-US" sz="1100" dirty="0">
                <a:solidFill>
                  <a:srgbClr val="5B6477"/>
                </a:solidFill>
                <a:latin typeface="Calibri" pitchFamily="34" charset="0"/>
                <a:ea typeface="Calibri" pitchFamily="34" charset="-122"/>
                <a:cs typeface="Calibri" pitchFamily="34" charset="-120"/>
              </a:rPr>
              <a:t>Tag manager</a:t>
            </a:r>
            <a:endParaRPr lang="en-US" sz="1100" dirty="0"/>
          </a:p>
        </p:txBody>
      </p:sp>
      <p:sp>
        <p:nvSpPr>
          <p:cNvPr id="42" name="Text 34"/>
          <p:cNvSpPr/>
          <p:nvPr/>
        </p:nvSpPr>
        <p:spPr>
          <a:xfrm>
            <a:off x="5943600" y="3090672"/>
            <a:ext cx="2926080" cy="384048"/>
          </a:xfrm>
          <a:prstGeom prst="rect">
            <a:avLst/>
          </a:prstGeom>
          <a:noFill/>
          <a:ln/>
        </p:spPr>
        <p:txBody>
          <a:bodyPr wrap="square" lIns="0" tIns="0" rIns="0" bIns="0" rtlCol="0" anchor="ctr"/>
          <a:lstStyle/>
          <a:p>
            <a:pPr indent="0" marL="0">
              <a:buNone/>
            </a:pPr>
            <a:r>
              <a:rPr lang="en-US" sz="1200" dirty="0">
                <a:solidFill>
                  <a:srgbClr val="111827"/>
                </a:solidFill>
                <a:latin typeface="Calibri" pitchFamily="34" charset="0"/>
                <a:ea typeface="Calibri" pitchFamily="34" charset="-122"/>
                <a:cs typeface="Calibri" pitchFamily="34" charset="-120"/>
              </a:rPr>
              <a:t>Web analytics &amp; tag management</a:t>
            </a:r>
            <a:endParaRPr lang="en-US" sz="1200" dirty="0"/>
          </a:p>
        </p:txBody>
      </p:sp>
      <p:sp>
        <p:nvSpPr>
          <p:cNvPr id="43" name="Text 35"/>
          <p:cNvSpPr/>
          <p:nvPr/>
        </p:nvSpPr>
        <p:spPr>
          <a:xfrm>
            <a:off x="8961120" y="3090672"/>
            <a:ext cx="1645920" cy="384048"/>
          </a:xfrm>
          <a:prstGeom prst="rect">
            <a:avLst/>
          </a:prstGeom>
          <a:noFill/>
          <a:ln/>
        </p:spPr>
        <p:txBody>
          <a:bodyPr wrap="square" lIns="0" tIns="0" rIns="0" bIns="0" rtlCol="0" anchor="ctr"/>
          <a:lstStyle/>
          <a:p>
            <a:pPr indent="0" marL="0">
              <a:buNone/>
            </a:pPr>
            <a:r>
              <a:rPr lang="en-US" sz="1100" dirty="0">
                <a:solidFill>
                  <a:srgbClr val="111827"/>
                </a:solidFill>
                <a:latin typeface="Calibri" pitchFamily="34" charset="0"/>
                <a:ea typeface="Calibri" pitchFamily="34" charset="-122"/>
                <a:cs typeface="Calibri" pitchFamily="34" charset="-120"/>
              </a:rPr>
              <a:t>2 of 5 · 2026-11-02</a:t>
            </a:r>
            <a:endParaRPr lang="en-US" sz="1100" dirty="0"/>
          </a:p>
        </p:txBody>
      </p:sp>
      <p:sp>
        <p:nvSpPr>
          <p:cNvPr id="44" name="Shape 36"/>
          <p:cNvSpPr/>
          <p:nvPr/>
        </p:nvSpPr>
        <p:spPr>
          <a:xfrm>
            <a:off x="10607040" y="3172968"/>
            <a:ext cx="868680" cy="246888"/>
          </a:xfrm>
          <a:prstGeom prst="roundRect">
            <a:avLst>
              <a:gd name="adj" fmla="val 37037"/>
            </a:avLst>
          </a:prstGeom>
          <a:solidFill>
            <a:srgbClr val="DFF5EA"/>
          </a:solidFill>
          <a:ln w="12700">
            <a:solidFill>
              <a:srgbClr val="DFF5EA"/>
            </a:solidFill>
            <a:prstDash val="solid"/>
          </a:ln>
        </p:spPr>
      </p:sp>
      <p:sp>
        <p:nvSpPr>
          <p:cNvPr id="45" name="Text 37"/>
          <p:cNvSpPr/>
          <p:nvPr/>
        </p:nvSpPr>
        <p:spPr>
          <a:xfrm>
            <a:off x="10607040" y="3172968"/>
            <a:ext cx="868680" cy="246888"/>
          </a:xfrm>
          <a:prstGeom prst="rect">
            <a:avLst/>
          </a:prstGeom>
          <a:noFill/>
          <a:ln/>
        </p:spPr>
        <p:txBody>
          <a:bodyPr wrap="square" lIns="0" tIns="0" rIns="0" bIns="0" rtlCol="0" anchor="ctr"/>
          <a:lstStyle/>
          <a:p>
            <a:pPr algn="ctr" indent="0" marL="0">
              <a:buNone/>
            </a:pPr>
            <a:r>
              <a:rPr lang="en-US" sz="1000" b="1" dirty="0">
                <a:solidFill>
                  <a:srgbClr val="0F9D6B"/>
                </a:solidFill>
                <a:latin typeface="Calibri" pitchFamily="34" charset="0"/>
                <a:ea typeface="Calibri" pitchFamily="34" charset="-122"/>
                <a:cs typeface="Calibri" pitchFamily="34" charset="-120"/>
              </a:rPr>
              <a:t>Strong</a:t>
            </a:r>
            <a:endParaRPr lang="en-US" sz="1000" dirty="0"/>
          </a:p>
        </p:txBody>
      </p:sp>
      <p:sp>
        <p:nvSpPr>
          <p:cNvPr id="46" name="Shape 38"/>
          <p:cNvSpPr/>
          <p:nvPr/>
        </p:nvSpPr>
        <p:spPr>
          <a:xfrm>
            <a:off x="548640" y="3913632"/>
            <a:ext cx="11094415" cy="9144"/>
          </a:xfrm>
          <a:prstGeom prst="rect">
            <a:avLst/>
          </a:prstGeom>
          <a:solidFill>
            <a:srgbClr val="DDE2EE"/>
          </a:solidFill>
          <a:ln w="12700">
            <a:solidFill>
              <a:srgbClr val="DDE2EE"/>
            </a:solidFill>
            <a:prstDash val="solid"/>
          </a:ln>
        </p:spPr>
      </p:sp>
      <p:pic>
        <p:nvPicPr>
          <p:cNvPr id="47" name="Image 5" descr="Akamai logo">    </p:cNvPr>
          <p:cNvPicPr>
            <a:picLocks noChangeAspect="1"/>
          </p:cNvPicPr>
          <p:nvPr/>
        </p:nvPicPr>
        <p:blipFill>
          <a:blip r:embed="rId6"/>
          <a:stretch>
            <a:fillRect/>
          </a:stretch>
        </p:blipFill>
        <p:spPr>
          <a:xfrm>
            <a:off x="585216" y="3584448"/>
            <a:ext cx="256032" cy="256032"/>
          </a:xfrm>
          <a:prstGeom prst="rect">
            <a:avLst/>
          </a:prstGeom>
        </p:spPr>
      </p:pic>
      <p:sp>
        <p:nvSpPr>
          <p:cNvPr id="48" name="Text 39"/>
          <p:cNvSpPr/>
          <p:nvPr/>
        </p:nvSpPr>
        <p:spPr>
          <a:xfrm>
            <a:off x="1051560" y="3511296"/>
            <a:ext cx="2560320" cy="384048"/>
          </a:xfrm>
          <a:prstGeom prst="rect">
            <a:avLst/>
          </a:prstGeom>
          <a:noFill/>
          <a:ln/>
        </p:spPr>
        <p:txBody>
          <a:bodyPr wrap="square" lIns="0" tIns="0" rIns="0" bIns="0" rtlCol="0" anchor="ctr"/>
          <a:lstStyle/>
          <a:p>
            <a:pPr indent="0" marL="0">
              <a:buNone/>
            </a:pPr>
            <a:r>
              <a:rPr lang="en-US" sz="1300" b="1" dirty="0">
                <a:solidFill>
                  <a:srgbClr val="111827"/>
                </a:solidFill>
                <a:latin typeface="Calibri" pitchFamily="34" charset="0"/>
                <a:ea typeface="Calibri" pitchFamily="34" charset="-122"/>
                <a:cs typeface="Calibri" pitchFamily="34" charset="-120"/>
              </a:rPr>
              <a:t>Akamai</a:t>
            </a:r>
            <a:endParaRPr lang="en-US" sz="1300" dirty="0"/>
          </a:p>
        </p:txBody>
      </p:sp>
      <p:sp>
        <p:nvSpPr>
          <p:cNvPr id="49" name="Text 40"/>
          <p:cNvSpPr/>
          <p:nvPr/>
        </p:nvSpPr>
        <p:spPr>
          <a:xfrm>
            <a:off x="3657600" y="3511296"/>
            <a:ext cx="2194560" cy="384048"/>
          </a:xfrm>
          <a:prstGeom prst="rect">
            <a:avLst/>
          </a:prstGeom>
          <a:noFill/>
          <a:ln/>
        </p:spPr>
        <p:txBody>
          <a:bodyPr wrap="square" lIns="0" tIns="0" rIns="0" bIns="0" rtlCol="0" anchor="ctr"/>
          <a:lstStyle/>
          <a:p>
            <a:pPr indent="0" marL="0">
              <a:buNone/>
            </a:pPr>
            <a:r>
              <a:rPr lang="en-US" sz="1100" dirty="0">
                <a:solidFill>
                  <a:srgbClr val="5B6477"/>
                </a:solidFill>
                <a:latin typeface="Calibri" pitchFamily="34" charset="0"/>
                <a:ea typeface="Calibri" pitchFamily="34" charset="-122"/>
                <a:cs typeface="Calibri" pitchFamily="34" charset="-120"/>
              </a:rPr>
              <a:t>CDN &amp; hosting</a:t>
            </a:r>
            <a:endParaRPr lang="en-US" sz="1100" dirty="0"/>
          </a:p>
        </p:txBody>
      </p:sp>
      <p:sp>
        <p:nvSpPr>
          <p:cNvPr id="50" name="Text 41"/>
          <p:cNvSpPr/>
          <p:nvPr/>
        </p:nvSpPr>
        <p:spPr>
          <a:xfrm>
            <a:off x="5943600" y="3511296"/>
            <a:ext cx="2926080" cy="384048"/>
          </a:xfrm>
          <a:prstGeom prst="rect">
            <a:avLst/>
          </a:prstGeom>
          <a:noFill/>
          <a:ln/>
        </p:spPr>
        <p:txBody>
          <a:bodyPr wrap="square" lIns="0" tIns="0" rIns="0" bIns="0" rtlCol="0" anchor="ctr"/>
          <a:lstStyle/>
          <a:p>
            <a:pPr indent="0" marL="0">
              <a:buNone/>
            </a:pPr>
            <a:r>
              <a:rPr lang="en-US" sz="1200" dirty="0">
                <a:solidFill>
                  <a:srgbClr val="111827"/>
                </a:solidFill>
                <a:latin typeface="Calibri" pitchFamily="34" charset="0"/>
                <a:ea typeface="Calibri" pitchFamily="34" charset="-122"/>
                <a:cs typeface="Calibri" pitchFamily="34" charset="-120"/>
              </a:rPr>
              <a:t>DevOps / CDN / cloud</a:t>
            </a:r>
            <a:endParaRPr lang="en-US" sz="1200" dirty="0"/>
          </a:p>
        </p:txBody>
      </p:sp>
      <p:sp>
        <p:nvSpPr>
          <p:cNvPr id="51" name="Text 42"/>
          <p:cNvSpPr/>
          <p:nvPr/>
        </p:nvSpPr>
        <p:spPr>
          <a:xfrm>
            <a:off x="8961120" y="3511296"/>
            <a:ext cx="1645920" cy="384048"/>
          </a:xfrm>
          <a:prstGeom prst="rect">
            <a:avLst/>
          </a:prstGeom>
          <a:noFill/>
          <a:ln/>
        </p:spPr>
        <p:txBody>
          <a:bodyPr wrap="square" lIns="0" tIns="0" rIns="0" bIns="0" rtlCol="0" anchor="ctr"/>
          <a:lstStyle/>
          <a:p>
            <a:pPr indent="0" marL="0">
              <a:buNone/>
            </a:pPr>
            <a:r>
              <a:rPr lang="en-US" sz="1100" dirty="0">
                <a:solidFill>
                  <a:srgbClr val="111827"/>
                </a:solidFill>
                <a:latin typeface="Calibri" pitchFamily="34" charset="0"/>
                <a:ea typeface="Calibri" pitchFamily="34" charset="-122"/>
                <a:cs typeface="Calibri" pitchFamily="34" charset="-120"/>
              </a:rPr>
              <a:t>2 of 6 · 2026-11-02</a:t>
            </a:r>
            <a:endParaRPr lang="en-US" sz="1100" dirty="0"/>
          </a:p>
        </p:txBody>
      </p:sp>
      <p:sp>
        <p:nvSpPr>
          <p:cNvPr id="52" name="Shape 43"/>
          <p:cNvSpPr/>
          <p:nvPr/>
        </p:nvSpPr>
        <p:spPr>
          <a:xfrm>
            <a:off x="10607040" y="3593592"/>
            <a:ext cx="868680" cy="246888"/>
          </a:xfrm>
          <a:prstGeom prst="roundRect">
            <a:avLst>
              <a:gd name="adj" fmla="val 37037"/>
            </a:avLst>
          </a:prstGeom>
          <a:solidFill>
            <a:srgbClr val="DFF5EA"/>
          </a:solidFill>
          <a:ln w="12700">
            <a:solidFill>
              <a:srgbClr val="DFF5EA"/>
            </a:solidFill>
            <a:prstDash val="solid"/>
          </a:ln>
        </p:spPr>
      </p:sp>
      <p:sp>
        <p:nvSpPr>
          <p:cNvPr id="53" name="Text 44"/>
          <p:cNvSpPr/>
          <p:nvPr/>
        </p:nvSpPr>
        <p:spPr>
          <a:xfrm>
            <a:off x="10607040" y="3593592"/>
            <a:ext cx="868680" cy="246888"/>
          </a:xfrm>
          <a:prstGeom prst="rect">
            <a:avLst/>
          </a:prstGeom>
          <a:noFill/>
          <a:ln/>
        </p:spPr>
        <p:txBody>
          <a:bodyPr wrap="square" lIns="0" tIns="0" rIns="0" bIns="0" rtlCol="0" anchor="ctr"/>
          <a:lstStyle/>
          <a:p>
            <a:pPr algn="ctr" indent="0" marL="0">
              <a:buNone/>
            </a:pPr>
            <a:r>
              <a:rPr lang="en-US" sz="1000" b="1" dirty="0">
                <a:solidFill>
                  <a:srgbClr val="0F9D6B"/>
                </a:solidFill>
                <a:latin typeface="Calibri" pitchFamily="34" charset="0"/>
                <a:ea typeface="Calibri" pitchFamily="34" charset="-122"/>
                <a:cs typeface="Calibri" pitchFamily="34" charset="-120"/>
              </a:rPr>
              <a:t>Strong</a:t>
            </a:r>
            <a:endParaRPr lang="en-US" sz="1000" dirty="0"/>
          </a:p>
        </p:txBody>
      </p:sp>
      <p:sp>
        <p:nvSpPr>
          <p:cNvPr id="54" name="Shape 45"/>
          <p:cNvSpPr/>
          <p:nvPr/>
        </p:nvSpPr>
        <p:spPr>
          <a:xfrm>
            <a:off x="548640" y="4334256"/>
            <a:ext cx="11094415" cy="9144"/>
          </a:xfrm>
          <a:prstGeom prst="rect">
            <a:avLst/>
          </a:prstGeom>
          <a:solidFill>
            <a:srgbClr val="DDE2EE"/>
          </a:solidFill>
          <a:ln w="12700">
            <a:solidFill>
              <a:srgbClr val="DDE2EE"/>
            </a:solidFill>
            <a:prstDash val="solid"/>
          </a:ln>
        </p:spPr>
      </p:sp>
      <p:pic>
        <p:nvPicPr>
          <p:cNvPr id="55" name="Image 6" descr="PHP logo">    </p:cNvPr>
          <p:cNvPicPr>
            <a:picLocks noChangeAspect="1"/>
          </p:cNvPicPr>
          <p:nvPr/>
        </p:nvPicPr>
        <p:blipFill>
          <a:blip r:embed="rId7"/>
          <a:stretch>
            <a:fillRect/>
          </a:stretch>
        </p:blipFill>
        <p:spPr>
          <a:xfrm>
            <a:off x="585216" y="4005072"/>
            <a:ext cx="256032" cy="256032"/>
          </a:xfrm>
          <a:prstGeom prst="rect">
            <a:avLst/>
          </a:prstGeom>
        </p:spPr>
      </p:pic>
      <p:sp>
        <p:nvSpPr>
          <p:cNvPr id="56" name="Text 46"/>
          <p:cNvSpPr/>
          <p:nvPr/>
        </p:nvSpPr>
        <p:spPr>
          <a:xfrm>
            <a:off x="1051560" y="3931920"/>
            <a:ext cx="2560320" cy="384048"/>
          </a:xfrm>
          <a:prstGeom prst="rect">
            <a:avLst/>
          </a:prstGeom>
          <a:noFill/>
          <a:ln/>
        </p:spPr>
        <p:txBody>
          <a:bodyPr wrap="square" lIns="0" tIns="0" rIns="0" bIns="0" rtlCol="0" anchor="ctr"/>
          <a:lstStyle/>
          <a:p>
            <a:pPr indent="0" marL="0">
              <a:buNone/>
            </a:pPr>
            <a:r>
              <a:rPr lang="en-US" sz="1300" b="1" dirty="0">
                <a:solidFill>
                  <a:srgbClr val="111827"/>
                </a:solidFill>
                <a:latin typeface="Calibri" pitchFamily="34" charset="0"/>
                <a:ea typeface="Calibri" pitchFamily="34" charset="-122"/>
                <a:cs typeface="Calibri" pitchFamily="34" charset="-120"/>
              </a:rPr>
              <a:t>PHP</a:t>
            </a:r>
            <a:endParaRPr lang="en-US" sz="1300" dirty="0"/>
          </a:p>
        </p:txBody>
      </p:sp>
      <p:sp>
        <p:nvSpPr>
          <p:cNvPr id="57" name="Text 47"/>
          <p:cNvSpPr/>
          <p:nvPr/>
        </p:nvSpPr>
        <p:spPr>
          <a:xfrm>
            <a:off x="3657600" y="3931920"/>
            <a:ext cx="2194560" cy="384048"/>
          </a:xfrm>
          <a:prstGeom prst="rect">
            <a:avLst/>
          </a:prstGeom>
          <a:noFill/>
          <a:ln/>
        </p:spPr>
        <p:txBody>
          <a:bodyPr wrap="square" lIns="0" tIns="0" rIns="0" bIns="0" rtlCol="0" anchor="ctr"/>
          <a:lstStyle/>
          <a:p>
            <a:pPr indent="0" marL="0">
              <a:buNone/>
            </a:pPr>
            <a:r>
              <a:rPr lang="en-US" sz="1100" dirty="0">
                <a:solidFill>
                  <a:srgbClr val="5B6477"/>
                </a:solidFill>
                <a:latin typeface="Calibri" pitchFamily="34" charset="0"/>
                <a:ea typeface="Calibri" pitchFamily="34" charset="-122"/>
                <a:cs typeface="Calibri" pitchFamily="34" charset="-120"/>
              </a:rPr>
              <a:t>Server &amp; language</a:t>
            </a:r>
            <a:endParaRPr lang="en-US" sz="1100" dirty="0"/>
          </a:p>
        </p:txBody>
      </p:sp>
      <p:sp>
        <p:nvSpPr>
          <p:cNvPr id="58" name="Text 48"/>
          <p:cNvSpPr/>
          <p:nvPr/>
        </p:nvSpPr>
        <p:spPr>
          <a:xfrm>
            <a:off x="5943600" y="3931920"/>
            <a:ext cx="2926080" cy="384048"/>
          </a:xfrm>
          <a:prstGeom prst="rect">
            <a:avLst/>
          </a:prstGeom>
          <a:noFill/>
          <a:ln/>
        </p:spPr>
        <p:txBody>
          <a:bodyPr wrap="square" lIns="0" tIns="0" rIns="0" bIns="0" rtlCol="0" anchor="ctr"/>
          <a:lstStyle/>
          <a:p>
            <a:pPr indent="0" marL="0">
              <a:buNone/>
            </a:pPr>
            <a:r>
              <a:rPr lang="en-US" sz="1200" dirty="0">
                <a:solidFill>
                  <a:srgbClr val="111827"/>
                </a:solidFill>
                <a:latin typeface="Calibri" pitchFamily="34" charset="0"/>
                <a:ea typeface="Calibri" pitchFamily="34" charset="-122"/>
                <a:cs typeface="Calibri" pitchFamily="34" charset="-120"/>
              </a:rPr>
              <a:t>PHP</a:t>
            </a:r>
            <a:endParaRPr lang="en-US" sz="1200" dirty="0"/>
          </a:p>
        </p:txBody>
      </p:sp>
      <p:sp>
        <p:nvSpPr>
          <p:cNvPr id="59" name="Text 49"/>
          <p:cNvSpPr/>
          <p:nvPr/>
        </p:nvSpPr>
        <p:spPr>
          <a:xfrm>
            <a:off x="8961120" y="3931920"/>
            <a:ext cx="1645920" cy="384048"/>
          </a:xfrm>
          <a:prstGeom prst="rect">
            <a:avLst/>
          </a:prstGeom>
          <a:noFill/>
          <a:ln/>
        </p:spPr>
        <p:txBody>
          <a:bodyPr wrap="square" lIns="0" tIns="0" rIns="0" bIns="0" rtlCol="0" anchor="ctr"/>
          <a:lstStyle/>
          <a:p>
            <a:pPr indent="0" marL="0">
              <a:buNone/>
            </a:pPr>
            <a:r>
              <a:rPr lang="en-US" sz="1100" dirty="0">
                <a:solidFill>
                  <a:srgbClr val="111827"/>
                </a:solidFill>
                <a:latin typeface="Calibri" pitchFamily="34" charset="0"/>
                <a:ea typeface="Calibri" pitchFamily="34" charset="-122"/>
                <a:cs typeface="Calibri" pitchFamily="34" charset="-120"/>
              </a:rPr>
              <a:t>1 of 4 · 2026-11-09</a:t>
            </a:r>
            <a:endParaRPr lang="en-US" sz="1100" dirty="0"/>
          </a:p>
        </p:txBody>
      </p:sp>
      <p:sp>
        <p:nvSpPr>
          <p:cNvPr id="60" name="Shape 50"/>
          <p:cNvSpPr/>
          <p:nvPr/>
        </p:nvSpPr>
        <p:spPr>
          <a:xfrm>
            <a:off x="10607040" y="4014216"/>
            <a:ext cx="868680" cy="246888"/>
          </a:xfrm>
          <a:prstGeom prst="roundRect">
            <a:avLst>
              <a:gd name="adj" fmla="val 37037"/>
            </a:avLst>
          </a:prstGeom>
          <a:solidFill>
            <a:srgbClr val="FDF0D5"/>
          </a:solidFill>
          <a:ln w="12700">
            <a:solidFill>
              <a:srgbClr val="FDF0D5"/>
            </a:solidFill>
            <a:prstDash val="solid"/>
          </a:ln>
        </p:spPr>
      </p:sp>
      <p:sp>
        <p:nvSpPr>
          <p:cNvPr id="61" name="Text 51"/>
          <p:cNvSpPr/>
          <p:nvPr/>
        </p:nvSpPr>
        <p:spPr>
          <a:xfrm>
            <a:off x="10607040" y="4014216"/>
            <a:ext cx="868680" cy="246888"/>
          </a:xfrm>
          <a:prstGeom prst="rect">
            <a:avLst/>
          </a:prstGeom>
          <a:noFill/>
          <a:ln/>
        </p:spPr>
        <p:txBody>
          <a:bodyPr wrap="square" lIns="0" tIns="0" rIns="0" bIns="0" rtlCol="0" anchor="ctr"/>
          <a:lstStyle/>
          <a:p>
            <a:pPr algn="ctr" indent="0" marL="0">
              <a:buNone/>
            </a:pPr>
            <a:r>
              <a:rPr lang="en-US" sz="1000" b="1" dirty="0">
                <a:solidFill>
                  <a:srgbClr val="B7791F"/>
                </a:solidFill>
                <a:latin typeface="Calibri" pitchFamily="34" charset="0"/>
                <a:ea typeface="Calibri" pitchFamily="34" charset="-122"/>
                <a:cs typeface="Calibri" pitchFamily="34" charset="-120"/>
              </a:rPr>
              <a:t>Partial</a:t>
            </a:r>
            <a:endParaRPr lang="en-US" sz="1000" dirty="0"/>
          </a:p>
        </p:txBody>
      </p:sp>
      <p:sp>
        <p:nvSpPr>
          <p:cNvPr id="62" name="Shape 52"/>
          <p:cNvSpPr/>
          <p:nvPr/>
        </p:nvSpPr>
        <p:spPr>
          <a:xfrm>
            <a:off x="548640" y="5440680"/>
            <a:ext cx="3566160" cy="914400"/>
          </a:xfrm>
          <a:prstGeom prst="roundRect">
            <a:avLst>
              <a:gd name="adj" fmla="val 10000"/>
            </a:avLst>
          </a:prstGeom>
          <a:solidFill>
            <a:srgbClr val="FFFFFF"/>
          </a:solidFill>
          <a:ln w="12700">
            <a:solidFill>
              <a:srgbClr val="DDE2EE"/>
            </a:solidFill>
            <a:prstDash val="solid"/>
          </a:ln>
        </p:spPr>
      </p:sp>
      <p:sp>
        <p:nvSpPr>
          <p:cNvPr id="63" name="Text 53"/>
          <p:cNvSpPr/>
          <p:nvPr/>
        </p:nvSpPr>
        <p:spPr>
          <a:xfrm>
            <a:off x="731520" y="5550408"/>
            <a:ext cx="3200400" cy="502920"/>
          </a:xfrm>
          <a:prstGeom prst="rect">
            <a:avLst/>
          </a:prstGeom>
          <a:noFill/>
          <a:ln/>
        </p:spPr>
        <p:txBody>
          <a:bodyPr wrap="square" lIns="0" tIns="0" rIns="0" bIns="0" rtlCol="0" anchor="ctr"/>
          <a:lstStyle/>
          <a:p>
            <a:pPr indent="0" marL="0">
              <a:buNone/>
            </a:pPr>
            <a:r>
              <a:rPr lang="en-US" sz="2800" b="1" dirty="0">
                <a:solidFill>
                  <a:srgbClr val="0F9D6B"/>
                </a:solidFill>
                <a:latin typeface="Calibri" pitchFamily="34" charset="0"/>
                <a:ea typeface="Calibri" pitchFamily="34" charset="-122"/>
                <a:cs typeface="Calibri" pitchFamily="34" charset="-120"/>
              </a:rPr>
              <a:t>93%</a:t>
            </a:r>
            <a:endParaRPr lang="en-US" sz="2800" dirty="0"/>
          </a:p>
        </p:txBody>
      </p:sp>
      <p:sp>
        <p:nvSpPr>
          <p:cNvPr id="64" name="Text 54"/>
          <p:cNvSpPr/>
          <p:nvPr/>
        </p:nvSpPr>
        <p:spPr>
          <a:xfrm>
            <a:off x="731520" y="6035040"/>
            <a:ext cx="3200400" cy="274320"/>
          </a:xfrm>
          <a:prstGeom prst="rect">
            <a:avLst/>
          </a:prstGeom>
          <a:noFill/>
          <a:ln/>
        </p:spPr>
        <p:txBody>
          <a:bodyPr wrap="square" lIns="0" tIns="0" rIns="0" bIns="0" rtlCol="0" anchor="t"/>
          <a:lstStyle/>
          <a:p>
            <a:pPr indent="0" marL="0">
              <a:buNone/>
            </a:pPr>
            <a:r>
              <a:rPr lang="en-US" sz="1100" dirty="0">
                <a:solidFill>
                  <a:srgbClr val="5B6477"/>
                </a:solidFill>
                <a:latin typeface="Calibri" pitchFamily="34" charset="0"/>
                <a:ea typeface="Calibri" pitchFamily="34" charset="-122"/>
                <a:cs typeface="Calibri" pitchFamily="34" charset="-120"/>
              </a:rPr>
              <a:t>of your platform stack we can staff now</a:t>
            </a:r>
            <a:endParaRPr lang="en-US" sz="1100" dirty="0"/>
          </a:p>
        </p:txBody>
      </p:sp>
      <p:sp>
        <p:nvSpPr>
          <p:cNvPr id="65" name="Text 55"/>
          <p:cNvSpPr/>
          <p:nvPr/>
        </p:nvSpPr>
        <p:spPr>
          <a:xfrm>
            <a:off x="4389120" y="5577840"/>
            <a:ext cx="7223760" cy="640080"/>
          </a:xfrm>
          <a:prstGeom prst="rect">
            <a:avLst/>
          </a:prstGeom>
          <a:noFill/>
          <a:ln/>
        </p:spPr>
        <p:txBody>
          <a:bodyPr wrap="square" lIns="0" tIns="0" rIns="0" bIns="0" rtlCol="0" anchor="t"/>
          <a:lstStyle/>
          <a:p>
            <a:pPr indent="0" marL="0">
              <a:buNone/>
            </a:pPr>
            <a:r>
              <a:rPr lang="en-US" sz="1100" dirty="0">
                <a:solidFill>
                  <a:srgbClr val="5B6477"/>
                </a:solidFill>
                <a:latin typeface="Calibri" pitchFamily="34" charset="0"/>
                <a:ea typeface="Calibri" pitchFamily="34" charset="-122"/>
                <a:cs typeface="Calibri" pitchFamily="34" charset="-120"/>
              </a:rPr>
              <a:t>Strong: skilled and two or more people free. Partial: some capacity. Gap: nobody free, so we plan a partner or a hire.</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6FB"/>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2D69E2"/>
          </a:solidFill>
          <a:ln w="12700">
            <a:solidFill>
              <a:srgbClr val="2D69E2"/>
            </a:solidFill>
            <a:prstDash val="solid"/>
          </a:ln>
        </p:spPr>
      </p:sp>
      <p:sp>
        <p:nvSpPr>
          <p:cNvPr id="3" name="Text 1"/>
          <p:cNvSpPr/>
          <p:nvPr/>
        </p:nvSpPr>
        <p:spPr>
          <a:xfrm>
            <a:off x="548640" y="347472"/>
            <a:ext cx="8229600" cy="274320"/>
          </a:xfrm>
          <a:prstGeom prst="rect">
            <a:avLst/>
          </a:prstGeom>
          <a:noFill/>
          <a:ln/>
        </p:spPr>
        <p:txBody>
          <a:bodyPr wrap="square" lIns="0" tIns="0" rIns="0" bIns="0" rtlCol="0" anchor="t"/>
          <a:lstStyle/>
          <a:p>
            <a:pPr indent="0" marL="0">
              <a:buNone/>
            </a:pPr>
            <a:r>
              <a:rPr lang="en-US" sz="1100" b="1" spc="300" kern="0" dirty="0">
                <a:solidFill>
                  <a:srgbClr val="2D69E2"/>
                </a:solidFill>
                <a:latin typeface="Calibri" pitchFamily="34" charset="0"/>
                <a:ea typeface="Calibri" pitchFamily="34" charset="-122"/>
                <a:cs typeface="Calibri" pitchFamily="34" charset="-120"/>
              </a:rPr>
              <a:t>CONCEPT REDESIGN</a:t>
            </a:r>
            <a:endParaRPr lang="en-US" sz="1100" dirty="0"/>
          </a:p>
        </p:txBody>
      </p:sp>
      <p:sp>
        <p:nvSpPr>
          <p:cNvPr id="4" name="Text 2"/>
          <p:cNvSpPr/>
          <p:nvPr/>
        </p:nvSpPr>
        <p:spPr>
          <a:xfrm>
            <a:off x="548640" y="621792"/>
            <a:ext cx="9326880" cy="731520"/>
          </a:xfrm>
          <a:prstGeom prst="rect">
            <a:avLst/>
          </a:prstGeom>
          <a:noFill/>
          <a:ln/>
        </p:spPr>
        <p:txBody>
          <a:bodyPr wrap="square" lIns="0" tIns="0" rIns="0" bIns="0" rtlCol="0" anchor="t">
            <a:normAutofit/>
          </a:bodyPr>
          <a:lstStyle/>
          <a:p>
            <a:pPr indent="0" marL="0">
              <a:buNone/>
            </a:pPr>
            <a:r>
              <a:rPr lang="en-US" sz="2800" b="1" dirty="0">
                <a:solidFill>
                  <a:srgbClr val="0B1B5E"/>
                </a:solidFill>
                <a:latin typeface="Calibri" pitchFamily="34" charset="0"/>
                <a:ea typeface="Calibri" pitchFamily="34" charset="-122"/>
                <a:cs typeface="Calibri" pitchFamily="34" charset="-120"/>
              </a:rPr>
              <a:t>Your own homepage, improved</a:t>
            </a:r>
            <a:endParaRPr lang="en-US" sz="2800" dirty="0"/>
          </a:p>
        </p:txBody>
      </p:sp>
      <p:pic>
        <p:nvPicPr>
          <p:cNvPr id="5" name="Image 0" descr="Samsung logo">    </p:cNvPr>
          <p:cNvPicPr>
            <a:picLocks noChangeAspect="1"/>
          </p:cNvPicPr>
          <p:nvPr/>
        </p:nvPicPr>
        <p:blipFill>
          <a:blip r:embed="rId1"/>
          <a:stretch>
            <a:fillRect/>
          </a:stretch>
        </p:blipFill>
        <p:spPr>
          <a:xfrm>
            <a:off x="10454335" y="347472"/>
            <a:ext cx="1188720" cy="377258"/>
          </a:xfrm>
          <a:prstGeom prst="rect">
            <a:avLst/>
          </a:prstGeom>
        </p:spPr>
      </p:pic>
      <p:sp>
        <p:nvSpPr>
          <p:cNvPr id="6" name="Text 3"/>
          <p:cNvSpPr/>
          <p:nvPr/>
        </p:nvSpPr>
        <p:spPr>
          <a:xfrm>
            <a:off x="548640" y="6446520"/>
            <a:ext cx="7315200" cy="256032"/>
          </a:xfrm>
          <a:prstGeom prst="rect">
            <a:avLst/>
          </a:prstGeom>
          <a:noFill/>
          <a:ln/>
        </p:spPr>
        <p:txBody>
          <a:bodyPr wrap="square" lIns="0" tIns="0" rIns="0" bIns="0" rtlCol="0" anchor="t"/>
          <a:lstStyle/>
          <a:p>
            <a:pPr indent="0" marL="0">
              <a:buNone/>
            </a:pPr>
            <a:r>
              <a:rPr lang="en-US" sz="1000" dirty="0">
                <a:solidFill>
                  <a:srgbClr val="5B6477"/>
                </a:solidFill>
                <a:latin typeface="Calibri" pitchFamily="34" charset="0"/>
                <a:ea typeface="Calibri" pitchFamily="34" charset="-122"/>
                <a:cs typeface="Calibri" pitchFamily="34" charset="-120"/>
              </a:rPr>
              <a:t>Nike. Just Do It. Nike IN  ·  Prepared by Samsung SDS</a:t>
            </a:r>
            <a:endParaRPr lang="en-US" sz="1000" dirty="0"/>
          </a:p>
        </p:txBody>
      </p:sp>
      <p:sp>
        <p:nvSpPr>
          <p:cNvPr id="7" name="Text 4"/>
          <p:cNvSpPr/>
          <p:nvPr/>
        </p:nvSpPr>
        <p:spPr>
          <a:xfrm>
            <a:off x="11185855" y="6446520"/>
            <a:ext cx="457200" cy="256032"/>
          </a:xfrm>
          <a:prstGeom prst="rect">
            <a:avLst/>
          </a:prstGeom>
          <a:noFill/>
          <a:ln/>
        </p:spPr>
        <p:txBody>
          <a:bodyPr wrap="square" lIns="0" tIns="0" rIns="0" bIns="0" rtlCol="0" anchor="t"/>
          <a:lstStyle/>
          <a:p>
            <a:pPr algn="r" indent="0" marL="0">
              <a:buNone/>
            </a:pPr>
            <a:r>
              <a:rPr lang="en-US" sz="1000" dirty="0">
                <a:solidFill>
                  <a:srgbClr val="5B6477"/>
                </a:solidFill>
                <a:latin typeface="Calibri" pitchFamily="34" charset="0"/>
                <a:ea typeface="Calibri" pitchFamily="34" charset="-122"/>
                <a:cs typeface="Calibri" pitchFamily="34" charset="-120"/>
              </a:rPr>
              <a:t>8</a:t>
            </a:r>
            <a:endParaRPr lang="en-US" sz="1000" dirty="0"/>
          </a:p>
        </p:txBody>
      </p:sp>
      <p:sp>
        <p:nvSpPr>
          <p:cNvPr id="9" name="Shape 5"/>
          <p:cNvSpPr/>
          <p:nvPr/>
        </p:nvSpPr>
        <p:spPr>
          <a:xfrm>
            <a:off x="548640" y="1508760"/>
            <a:ext cx="5394960" cy="3246120"/>
          </a:xfrm>
          <a:prstGeom prst="roundRect">
            <a:avLst>
              <a:gd name="adj" fmla="val 2817"/>
            </a:avLst>
          </a:prstGeom>
          <a:solidFill>
            <a:srgbClr val="FFFFFF"/>
          </a:solidFill>
          <a:ln w="12700">
            <a:solidFill>
              <a:srgbClr val="5B6477"/>
            </a:solidFill>
            <a:prstDash val="solid"/>
          </a:ln>
        </p:spPr>
      </p:sp>
      <p:pic>
        <p:nvPicPr>
          <p:cNvPr id="10" name="Image 1" descr="/Users/manish/Development/Workspace/samsung/digithon-2026/.worktrees/ppt-eval/runs/mvpmet3q0sc1/shot-desktop.png">    </p:cNvPr>
          <p:cNvPicPr>
            <a:picLocks noChangeAspect="1"/>
          </p:cNvPicPr>
          <p:nvPr/>
        </p:nvPicPr>
        <p:blipFill>
          <a:blip r:embed="rId2"/>
          <a:srcRect l="0" r="0" t="0" b="0"/>
          <a:stretch/>
        </p:blipFill>
        <p:spPr>
          <a:xfrm>
            <a:off x="594360" y="1554480"/>
            <a:ext cx="5303520" cy="3154680"/>
          </a:xfrm>
          <a:prstGeom prst="rect">
            <a:avLst/>
          </a:prstGeom>
        </p:spPr>
      </p:pic>
      <p:sp>
        <p:nvSpPr>
          <p:cNvPr id="11" name="Shape 6"/>
          <p:cNvSpPr/>
          <p:nvPr/>
        </p:nvSpPr>
        <p:spPr>
          <a:xfrm>
            <a:off x="685800" y="1664208"/>
            <a:ext cx="868680" cy="246888"/>
          </a:xfrm>
          <a:prstGeom prst="roundRect">
            <a:avLst>
              <a:gd name="adj" fmla="val 37037"/>
            </a:avLst>
          </a:prstGeom>
          <a:solidFill>
            <a:srgbClr val="5B6477"/>
          </a:solidFill>
          <a:ln w="12700">
            <a:solidFill>
              <a:srgbClr val="5B6477"/>
            </a:solidFill>
            <a:prstDash val="solid"/>
          </a:ln>
        </p:spPr>
      </p:sp>
      <p:sp>
        <p:nvSpPr>
          <p:cNvPr id="12" name="Text 7"/>
          <p:cNvSpPr/>
          <p:nvPr/>
        </p:nvSpPr>
        <p:spPr>
          <a:xfrm>
            <a:off x="685800" y="1664208"/>
            <a:ext cx="868680" cy="24688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TODAY</a:t>
            </a:r>
            <a:endParaRPr lang="en-US" sz="1000" dirty="0"/>
          </a:p>
        </p:txBody>
      </p:sp>
      <p:sp>
        <p:nvSpPr>
          <p:cNvPr id="13" name="Shape 8"/>
          <p:cNvSpPr/>
          <p:nvPr/>
        </p:nvSpPr>
        <p:spPr>
          <a:xfrm>
            <a:off x="6245352" y="1508760"/>
            <a:ext cx="5394960" cy="3246120"/>
          </a:xfrm>
          <a:prstGeom prst="roundRect">
            <a:avLst>
              <a:gd name="adj" fmla="val 2817"/>
            </a:avLst>
          </a:prstGeom>
          <a:solidFill>
            <a:srgbClr val="FFFFFF"/>
          </a:solidFill>
          <a:ln w="12700">
            <a:solidFill>
              <a:srgbClr val="2D69E2"/>
            </a:solidFill>
            <a:prstDash val="solid"/>
          </a:ln>
        </p:spPr>
      </p:sp>
      <p:pic>
        <p:nvPicPr>
          <p:cNvPr id="14" name="Image 2" descr="/Users/manish/Development/Workspace/samsung/digithon-2026/.worktrees/ppt-eval/runs/mvpmet3q0sc1/shot-after.png">    </p:cNvPr>
          <p:cNvPicPr>
            <a:picLocks noChangeAspect="1"/>
          </p:cNvPicPr>
          <p:nvPr/>
        </p:nvPicPr>
        <p:blipFill>
          <a:blip r:embed="rId3"/>
          <a:srcRect l="0" r="0" t="0" b="0"/>
          <a:stretch/>
        </p:blipFill>
        <p:spPr>
          <a:xfrm>
            <a:off x="6291072" y="1554480"/>
            <a:ext cx="5303520" cy="3154680"/>
          </a:xfrm>
          <a:prstGeom prst="rect">
            <a:avLst/>
          </a:prstGeom>
        </p:spPr>
      </p:pic>
      <p:sp>
        <p:nvSpPr>
          <p:cNvPr id="15" name="Shape 9"/>
          <p:cNvSpPr/>
          <p:nvPr/>
        </p:nvSpPr>
        <p:spPr>
          <a:xfrm>
            <a:off x="6382512" y="1664208"/>
            <a:ext cx="868680" cy="246888"/>
          </a:xfrm>
          <a:prstGeom prst="roundRect">
            <a:avLst>
              <a:gd name="adj" fmla="val 37037"/>
            </a:avLst>
          </a:prstGeom>
          <a:solidFill>
            <a:srgbClr val="2D69E2"/>
          </a:solidFill>
          <a:ln w="12700">
            <a:solidFill>
              <a:srgbClr val="2D69E2"/>
            </a:solidFill>
            <a:prstDash val="solid"/>
          </a:ln>
        </p:spPr>
      </p:sp>
      <p:sp>
        <p:nvSpPr>
          <p:cNvPr id="16" name="Text 10"/>
          <p:cNvSpPr/>
          <p:nvPr/>
        </p:nvSpPr>
        <p:spPr>
          <a:xfrm>
            <a:off x="6382512" y="1664208"/>
            <a:ext cx="868680" cy="24688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CONCEPT</a:t>
            </a:r>
            <a:endParaRPr lang="en-US" sz="1000" dirty="0"/>
          </a:p>
        </p:txBody>
      </p:sp>
      <p:sp>
        <p:nvSpPr>
          <p:cNvPr id="17" name="Shape 11"/>
          <p:cNvSpPr/>
          <p:nvPr/>
        </p:nvSpPr>
        <p:spPr>
          <a:xfrm>
            <a:off x="548640" y="4937760"/>
            <a:ext cx="2636444" cy="1188720"/>
          </a:xfrm>
          <a:prstGeom prst="roundRect">
            <a:avLst>
              <a:gd name="adj" fmla="val 7692"/>
            </a:avLst>
          </a:prstGeom>
          <a:solidFill>
            <a:srgbClr val="FFFFFF"/>
          </a:solidFill>
          <a:ln w="12700">
            <a:solidFill>
              <a:srgbClr val="DDE2EE"/>
            </a:solidFill>
            <a:prstDash val="solid"/>
          </a:ln>
        </p:spPr>
      </p:sp>
      <p:sp>
        <p:nvSpPr>
          <p:cNvPr id="18" name="Text 12"/>
          <p:cNvSpPr/>
          <p:nvPr/>
        </p:nvSpPr>
        <p:spPr>
          <a:xfrm>
            <a:off x="731520" y="5047488"/>
            <a:ext cx="2270684" cy="653796"/>
          </a:xfrm>
          <a:prstGeom prst="rect">
            <a:avLst/>
          </a:prstGeom>
          <a:noFill/>
          <a:ln/>
        </p:spPr>
        <p:txBody>
          <a:bodyPr wrap="square" lIns="0" tIns="0" rIns="0" bIns="0" rtlCol="0" anchor="ctr"/>
          <a:lstStyle/>
          <a:p>
            <a:pPr indent="0" marL="0">
              <a:buNone/>
            </a:pPr>
            <a:r>
              <a:rPr lang="en-US" sz="2800" b="1" dirty="0">
                <a:solidFill>
                  <a:srgbClr val="0F9D6B"/>
                </a:solidFill>
                <a:latin typeface="Calibri" pitchFamily="34" charset="0"/>
                <a:ea typeface="Calibri" pitchFamily="34" charset="-122"/>
                <a:cs typeface="Calibri" pitchFamily="34" charset="-120"/>
              </a:rPr>
              <a:t>45 → 98</a:t>
            </a:r>
            <a:endParaRPr lang="en-US" sz="2800" dirty="0"/>
          </a:p>
        </p:txBody>
      </p:sp>
      <p:sp>
        <p:nvSpPr>
          <p:cNvPr id="19" name="Text 13"/>
          <p:cNvSpPr/>
          <p:nvPr/>
        </p:nvSpPr>
        <p:spPr>
          <a:xfrm>
            <a:off x="731520" y="5710428"/>
            <a:ext cx="2270684" cy="356616"/>
          </a:xfrm>
          <a:prstGeom prst="rect">
            <a:avLst/>
          </a:prstGeom>
          <a:noFill/>
          <a:ln/>
        </p:spPr>
        <p:txBody>
          <a:bodyPr wrap="square" lIns="0" tIns="0" rIns="0" bIns="0" rtlCol="0" anchor="t"/>
          <a:lstStyle/>
          <a:p>
            <a:pPr indent="0" marL="0">
              <a:buNone/>
            </a:pPr>
            <a:r>
              <a:rPr lang="en-US" sz="1100" dirty="0">
                <a:solidFill>
                  <a:srgbClr val="5B6477"/>
                </a:solidFill>
                <a:latin typeface="Calibri" pitchFamily="34" charset="0"/>
                <a:ea typeface="Calibri" pitchFamily="34" charset="-122"/>
                <a:cs typeface="Calibri" pitchFamily="34" charset="-120"/>
              </a:rPr>
              <a:t>Accessibility score, re-checked on the concept</a:t>
            </a:r>
            <a:endParaRPr lang="en-US" sz="1100" dirty="0"/>
          </a:p>
        </p:txBody>
      </p:sp>
      <p:sp>
        <p:nvSpPr>
          <p:cNvPr id="20" name="Shape 14"/>
          <p:cNvSpPr/>
          <p:nvPr/>
        </p:nvSpPr>
        <p:spPr>
          <a:xfrm>
            <a:off x="3367964" y="4937760"/>
            <a:ext cx="2636444" cy="1188720"/>
          </a:xfrm>
          <a:prstGeom prst="roundRect">
            <a:avLst>
              <a:gd name="adj" fmla="val 7692"/>
            </a:avLst>
          </a:prstGeom>
          <a:solidFill>
            <a:srgbClr val="FFFFFF"/>
          </a:solidFill>
          <a:ln w="12700">
            <a:solidFill>
              <a:srgbClr val="DDE2EE"/>
            </a:solidFill>
            <a:prstDash val="solid"/>
          </a:ln>
        </p:spPr>
      </p:sp>
      <p:sp>
        <p:nvSpPr>
          <p:cNvPr id="21" name="Text 15"/>
          <p:cNvSpPr/>
          <p:nvPr/>
        </p:nvSpPr>
        <p:spPr>
          <a:xfrm>
            <a:off x="3550844" y="5047488"/>
            <a:ext cx="2270684" cy="653796"/>
          </a:xfrm>
          <a:prstGeom prst="rect">
            <a:avLst/>
          </a:prstGeom>
          <a:noFill/>
          <a:ln/>
        </p:spPr>
        <p:txBody>
          <a:bodyPr wrap="square" lIns="0" tIns="0" rIns="0" bIns="0" rtlCol="0" anchor="ctr"/>
          <a:lstStyle/>
          <a:p>
            <a:pPr indent="0" marL="0">
              <a:buNone/>
            </a:pPr>
            <a:r>
              <a:rPr lang="en-US" sz="2800" b="1" dirty="0">
                <a:solidFill>
                  <a:srgbClr val="0F9D6B"/>
                </a:solidFill>
                <a:latin typeface="Calibri" pitchFamily="34" charset="0"/>
                <a:ea typeface="Calibri" pitchFamily="34" charset="-122"/>
                <a:cs typeface="Calibri" pitchFamily="34" charset="-120"/>
              </a:rPr>
              <a:t>70 → 100</a:t>
            </a:r>
            <a:endParaRPr lang="en-US" sz="2800" dirty="0"/>
          </a:p>
        </p:txBody>
      </p:sp>
      <p:sp>
        <p:nvSpPr>
          <p:cNvPr id="22" name="Text 16"/>
          <p:cNvSpPr/>
          <p:nvPr/>
        </p:nvSpPr>
        <p:spPr>
          <a:xfrm>
            <a:off x="3550844" y="5710428"/>
            <a:ext cx="2270684" cy="356616"/>
          </a:xfrm>
          <a:prstGeom prst="rect">
            <a:avLst/>
          </a:prstGeom>
          <a:noFill/>
          <a:ln/>
        </p:spPr>
        <p:txBody>
          <a:bodyPr wrap="square" lIns="0" tIns="0" rIns="0" bIns="0" rtlCol="0" anchor="t"/>
          <a:lstStyle/>
          <a:p>
            <a:pPr indent="0" marL="0">
              <a:buNone/>
            </a:pPr>
            <a:r>
              <a:rPr lang="en-US" sz="1100" dirty="0">
                <a:solidFill>
                  <a:srgbClr val="5B6477"/>
                </a:solidFill>
                <a:latin typeface="Calibri" pitchFamily="34" charset="0"/>
                <a:ea typeface="Calibri" pitchFamily="34" charset="-122"/>
                <a:cs typeface="Calibri" pitchFamily="34" charset="-120"/>
              </a:rPr>
              <a:t>Mobile score, re-checked on the concept</a:t>
            </a:r>
            <a:endParaRPr lang="en-US" sz="1100" dirty="0"/>
          </a:p>
        </p:txBody>
      </p:sp>
      <p:sp>
        <p:nvSpPr>
          <p:cNvPr id="23" name="Shape 17"/>
          <p:cNvSpPr/>
          <p:nvPr/>
        </p:nvSpPr>
        <p:spPr>
          <a:xfrm>
            <a:off x="6187288" y="4937760"/>
            <a:ext cx="2636444" cy="1188720"/>
          </a:xfrm>
          <a:prstGeom prst="roundRect">
            <a:avLst>
              <a:gd name="adj" fmla="val 7692"/>
            </a:avLst>
          </a:prstGeom>
          <a:solidFill>
            <a:srgbClr val="FFFFFF"/>
          </a:solidFill>
          <a:ln w="12700">
            <a:solidFill>
              <a:srgbClr val="DDE2EE"/>
            </a:solidFill>
            <a:prstDash val="solid"/>
          </a:ln>
        </p:spPr>
      </p:sp>
      <p:sp>
        <p:nvSpPr>
          <p:cNvPr id="24" name="Text 18"/>
          <p:cNvSpPr/>
          <p:nvPr/>
        </p:nvSpPr>
        <p:spPr>
          <a:xfrm>
            <a:off x="6370168" y="5047488"/>
            <a:ext cx="2270684" cy="653796"/>
          </a:xfrm>
          <a:prstGeom prst="rect">
            <a:avLst/>
          </a:prstGeom>
          <a:noFill/>
          <a:ln/>
        </p:spPr>
        <p:txBody>
          <a:bodyPr wrap="square" lIns="0" tIns="0" rIns="0" bIns="0" rtlCol="0" anchor="ctr"/>
          <a:lstStyle/>
          <a:p>
            <a:pPr indent="0" marL="0">
              <a:buNone/>
            </a:pPr>
            <a:r>
              <a:rPr lang="en-US" sz="2800" b="1" dirty="0">
                <a:solidFill>
                  <a:srgbClr val="D64545"/>
                </a:solidFill>
                <a:latin typeface="Calibri" pitchFamily="34" charset="0"/>
                <a:ea typeface="Calibri" pitchFamily="34" charset="-122"/>
                <a:cs typeface="Calibri" pitchFamily="34" charset="-120"/>
              </a:rPr>
              <a:t>68 → 60</a:t>
            </a:r>
            <a:endParaRPr lang="en-US" sz="2800" dirty="0"/>
          </a:p>
        </p:txBody>
      </p:sp>
      <p:sp>
        <p:nvSpPr>
          <p:cNvPr id="25" name="Text 19"/>
          <p:cNvSpPr/>
          <p:nvPr/>
        </p:nvSpPr>
        <p:spPr>
          <a:xfrm>
            <a:off x="6370168" y="5710428"/>
            <a:ext cx="2270684" cy="356616"/>
          </a:xfrm>
          <a:prstGeom prst="rect">
            <a:avLst/>
          </a:prstGeom>
          <a:noFill/>
          <a:ln/>
        </p:spPr>
        <p:txBody>
          <a:bodyPr wrap="square" lIns="0" tIns="0" rIns="0" bIns="0" rtlCol="0" anchor="t"/>
          <a:lstStyle/>
          <a:p>
            <a:pPr indent="0" marL="0">
              <a:buNone/>
            </a:pPr>
            <a:r>
              <a:rPr lang="en-US" sz="1100" dirty="0">
                <a:solidFill>
                  <a:srgbClr val="5B6477"/>
                </a:solidFill>
                <a:latin typeface="Calibri" pitchFamily="34" charset="0"/>
                <a:ea typeface="Calibri" pitchFamily="34" charset="-122"/>
                <a:cs typeface="Calibri" pitchFamily="34" charset="-120"/>
              </a:rPr>
              <a:t>UX score, re-checked on the concept</a:t>
            </a:r>
            <a:endParaRPr lang="en-US" sz="1100" dirty="0"/>
          </a:p>
        </p:txBody>
      </p:sp>
      <p:sp>
        <p:nvSpPr>
          <p:cNvPr id="26" name="Text 20"/>
          <p:cNvSpPr/>
          <p:nvPr/>
        </p:nvSpPr>
        <p:spPr>
          <a:xfrm>
            <a:off x="9006611" y="4983480"/>
            <a:ext cx="2636444" cy="1097280"/>
          </a:xfrm>
          <a:prstGeom prst="rect">
            <a:avLst/>
          </a:prstGeom>
          <a:noFill/>
          <a:ln/>
        </p:spPr>
        <p:txBody>
          <a:bodyPr wrap="square" lIns="0" tIns="0" rIns="0" bIns="0" rtlCol="0" anchor="t"/>
          <a:lstStyle/>
          <a:p>
            <a:pPr indent="0" marL="0">
              <a:buNone/>
            </a:pPr>
            <a:r>
              <a:rPr lang="en-US" sz="1100" dirty="0">
                <a:solidFill>
                  <a:srgbClr val="5B6477"/>
                </a:solidFill>
                <a:latin typeface="Calibri" pitchFamily="34" charset="0"/>
                <a:ea typeface="Calibri" pitchFamily="34" charset="-122"/>
                <a:cs typeface="Calibri" pitchFamily="34" charset="-120"/>
              </a:rPr>
              <a:t>Same inspectors, run on the concept page. Speed and AI search are not re-measured on a local concept.</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6FB"/>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2D69E2"/>
          </a:solidFill>
          <a:ln w="12700">
            <a:solidFill>
              <a:srgbClr val="2D69E2"/>
            </a:solidFill>
            <a:prstDash val="solid"/>
          </a:ln>
        </p:spPr>
      </p:sp>
      <p:sp>
        <p:nvSpPr>
          <p:cNvPr id="3" name="Text 1"/>
          <p:cNvSpPr/>
          <p:nvPr/>
        </p:nvSpPr>
        <p:spPr>
          <a:xfrm>
            <a:off x="548640" y="347472"/>
            <a:ext cx="8229600" cy="274320"/>
          </a:xfrm>
          <a:prstGeom prst="rect">
            <a:avLst/>
          </a:prstGeom>
          <a:noFill/>
          <a:ln/>
        </p:spPr>
        <p:txBody>
          <a:bodyPr wrap="square" lIns="0" tIns="0" rIns="0" bIns="0" rtlCol="0" anchor="t"/>
          <a:lstStyle/>
          <a:p>
            <a:pPr indent="0" marL="0">
              <a:buNone/>
            </a:pPr>
            <a:r>
              <a:rPr lang="en-US" sz="1100" b="1" spc="300" kern="0" dirty="0">
                <a:solidFill>
                  <a:srgbClr val="2D69E2"/>
                </a:solidFill>
                <a:latin typeface="Calibri" pitchFamily="34" charset="0"/>
                <a:ea typeface="Calibri" pitchFamily="34" charset="-122"/>
                <a:cs typeface="Calibri" pitchFamily="34" charset="-120"/>
              </a:rPr>
              <a:t>CONCEPT REDESIGN · MOBILE</a:t>
            </a:r>
            <a:endParaRPr lang="en-US" sz="1100" dirty="0"/>
          </a:p>
        </p:txBody>
      </p:sp>
      <p:sp>
        <p:nvSpPr>
          <p:cNvPr id="4" name="Text 2"/>
          <p:cNvSpPr/>
          <p:nvPr/>
        </p:nvSpPr>
        <p:spPr>
          <a:xfrm>
            <a:off x="548640" y="621792"/>
            <a:ext cx="9326880" cy="731520"/>
          </a:xfrm>
          <a:prstGeom prst="rect">
            <a:avLst/>
          </a:prstGeom>
          <a:noFill/>
          <a:ln/>
        </p:spPr>
        <p:txBody>
          <a:bodyPr wrap="square" lIns="0" tIns="0" rIns="0" bIns="0" rtlCol="0" anchor="t">
            <a:normAutofit/>
          </a:bodyPr>
          <a:lstStyle/>
          <a:p>
            <a:pPr indent="0" marL="0">
              <a:buNone/>
            </a:pPr>
            <a:r>
              <a:rPr lang="en-US" sz="2800" b="1" dirty="0">
                <a:solidFill>
                  <a:srgbClr val="0B1B5E"/>
                </a:solidFill>
                <a:latin typeface="Calibri" pitchFamily="34" charset="0"/>
                <a:ea typeface="Calibri" pitchFamily="34" charset="-122"/>
                <a:cs typeface="Calibri" pitchFamily="34" charset="-120"/>
              </a:rPr>
              <a:t>On a phone</a:t>
            </a:r>
            <a:endParaRPr lang="en-US" sz="2800" dirty="0"/>
          </a:p>
        </p:txBody>
      </p:sp>
      <p:pic>
        <p:nvPicPr>
          <p:cNvPr id="5" name="Image 0" descr="Samsung logo">    </p:cNvPr>
          <p:cNvPicPr>
            <a:picLocks noChangeAspect="1"/>
          </p:cNvPicPr>
          <p:nvPr/>
        </p:nvPicPr>
        <p:blipFill>
          <a:blip r:embed="rId1"/>
          <a:stretch>
            <a:fillRect/>
          </a:stretch>
        </p:blipFill>
        <p:spPr>
          <a:xfrm>
            <a:off x="10454335" y="347472"/>
            <a:ext cx="1188720" cy="377258"/>
          </a:xfrm>
          <a:prstGeom prst="rect">
            <a:avLst/>
          </a:prstGeom>
        </p:spPr>
      </p:pic>
      <p:sp>
        <p:nvSpPr>
          <p:cNvPr id="6" name="Text 3"/>
          <p:cNvSpPr/>
          <p:nvPr/>
        </p:nvSpPr>
        <p:spPr>
          <a:xfrm>
            <a:off x="548640" y="6446520"/>
            <a:ext cx="7315200" cy="256032"/>
          </a:xfrm>
          <a:prstGeom prst="rect">
            <a:avLst/>
          </a:prstGeom>
          <a:noFill/>
          <a:ln/>
        </p:spPr>
        <p:txBody>
          <a:bodyPr wrap="square" lIns="0" tIns="0" rIns="0" bIns="0" rtlCol="0" anchor="t"/>
          <a:lstStyle/>
          <a:p>
            <a:pPr indent="0" marL="0">
              <a:buNone/>
            </a:pPr>
            <a:r>
              <a:rPr lang="en-US" sz="1000" dirty="0">
                <a:solidFill>
                  <a:srgbClr val="5B6477"/>
                </a:solidFill>
                <a:latin typeface="Calibri" pitchFamily="34" charset="0"/>
                <a:ea typeface="Calibri" pitchFamily="34" charset="-122"/>
                <a:cs typeface="Calibri" pitchFamily="34" charset="-120"/>
              </a:rPr>
              <a:t>Nike. Just Do It. Nike IN  ·  Prepared by Samsung SDS</a:t>
            </a:r>
            <a:endParaRPr lang="en-US" sz="1000" dirty="0"/>
          </a:p>
        </p:txBody>
      </p:sp>
      <p:sp>
        <p:nvSpPr>
          <p:cNvPr id="7" name="Text 4"/>
          <p:cNvSpPr/>
          <p:nvPr/>
        </p:nvSpPr>
        <p:spPr>
          <a:xfrm>
            <a:off x="11185855" y="6446520"/>
            <a:ext cx="457200" cy="256032"/>
          </a:xfrm>
          <a:prstGeom prst="rect">
            <a:avLst/>
          </a:prstGeom>
          <a:noFill/>
          <a:ln/>
        </p:spPr>
        <p:txBody>
          <a:bodyPr wrap="square" lIns="0" tIns="0" rIns="0" bIns="0" rtlCol="0" anchor="t"/>
          <a:lstStyle/>
          <a:p>
            <a:pPr algn="r" indent="0" marL="0">
              <a:buNone/>
            </a:pPr>
            <a:r>
              <a:rPr lang="en-US" sz="1000" dirty="0">
                <a:solidFill>
                  <a:srgbClr val="5B6477"/>
                </a:solidFill>
                <a:latin typeface="Calibri" pitchFamily="34" charset="0"/>
                <a:ea typeface="Calibri" pitchFamily="34" charset="-122"/>
                <a:cs typeface="Calibri" pitchFamily="34" charset="-120"/>
              </a:rPr>
              <a:t>9</a:t>
            </a:r>
            <a:endParaRPr lang="en-US" sz="1000" dirty="0"/>
          </a:p>
        </p:txBody>
      </p:sp>
      <p:sp>
        <p:nvSpPr>
          <p:cNvPr id="9" name="Shape 5"/>
          <p:cNvSpPr/>
          <p:nvPr/>
        </p:nvSpPr>
        <p:spPr>
          <a:xfrm>
            <a:off x="548640" y="1508760"/>
            <a:ext cx="2377440" cy="4480560"/>
          </a:xfrm>
          <a:prstGeom prst="roundRect">
            <a:avLst>
              <a:gd name="adj" fmla="val 3846"/>
            </a:avLst>
          </a:prstGeom>
          <a:solidFill>
            <a:srgbClr val="FFFFFF"/>
          </a:solidFill>
          <a:ln w="12700">
            <a:solidFill>
              <a:srgbClr val="5B6477"/>
            </a:solidFill>
            <a:prstDash val="solid"/>
          </a:ln>
        </p:spPr>
      </p:sp>
      <p:pic>
        <p:nvPicPr>
          <p:cNvPr id="10" name="Image 1" descr="/Users/manish/Development/Workspace/samsung/digithon-2026/.worktrees/ppt-eval/runs/mvpmet3q0sc1/shot-mobile.png">    </p:cNvPr>
          <p:cNvPicPr>
            <a:picLocks noChangeAspect="1"/>
          </p:cNvPicPr>
          <p:nvPr/>
        </p:nvPicPr>
        <p:blipFill>
          <a:blip r:embed="rId2"/>
          <a:srcRect l="0" r="0" t="0" b="0"/>
          <a:stretch/>
        </p:blipFill>
        <p:spPr>
          <a:xfrm>
            <a:off x="594360" y="1554480"/>
            <a:ext cx="2286000" cy="4389120"/>
          </a:xfrm>
          <a:prstGeom prst="rect">
            <a:avLst/>
          </a:prstGeom>
        </p:spPr>
      </p:pic>
      <p:sp>
        <p:nvSpPr>
          <p:cNvPr id="11" name="Shape 6"/>
          <p:cNvSpPr/>
          <p:nvPr/>
        </p:nvSpPr>
        <p:spPr>
          <a:xfrm>
            <a:off x="685800" y="1664208"/>
            <a:ext cx="868680" cy="246888"/>
          </a:xfrm>
          <a:prstGeom prst="roundRect">
            <a:avLst>
              <a:gd name="adj" fmla="val 37037"/>
            </a:avLst>
          </a:prstGeom>
          <a:solidFill>
            <a:srgbClr val="5B6477"/>
          </a:solidFill>
          <a:ln w="12700">
            <a:solidFill>
              <a:srgbClr val="5B6477"/>
            </a:solidFill>
            <a:prstDash val="solid"/>
          </a:ln>
        </p:spPr>
      </p:sp>
      <p:sp>
        <p:nvSpPr>
          <p:cNvPr id="12" name="Text 7"/>
          <p:cNvSpPr/>
          <p:nvPr/>
        </p:nvSpPr>
        <p:spPr>
          <a:xfrm>
            <a:off x="685800" y="1664208"/>
            <a:ext cx="868680" cy="24688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TODAY</a:t>
            </a:r>
            <a:endParaRPr lang="en-US" sz="1000" dirty="0"/>
          </a:p>
        </p:txBody>
      </p:sp>
      <p:sp>
        <p:nvSpPr>
          <p:cNvPr id="13" name="Shape 8"/>
          <p:cNvSpPr/>
          <p:nvPr/>
        </p:nvSpPr>
        <p:spPr>
          <a:xfrm>
            <a:off x="3383280" y="1508760"/>
            <a:ext cx="2377440" cy="4480560"/>
          </a:xfrm>
          <a:prstGeom prst="roundRect">
            <a:avLst>
              <a:gd name="adj" fmla="val 3846"/>
            </a:avLst>
          </a:prstGeom>
          <a:solidFill>
            <a:srgbClr val="FFFFFF"/>
          </a:solidFill>
          <a:ln w="12700">
            <a:solidFill>
              <a:srgbClr val="2D69E2"/>
            </a:solidFill>
            <a:prstDash val="solid"/>
          </a:ln>
        </p:spPr>
      </p:sp>
      <p:pic>
        <p:nvPicPr>
          <p:cNvPr id="14" name="Image 2" descr="/Users/manish/Development/Workspace/samsung/digithon-2026/.worktrees/ppt-eval/runs/mvpmet3q0sc1/shot-mobile-after.png">    </p:cNvPr>
          <p:cNvPicPr>
            <a:picLocks noChangeAspect="1"/>
          </p:cNvPicPr>
          <p:nvPr/>
        </p:nvPicPr>
        <p:blipFill>
          <a:blip r:embed="rId3"/>
          <a:srcRect l="0" r="0" t="0" b="0"/>
          <a:stretch/>
        </p:blipFill>
        <p:spPr>
          <a:xfrm>
            <a:off x="3429000" y="1554480"/>
            <a:ext cx="2286000" cy="4389120"/>
          </a:xfrm>
          <a:prstGeom prst="rect">
            <a:avLst/>
          </a:prstGeom>
        </p:spPr>
      </p:pic>
      <p:sp>
        <p:nvSpPr>
          <p:cNvPr id="15" name="Shape 9"/>
          <p:cNvSpPr/>
          <p:nvPr/>
        </p:nvSpPr>
        <p:spPr>
          <a:xfrm>
            <a:off x="3520440" y="1664208"/>
            <a:ext cx="868680" cy="246888"/>
          </a:xfrm>
          <a:prstGeom prst="roundRect">
            <a:avLst>
              <a:gd name="adj" fmla="val 37037"/>
            </a:avLst>
          </a:prstGeom>
          <a:solidFill>
            <a:srgbClr val="2D69E2"/>
          </a:solidFill>
          <a:ln w="12700">
            <a:solidFill>
              <a:srgbClr val="2D69E2"/>
            </a:solidFill>
            <a:prstDash val="solid"/>
          </a:ln>
        </p:spPr>
      </p:sp>
      <p:sp>
        <p:nvSpPr>
          <p:cNvPr id="16" name="Text 10"/>
          <p:cNvSpPr/>
          <p:nvPr/>
        </p:nvSpPr>
        <p:spPr>
          <a:xfrm>
            <a:off x="3520440" y="1664208"/>
            <a:ext cx="868680" cy="24688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CONCEPT</a:t>
            </a:r>
            <a:endParaRPr lang="en-US" sz="1000" dirty="0"/>
          </a:p>
        </p:txBody>
      </p:sp>
      <p:sp>
        <p:nvSpPr>
          <p:cNvPr id="17" name="Shape 11"/>
          <p:cNvSpPr/>
          <p:nvPr/>
        </p:nvSpPr>
        <p:spPr>
          <a:xfrm>
            <a:off x="6400800" y="1508760"/>
            <a:ext cx="4572000" cy="4480560"/>
          </a:xfrm>
          <a:prstGeom prst="roundRect">
            <a:avLst>
              <a:gd name="adj" fmla="val 2041"/>
            </a:avLst>
          </a:prstGeom>
          <a:solidFill>
            <a:srgbClr val="FFFFFF"/>
          </a:solidFill>
          <a:ln w="12700">
            <a:solidFill>
              <a:srgbClr val="DDE2EE"/>
            </a:solidFill>
            <a:prstDash val="solid"/>
          </a:ln>
        </p:spPr>
      </p:sp>
      <p:sp>
        <p:nvSpPr>
          <p:cNvPr id="18" name="Text 12"/>
          <p:cNvSpPr/>
          <p:nvPr/>
        </p:nvSpPr>
        <p:spPr>
          <a:xfrm>
            <a:off x="6629400" y="1691640"/>
            <a:ext cx="4114800" cy="320040"/>
          </a:xfrm>
          <a:prstGeom prst="rect">
            <a:avLst/>
          </a:prstGeom>
          <a:noFill/>
          <a:ln/>
        </p:spPr>
        <p:txBody>
          <a:bodyPr wrap="square" lIns="0" tIns="0" rIns="0" bIns="0" rtlCol="0" anchor="t"/>
          <a:lstStyle/>
          <a:p>
            <a:pPr indent="0" marL="0">
              <a:buNone/>
            </a:pPr>
            <a:r>
              <a:rPr lang="en-US" sz="1600" b="1" dirty="0">
                <a:solidFill>
                  <a:srgbClr val="111827"/>
                </a:solidFill>
                <a:latin typeface="Calibri" pitchFamily="34" charset="0"/>
                <a:ea typeface="Calibri" pitchFamily="34" charset="-122"/>
                <a:cs typeface="Calibri" pitchFamily="34" charset="-120"/>
              </a:rPr>
              <a:t>Mobile today</a:t>
            </a:r>
            <a:endParaRPr lang="en-US" sz="1600" dirty="0"/>
          </a:p>
        </p:txBody>
      </p:sp>
      <p:sp>
        <p:nvSpPr>
          <p:cNvPr id="19" name="Text 13"/>
          <p:cNvSpPr/>
          <p:nvPr/>
        </p:nvSpPr>
        <p:spPr>
          <a:xfrm>
            <a:off x="6629400" y="2057400"/>
            <a:ext cx="4114800" cy="457200"/>
          </a:xfrm>
          <a:prstGeom prst="rect">
            <a:avLst/>
          </a:prstGeom>
          <a:noFill/>
          <a:ln/>
        </p:spPr>
        <p:txBody>
          <a:bodyPr wrap="square" lIns="0" tIns="0" rIns="0" bIns="0" rtlCol="0" anchor="t"/>
          <a:lstStyle/>
          <a:p>
            <a:pPr indent="0" marL="0">
              <a:buNone/>
            </a:pPr>
            <a:r>
              <a:rPr lang="en-US" sz="2600" b="1" dirty="0">
                <a:solidFill>
                  <a:srgbClr val="B7791F"/>
                </a:solidFill>
                <a:latin typeface="Calibri" pitchFamily="34" charset="0"/>
                <a:ea typeface="Calibri" pitchFamily="34" charset="-122"/>
                <a:cs typeface="Calibri" pitchFamily="34" charset="-120"/>
              </a:rPr>
              <a:t>70/100 · grade C</a:t>
            </a:r>
            <a:endParaRPr lang="en-US" sz="2600" dirty="0"/>
          </a:p>
        </p:txBody>
      </p:sp>
      <p:sp>
        <p:nvSpPr>
          <p:cNvPr id="20" name="Text 14"/>
          <p:cNvSpPr/>
          <p:nvPr/>
        </p:nvSpPr>
        <p:spPr>
          <a:xfrm>
            <a:off x="6629400" y="2651760"/>
            <a:ext cx="4114800" cy="822960"/>
          </a:xfrm>
          <a:prstGeom prst="rect">
            <a:avLst/>
          </a:prstGeom>
          <a:noFill/>
          <a:ln/>
        </p:spPr>
        <p:txBody>
          <a:bodyPr wrap="square" lIns="0" tIns="0" rIns="0" bIns="0" rtlCol="0" anchor="t"/>
          <a:lstStyle/>
          <a:p>
            <a:pPr indent="0" marL="0">
              <a:buNone/>
            </a:pPr>
            <a:r>
              <a:rPr lang="en-US" sz="1200" dirty="0">
                <a:solidFill>
                  <a:srgbClr val="5B6477"/>
                </a:solidFill>
                <a:latin typeface="Calibri" pitchFamily="34" charset="0"/>
                <a:ea typeface="Calibri" pitchFamily="34" charset="-122"/>
                <a:cs typeface="Calibri" pitchFamily="34" charset="-120"/>
              </a:rPr>
              <a:t>64 of 87 tap targets are too small on mobile.</a:t>
            </a:r>
            <a:endParaRPr lang="en-US" sz="1200" dirty="0"/>
          </a:p>
        </p:txBody>
      </p:sp>
      <p:sp>
        <p:nvSpPr>
          <p:cNvPr id="21" name="Text 15"/>
          <p:cNvSpPr/>
          <p:nvPr/>
        </p:nvSpPr>
        <p:spPr>
          <a:xfrm>
            <a:off x="6629400" y="3566160"/>
            <a:ext cx="2103120" cy="228600"/>
          </a:xfrm>
          <a:prstGeom prst="rect">
            <a:avLst/>
          </a:prstGeom>
          <a:noFill/>
          <a:ln/>
        </p:spPr>
        <p:txBody>
          <a:bodyPr wrap="square" lIns="0" tIns="0" rIns="0" bIns="0" rtlCol="0" anchor="t"/>
          <a:lstStyle/>
          <a:p>
            <a:pPr indent="0" marL="0">
              <a:buNone/>
            </a:pPr>
            <a:r>
              <a:rPr lang="en-US" sz="1000" dirty="0">
                <a:solidFill>
                  <a:srgbClr val="5B6477"/>
                </a:solidFill>
                <a:latin typeface="Calibri" pitchFamily="34" charset="0"/>
                <a:ea typeface="Calibri" pitchFamily="34" charset="-122"/>
                <a:cs typeface="Calibri" pitchFamily="34" charset="-120"/>
              </a:rPr>
              <a:t>Horizontal overflow</a:t>
            </a:r>
            <a:endParaRPr lang="en-US" sz="1000" dirty="0"/>
          </a:p>
        </p:txBody>
      </p:sp>
      <p:sp>
        <p:nvSpPr>
          <p:cNvPr id="22" name="Text 16"/>
          <p:cNvSpPr/>
          <p:nvPr/>
        </p:nvSpPr>
        <p:spPr>
          <a:xfrm>
            <a:off x="6629400" y="3794760"/>
            <a:ext cx="3840480" cy="274320"/>
          </a:xfrm>
          <a:prstGeom prst="rect">
            <a:avLst/>
          </a:prstGeom>
          <a:noFill/>
          <a:ln/>
        </p:spPr>
        <p:txBody>
          <a:bodyPr wrap="square" lIns="0" tIns="0" rIns="0" bIns="0" rtlCol="0" anchor="t"/>
          <a:lstStyle/>
          <a:p>
            <a:pPr indent="0" marL="0">
              <a:buNone/>
            </a:pPr>
            <a:r>
              <a:rPr lang="en-US" sz="1400" b="1" dirty="0">
                <a:solidFill>
                  <a:srgbClr val="111827"/>
                </a:solidFill>
                <a:latin typeface="Calibri" pitchFamily="34" charset="0"/>
                <a:ea typeface="Calibri" pitchFamily="34" charset="-122"/>
                <a:cs typeface="Calibri" pitchFamily="34" charset="-120"/>
              </a:rPr>
              <a:t>0px</a:t>
            </a:r>
            <a:endParaRPr lang="en-US" sz="1400" dirty="0"/>
          </a:p>
        </p:txBody>
      </p:sp>
      <p:sp>
        <p:nvSpPr>
          <p:cNvPr id="23" name="Text 17"/>
          <p:cNvSpPr/>
          <p:nvPr/>
        </p:nvSpPr>
        <p:spPr>
          <a:xfrm>
            <a:off x="6629400" y="4114800"/>
            <a:ext cx="2103120" cy="228600"/>
          </a:xfrm>
          <a:prstGeom prst="rect">
            <a:avLst/>
          </a:prstGeom>
          <a:noFill/>
          <a:ln/>
        </p:spPr>
        <p:txBody>
          <a:bodyPr wrap="square" lIns="0" tIns="0" rIns="0" bIns="0" rtlCol="0" anchor="t"/>
          <a:lstStyle/>
          <a:p>
            <a:pPr indent="0" marL="0">
              <a:buNone/>
            </a:pPr>
            <a:r>
              <a:rPr lang="en-US" sz="1000" dirty="0">
                <a:solidFill>
                  <a:srgbClr val="5B6477"/>
                </a:solidFill>
                <a:latin typeface="Calibri" pitchFamily="34" charset="0"/>
                <a:ea typeface="Calibri" pitchFamily="34" charset="-122"/>
                <a:cs typeface="Calibri" pitchFamily="34" charset="-120"/>
              </a:rPr>
              <a:t>Small tap targets</a:t>
            </a:r>
            <a:endParaRPr lang="en-US" sz="1000" dirty="0"/>
          </a:p>
        </p:txBody>
      </p:sp>
      <p:sp>
        <p:nvSpPr>
          <p:cNvPr id="24" name="Text 18"/>
          <p:cNvSpPr/>
          <p:nvPr/>
        </p:nvSpPr>
        <p:spPr>
          <a:xfrm>
            <a:off x="6629400" y="4343400"/>
            <a:ext cx="3840480" cy="274320"/>
          </a:xfrm>
          <a:prstGeom prst="rect">
            <a:avLst/>
          </a:prstGeom>
          <a:noFill/>
          <a:ln/>
        </p:spPr>
        <p:txBody>
          <a:bodyPr wrap="square" lIns="0" tIns="0" rIns="0" bIns="0" rtlCol="0" anchor="t"/>
          <a:lstStyle/>
          <a:p>
            <a:pPr indent="0" marL="0">
              <a:buNone/>
            </a:pPr>
            <a:r>
              <a:rPr lang="en-US" sz="1400" b="1" dirty="0">
                <a:solidFill>
                  <a:srgbClr val="111827"/>
                </a:solidFill>
                <a:latin typeface="Calibri" pitchFamily="34" charset="0"/>
                <a:ea typeface="Calibri" pitchFamily="34" charset="-122"/>
                <a:cs typeface="Calibri" pitchFamily="34" charset="-120"/>
              </a:rPr>
              <a:t>64/87</a:t>
            </a:r>
            <a:endParaRPr lang="en-US" sz="1400" dirty="0"/>
          </a:p>
        </p:txBody>
      </p:sp>
      <p:sp>
        <p:nvSpPr>
          <p:cNvPr id="25" name="Text 19"/>
          <p:cNvSpPr/>
          <p:nvPr/>
        </p:nvSpPr>
        <p:spPr>
          <a:xfrm>
            <a:off x="6629400" y="4663440"/>
            <a:ext cx="2103120" cy="228600"/>
          </a:xfrm>
          <a:prstGeom prst="rect">
            <a:avLst/>
          </a:prstGeom>
          <a:noFill/>
          <a:ln/>
        </p:spPr>
        <p:txBody>
          <a:bodyPr wrap="square" lIns="0" tIns="0" rIns="0" bIns="0" rtlCol="0" anchor="t"/>
          <a:lstStyle/>
          <a:p>
            <a:pPr indent="0" marL="0">
              <a:buNone/>
            </a:pPr>
            <a:r>
              <a:rPr lang="en-US" sz="1000" dirty="0">
                <a:solidFill>
                  <a:srgbClr val="5B6477"/>
                </a:solidFill>
                <a:latin typeface="Calibri" pitchFamily="34" charset="0"/>
                <a:ea typeface="Calibri" pitchFamily="34" charset="-122"/>
                <a:cs typeface="Calibri" pitchFamily="34" charset="-120"/>
              </a:rPr>
              <a:t>Tiny text blocks</a:t>
            </a:r>
            <a:endParaRPr lang="en-US" sz="1000" dirty="0"/>
          </a:p>
        </p:txBody>
      </p:sp>
      <p:sp>
        <p:nvSpPr>
          <p:cNvPr id="26" name="Text 20"/>
          <p:cNvSpPr/>
          <p:nvPr/>
        </p:nvSpPr>
        <p:spPr>
          <a:xfrm>
            <a:off x="6629400" y="4892040"/>
            <a:ext cx="3840480" cy="274320"/>
          </a:xfrm>
          <a:prstGeom prst="rect">
            <a:avLst/>
          </a:prstGeom>
          <a:noFill/>
          <a:ln/>
        </p:spPr>
        <p:txBody>
          <a:bodyPr wrap="square" lIns="0" tIns="0" rIns="0" bIns="0" rtlCol="0" anchor="t"/>
          <a:lstStyle/>
          <a:p>
            <a:pPr indent="0" marL="0">
              <a:buNone/>
            </a:pPr>
            <a:r>
              <a:rPr lang="en-US" sz="1400" b="1" dirty="0">
                <a:solidFill>
                  <a:srgbClr val="111827"/>
                </a:solidFill>
                <a:latin typeface="Calibri" pitchFamily="34" charset="0"/>
                <a:ea typeface="Calibri" pitchFamily="34" charset="-122"/>
                <a:cs typeface="Calibri" pitchFamily="34" charset="-120"/>
              </a:rPr>
              <a:t>0</a:t>
            </a:r>
            <a:endParaRPr lang="en-US" sz="1400" dirty="0"/>
          </a:p>
        </p:txBody>
      </p:sp>
      <p:sp>
        <p:nvSpPr>
          <p:cNvPr id="27" name="Text 21"/>
          <p:cNvSpPr/>
          <p:nvPr/>
        </p:nvSpPr>
        <p:spPr>
          <a:xfrm>
            <a:off x="6629400" y="5212080"/>
            <a:ext cx="2103120" cy="228600"/>
          </a:xfrm>
          <a:prstGeom prst="rect">
            <a:avLst/>
          </a:prstGeom>
          <a:noFill/>
          <a:ln/>
        </p:spPr>
        <p:txBody>
          <a:bodyPr wrap="square" lIns="0" tIns="0" rIns="0" bIns="0" rtlCol="0" anchor="t"/>
          <a:lstStyle/>
          <a:p>
            <a:pPr indent="0" marL="0">
              <a:buNone/>
            </a:pPr>
            <a:r>
              <a:rPr lang="en-US" sz="1000" dirty="0">
                <a:solidFill>
                  <a:srgbClr val="5B6477"/>
                </a:solidFill>
                <a:latin typeface="Calibri" pitchFamily="34" charset="0"/>
                <a:ea typeface="Calibri" pitchFamily="34" charset="-122"/>
                <a:cs typeface="Calibri" pitchFamily="34" charset="-120"/>
              </a:rPr>
              <a:t>Viewport meta</a:t>
            </a:r>
            <a:endParaRPr lang="en-US" sz="1000" dirty="0"/>
          </a:p>
        </p:txBody>
      </p:sp>
      <p:sp>
        <p:nvSpPr>
          <p:cNvPr id="28" name="Text 22"/>
          <p:cNvSpPr/>
          <p:nvPr/>
        </p:nvSpPr>
        <p:spPr>
          <a:xfrm>
            <a:off x="6629400" y="5440680"/>
            <a:ext cx="3840480" cy="274320"/>
          </a:xfrm>
          <a:prstGeom prst="rect">
            <a:avLst/>
          </a:prstGeom>
          <a:noFill/>
          <a:ln/>
        </p:spPr>
        <p:txBody>
          <a:bodyPr wrap="square" lIns="0" tIns="0" rIns="0" bIns="0" rtlCol="0" anchor="t"/>
          <a:lstStyle/>
          <a:p>
            <a:pPr indent="0" marL="0">
              <a:buNone/>
            </a:pPr>
            <a:r>
              <a:rPr lang="en-US" sz="1400" b="1" dirty="0">
                <a:solidFill>
                  <a:srgbClr val="111827"/>
                </a:solidFill>
                <a:latin typeface="Calibri" pitchFamily="34" charset="0"/>
                <a:ea typeface="Calibri" pitchFamily="34" charset="-122"/>
                <a:cs typeface="Calibri" pitchFamily="34" charset="-120"/>
              </a:rPr>
              <a:t>yes</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6FB"/>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2D69E2"/>
          </a:solidFill>
          <a:ln w="12700">
            <a:solidFill>
              <a:srgbClr val="2D69E2"/>
            </a:solidFill>
            <a:prstDash val="solid"/>
          </a:ln>
        </p:spPr>
      </p:sp>
      <p:sp>
        <p:nvSpPr>
          <p:cNvPr id="3" name="Text 1"/>
          <p:cNvSpPr/>
          <p:nvPr/>
        </p:nvSpPr>
        <p:spPr>
          <a:xfrm>
            <a:off x="548640" y="347472"/>
            <a:ext cx="8229600" cy="274320"/>
          </a:xfrm>
          <a:prstGeom prst="rect">
            <a:avLst/>
          </a:prstGeom>
          <a:noFill/>
          <a:ln/>
        </p:spPr>
        <p:txBody>
          <a:bodyPr wrap="square" lIns="0" tIns="0" rIns="0" bIns="0" rtlCol="0" anchor="t"/>
          <a:lstStyle/>
          <a:p>
            <a:pPr indent="0" marL="0">
              <a:buNone/>
            </a:pPr>
            <a:r>
              <a:rPr lang="en-US" sz="1100" b="1" spc="300" kern="0" dirty="0">
                <a:solidFill>
                  <a:srgbClr val="2D69E2"/>
                </a:solidFill>
                <a:latin typeface="Calibri" pitchFamily="34" charset="0"/>
                <a:ea typeface="Calibri" pitchFamily="34" charset="-122"/>
                <a:cs typeface="Calibri" pitchFamily="34" charset="-120"/>
              </a:rPr>
              <a:t>CONCEPT REDESIGN · CHANGES</a:t>
            </a:r>
            <a:endParaRPr lang="en-US" sz="1100" dirty="0"/>
          </a:p>
        </p:txBody>
      </p:sp>
      <p:sp>
        <p:nvSpPr>
          <p:cNvPr id="4" name="Text 2"/>
          <p:cNvSpPr/>
          <p:nvPr/>
        </p:nvSpPr>
        <p:spPr>
          <a:xfrm>
            <a:off x="548640" y="621792"/>
            <a:ext cx="9326880" cy="731520"/>
          </a:xfrm>
          <a:prstGeom prst="rect">
            <a:avLst/>
          </a:prstGeom>
          <a:noFill/>
          <a:ln/>
        </p:spPr>
        <p:txBody>
          <a:bodyPr wrap="square" lIns="0" tIns="0" rIns="0" bIns="0" rtlCol="0" anchor="t">
            <a:normAutofit/>
          </a:bodyPr>
          <a:lstStyle/>
          <a:p>
            <a:pPr indent="0" marL="0">
              <a:buNone/>
            </a:pPr>
            <a:r>
              <a:rPr lang="en-US" sz="2800" b="1" dirty="0">
                <a:solidFill>
                  <a:srgbClr val="0B1B5E"/>
                </a:solidFill>
                <a:latin typeface="Calibri" pitchFamily="34" charset="0"/>
                <a:ea typeface="Calibri" pitchFamily="34" charset="-122"/>
                <a:cs typeface="Calibri" pitchFamily="34" charset="-120"/>
              </a:rPr>
              <a:t>What changed, and why</a:t>
            </a:r>
            <a:endParaRPr lang="en-US" sz="2800" dirty="0"/>
          </a:p>
        </p:txBody>
      </p:sp>
      <p:pic>
        <p:nvPicPr>
          <p:cNvPr id="5" name="Image 0" descr="Samsung logo">    </p:cNvPr>
          <p:cNvPicPr>
            <a:picLocks noChangeAspect="1"/>
          </p:cNvPicPr>
          <p:nvPr/>
        </p:nvPicPr>
        <p:blipFill>
          <a:blip r:embed="rId1"/>
          <a:stretch>
            <a:fillRect/>
          </a:stretch>
        </p:blipFill>
        <p:spPr>
          <a:xfrm>
            <a:off x="10454335" y="347472"/>
            <a:ext cx="1188720" cy="377258"/>
          </a:xfrm>
          <a:prstGeom prst="rect">
            <a:avLst/>
          </a:prstGeom>
        </p:spPr>
      </p:pic>
      <p:sp>
        <p:nvSpPr>
          <p:cNvPr id="6" name="Text 3"/>
          <p:cNvSpPr/>
          <p:nvPr/>
        </p:nvSpPr>
        <p:spPr>
          <a:xfrm>
            <a:off x="548640" y="6446520"/>
            <a:ext cx="7315200" cy="256032"/>
          </a:xfrm>
          <a:prstGeom prst="rect">
            <a:avLst/>
          </a:prstGeom>
          <a:noFill/>
          <a:ln/>
        </p:spPr>
        <p:txBody>
          <a:bodyPr wrap="square" lIns="0" tIns="0" rIns="0" bIns="0" rtlCol="0" anchor="t"/>
          <a:lstStyle/>
          <a:p>
            <a:pPr indent="0" marL="0">
              <a:buNone/>
            </a:pPr>
            <a:r>
              <a:rPr lang="en-US" sz="1000" dirty="0">
                <a:solidFill>
                  <a:srgbClr val="5B6477"/>
                </a:solidFill>
                <a:latin typeface="Calibri" pitchFamily="34" charset="0"/>
                <a:ea typeface="Calibri" pitchFamily="34" charset="-122"/>
                <a:cs typeface="Calibri" pitchFamily="34" charset="-120"/>
              </a:rPr>
              <a:t>Nike. Just Do It. Nike IN  ·  Prepared by Samsung SDS</a:t>
            </a:r>
            <a:endParaRPr lang="en-US" sz="1000" dirty="0"/>
          </a:p>
        </p:txBody>
      </p:sp>
      <p:sp>
        <p:nvSpPr>
          <p:cNvPr id="7" name="Text 4"/>
          <p:cNvSpPr/>
          <p:nvPr/>
        </p:nvSpPr>
        <p:spPr>
          <a:xfrm>
            <a:off x="11185855" y="6446520"/>
            <a:ext cx="457200" cy="256032"/>
          </a:xfrm>
          <a:prstGeom prst="rect">
            <a:avLst/>
          </a:prstGeom>
          <a:noFill/>
          <a:ln/>
        </p:spPr>
        <p:txBody>
          <a:bodyPr wrap="square" lIns="0" tIns="0" rIns="0" bIns="0" rtlCol="0" anchor="t"/>
          <a:lstStyle/>
          <a:p>
            <a:pPr algn="r" indent="0" marL="0">
              <a:buNone/>
            </a:pPr>
            <a:r>
              <a:rPr lang="en-US" sz="1000" dirty="0">
                <a:solidFill>
                  <a:srgbClr val="5B6477"/>
                </a:solidFill>
                <a:latin typeface="Calibri" pitchFamily="34" charset="0"/>
                <a:ea typeface="Calibri" pitchFamily="34" charset="-122"/>
                <a:cs typeface="Calibri" pitchFamily="34" charset="-120"/>
              </a:rPr>
              <a:t>10</a:t>
            </a:r>
            <a:endParaRPr lang="en-US" sz="1000" dirty="0"/>
          </a:p>
        </p:txBody>
      </p:sp>
      <p:sp>
        <p:nvSpPr>
          <p:cNvPr id="9" name="Shape 5"/>
          <p:cNvSpPr/>
          <p:nvPr/>
        </p:nvSpPr>
        <p:spPr>
          <a:xfrm>
            <a:off x="548640" y="1508760"/>
            <a:ext cx="11094415" cy="694944"/>
          </a:xfrm>
          <a:prstGeom prst="roundRect">
            <a:avLst>
              <a:gd name="adj" fmla="val 13158"/>
            </a:avLst>
          </a:prstGeom>
          <a:solidFill>
            <a:srgbClr val="FFFFFF"/>
          </a:solidFill>
          <a:ln w="12700">
            <a:solidFill>
              <a:srgbClr val="DDE2EE"/>
            </a:solidFill>
            <a:prstDash val="solid"/>
          </a:ln>
        </p:spPr>
      </p:sp>
      <p:sp>
        <p:nvSpPr>
          <p:cNvPr id="10" name="Shape 6"/>
          <p:cNvSpPr/>
          <p:nvPr/>
        </p:nvSpPr>
        <p:spPr>
          <a:xfrm>
            <a:off x="548640" y="1508760"/>
            <a:ext cx="73152" cy="694944"/>
          </a:xfrm>
          <a:prstGeom prst="rect">
            <a:avLst/>
          </a:prstGeom>
          <a:solidFill>
            <a:srgbClr val="2D69E2"/>
          </a:solidFill>
          <a:ln w="12700">
            <a:solidFill>
              <a:srgbClr val="2D69E2"/>
            </a:solidFill>
            <a:prstDash val="solid"/>
          </a:ln>
        </p:spPr>
      </p:sp>
      <p:sp>
        <p:nvSpPr>
          <p:cNvPr id="11" name="Text 7"/>
          <p:cNvSpPr/>
          <p:nvPr/>
        </p:nvSpPr>
        <p:spPr>
          <a:xfrm>
            <a:off x="822960" y="1581912"/>
            <a:ext cx="4480560" cy="548640"/>
          </a:xfrm>
          <a:prstGeom prst="rect">
            <a:avLst/>
          </a:prstGeom>
          <a:noFill/>
          <a:ln/>
        </p:spPr>
        <p:txBody>
          <a:bodyPr wrap="square" lIns="0" tIns="0" rIns="0" bIns="0" rtlCol="0" anchor="ctr"/>
          <a:lstStyle/>
          <a:p>
            <a:pPr indent="0" marL="0">
              <a:buNone/>
            </a:pPr>
            <a:r>
              <a:rPr lang="en-US" sz="1300" b="1" dirty="0">
                <a:solidFill>
                  <a:srgbClr val="111827"/>
                </a:solidFill>
                <a:latin typeface="Calibri" pitchFamily="34" charset="0"/>
                <a:ea typeface="Calibri" pitchFamily="34" charset="-122"/>
                <a:cs typeface="Calibri" pitchFamily="34" charset="-120"/>
              </a:rPr>
              <a:t>Main content takes 16.9s to appear on mobile</a:t>
            </a:r>
            <a:endParaRPr lang="en-US" sz="1300" dirty="0"/>
          </a:p>
        </p:txBody>
      </p:sp>
      <p:sp>
        <p:nvSpPr>
          <p:cNvPr id="12" name="Text 8"/>
          <p:cNvSpPr/>
          <p:nvPr/>
        </p:nvSpPr>
        <p:spPr>
          <a:xfrm>
            <a:off x="5349240" y="1581912"/>
            <a:ext cx="365760" cy="548640"/>
          </a:xfrm>
          <a:prstGeom prst="rect">
            <a:avLst/>
          </a:prstGeom>
          <a:noFill/>
          <a:ln/>
        </p:spPr>
        <p:txBody>
          <a:bodyPr wrap="square" lIns="0" tIns="0" rIns="0" bIns="0" rtlCol="0" anchor="ctr"/>
          <a:lstStyle/>
          <a:p>
            <a:pPr algn="ctr" indent="0" marL="0">
              <a:buNone/>
            </a:pPr>
            <a:r>
              <a:rPr lang="en-US" sz="1800" dirty="0">
                <a:solidFill>
                  <a:srgbClr val="2D69E2"/>
                </a:solidFill>
                <a:latin typeface="Calibri" pitchFamily="34" charset="0"/>
                <a:ea typeface="Calibri" pitchFamily="34" charset="-122"/>
                <a:cs typeface="Calibri" pitchFamily="34" charset="-120"/>
              </a:rPr>
              <a:t>→</a:t>
            </a:r>
            <a:endParaRPr lang="en-US" sz="1800" dirty="0"/>
          </a:p>
        </p:txBody>
      </p:sp>
      <p:sp>
        <p:nvSpPr>
          <p:cNvPr id="13" name="Text 9"/>
          <p:cNvSpPr/>
          <p:nvPr/>
        </p:nvSpPr>
        <p:spPr>
          <a:xfrm>
            <a:off x="5806440" y="1581912"/>
            <a:ext cx="5608015" cy="548640"/>
          </a:xfrm>
          <a:prstGeom prst="rect">
            <a:avLst/>
          </a:prstGeom>
          <a:noFill/>
          <a:ln/>
        </p:spPr>
        <p:txBody>
          <a:bodyPr wrap="square" lIns="0" tIns="0" rIns="0" bIns="0" rtlCol="0" anchor="ctr"/>
          <a:lstStyle/>
          <a:p>
            <a:pPr indent="0" marL="0">
              <a:buNone/>
            </a:pPr>
            <a:r>
              <a:rPr lang="en-US" sz="1200" dirty="0">
                <a:solidFill>
                  <a:srgbClr val="5B6477"/>
                </a:solidFill>
                <a:latin typeface="Calibri" pitchFamily="34" charset="0"/>
                <a:ea typeface="Calibri" pitchFamily="34" charset="-122"/>
                <a:cs typeface="Calibri" pitchFamily="34" charset="-120"/>
              </a:rPr>
              <a:t>Compress and preload the hero image, defer non-critical scripts, serve via a CDN.</a:t>
            </a:r>
            <a:endParaRPr lang="en-US" sz="1200" dirty="0"/>
          </a:p>
        </p:txBody>
      </p:sp>
      <p:sp>
        <p:nvSpPr>
          <p:cNvPr id="14" name="Shape 10"/>
          <p:cNvSpPr/>
          <p:nvPr/>
        </p:nvSpPr>
        <p:spPr>
          <a:xfrm>
            <a:off x="548640" y="2313432"/>
            <a:ext cx="11094415" cy="694944"/>
          </a:xfrm>
          <a:prstGeom prst="roundRect">
            <a:avLst>
              <a:gd name="adj" fmla="val 13158"/>
            </a:avLst>
          </a:prstGeom>
          <a:solidFill>
            <a:srgbClr val="FFFFFF"/>
          </a:solidFill>
          <a:ln w="12700">
            <a:solidFill>
              <a:srgbClr val="DDE2EE"/>
            </a:solidFill>
            <a:prstDash val="solid"/>
          </a:ln>
        </p:spPr>
      </p:sp>
      <p:sp>
        <p:nvSpPr>
          <p:cNvPr id="15" name="Shape 11"/>
          <p:cNvSpPr/>
          <p:nvPr/>
        </p:nvSpPr>
        <p:spPr>
          <a:xfrm>
            <a:off x="548640" y="2313432"/>
            <a:ext cx="73152" cy="694944"/>
          </a:xfrm>
          <a:prstGeom prst="rect">
            <a:avLst/>
          </a:prstGeom>
          <a:solidFill>
            <a:srgbClr val="2D69E2"/>
          </a:solidFill>
          <a:ln w="12700">
            <a:solidFill>
              <a:srgbClr val="2D69E2"/>
            </a:solidFill>
            <a:prstDash val="solid"/>
          </a:ln>
        </p:spPr>
      </p:sp>
      <p:sp>
        <p:nvSpPr>
          <p:cNvPr id="16" name="Text 12"/>
          <p:cNvSpPr/>
          <p:nvPr/>
        </p:nvSpPr>
        <p:spPr>
          <a:xfrm>
            <a:off x="822960" y="2386584"/>
            <a:ext cx="4480560" cy="548640"/>
          </a:xfrm>
          <a:prstGeom prst="rect">
            <a:avLst/>
          </a:prstGeom>
          <a:noFill/>
          <a:ln/>
        </p:spPr>
        <p:txBody>
          <a:bodyPr wrap="square" lIns="0" tIns="0" rIns="0" bIns="0" rtlCol="0" anchor="ctr"/>
          <a:lstStyle/>
          <a:p>
            <a:pPr indent="0" marL="0">
              <a:buNone/>
            </a:pPr>
            <a:r>
              <a:rPr lang="en-US" sz="1300" b="1" dirty="0">
                <a:solidFill>
                  <a:srgbClr val="111827"/>
                </a:solidFill>
                <a:latin typeface="Calibri" pitchFamily="34" charset="0"/>
                <a:ea typeface="Calibri" pitchFamily="34" charset="-122"/>
                <a:cs typeface="Calibri" pitchFamily="34" charset="-120"/>
              </a:rPr>
              <a:t>Page is unresponsive for 1.3s while loading</a:t>
            </a:r>
            <a:endParaRPr lang="en-US" sz="1300" dirty="0"/>
          </a:p>
        </p:txBody>
      </p:sp>
      <p:sp>
        <p:nvSpPr>
          <p:cNvPr id="17" name="Text 13"/>
          <p:cNvSpPr/>
          <p:nvPr/>
        </p:nvSpPr>
        <p:spPr>
          <a:xfrm>
            <a:off x="5349240" y="2386584"/>
            <a:ext cx="365760" cy="548640"/>
          </a:xfrm>
          <a:prstGeom prst="rect">
            <a:avLst/>
          </a:prstGeom>
          <a:noFill/>
          <a:ln/>
        </p:spPr>
        <p:txBody>
          <a:bodyPr wrap="square" lIns="0" tIns="0" rIns="0" bIns="0" rtlCol="0" anchor="ctr"/>
          <a:lstStyle/>
          <a:p>
            <a:pPr algn="ctr" indent="0" marL="0">
              <a:buNone/>
            </a:pPr>
            <a:r>
              <a:rPr lang="en-US" sz="1800" dirty="0">
                <a:solidFill>
                  <a:srgbClr val="2D69E2"/>
                </a:solidFill>
                <a:latin typeface="Calibri" pitchFamily="34" charset="0"/>
                <a:ea typeface="Calibri" pitchFamily="34" charset="-122"/>
                <a:cs typeface="Calibri" pitchFamily="34" charset="-120"/>
              </a:rPr>
              <a:t>→</a:t>
            </a:r>
            <a:endParaRPr lang="en-US" sz="1800" dirty="0"/>
          </a:p>
        </p:txBody>
      </p:sp>
      <p:sp>
        <p:nvSpPr>
          <p:cNvPr id="18" name="Text 14"/>
          <p:cNvSpPr/>
          <p:nvPr/>
        </p:nvSpPr>
        <p:spPr>
          <a:xfrm>
            <a:off x="5806440" y="2386584"/>
            <a:ext cx="5608015" cy="548640"/>
          </a:xfrm>
          <a:prstGeom prst="rect">
            <a:avLst/>
          </a:prstGeom>
          <a:noFill/>
          <a:ln/>
        </p:spPr>
        <p:txBody>
          <a:bodyPr wrap="square" lIns="0" tIns="0" rIns="0" bIns="0" rtlCol="0" anchor="ctr"/>
          <a:lstStyle/>
          <a:p>
            <a:pPr indent="0" marL="0">
              <a:buNone/>
            </a:pPr>
            <a:r>
              <a:rPr lang="en-US" sz="1200" dirty="0">
                <a:solidFill>
                  <a:srgbClr val="5B6477"/>
                </a:solidFill>
                <a:latin typeface="Calibri" pitchFamily="34" charset="0"/>
                <a:ea typeface="Calibri" pitchFamily="34" charset="-122"/>
                <a:cs typeface="Calibri" pitchFamily="34" charset="-120"/>
              </a:rPr>
              <a:t>Split and defer JavaScript, remove unused third-party scripts.</a:t>
            </a:r>
            <a:endParaRPr lang="en-US" sz="1200" dirty="0"/>
          </a:p>
        </p:txBody>
      </p:sp>
      <p:sp>
        <p:nvSpPr>
          <p:cNvPr id="19" name="Shape 15"/>
          <p:cNvSpPr/>
          <p:nvPr/>
        </p:nvSpPr>
        <p:spPr>
          <a:xfrm>
            <a:off x="548640" y="3118104"/>
            <a:ext cx="11094415" cy="694944"/>
          </a:xfrm>
          <a:prstGeom prst="roundRect">
            <a:avLst>
              <a:gd name="adj" fmla="val 13158"/>
            </a:avLst>
          </a:prstGeom>
          <a:solidFill>
            <a:srgbClr val="FFFFFF"/>
          </a:solidFill>
          <a:ln w="12700">
            <a:solidFill>
              <a:srgbClr val="DDE2EE"/>
            </a:solidFill>
            <a:prstDash val="solid"/>
          </a:ln>
        </p:spPr>
      </p:sp>
      <p:sp>
        <p:nvSpPr>
          <p:cNvPr id="20" name="Shape 16"/>
          <p:cNvSpPr/>
          <p:nvPr/>
        </p:nvSpPr>
        <p:spPr>
          <a:xfrm>
            <a:off x="548640" y="3118104"/>
            <a:ext cx="73152" cy="694944"/>
          </a:xfrm>
          <a:prstGeom prst="rect">
            <a:avLst/>
          </a:prstGeom>
          <a:solidFill>
            <a:srgbClr val="2D69E2"/>
          </a:solidFill>
          <a:ln w="12700">
            <a:solidFill>
              <a:srgbClr val="2D69E2"/>
            </a:solidFill>
            <a:prstDash val="solid"/>
          </a:ln>
        </p:spPr>
      </p:sp>
      <p:sp>
        <p:nvSpPr>
          <p:cNvPr id="21" name="Text 17"/>
          <p:cNvSpPr/>
          <p:nvPr/>
        </p:nvSpPr>
        <p:spPr>
          <a:xfrm>
            <a:off x="822960" y="3191256"/>
            <a:ext cx="4480560" cy="548640"/>
          </a:xfrm>
          <a:prstGeom prst="rect">
            <a:avLst/>
          </a:prstGeom>
          <a:noFill/>
          <a:ln/>
        </p:spPr>
        <p:txBody>
          <a:bodyPr wrap="square" lIns="0" tIns="0" rIns="0" bIns="0" rtlCol="0" anchor="ctr"/>
          <a:lstStyle/>
          <a:p>
            <a:pPr indent="0" marL="0">
              <a:buNone/>
            </a:pPr>
            <a:r>
              <a:rPr lang="en-US" sz="1300" b="1" dirty="0">
                <a:solidFill>
                  <a:srgbClr val="111827"/>
                </a:solidFill>
                <a:latin typeface="Calibri" pitchFamily="34" charset="0"/>
                <a:ea typeface="Calibri" pitchFamily="34" charset="-122"/>
                <a:cs typeface="Calibri" pitchFamily="34" charset="-120"/>
              </a:rPr>
              <a:t>64 tap targets are too small</a:t>
            </a:r>
            <a:endParaRPr lang="en-US" sz="1300" dirty="0"/>
          </a:p>
        </p:txBody>
      </p:sp>
      <p:sp>
        <p:nvSpPr>
          <p:cNvPr id="22" name="Text 18"/>
          <p:cNvSpPr/>
          <p:nvPr/>
        </p:nvSpPr>
        <p:spPr>
          <a:xfrm>
            <a:off x="5349240" y="3191256"/>
            <a:ext cx="365760" cy="548640"/>
          </a:xfrm>
          <a:prstGeom prst="rect">
            <a:avLst/>
          </a:prstGeom>
          <a:noFill/>
          <a:ln/>
        </p:spPr>
        <p:txBody>
          <a:bodyPr wrap="square" lIns="0" tIns="0" rIns="0" bIns="0" rtlCol="0" anchor="ctr"/>
          <a:lstStyle/>
          <a:p>
            <a:pPr algn="ctr" indent="0" marL="0">
              <a:buNone/>
            </a:pPr>
            <a:r>
              <a:rPr lang="en-US" sz="1800" dirty="0">
                <a:solidFill>
                  <a:srgbClr val="2D69E2"/>
                </a:solidFill>
                <a:latin typeface="Calibri" pitchFamily="34" charset="0"/>
                <a:ea typeface="Calibri" pitchFamily="34" charset="-122"/>
                <a:cs typeface="Calibri" pitchFamily="34" charset="-120"/>
              </a:rPr>
              <a:t>→</a:t>
            </a:r>
            <a:endParaRPr lang="en-US" sz="1800" dirty="0"/>
          </a:p>
        </p:txBody>
      </p:sp>
      <p:sp>
        <p:nvSpPr>
          <p:cNvPr id="23" name="Text 19"/>
          <p:cNvSpPr/>
          <p:nvPr/>
        </p:nvSpPr>
        <p:spPr>
          <a:xfrm>
            <a:off x="5806440" y="3191256"/>
            <a:ext cx="5608015" cy="548640"/>
          </a:xfrm>
          <a:prstGeom prst="rect">
            <a:avLst/>
          </a:prstGeom>
          <a:noFill/>
          <a:ln/>
        </p:spPr>
        <p:txBody>
          <a:bodyPr wrap="square" lIns="0" tIns="0" rIns="0" bIns="0" rtlCol="0" anchor="ctr"/>
          <a:lstStyle/>
          <a:p>
            <a:pPr indent="0" marL="0">
              <a:buNone/>
            </a:pPr>
            <a:r>
              <a:rPr lang="en-US" sz="1200" dirty="0">
                <a:solidFill>
                  <a:srgbClr val="5B6477"/>
                </a:solidFill>
                <a:latin typeface="Calibri" pitchFamily="34" charset="0"/>
                <a:ea typeface="Calibri" pitchFamily="34" charset="-122"/>
                <a:cs typeface="Calibri" pitchFamily="34" charset="-120"/>
              </a:rPr>
              <a:t>Make interactive elements at least 44x44px with spacing between them.</a:t>
            </a:r>
            <a:endParaRPr lang="en-US" sz="1200" dirty="0"/>
          </a:p>
        </p:txBody>
      </p:sp>
      <p:sp>
        <p:nvSpPr>
          <p:cNvPr id="24" name="Shape 20"/>
          <p:cNvSpPr/>
          <p:nvPr/>
        </p:nvSpPr>
        <p:spPr>
          <a:xfrm>
            <a:off x="548640" y="3922776"/>
            <a:ext cx="11094415" cy="694944"/>
          </a:xfrm>
          <a:prstGeom prst="roundRect">
            <a:avLst>
              <a:gd name="adj" fmla="val 13158"/>
            </a:avLst>
          </a:prstGeom>
          <a:solidFill>
            <a:srgbClr val="FFFFFF"/>
          </a:solidFill>
          <a:ln w="12700">
            <a:solidFill>
              <a:srgbClr val="DDE2EE"/>
            </a:solidFill>
            <a:prstDash val="solid"/>
          </a:ln>
        </p:spPr>
      </p:sp>
      <p:sp>
        <p:nvSpPr>
          <p:cNvPr id="25" name="Shape 21"/>
          <p:cNvSpPr/>
          <p:nvPr/>
        </p:nvSpPr>
        <p:spPr>
          <a:xfrm>
            <a:off x="548640" y="3922776"/>
            <a:ext cx="73152" cy="694944"/>
          </a:xfrm>
          <a:prstGeom prst="rect">
            <a:avLst/>
          </a:prstGeom>
          <a:solidFill>
            <a:srgbClr val="2D69E2"/>
          </a:solidFill>
          <a:ln w="12700">
            <a:solidFill>
              <a:srgbClr val="2D69E2"/>
            </a:solidFill>
            <a:prstDash val="solid"/>
          </a:ln>
        </p:spPr>
      </p:sp>
      <p:sp>
        <p:nvSpPr>
          <p:cNvPr id="26" name="Text 22"/>
          <p:cNvSpPr/>
          <p:nvPr/>
        </p:nvSpPr>
        <p:spPr>
          <a:xfrm>
            <a:off x="822960" y="3995928"/>
            <a:ext cx="4480560" cy="548640"/>
          </a:xfrm>
          <a:prstGeom prst="rect">
            <a:avLst/>
          </a:prstGeom>
          <a:noFill/>
          <a:ln/>
        </p:spPr>
        <p:txBody>
          <a:bodyPr wrap="square" lIns="0" tIns="0" rIns="0" bIns="0" rtlCol="0" anchor="ctr"/>
          <a:lstStyle/>
          <a:p>
            <a:pPr indent="0" marL="0">
              <a:buNone/>
            </a:pPr>
            <a:r>
              <a:rPr lang="en-US" sz="1300" b="1" dirty="0">
                <a:solidFill>
                  <a:srgbClr val="111827"/>
                </a:solidFill>
                <a:latin typeface="Calibri" pitchFamily="34" charset="0"/>
                <a:ea typeface="Calibri" pitchFamily="34" charset="-122"/>
                <a:cs typeface="Calibri" pitchFamily="34" charset="-120"/>
              </a:rPr>
              <a:t>Elements must only use permitted ARIA attributes</a:t>
            </a:r>
            <a:endParaRPr lang="en-US" sz="1300" dirty="0"/>
          </a:p>
        </p:txBody>
      </p:sp>
      <p:sp>
        <p:nvSpPr>
          <p:cNvPr id="27" name="Text 23"/>
          <p:cNvSpPr/>
          <p:nvPr/>
        </p:nvSpPr>
        <p:spPr>
          <a:xfrm>
            <a:off x="5349240" y="3995928"/>
            <a:ext cx="365760" cy="548640"/>
          </a:xfrm>
          <a:prstGeom prst="rect">
            <a:avLst/>
          </a:prstGeom>
          <a:noFill/>
          <a:ln/>
        </p:spPr>
        <p:txBody>
          <a:bodyPr wrap="square" lIns="0" tIns="0" rIns="0" bIns="0" rtlCol="0" anchor="ctr"/>
          <a:lstStyle/>
          <a:p>
            <a:pPr algn="ctr" indent="0" marL="0">
              <a:buNone/>
            </a:pPr>
            <a:r>
              <a:rPr lang="en-US" sz="1800" dirty="0">
                <a:solidFill>
                  <a:srgbClr val="2D69E2"/>
                </a:solidFill>
                <a:latin typeface="Calibri" pitchFamily="34" charset="0"/>
                <a:ea typeface="Calibri" pitchFamily="34" charset="-122"/>
                <a:cs typeface="Calibri" pitchFamily="34" charset="-120"/>
              </a:rPr>
              <a:t>→</a:t>
            </a:r>
            <a:endParaRPr lang="en-US" sz="1800" dirty="0"/>
          </a:p>
        </p:txBody>
      </p:sp>
      <p:sp>
        <p:nvSpPr>
          <p:cNvPr id="28" name="Text 24"/>
          <p:cNvSpPr/>
          <p:nvPr/>
        </p:nvSpPr>
        <p:spPr>
          <a:xfrm>
            <a:off x="5806440" y="3995928"/>
            <a:ext cx="5608015" cy="548640"/>
          </a:xfrm>
          <a:prstGeom prst="rect">
            <a:avLst/>
          </a:prstGeom>
          <a:noFill/>
          <a:ln/>
        </p:spPr>
        <p:txBody>
          <a:bodyPr wrap="square" lIns="0" tIns="0" rIns="0" bIns="0" rtlCol="0" anchor="ctr"/>
          <a:lstStyle/>
          <a:p>
            <a:pPr indent="0" marL="0">
              <a:buNone/>
            </a:pPr>
            <a:r>
              <a:rPr lang="en-US" sz="1200" dirty="0">
                <a:solidFill>
                  <a:srgbClr val="5B6477"/>
                </a:solidFill>
                <a:latin typeface="Calibri" pitchFamily="34" charset="0"/>
                <a:ea typeface="Calibri" pitchFamily="34" charset="-122"/>
                <a:cs typeface="Calibri" pitchFamily="34" charset="-120"/>
              </a:rPr>
              <a:t>Fix the flagged elements and add automated a11y checks to CI.</a:t>
            </a:r>
            <a:endParaRPr lang="en-US" sz="1200" dirty="0"/>
          </a:p>
        </p:txBody>
      </p:sp>
      <p:sp>
        <p:nvSpPr>
          <p:cNvPr id="29" name="Shape 25"/>
          <p:cNvSpPr/>
          <p:nvPr/>
        </p:nvSpPr>
        <p:spPr>
          <a:xfrm>
            <a:off x="548640" y="4727448"/>
            <a:ext cx="11094415" cy="694944"/>
          </a:xfrm>
          <a:prstGeom prst="roundRect">
            <a:avLst>
              <a:gd name="adj" fmla="val 13158"/>
            </a:avLst>
          </a:prstGeom>
          <a:solidFill>
            <a:srgbClr val="FFFFFF"/>
          </a:solidFill>
          <a:ln w="12700">
            <a:solidFill>
              <a:srgbClr val="DDE2EE"/>
            </a:solidFill>
            <a:prstDash val="solid"/>
          </a:ln>
        </p:spPr>
      </p:sp>
      <p:sp>
        <p:nvSpPr>
          <p:cNvPr id="30" name="Shape 26"/>
          <p:cNvSpPr/>
          <p:nvPr/>
        </p:nvSpPr>
        <p:spPr>
          <a:xfrm>
            <a:off x="548640" y="4727448"/>
            <a:ext cx="73152" cy="694944"/>
          </a:xfrm>
          <a:prstGeom prst="rect">
            <a:avLst/>
          </a:prstGeom>
          <a:solidFill>
            <a:srgbClr val="2D69E2"/>
          </a:solidFill>
          <a:ln w="12700">
            <a:solidFill>
              <a:srgbClr val="2D69E2"/>
            </a:solidFill>
            <a:prstDash val="solid"/>
          </a:ln>
        </p:spPr>
      </p:sp>
      <p:sp>
        <p:nvSpPr>
          <p:cNvPr id="31" name="Text 27"/>
          <p:cNvSpPr/>
          <p:nvPr/>
        </p:nvSpPr>
        <p:spPr>
          <a:xfrm>
            <a:off x="822960" y="4800600"/>
            <a:ext cx="4480560" cy="548640"/>
          </a:xfrm>
          <a:prstGeom prst="rect">
            <a:avLst/>
          </a:prstGeom>
          <a:noFill/>
          <a:ln/>
        </p:spPr>
        <p:txBody>
          <a:bodyPr wrap="square" lIns="0" tIns="0" rIns="0" bIns="0" rtlCol="0" anchor="ctr"/>
          <a:lstStyle/>
          <a:p>
            <a:pPr indent="0" marL="0">
              <a:buNone/>
            </a:pPr>
            <a:r>
              <a:rPr lang="en-US" sz="1300" b="1" dirty="0">
                <a:solidFill>
                  <a:srgbClr val="111827"/>
                </a:solidFill>
                <a:latin typeface="Calibri" pitchFamily="34" charset="0"/>
                <a:ea typeface="Calibri" pitchFamily="34" charset="-122"/>
                <a:cs typeface="Calibri" pitchFamily="34" charset="-120"/>
              </a:rPr>
              <a:t>&lt;ul&gt; and &lt;ol&gt; must only directly contain &lt;li&gt;, &lt;script&gt; or &lt;template&gt; elements</a:t>
            </a:r>
            <a:endParaRPr lang="en-US" sz="1300" dirty="0"/>
          </a:p>
        </p:txBody>
      </p:sp>
      <p:sp>
        <p:nvSpPr>
          <p:cNvPr id="32" name="Text 28"/>
          <p:cNvSpPr/>
          <p:nvPr/>
        </p:nvSpPr>
        <p:spPr>
          <a:xfrm>
            <a:off x="5349240" y="4800600"/>
            <a:ext cx="365760" cy="548640"/>
          </a:xfrm>
          <a:prstGeom prst="rect">
            <a:avLst/>
          </a:prstGeom>
          <a:noFill/>
          <a:ln/>
        </p:spPr>
        <p:txBody>
          <a:bodyPr wrap="square" lIns="0" tIns="0" rIns="0" bIns="0" rtlCol="0" anchor="ctr"/>
          <a:lstStyle/>
          <a:p>
            <a:pPr algn="ctr" indent="0" marL="0">
              <a:buNone/>
            </a:pPr>
            <a:r>
              <a:rPr lang="en-US" sz="1800" dirty="0">
                <a:solidFill>
                  <a:srgbClr val="2D69E2"/>
                </a:solidFill>
                <a:latin typeface="Calibri" pitchFamily="34" charset="0"/>
                <a:ea typeface="Calibri" pitchFamily="34" charset="-122"/>
                <a:cs typeface="Calibri" pitchFamily="34" charset="-120"/>
              </a:rPr>
              <a:t>→</a:t>
            </a:r>
            <a:endParaRPr lang="en-US" sz="1800" dirty="0"/>
          </a:p>
        </p:txBody>
      </p:sp>
      <p:sp>
        <p:nvSpPr>
          <p:cNvPr id="33" name="Text 29"/>
          <p:cNvSpPr/>
          <p:nvPr/>
        </p:nvSpPr>
        <p:spPr>
          <a:xfrm>
            <a:off x="5806440" y="4800600"/>
            <a:ext cx="5608015" cy="548640"/>
          </a:xfrm>
          <a:prstGeom prst="rect">
            <a:avLst/>
          </a:prstGeom>
          <a:noFill/>
          <a:ln/>
        </p:spPr>
        <p:txBody>
          <a:bodyPr wrap="square" lIns="0" tIns="0" rIns="0" bIns="0" rtlCol="0" anchor="ctr"/>
          <a:lstStyle/>
          <a:p>
            <a:pPr indent="0" marL="0">
              <a:buNone/>
            </a:pPr>
            <a:r>
              <a:rPr lang="en-US" sz="1200" dirty="0">
                <a:solidFill>
                  <a:srgbClr val="5B6477"/>
                </a:solidFill>
                <a:latin typeface="Calibri" pitchFamily="34" charset="0"/>
                <a:ea typeface="Calibri" pitchFamily="34" charset="-122"/>
                <a:cs typeface="Calibri" pitchFamily="34" charset="-120"/>
              </a:rPr>
              <a:t>Fix the flagged elements and add automated a11y checks to CI.</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6FB"/>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2D69E2"/>
          </a:solidFill>
          <a:ln w="12700">
            <a:solidFill>
              <a:srgbClr val="2D69E2"/>
            </a:solidFill>
            <a:prstDash val="solid"/>
          </a:ln>
        </p:spPr>
      </p:sp>
      <p:sp>
        <p:nvSpPr>
          <p:cNvPr id="3" name="Text 1"/>
          <p:cNvSpPr/>
          <p:nvPr/>
        </p:nvSpPr>
        <p:spPr>
          <a:xfrm>
            <a:off x="548640" y="347472"/>
            <a:ext cx="8229600" cy="274320"/>
          </a:xfrm>
          <a:prstGeom prst="rect">
            <a:avLst/>
          </a:prstGeom>
          <a:noFill/>
          <a:ln/>
        </p:spPr>
        <p:txBody>
          <a:bodyPr wrap="square" lIns="0" tIns="0" rIns="0" bIns="0" rtlCol="0" anchor="t"/>
          <a:lstStyle/>
          <a:p>
            <a:pPr indent="0" marL="0">
              <a:buNone/>
            </a:pPr>
            <a:r>
              <a:rPr lang="en-US" sz="1100" b="1" spc="300" kern="0" dirty="0">
                <a:solidFill>
                  <a:srgbClr val="2D69E2"/>
                </a:solidFill>
                <a:latin typeface="Calibri" pitchFamily="34" charset="0"/>
                <a:ea typeface="Calibri" pitchFamily="34" charset="-122"/>
                <a:cs typeface="Calibri" pitchFamily="34" charset="-120"/>
              </a:rPr>
              <a:t>ORGANISATION MATCH</a:t>
            </a:r>
            <a:endParaRPr lang="en-US" sz="1100" dirty="0"/>
          </a:p>
        </p:txBody>
      </p:sp>
      <p:sp>
        <p:nvSpPr>
          <p:cNvPr id="4" name="Text 2"/>
          <p:cNvSpPr/>
          <p:nvPr/>
        </p:nvSpPr>
        <p:spPr>
          <a:xfrm>
            <a:off x="548640" y="621792"/>
            <a:ext cx="9326880" cy="731520"/>
          </a:xfrm>
          <a:prstGeom prst="rect">
            <a:avLst/>
          </a:prstGeom>
          <a:noFill/>
          <a:ln/>
        </p:spPr>
        <p:txBody>
          <a:bodyPr wrap="square" lIns="0" tIns="0" rIns="0" bIns="0" rtlCol="0" anchor="t">
            <a:normAutofit/>
          </a:bodyPr>
          <a:lstStyle/>
          <a:p>
            <a:pPr indent="0" marL="0">
              <a:buNone/>
            </a:pPr>
            <a:r>
              <a:rPr lang="en-US" sz="2800" b="1" dirty="0">
                <a:solidFill>
                  <a:srgbClr val="0B1B5E"/>
                </a:solidFill>
                <a:latin typeface="Calibri" pitchFamily="34" charset="0"/>
                <a:ea typeface="Calibri" pitchFamily="34" charset="-122"/>
                <a:cs typeface="Calibri" pitchFamily="34" charset="-120"/>
              </a:rPr>
              <a:t>Why Samsung SDS fits this work</a:t>
            </a:r>
            <a:endParaRPr lang="en-US" sz="2800" dirty="0"/>
          </a:p>
        </p:txBody>
      </p:sp>
      <p:pic>
        <p:nvPicPr>
          <p:cNvPr id="5" name="Image 0" descr="Samsung logo">    </p:cNvPr>
          <p:cNvPicPr>
            <a:picLocks noChangeAspect="1"/>
          </p:cNvPicPr>
          <p:nvPr/>
        </p:nvPicPr>
        <p:blipFill>
          <a:blip r:embed="rId1"/>
          <a:stretch>
            <a:fillRect/>
          </a:stretch>
        </p:blipFill>
        <p:spPr>
          <a:xfrm>
            <a:off x="10454335" y="347472"/>
            <a:ext cx="1188720" cy="377258"/>
          </a:xfrm>
          <a:prstGeom prst="rect">
            <a:avLst/>
          </a:prstGeom>
        </p:spPr>
      </p:pic>
      <p:sp>
        <p:nvSpPr>
          <p:cNvPr id="6" name="Text 3"/>
          <p:cNvSpPr/>
          <p:nvPr/>
        </p:nvSpPr>
        <p:spPr>
          <a:xfrm>
            <a:off x="548640" y="6446520"/>
            <a:ext cx="7315200" cy="256032"/>
          </a:xfrm>
          <a:prstGeom prst="rect">
            <a:avLst/>
          </a:prstGeom>
          <a:noFill/>
          <a:ln/>
        </p:spPr>
        <p:txBody>
          <a:bodyPr wrap="square" lIns="0" tIns="0" rIns="0" bIns="0" rtlCol="0" anchor="t"/>
          <a:lstStyle/>
          <a:p>
            <a:pPr indent="0" marL="0">
              <a:buNone/>
            </a:pPr>
            <a:r>
              <a:rPr lang="en-US" sz="1000" dirty="0">
                <a:solidFill>
                  <a:srgbClr val="5B6477"/>
                </a:solidFill>
                <a:latin typeface="Calibri" pitchFamily="34" charset="0"/>
                <a:ea typeface="Calibri" pitchFamily="34" charset="-122"/>
                <a:cs typeface="Calibri" pitchFamily="34" charset="-120"/>
              </a:rPr>
              <a:t>Nike. Just Do It. Nike IN  ·  Prepared by Samsung SDS</a:t>
            </a:r>
            <a:endParaRPr lang="en-US" sz="1000" dirty="0"/>
          </a:p>
        </p:txBody>
      </p:sp>
      <p:sp>
        <p:nvSpPr>
          <p:cNvPr id="7" name="Text 4"/>
          <p:cNvSpPr/>
          <p:nvPr/>
        </p:nvSpPr>
        <p:spPr>
          <a:xfrm>
            <a:off x="11185855" y="6446520"/>
            <a:ext cx="457200" cy="256032"/>
          </a:xfrm>
          <a:prstGeom prst="rect">
            <a:avLst/>
          </a:prstGeom>
          <a:noFill/>
          <a:ln/>
        </p:spPr>
        <p:txBody>
          <a:bodyPr wrap="square" lIns="0" tIns="0" rIns="0" bIns="0" rtlCol="0" anchor="t"/>
          <a:lstStyle/>
          <a:p>
            <a:pPr algn="r" indent="0" marL="0">
              <a:buNone/>
            </a:pPr>
            <a:r>
              <a:rPr lang="en-US" sz="1000" dirty="0">
                <a:solidFill>
                  <a:srgbClr val="5B6477"/>
                </a:solidFill>
                <a:latin typeface="Calibri" pitchFamily="34" charset="0"/>
                <a:ea typeface="Calibri" pitchFamily="34" charset="-122"/>
                <a:cs typeface="Calibri" pitchFamily="34" charset="-120"/>
              </a:rPr>
              <a:t>11</a:t>
            </a:r>
            <a:endParaRPr lang="en-US" sz="1000" dirty="0"/>
          </a:p>
        </p:txBody>
      </p:sp>
      <p:sp>
        <p:nvSpPr>
          <p:cNvPr id="9" name="Shape 5"/>
          <p:cNvSpPr/>
          <p:nvPr/>
        </p:nvSpPr>
        <p:spPr>
          <a:xfrm>
            <a:off x="548640" y="1508760"/>
            <a:ext cx="2926080" cy="4480560"/>
          </a:xfrm>
          <a:prstGeom prst="roundRect">
            <a:avLst>
              <a:gd name="adj" fmla="val 3125"/>
            </a:avLst>
          </a:prstGeom>
          <a:solidFill>
            <a:srgbClr val="FFFFFF"/>
          </a:solidFill>
          <a:ln w="12700">
            <a:solidFill>
              <a:srgbClr val="DDE2EE"/>
            </a:solidFill>
            <a:prstDash val="solid"/>
          </a:ln>
        </p:spPr>
      </p:sp>
      <p:graphicFrame>
        <p:nvGraphicFramePr>
          <p:cNvPr id="10" name="Chart 0" descr=""/>
          <p:cNvGraphicFramePr/>
          <p:nvPr/>
        </p:nvGraphicFramePr>
        <p:xfrm>
          <a:off x="822960" y="1691640"/>
          <a:ext cx="2377440" cy="2377440"/>
        </p:xfrm>
        <a:graphic xmlns:a="http://schemas.openxmlformats.org/drawingml/2006/main">
          <a:graphicData uri="http://schemas.openxmlformats.org/drawingml/2006/chart">
            <c:chart xmlns:c="http://schemas.openxmlformats.org/drawingml/2006/chart" r:id="rId2"/>
          </a:graphicData>
        </a:graphic>
      </p:graphicFrame>
      <p:sp>
        <p:nvSpPr>
          <p:cNvPr id="11" name="Text 6"/>
          <p:cNvSpPr/>
          <p:nvPr/>
        </p:nvSpPr>
        <p:spPr>
          <a:xfrm>
            <a:off x="548640" y="2423160"/>
            <a:ext cx="2926080" cy="822960"/>
          </a:xfrm>
          <a:prstGeom prst="rect">
            <a:avLst/>
          </a:prstGeom>
          <a:noFill/>
          <a:ln/>
        </p:spPr>
        <p:txBody>
          <a:bodyPr wrap="square" lIns="0" tIns="0" rIns="0" bIns="0" rtlCol="0" anchor="ctr"/>
          <a:lstStyle/>
          <a:p>
            <a:pPr algn="ctr" indent="0" marL="0">
              <a:buNone/>
            </a:pPr>
            <a:r>
              <a:rPr lang="en-US" sz="4400" b="1" dirty="0">
                <a:solidFill>
                  <a:srgbClr val="0F9D6B"/>
                </a:solidFill>
                <a:latin typeface="Calibri" pitchFamily="34" charset="0"/>
                <a:ea typeface="Calibri" pitchFamily="34" charset="-122"/>
                <a:cs typeface="Calibri" pitchFamily="34" charset="-120"/>
              </a:rPr>
              <a:t>91</a:t>
            </a:r>
            <a:endParaRPr lang="en-US" sz="4400" dirty="0"/>
          </a:p>
        </p:txBody>
      </p:sp>
      <p:sp>
        <p:nvSpPr>
          <p:cNvPr id="12" name="Text 7"/>
          <p:cNvSpPr/>
          <p:nvPr/>
        </p:nvSpPr>
        <p:spPr>
          <a:xfrm>
            <a:off x="548640" y="4114800"/>
            <a:ext cx="2926080" cy="274320"/>
          </a:xfrm>
          <a:prstGeom prst="rect">
            <a:avLst/>
          </a:prstGeom>
          <a:noFill/>
          <a:ln/>
        </p:spPr>
        <p:txBody>
          <a:bodyPr wrap="square" lIns="0" tIns="0" rIns="0" bIns="0" rtlCol="0" anchor="t"/>
          <a:lstStyle/>
          <a:p>
            <a:pPr algn="ctr" indent="0" marL="0">
              <a:buNone/>
            </a:pPr>
            <a:r>
              <a:rPr lang="en-US" sz="1200" dirty="0">
                <a:solidFill>
                  <a:srgbClr val="5B6477"/>
                </a:solidFill>
                <a:latin typeface="Calibri" pitchFamily="34" charset="0"/>
                <a:ea typeface="Calibri" pitchFamily="34" charset="-122"/>
                <a:cs typeface="Calibri" pitchFamily="34" charset="-120"/>
              </a:rPr>
              <a:t>organisation match</a:t>
            </a:r>
            <a:endParaRPr lang="en-US" sz="1200" dirty="0"/>
          </a:p>
        </p:txBody>
      </p:sp>
      <p:sp>
        <p:nvSpPr>
          <p:cNvPr id="13" name="Text 8"/>
          <p:cNvSpPr/>
          <p:nvPr/>
        </p:nvSpPr>
        <p:spPr>
          <a:xfrm>
            <a:off x="777240" y="4434840"/>
            <a:ext cx="2560320" cy="1463040"/>
          </a:xfrm>
          <a:prstGeom prst="rect">
            <a:avLst/>
          </a:prstGeom>
          <a:noFill/>
          <a:ln/>
        </p:spPr>
        <p:txBody>
          <a:bodyPr wrap="square" lIns="0" tIns="0" rIns="0" bIns="0" rtlCol="0" anchor="t"/>
          <a:lstStyle/>
          <a:p>
            <a:pPr indent="0" marL="0">
              <a:buNone/>
            </a:pPr>
            <a:r>
              <a:rPr lang="en-US" sz="1100" b="1" dirty="0">
                <a:solidFill>
                  <a:srgbClr val="0F9D6B"/>
                </a:solidFill>
                <a:latin typeface="Calibri" pitchFamily="34" charset="0"/>
                <a:ea typeface="Calibri" pitchFamily="34" charset="-122"/>
                <a:cs typeface="Calibri" pitchFamily="34" charset="-120"/>
              </a:rPr>
              <a:t>Strengths</a:t>
            </a:r>
            <a:endParaRPr lang="en-US" sz="1100" dirty="0"/>
          </a:p>
          <a:p>
            <a:pPr indent="0" marL="0">
              <a:buNone/>
            </a:pPr>
            <a:r>
              <a:rPr lang="en-US" sz="1100" dirty="0">
                <a:solidFill>
                  <a:srgbClr val="5B6477"/>
                </a:solidFill>
                <a:latin typeface="Calibri" pitchFamily="34" charset="0"/>
                <a:ea typeface="Calibri" pitchFamily="34" charset="-122"/>
                <a:cs typeface="Calibri" pitchFamily="34" charset="-120"/>
              </a:rPr>
              <a:t>Next.js / React, UX / UI design, QA / test automation, Web performance</a:t>
            </a:r>
            <a:endParaRPr lang="en-US" sz="1100" dirty="0"/>
          </a:p>
          <a:p>
            <a:pPr indent="0" marL="0">
              <a:buNone/>
            </a:pPr>
            <a:r>
              <a:rPr lang="en-US" sz="1100" dirty="0">
                <a:solidFill>
                  <a:srgbClr val="111827"/>
                </a:solidFill>
                <a:latin typeface="Calibri" pitchFamily="34" charset="0"/>
                <a:ea typeface="Calibri" pitchFamily="34" charset="-122"/>
                <a:cs typeface="Calibri" pitchFamily="34" charset="-120"/>
              </a:rPr>
              <a:t> </a:t>
            </a:r>
            <a:endParaRPr lang="en-US" sz="1100" dirty="0"/>
          </a:p>
          <a:p>
            <a:pPr indent="0" marL="0">
              <a:buNone/>
            </a:pPr>
            <a:r>
              <a:rPr lang="en-US" sz="1100" b="1" dirty="0">
                <a:solidFill>
                  <a:srgbClr val="0F9D6B"/>
                </a:solidFill>
                <a:latin typeface="Calibri" pitchFamily="34" charset="0"/>
                <a:ea typeface="Calibri" pitchFamily="34" charset="-122"/>
                <a:cs typeface="Calibri" pitchFamily="34" charset="-120"/>
              </a:rPr>
              <a:t>Gaps</a:t>
            </a:r>
            <a:endParaRPr lang="en-US" sz="1100" dirty="0"/>
          </a:p>
          <a:p>
            <a:pPr indent="0" marL="0">
              <a:buNone/>
            </a:pPr>
            <a:r>
              <a:rPr lang="en-US" sz="1100" dirty="0">
                <a:solidFill>
                  <a:srgbClr val="5B6477"/>
                </a:solidFill>
                <a:latin typeface="Calibri" pitchFamily="34" charset="0"/>
                <a:ea typeface="Calibri" pitchFamily="34" charset="-122"/>
                <a:cs typeface="Calibri" pitchFamily="34" charset="-120"/>
              </a:rPr>
              <a:t>None</a:t>
            </a:r>
            <a:endParaRPr lang="en-US" sz="1100" dirty="0"/>
          </a:p>
        </p:txBody>
      </p:sp>
      <p:sp>
        <p:nvSpPr>
          <p:cNvPr id="14" name="Text 9"/>
          <p:cNvSpPr/>
          <p:nvPr/>
        </p:nvSpPr>
        <p:spPr>
          <a:xfrm>
            <a:off x="3749040" y="1508760"/>
            <a:ext cx="2743200" cy="228600"/>
          </a:xfrm>
          <a:prstGeom prst="rect">
            <a:avLst/>
          </a:prstGeom>
          <a:noFill/>
          <a:ln/>
        </p:spPr>
        <p:txBody>
          <a:bodyPr wrap="square" lIns="0" tIns="0" rIns="0" bIns="0" rtlCol="0" anchor="t"/>
          <a:lstStyle/>
          <a:p>
            <a:pPr indent="0" marL="0">
              <a:buNone/>
            </a:pPr>
            <a:r>
              <a:rPr lang="en-US" sz="900" b="1" spc="100" kern="0" dirty="0">
                <a:solidFill>
                  <a:srgbClr val="5B6477"/>
                </a:solidFill>
                <a:latin typeface="Calibri" pitchFamily="34" charset="0"/>
                <a:ea typeface="Calibri" pitchFamily="34" charset="-122"/>
                <a:cs typeface="Calibri" pitchFamily="34" charset="-120"/>
              </a:rPr>
              <a:t>SKILL</a:t>
            </a:r>
            <a:endParaRPr lang="en-US" sz="900" dirty="0"/>
          </a:p>
        </p:txBody>
      </p:sp>
      <p:sp>
        <p:nvSpPr>
          <p:cNvPr id="15" name="Text 10"/>
          <p:cNvSpPr/>
          <p:nvPr/>
        </p:nvSpPr>
        <p:spPr>
          <a:xfrm>
            <a:off x="6675120" y="1508760"/>
            <a:ext cx="2011680" cy="228600"/>
          </a:xfrm>
          <a:prstGeom prst="rect">
            <a:avLst/>
          </a:prstGeom>
          <a:noFill/>
          <a:ln/>
        </p:spPr>
        <p:txBody>
          <a:bodyPr wrap="square" lIns="0" tIns="0" rIns="0" bIns="0" rtlCol="0" anchor="t"/>
          <a:lstStyle/>
          <a:p>
            <a:pPr indent="0" marL="0">
              <a:buNone/>
            </a:pPr>
            <a:r>
              <a:rPr lang="en-US" sz="900" b="1" spc="100" kern="0" dirty="0">
                <a:solidFill>
                  <a:srgbClr val="5B6477"/>
                </a:solidFill>
                <a:latin typeface="Calibri" pitchFamily="34" charset="0"/>
                <a:ea typeface="Calibri" pitchFamily="34" charset="-122"/>
                <a:cs typeface="Calibri" pitchFamily="34" charset="-120"/>
              </a:rPr>
              <a:t>FIT</a:t>
            </a:r>
            <a:endParaRPr lang="en-US" sz="900" dirty="0"/>
          </a:p>
        </p:txBody>
      </p:sp>
      <p:sp>
        <p:nvSpPr>
          <p:cNvPr id="16" name="Text 11"/>
          <p:cNvSpPr/>
          <p:nvPr/>
        </p:nvSpPr>
        <p:spPr>
          <a:xfrm>
            <a:off x="8869680" y="1508760"/>
            <a:ext cx="1371600" cy="228600"/>
          </a:xfrm>
          <a:prstGeom prst="rect">
            <a:avLst/>
          </a:prstGeom>
          <a:noFill/>
          <a:ln/>
        </p:spPr>
        <p:txBody>
          <a:bodyPr wrap="square" lIns="0" tIns="0" rIns="0" bIns="0" rtlCol="0" anchor="t"/>
          <a:lstStyle/>
          <a:p>
            <a:pPr indent="0" marL="0">
              <a:buNone/>
            </a:pPr>
            <a:r>
              <a:rPr lang="en-US" sz="900" b="1" spc="100" kern="0" dirty="0">
                <a:solidFill>
                  <a:srgbClr val="5B6477"/>
                </a:solidFill>
                <a:latin typeface="Calibri" pitchFamily="34" charset="0"/>
                <a:ea typeface="Calibri" pitchFamily="34" charset="-122"/>
                <a:cs typeface="Calibri" pitchFamily="34" charset="-120"/>
              </a:rPr>
              <a:t>PEOPLE FREE</a:t>
            </a:r>
            <a:endParaRPr lang="en-US" sz="900" dirty="0"/>
          </a:p>
        </p:txBody>
      </p:sp>
      <p:sp>
        <p:nvSpPr>
          <p:cNvPr id="17" name="Text 12"/>
          <p:cNvSpPr/>
          <p:nvPr/>
        </p:nvSpPr>
        <p:spPr>
          <a:xfrm>
            <a:off x="3749040" y="1828800"/>
            <a:ext cx="2834640" cy="365760"/>
          </a:xfrm>
          <a:prstGeom prst="rect">
            <a:avLst/>
          </a:prstGeom>
          <a:noFill/>
          <a:ln/>
        </p:spPr>
        <p:txBody>
          <a:bodyPr wrap="square" lIns="0" tIns="0" rIns="0" bIns="0" rtlCol="0" anchor="ctr"/>
          <a:lstStyle/>
          <a:p>
            <a:pPr indent="0" marL="0">
              <a:buNone/>
            </a:pPr>
            <a:r>
              <a:rPr lang="en-US" sz="1200" b="1" dirty="0">
                <a:solidFill>
                  <a:srgbClr val="111827"/>
                </a:solidFill>
                <a:latin typeface="Calibri" pitchFamily="34" charset="0"/>
                <a:ea typeface="Calibri" pitchFamily="34" charset="-122"/>
                <a:cs typeface="Calibri" pitchFamily="34" charset="-120"/>
              </a:rPr>
              <a:t>Next.js / React</a:t>
            </a:r>
            <a:endParaRPr lang="en-US" sz="1200" dirty="0"/>
          </a:p>
        </p:txBody>
      </p:sp>
      <p:sp>
        <p:nvSpPr>
          <p:cNvPr id="18" name="Shape 13"/>
          <p:cNvSpPr/>
          <p:nvPr/>
        </p:nvSpPr>
        <p:spPr>
          <a:xfrm>
            <a:off x="6675120" y="1956816"/>
            <a:ext cx="2011680" cy="109728"/>
          </a:xfrm>
          <a:prstGeom prst="roundRect">
            <a:avLst>
              <a:gd name="adj" fmla="val 83333"/>
            </a:avLst>
          </a:prstGeom>
          <a:solidFill>
            <a:srgbClr val="E6E9F3"/>
          </a:solidFill>
          <a:ln w="12700">
            <a:solidFill>
              <a:srgbClr val="E6E9F3"/>
            </a:solidFill>
            <a:prstDash val="solid"/>
          </a:ln>
        </p:spPr>
      </p:sp>
      <p:sp>
        <p:nvSpPr>
          <p:cNvPr id="19" name="Shape 14"/>
          <p:cNvSpPr/>
          <p:nvPr/>
        </p:nvSpPr>
        <p:spPr>
          <a:xfrm>
            <a:off x="6675120" y="1956816"/>
            <a:ext cx="2011680" cy="109728"/>
          </a:xfrm>
          <a:prstGeom prst="roundRect">
            <a:avLst>
              <a:gd name="adj" fmla="val 83333"/>
            </a:avLst>
          </a:prstGeom>
          <a:solidFill>
            <a:srgbClr val="0F9D6B"/>
          </a:solidFill>
          <a:ln w="12700">
            <a:solidFill>
              <a:srgbClr val="0F9D6B"/>
            </a:solidFill>
            <a:prstDash val="solid"/>
          </a:ln>
        </p:spPr>
      </p:sp>
      <p:sp>
        <p:nvSpPr>
          <p:cNvPr id="20" name="Text 15"/>
          <p:cNvSpPr/>
          <p:nvPr/>
        </p:nvSpPr>
        <p:spPr>
          <a:xfrm>
            <a:off x="8869680" y="1828800"/>
            <a:ext cx="1005840" cy="365760"/>
          </a:xfrm>
          <a:prstGeom prst="rect">
            <a:avLst/>
          </a:prstGeom>
          <a:noFill/>
          <a:ln/>
        </p:spPr>
        <p:txBody>
          <a:bodyPr wrap="square" lIns="0" tIns="0" rIns="0" bIns="0" rtlCol="0" anchor="ctr"/>
          <a:lstStyle/>
          <a:p>
            <a:pPr indent="0" marL="0">
              <a:buNone/>
            </a:pPr>
            <a:r>
              <a:rPr lang="en-US" sz="1100" dirty="0">
                <a:solidFill>
                  <a:srgbClr val="111827"/>
                </a:solidFill>
                <a:latin typeface="Calibri" pitchFamily="34" charset="0"/>
                <a:ea typeface="Calibri" pitchFamily="34" charset="-122"/>
                <a:cs typeface="Calibri" pitchFamily="34" charset="-120"/>
              </a:rPr>
              <a:t>5 of 12</a:t>
            </a:r>
            <a:endParaRPr lang="en-US" sz="1100" dirty="0"/>
          </a:p>
        </p:txBody>
      </p:sp>
      <p:sp>
        <p:nvSpPr>
          <p:cNvPr id="21" name="Shape 16"/>
          <p:cNvSpPr/>
          <p:nvPr/>
        </p:nvSpPr>
        <p:spPr>
          <a:xfrm>
            <a:off x="9921240" y="1892808"/>
            <a:ext cx="777240" cy="246888"/>
          </a:xfrm>
          <a:prstGeom prst="roundRect">
            <a:avLst>
              <a:gd name="adj" fmla="val 37037"/>
            </a:avLst>
          </a:prstGeom>
          <a:solidFill>
            <a:srgbClr val="DFF5EA"/>
          </a:solidFill>
          <a:ln w="12700">
            <a:solidFill>
              <a:srgbClr val="DFF5EA"/>
            </a:solidFill>
            <a:prstDash val="solid"/>
          </a:ln>
        </p:spPr>
      </p:sp>
      <p:sp>
        <p:nvSpPr>
          <p:cNvPr id="22" name="Text 17"/>
          <p:cNvSpPr/>
          <p:nvPr/>
        </p:nvSpPr>
        <p:spPr>
          <a:xfrm>
            <a:off x="9921240" y="1892808"/>
            <a:ext cx="777240" cy="246888"/>
          </a:xfrm>
          <a:prstGeom prst="rect">
            <a:avLst/>
          </a:prstGeom>
          <a:noFill/>
          <a:ln/>
        </p:spPr>
        <p:txBody>
          <a:bodyPr wrap="square" lIns="0" tIns="0" rIns="0" bIns="0" rtlCol="0" anchor="ctr"/>
          <a:lstStyle/>
          <a:p>
            <a:pPr algn="ctr" indent="0" marL="0">
              <a:buNone/>
            </a:pPr>
            <a:r>
              <a:rPr lang="en-US" sz="950" b="1" dirty="0">
                <a:solidFill>
                  <a:srgbClr val="0F9D6B"/>
                </a:solidFill>
                <a:latin typeface="Calibri" pitchFamily="34" charset="0"/>
                <a:ea typeface="Calibri" pitchFamily="34" charset="-122"/>
                <a:cs typeface="Calibri" pitchFamily="34" charset="-120"/>
              </a:rPr>
              <a:t>Strong</a:t>
            </a:r>
            <a:endParaRPr lang="en-US" sz="950" dirty="0"/>
          </a:p>
        </p:txBody>
      </p:sp>
      <p:sp>
        <p:nvSpPr>
          <p:cNvPr id="23" name="Text 18"/>
          <p:cNvSpPr/>
          <p:nvPr/>
        </p:nvSpPr>
        <p:spPr>
          <a:xfrm>
            <a:off x="3749040" y="2286000"/>
            <a:ext cx="2834640" cy="365760"/>
          </a:xfrm>
          <a:prstGeom prst="rect">
            <a:avLst/>
          </a:prstGeom>
          <a:noFill/>
          <a:ln/>
        </p:spPr>
        <p:txBody>
          <a:bodyPr wrap="square" lIns="0" tIns="0" rIns="0" bIns="0" rtlCol="0" anchor="ctr"/>
          <a:lstStyle/>
          <a:p>
            <a:pPr indent="0" marL="0">
              <a:buNone/>
            </a:pPr>
            <a:r>
              <a:rPr lang="en-US" sz="1200" b="1" dirty="0">
                <a:solidFill>
                  <a:srgbClr val="111827"/>
                </a:solidFill>
                <a:latin typeface="Calibri" pitchFamily="34" charset="0"/>
                <a:ea typeface="Calibri" pitchFamily="34" charset="-122"/>
                <a:cs typeface="Calibri" pitchFamily="34" charset="-120"/>
              </a:rPr>
              <a:t>UX / UI design</a:t>
            </a:r>
            <a:endParaRPr lang="en-US" sz="1200" dirty="0"/>
          </a:p>
        </p:txBody>
      </p:sp>
      <p:sp>
        <p:nvSpPr>
          <p:cNvPr id="24" name="Shape 19"/>
          <p:cNvSpPr/>
          <p:nvPr/>
        </p:nvSpPr>
        <p:spPr>
          <a:xfrm>
            <a:off x="6675120" y="2414016"/>
            <a:ext cx="2011680" cy="109728"/>
          </a:xfrm>
          <a:prstGeom prst="roundRect">
            <a:avLst>
              <a:gd name="adj" fmla="val 83333"/>
            </a:avLst>
          </a:prstGeom>
          <a:solidFill>
            <a:srgbClr val="E6E9F3"/>
          </a:solidFill>
          <a:ln w="12700">
            <a:solidFill>
              <a:srgbClr val="E6E9F3"/>
            </a:solidFill>
            <a:prstDash val="solid"/>
          </a:ln>
        </p:spPr>
      </p:sp>
      <p:sp>
        <p:nvSpPr>
          <p:cNvPr id="25" name="Shape 20"/>
          <p:cNvSpPr/>
          <p:nvPr/>
        </p:nvSpPr>
        <p:spPr>
          <a:xfrm>
            <a:off x="6675120" y="2414016"/>
            <a:ext cx="2011680" cy="109728"/>
          </a:xfrm>
          <a:prstGeom prst="roundRect">
            <a:avLst>
              <a:gd name="adj" fmla="val 83333"/>
            </a:avLst>
          </a:prstGeom>
          <a:solidFill>
            <a:srgbClr val="0F9D6B"/>
          </a:solidFill>
          <a:ln w="12700">
            <a:solidFill>
              <a:srgbClr val="0F9D6B"/>
            </a:solidFill>
            <a:prstDash val="solid"/>
          </a:ln>
        </p:spPr>
      </p:sp>
      <p:sp>
        <p:nvSpPr>
          <p:cNvPr id="26" name="Text 21"/>
          <p:cNvSpPr/>
          <p:nvPr/>
        </p:nvSpPr>
        <p:spPr>
          <a:xfrm>
            <a:off x="8869680" y="2286000"/>
            <a:ext cx="1005840" cy="365760"/>
          </a:xfrm>
          <a:prstGeom prst="rect">
            <a:avLst/>
          </a:prstGeom>
          <a:noFill/>
          <a:ln/>
        </p:spPr>
        <p:txBody>
          <a:bodyPr wrap="square" lIns="0" tIns="0" rIns="0" bIns="0" rtlCol="0" anchor="ctr"/>
          <a:lstStyle/>
          <a:p>
            <a:pPr indent="0" marL="0">
              <a:buNone/>
            </a:pPr>
            <a:r>
              <a:rPr lang="en-US" sz="1100" dirty="0">
                <a:solidFill>
                  <a:srgbClr val="111827"/>
                </a:solidFill>
                <a:latin typeface="Calibri" pitchFamily="34" charset="0"/>
                <a:ea typeface="Calibri" pitchFamily="34" charset="-122"/>
                <a:cs typeface="Calibri" pitchFamily="34" charset="-120"/>
              </a:rPr>
              <a:t>2 of 6</a:t>
            </a:r>
            <a:endParaRPr lang="en-US" sz="1100" dirty="0"/>
          </a:p>
        </p:txBody>
      </p:sp>
      <p:sp>
        <p:nvSpPr>
          <p:cNvPr id="27" name="Shape 22"/>
          <p:cNvSpPr/>
          <p:nvPr/>
        </p:nvSpPr>
        <p:spPr>
          <a:xfrm>
            <a:off x="9921240" y="2350008"/>
            <a:ext cx="777240" cy="246888"/>
          </a:xfrm>
          <a:prstGeom prst="roundRect">
            <a:avLst>
              <a:gd name="adj" fmla="val 37037"/>
            </a:avLst>
          </a:prstGeom>
          <a:solidFill>
            <a:srgbClr val="DFF5EA"/>
          </a:solidFill>
          <a:ln w="12700">
            <a:solidFill>
              <a:srgbClr val="DFF5EA"/>
            </a:solidFill>
            <a:prstDash val="solid"/>
          </a:ln>
        </p:spPr>
      </p:sp>
      <p:sp>
        <p:nvSpPr>
          <p:cNvPr id="28" name="Text 23"/>
          <p:cNvSpPr/>
          <p:nvPr/>
        </p:nvSpPr>
        <p:spPr>
          <a:xfrm>
            <a:off x="9921240" y="2350008"/>
            <a:ext cx="777240" cy="246888"/>
          </a:xfrm>
          <a:prstGeom prst="rect">
            <a:avLst/>
          </a:prstGeom>
          <a:noFill/>
          <a:ln/>
        </p:spPr>
        <p:txBody>
          <a:bodyPr wrap="square" lIns="0" tIns="0" rIns="0" bIns="0" rtlCol="0" anchor="ctr"/>
          <a:lstStyle/>
          <a:p>
            <a:pPr algn="ctr" indent="0" marL="0">
              <a:buNone/>
            </a:pPr>
            <a:r>
              <a:rPr lang="en-US" sz="950" b="1" dirty="0">
                <a:solidFill>
                  <a:srgbClr val="0F9D6B"/>
                </a:solidFill>
                <a:latin typeface="Calibri" pitchFamily="34" charset="0"/>
                <a:ea typeface="Calibri" pitchFamily="34" charset="-122"/>
                <a:cs typeface="Calibri" pitchFamily="34" charset="-120"/>
              </a:rPr>
              <a:t>Strong</a:t>
            </a:r>
            <a:endParaRPr lang="en-US" sz="950" dirty="0"/>
          </a:p>
        </p:txBody>
      </p:sp>
      <p:sp>
        <p:nvSpPr>
          <p:cNvPr id="29" name="Text 24"/>
          <p:cNvSpPr/>
          <p:nvPr/>
        </p:nvSpPr>
        <p:spPr>
          <a:xfrm>
            <a:off x="3749040" y="2743200"/>
            <a:ext cx="2834640" cy="365760"/>
          </a:xfrm>
          <a:prstGeom prst="rect">
            <a:avLst/>
          </a:prstGeom>
          <a:noFill/>
          <a:ln/>
        </p:spPr>
        <p:txBody>
          <a:bodyPr wrap="square" lIns="0" tIns="0" rIns="0" bIns="0" rtlCol="0" anchor="ctr"/>
          <a:lstStyle/>
          <a:p>
            <a:pPr indent="0" marL="0">
              <a:buNone/>
            </a:pPr>
            <a:r>
              <a:rPr lang="en-US" sz="1200" b="1" dirty="0">
                <a:solidFill>
                  <a:srgbClr val="111827"/>
                </a:solidFill>
                <a:latin typeface="Calibri" pitchFamily="34" charset="0"/>
                <a:ea typeface="Calibri" pitchFamily="34" charset="-122"/>
                <a:cs typeface="Calibri" pitchFamily="34" charset="-120"/>
              </a:rPr>
              <a:t>QA / test automation</a:t>
            </a:r>
            <a:endParaRPr lang="en-US" sz="1200" dirty="0"/>
          </a:p>
        </p:txBody>
      </p:sp>
      <p:sp>
        <p:nvSpPr>
          <p:cNvPr id="30" name="Shape 25"/>
          <p:cNvSpPr/>
          <p:nvPr/>
        </p:nvSpPr>
        <p:spPr>
          <a:xfrm>
            <a:off x="6675120" y="2871216"/>
            <a:ext cx="2011680" cy="109728"/>
          </a:xfrm>
          <a:prstGeom prst="roundRect">
            <a:avLst>
              <a:gd name="adj" fmla="val 83333"/>
            </a:avLst>
          </a:prstGeom>
          <a:solidFill>
            <a:srgbClr val="E6E9F3"/>
          </a:solidFill>
          <a:ln w="12700">
            <a:solidFill>
              <a:srgbClr val="E6E9F3"/>
            </a:solidFill>
            <a:prstDash val="solid"/>
          </a:ln>
        </p:spPr>
      </p:sp>
      <p:sp>
        <p:nvSpPr>
          <p:cNvPr id="31" name="Shape 26"/>
          <p:cNvSpPr/>
          <p:nvPr/>
        </p:nvSpPr>
        <p:spPr>
          <a:xfrm>
            <a:off x="6675120" y="2871216"/>
            <a:ext cx="2011680" cy="109728"/>
          </a:xfrm>
          <a:prstGeom prst="roundRect">
            <a:avLst>
              <a:gd name="adj" fmla="val 83333"/>
            </a:avLst>
          </a:prstGeom>
          <a:solidFill>
            <a:srgbClr val="0F9D6B"/>
          </a:solidFill>
          <a:ln w="12700">
            <a:solidFill>
              <a:srgbClr val="0F9D6B"/>
            </a:solidFill>
            <a:prstDash val="solid"/>
          </a:ln>
        </p:spPr>
      </p:sp>
      <p:sp>
        <p:nvSpPr>
          <p:cNvPr id="32" name="Text 27"/>
          <p:cNvSpPr/>
          <p:nvPr/>
        </p:nvSpPr>
        <p:spPr>
          <a:xfrm>
            <a:off x="8869680" y="2743200"/>
            <a:ext cx="1005840" cy="365760"/>
          </a:xfrm>
          <a:prstGeom prst="rect">
            <a:avLst/>
          </a:prstGeom>
          <a:noFill/>
          <a:ln/>
        </p:spPr>
        <p:txBody>
          <a:bodyPr wrap="square" lIns="0" tIns="0" rIns="0" bIns="0" rtlCol="0" anchor="ctr"/>
          <a:lstStyle/>
          <a:p>
            <a:pPr indent="0" marL="0">
              <a:buNone/>
            </a:pPr>
            <a:r>
              <a:rPr lang="en-US" sz="1100" dirty="0">
                <a:solidFill>
                  <a:srgbClr val="111827"/>
                </a:solidFill>
                <a:latin typeface="Calibri" pitchFamily="34" charset="0"/>
                <a:ea typeface="Calibri" pitchFamily="34" charset="-122"/>
                <a:cs typeface="Calibri" pitchFamily="34" charset="-120"/>
              </a:rPr>
              <a:t>3 of 8</a:t>
            </a:r>
            <a:endParaRPr lang="en-US" sz="1100" dirty="0"/>
          </a:p>
        </p:txBody>
      </p:sp>
      <p:sp>
        <p:nvSpPr>
          <p:cNvPr id="33" name="Shape 28"/>
          <p:cNvSpPr/>
          <p:nvPr/>
        </p:nvSpPr>
        <p:spPr>
          <a:xfrm>
            <a:off x="9921240" y="2807208"/>
            <a:ext cx="777240" cy="246888"/>
          </a:xfrm>
          <a:prstGeom prst="roundRect">
            <a:avLst>
              <a:gd name="adj" fmla="val 37037"/>
            </a:avLst>
          </a:prstGeom>
          <a:solidFill>
            <a:srgbClr val="DFF5EA"/>
          </a:solidFill>
          <a:ln w="12700">
            <a:solidFill>
              <a:srgbClr val="DFF5EA"/>
            </a:solidFill>
            <a:prstDash val="solid"/>
          </a:ln>
        </p:spPr>
      </p:sp>
      <p:sp>
        <p:nvSpPr>
          <p:cNvPr id="34" name="Text 29"/>
          <p:cNvSpPr/>
          <p:nvPr/>
        </p:nvSpPr>
        <p:spPr>
          <a:xfrm>
            <a:off x="9921240" y="2807208"/>
            <a:ext cx="777240" cy="246888"/>
          </a:xfrm>
          <a:prstGeom prst="rect">
            <a:avLst/>
          </a:prstGeom>
          <a:noFill/>
          <a:ln/>
        </p:spPr>
        <p:txBody>
          <a:bodyPr wrap="square" lIns="0" tIns="0" rIns="0" bIns="0" rtlCol="0" anchor="ctr"/>
          <a:lstStyle/>
          <a:p>
            <a:pPr algn="ctr" indent="0" marL="0">
              <a:buNone/>
            </a:pPr>
            <a:r>
              <a:rPr lang="en-US" sz="950" b="1" dirty="0">
                <a:solidFill>
                  <a:srgbClr val="0F9D6B"/>
                </a:solidFill>
                <a:latin typeface="Calibri" pitchFamily="34" charset="0"/>
                <a:ea typeface="Calibri" pitchFamily="34" charset="-122"/>
                <a:cs typeface="Calibri" pitchFamily="34" charset="-120"/>
              </a:rPr>
              <a:t>Strong</a:t>
            </a:r>
            <a:endParaRPr lang="en-US" sz="950" dirty="0"/>
          </a:p>
        </p:txBody>
      </p:sp>
      <p:sp>
        <p:nvSpPr>
          <p:cNvPr id="35" name="Text 30"/>
          <p:cNvSpPr/>
          <p:nvPr/>
        </p:nvSpPr>
        <p:spPr>
          <a:xfrm>
            <a:off x="3749040" y="3200400"/>
            <a:ext cx="2834640" cy="365760"/>
          </a:xfrm>
          <a:prstGeom prst="rect">
            <a:avLst/>
          </a:prstGeom>
          <a:noFill/>
          <a:ln/>
        </p:spPr>
        <p:txBody>
          <a:bodyPr wrap="square" lIns="0" tIns="0" rIns="0" bIns="0" rtlCol="0" anchor="ctr"/>
          <a:lstStyle/>
          <a:p>
            <a:pPr indent="0" marL="0">
              <a:buNone/>
            </a:pPr>
            <a:r>
              <a:rPr lang="en-US" sz="1200" b="1" dirty="0">
                <a:solidFill>
                  <a:srgbClr val="111827"/>
                </a:solidFill>
                <a:latin typeface="Calibri" pitchFamily="34" charset="0"/>
                <a:ea typeface="Calibri" pitchFamily="34" charset="-122"/>
                <a:cs typeface="Calibri" pitchFamily="34" charset="-120"/>
              </a:rPr>
              <a:t>Web performance</a:t>
            </a:r>
            <a:endParaRPr lang="en-US" sz="1200" dirty="0"/>
          </a:p>
        </p:txBody>
      </p:sp>
      <p:sp>
        <p:nvSpPr>
          <p:cNvPr id="36" name="Shape 31"/>
          <p:cNvSpPr/>
          <p:nvPr/>
        </p:nvSpPr>
        <p:spPr>
          <a:xfrm>
            <a:off x="6675120" y="3328416"/>
            <a:ext cx="2011680" cy="109728"/>
          </a:xfrm>
          <a:prstGeom prst="roundRect">
            <a:avLst>
              <a:gd name="adj" fmla="val 83333"/>
            </a:avLst>
          </a:prstGeom>
          <a:solidFill>
            <a:srgbClr val="E6E9F3"/>
          </a:solidFill>
          <a:ln w="12700">
            <a:solidFill>
              <a:srgbClr val="E6E9F3"/>
            </a:solidFill>
            <a:prstDash val="solid"/>
          </a:ln>
        </p:spPr>
      </p:sp>
      <p:sp>
        <p:nvSpPr>
          <p:cNvPr id="37" name="Shape 32"/>
          <p:cNvSpPr/>
          <p:nvPr/>
        </p:nvSpPr>
        <p:spPr>
          <a:xfrm>
            <a:off x="6675120" y="3328416"/>
            <a:ext cx="2011680" cy="109728"/>
          </a:xfrm>
          <a:prstGeom prst="roundRect">
            <a:avLst>
              <a:gd name="adj" fmla="val 83333"/>
            </a:avLst>
          </a:prstGeom>
          <a:solidFill>
            <a:srgbClr val="0F9D6B"/>
          </a:solidFill>
          <a:ln w="12700">
            <a:solidFill>
              <a:srgbClr val="0F9D6B"/>
            </a:solidFill>
            <a:prstDash val="solid"/>
          </a:ln>
        </p:spPr>
      </p:sp>
      <p:sp>
        <p:nvSpPr>
          <p:cNvPr id="38" name="Text 33"/>
          <p:cNvSpPr/>
          <p:nvPr/>
        </p:nvSpPr>
        <p:spPr>
          <a:xfrm>
            <a:off x="8869680" y="3200400"/>
            <a:ext cx="1005840" cy="365760"/>
          </a:xfrm>
          <a:prstGeom prst="rect">
            <a:avLst/>
          </a:prstGeom>
          <a:noFill/>
          <a:ln/>
        </p:spPr>
        <p:txBody>
          <a:bodyPr wrap="square" lIns="0" tIns="0" rIns="0" bIns="0" rtlCol="0" anchor="ctr"/>
          <a:lstStyle/>
          <a:p>
            <a:pPr indent="0" marL="0">
              <a:buNone/>
            </a:pPr>
            <a:r>
              <a:rPr lang="en-US" sz="1100" dirty="0">
                <a:solidFill>
                  <a:srgbClr val="111827"/>
                </a:solidFill>
                <a:latin typeface="Calibri" pitchFamily="34" charset="0"/>
                <a:ea typeface="Calibri" pitchFamily="34" charset="-122"/>
                <a:cs typeface="Calibri" pitchFamily="34" charset="-120"/>
              </a:rPr>
              <a:t>2 of 4</a:t>
            </a:r>
            <a:endParaRPr lang="en-US" sz="1100" dirty="0"/>
          </a:p>
        </p:txBody>
      </p:sp>
      <p:sp>
        <p:nvSpPr>
          <p:cNvPr id="39" name="Shape 34"/>
          <p:cNvSpPr/>
          <p:nvPr/>
        </p:nvSpPr>
        <p:spPr>
          <a:xfrm>
            <a:off x="9921240" y="3264408"/>
            <a:ext cx="777240" cy="246888"/>
          </a:xfrm>
          <a:prstGeom prst="roundRect">
            <a:avLst>
              <a:gd name="adj" fmla="val 37037"/>
            </a:avLst>
          </a:prstGeom>
          <a:solidFill>
            <a:srgbClr val="DFF5EA"/>
          </a:solidFill>
          <a:ln w="12700">
            <a:solidFill>
              <a:srgbClr val="DFF5EA"/>
            </a:solidFill>
            <a:prstDash val="solid"/>
          </a:ln>
        </p:spPr>
      </p:sp>
      <p:sp>
        <p:nvSpPr>
          <p:cNvPr id="40" name="Text 35"/>
          <p:cNvSpPr/>
          <p:nvPr/>
        </p:nvSpPr>
        <p:spPr>
          <a:xfrm>
            <a:off x="9921240" y="3264408"/>
            <a:ext cx="777240" cy="246888"/>
          </a:xfrm>
          <a:prstGeom prst="rect">
            <a:avLst/>
          </a:prstGeom>
          <a:noFill/>
          <a:ln/>
        </p:spPr>
        <p:txBody>
          <a:bodyPr wrap="square" lIns="0" tIns="0" rIns="0" bIns="0" rtlCol="0" anchor="ctr"/>
          <a:lstStyle/>
          <a:p>
            <a:pPr algn="ctr" indent="0" marL="0">
              <a:buNone/>
            </a:pPr>
            <a:r>
              <a:rPr lang="en-US" sz="950" b="1" dirty="0">
                <a:solidFill>
                  <a:srgbClr val="0F9D6B"/>
                </a:solidFill>
                <a:latin typeface="Calibri" pitchFamily="34" charset="0"/>
                <a:ea typeface="Calibri" pitchFamily="34" charset="-122"/>
                <a:cs typeface="Calibri" pitchFamily="34" charset="-120"/>
              </a:rPr>
              <a:t>Strong</a:t>
            </a:r>
            <a:endParaRPr lang="en-US" sz="950" dirty="0"/>
          </a:p>
        </p:txBody>
      </p:sp>
      <p:sp>
        <p:nvSpPr>
          <p:cNvPr id="41" name="Text 36"/>
          <p:cNvSpPr/>
          <p:nvPr/>
        </p:nvSpPr>
        <p:spPr>
          <a:xfrm>
            <a:off x="3749040" y="3657600"/>
            <a:ext cx="2834640" cy="365760"/>
          </a:xfrm>
          <a:prstGeom prst="rect">
            <a:avLst/>
          </a:prstGeom>
          <a:noFill/>
          <a:ln/>
        </p:spPr>
        <p:txBody>
          <a:bodyPr wrap="square" lIns="0" tIns="0" rIns="0" bIns="0" rtlCol="0" anchor="ctr"/>
          <a:lstStyle/>
          <a:p>
            <a:pPr indent="0" marL="0">
              <a:buNone/>
            </a:pPr>
            <a:r>
              <a:rPr lang="en-US" sz="1200" b="1" dirty="0">
                <a:solidFill>
                  <a:srgbClr val="111827"/>
                </a:solidFill>
                <a:latin typeface="Calibri" pitchFamily="34" charset="0"/>
                <a:ea typeface="Calibri" pitchFamily="34" charset="-122"/>
                <a:cs typeface="Calibri" pitchFamily="34" charset="-120"/>
              </a:rPr>
              <a:t>Accessibility (WCAG)</a:t>
            </a:r>
            <a:endParaRPr lang="en-US" sz="1200" dirty="0"/>
          </a:p>
        </p:txBody>
      </p:sp>
      <p:sp>
        <p:nvSpPr>
          <p:cNvPr id="42" name="Shape 37"/>
          <p:cNvSpPr/>
          <p:nvPr/>
        </p:nvSpPr>
        <p:spPr>
          <a:xfrm>
            <a:off x="6675120" y="3785616"/>
            <a:ext cx="2011680" cy="109728"/>
          </a:xfrm>
          <a:prstGeom prst="roundRect">
            <a:avLst>
              <a:gd name="adj" fmla="val 83333"/>
            </a:avLst>
          </a:prstGeom>
          <a:solidFill>
            <a:srgbClr val="E6E9F3"/>
          </a:solidFill>
          <a:ln w="12700">
            <a:solidFill>
              <a:srgbClr val="E6E9F3"/>
            </a:solidFill>
            <a:prstDash val="solid"/>
          </a:ln>
        </p:spPr>
      </p:sp>
      <p:sp>
        <p:nvSpPr>
          <p:cNvPr id="43" name="Shape 38"/>
          <p:cNvSpPr/>
          <p:nvPr/>
        </p:nvSpPr>
        <p:spPr>
          <a:xfrm>
            <a:off x="6675120" y="3785616"/>
            <a:ext cx="1307592" cy="109728"/>
          </a:xfrm>
          <a:prstGeom prst="roundRect">
            <a:avLst>
              <a:gd name="adj" fmla="val 83333"/>
            </a:avLst>
          </a:prstGeom>
          <a:solidFill>
            <a:srgbClr val="B7791F"/>
          </a:solidFill>
          <a:ln w="12700">
            <a:solidFill>
              <a:srgbClr val="B7791F"/>
            </a:solidFill>
            <a:prstDash val="solid"/>
          </a:ln>
        </p:spPr>
      </p:sp>
      <p:sp>
        <p:nvSpPr>
          <p:cNvPr id="44" name="Text 39"/>
          <p:cNvSpPr/>
          <p:nvPr/>
        </p:nvSpPr>
        <p:spPr>
          <a:xfrm>
            <a:off x="8869680" y="3657600"/>
            <a:ext cx="1005840" cy="365760"/>
          </a:xfrm>
          <a:prstGeom prst="rect">
            <a:avLst/>
          </a:prstGeom>
          <a:noFill/>
          <a:ln/>
        </p:spPr>
        <p:txBody>
          <a:bodyPr wrap="square" lIns="0" tIns="0" rIns="0" bIns="0" rtlCol="0" anchor="ctr"/>
          <a:lstStyle/>
          <a:p>
            <a:pPr indent="0" marL="0">
              <a:buNone/>
            </a:pPr>
            <a:r>
              <a:rPr lang="en-US" sz="1100" dirty="0">
                <a:solidFill>
                  <a:srgbClr val="111827"/>
                </a:solidFill>
                <a:latin typeface="Calibri" pitchFamily="34" charset="0"/>
                <a:ea typeface="Calibri" pitchFamily="34" charset="-122"/>
                <a:cs typeface="Calibri" pitchFamily="34" charset="-120"/>
              </a:rPr>
              <a:t>1 of 3</a:t>
            </a:r>
            <a:endParaRPr lang="en-US" sz="1100" dirty="0"/>
          </a:p>
        </p:txBody>
      </p:sp>
      <p:sp>
        <p:nvSpPr>
          <p:cNvPr id="45" name="Shape 40"/>
          <p:cNvSpPr/>
          <p:nvPr/>
        </p:nvSpPr>
        <p:spPr>
          <a:xfrm>
            <a:off x="9921240" y="3721608"/>
            <a:ext cx="777240" cy="246888"/>
          </a:xfrm>
          <a:prstGeom prst="roundRect">
            <a:avLst>
              <a:gd name="adj" fmla="val 37037"/>
            </a:avLst>
          </a:prstGeom>
          <a:solidFill>
            <a:srgbClr val="FDF0D5"/>
          </a:solidFill>
          <a:ln w="12700">
            <a:solidFill>
              <a:srgbClr val="FDF0D5"/>
            </a:solidFill>
            <a:prstDash val="solid"/>
          </a:ln>
        </p:spPr>
      </p:sp>
      <p:sp>
        <p:nvSpPr>
          <p:cNvPr id="46" name="Text 41"/>
          <p:cNvSpPr/>
          <p:nvPr/>
        </p:nvSpPr>
        <p:spPr>
          <a:xfrm>
            <a:off x="9921240" y="3721608"/>
            <a:ext cx="777240" cy="246888"/>
          </a:xfrm>
          <a:prstGeom prst="rect">
            <a:avLst/>
          </a:prstGeom>
          <a:noFill/>
          <a:ln/>
        </p:spPr>
        <p:txBody>
          <a:bodyPr wrap="square" lIns="0" tIns="0" rIns="0" bIns="0" rtlCol="0" anchor="ctr"/>
          <a:lstStyle/>
          <a:p>
            <a:pPr algn="ctr" indent="0" marL="0">
              <a:buNone/>
            </a:pPr>
            <a:r>
              <a:rPr lang="en-US" sz="950" b="1" dirty="0">
                <a:solidFill>
                  <a:srgbClr val="B7791F"/>
                </a:solidFill>
                <a:latin typeface="Calibri" pitchFamily="34" charset="0"/>
                <a:ea typeface="Calibri" pitchFamily="34" charset="-122"/>
                <a:cs typeface="Calibri" pitchFamily="34" charset="-120"/>
              </a:rPr>
              <a:t>Partial</a:t>
            </a:r>
            <a:endParaRPr lang="en-US" sz="950" dirty="0"/>
          </a:p>
        </p:txBody>
      </p:sp>
      <p:sp>
        <p:nvSpPr>
          <p:cNvPr id="47" name="Text 42"/>
          <p:cNvSpPr/>
          <p:nvPr/>
        </p:nvSpPr>
        <p:spPr>
          <a:xfrm>
            <a:off x="3749040" y="4114800"/>
            <a:ext cx="2834640" cy="365760"/>
          </a:xfrm>
          <a:prstGeom prst="rect">
            <a:avLst/>
          </a:prstGeom>
          <a:noFill/>
          <a:ln/>
        </p:spPr>
        <p:txBody>
          <a:bodyPr wrap="square" lIns="0" tIns="0" rIns="0" bIns="0" rtlCol="0" anchor="ctr"/>
          <a:lstStyle/>
          <a:p>
            <a:pPr indent="0" marL="0">
              <a:buNone/>
            </a:pPr>
            <a:r>
              <a:rPr lang="en-US" sz="1200" b="1" dirty="0">
                <a:solidFill>
                  <a:srgbClr val="111827"/>
                </a:solidFill>
                <a:latin typeface="Calibri" pitchFamily="34" charset="0"/>
                <a:ea typeface="Calibri" pitchFamily="34" charset="-122"/>
                <a:cs typeface="Calibri" pitchFamily="34" charset="-120"/>
              </a:rPr>
              <a:t>Design systems</a:t>
            </a:r>
            <a:endParaRPr lang="en-US" sz="1200" dirty="0"/>
          </a:p>
        </p:txBody>
      </p:sp>
      <p:sp>
        <p:nvSpPr>
          <p:cNvPr id="48" name="Shape 43"/>
          <p:cNvSpPr/>
          <p:nvPr/>
        </p:nvSpPr>
        <p:spPr>
          <a:xfrm>
            <a:off x="6675120" y="4242816"/>
            <a:ext cx="2011680" cy="109728"/>
          </a:xfrm>
          <a:prstGeom prst="roundRect">
            <a:avLst>
              <a:gd name="adj" fmla="val 83333"/>
            </a:avLst>
          </a:prstGeom>
          <a:solidFill>
            <a:srgbClr val="E6E9F3"/>
          </a:solidFill>
          <a:ln w="12700">
            <a:solidFill>
              <a:srgbClr val="E6E9F3"/>
            </a:solidFill>
            <a:prstDash val="solid"/>
          </a:ln>
        </p:spPr>
      </p:sp>
      <p:sp>
        <p:nvSpPr>
          <p:cNvPr id="49" name="Shape 44"/>
          <p:cNvSpPr/>
          <p:nvPr/>
        </p:nvSpPr>
        <p:spPr>
          <a:xfrm>
            <a:off x="6675120" y="4242816"/>
            <a:ext cx="1609344" cy="109728"/>
          </a:xfrm>
          <a:prstGeom prst="roundRect">
            <a:avLst>
              <a:gd name="adj" fmla="val 83333"/>
            </a:avLst>
          </a:prstGeom>
          <a:solidFill>
            <a:srgbClr val="B7791F"/>
          </a:solidFill>
          <a:ln w="12700">
            <a:solidFill>
              <a:srgbClr val="B7791F"/>
            </a:solidFill>
            <a:prstDash val="solid"/>
          </a:ln>
        </p:spPr>
      </p:sp>
      <p:sp>
        <p:nvSpPr>
          <p:cNvPr id="50" name="Text 45"/>
          <p:cNvSpPr/>
          <p:nvPr/>
        </p:nvSpPr>
        <p:spPr>
          <a:xfrm>
            <a:off x="8869680" y="4114800"/>
            <a:ext cx="1005840" cy="365760"/>
          </a:xfrm>
          <a:prstGeom prst="rect">
            <a:avLst/>
          </a:prstGeom>
          <a:noFill/>
          <a:ln/>
        </p:spPr>
        <p:txBody>
          <a:bodyPr wrap="square" lIns="0" tIns="0" rIns="0" bIns="0" rtlCol="0" anchor="ctr"/>
          <a:lstStyle/>
          <a:p>
            <a:pPr indent="0" marL="0">
              <a:buNone/>
            </a:pPr>
            <a:r>
              <a:rPr lang="en-US" sz="1100" dirty="0">
                <a:solidFill>
                  <a:srgbClr val="111827"/>
                </a:solidFill>
                <a:latin typeface="Calibri" pitchFamily="34" charset="0"/>
                <a:ea typeface="Calibri" pitchFamily="34" charset="-122"/>
                <a:cs typeface="Calibri" pitchFamily="34" charset="-120"/>
              </a:rPr>
              <a:t>1 of 4</a:t>
            </a:r>
            <a:endParaRPr lang="en-US" sz="1100" dirty="0"/>
          </a:p>
        </p:txBody>
      </p:sp>
      <p:sp>
        <p:nvSpPr>
          <p:cNvPr id="51" name="Shape 46"/>
          <p:cNvSpPr/>
          <p:nvPr/>
        </p:nvSpPr>
        <p:spPr>
          <a:xfrm>
            <a:off x="9921240" y="4178808"/>
            <a:ext cx="777240" cy="246888"/>
          </a:xfrm>
          <a:prstGeom prst="roundRect">
            <a:avLst>
              <a:gd name="adj" fmla="val 37037"/>
            </a:avLst>
          </a:prstGeom>
          <a:solidFill>
            <a:srgbClr val="FDF0D5"/>
          </a:solidFill>
          <a:ln w="12700">
            <a:solidFill>
              <a:srgbClr val="FDF0D5"/>
            </a:solidFill>
            <a:prstDash val="solid"/>
          </a:ln>
        </p:spPr>
      </p:sp>
      <p:sp>
        <p:nvSpPr>
          <p:cNvPr id="52" name="Text 47"/>
          <p:cNvSpPr/>
          <p:nvPr/>
        </p:nvSpPr>
        <p:spPr>
          <a:xfrm>
            <a:off x="9921240" y="4178808"/>
            <a:ext cx="777240" cy="246888"/>
          </a:xfrm>
          <a:prstGeom prst="rect">
            <a:avLst/>
          </a:prstGeom>
          <a:noFill/>
          <a:ln/>
        </p:spPr>
        <p:txBody>
          <a:bodyPr wrap="square" lIns="0" tIns="0" rIns="0" bIns="0" rtlCol="0" anchor="ctr"/>
          <a:lstStyle/>
          <a:p>
            <a:pPr algn="ctr" indent="0" marL="0">
              <a:buNone/>
            </a:pPr>
            <a:r>
              <a:rPr lang="en-US" sz="950" b="1" dirty="0">
                <a:solidFill>
                  <a:srgbClr val="B7791F"/>
                </a:solidFill>
                <a:latin typeface="Calibri" pitchFamily="34" charset="0"/>
                <a:ea typeface="Calibri" pitchFamily="34" charset="-122"/>
                <a:cs typeface="Calibri" pitchFamily="34" charset="-120"/>
              </a:rPr>
              <a:t>Partial</a:t>
            </a:r>
            <a:endParaRPr lang="en-US" sz="950" dirty="0"/>
          </a:p>
        </p:txBody>
      </p:sp>
      <p:sp>
        <p:nvSpPr>
          <p:cNvPr id="53" name="Text 48"/>
          <p:cNvSpPr/>
          <p:nvPr/>
        </p:nvSpPr>
        <p:spPr>
          <a:xfrm>
            <a:off x="3749040" y="4572000"/>
            <a:ext cx="2834640" cy="365760"/>
          </a:xfrm>
          <a:prstGeom prst="rect">
            <a:avLst/>
          </a:prstGeom>
          <a:noFill/>
          <a:ln/>
        </p:spPr>
        <p:txBody>
          <a:bodyPr wrap="square" lIns="0" tIns="0" rIns="0" bIns="0" rtlCol="0" anchor="ctr"/>
          <a:lstStyle/>
          <a:p>
            <a:pPr indent="0" marL="0">
              <a:buNone/>
            </a:pPr>
            <a:r>
              <a:rPr lang="en-US" sz="1200" b="1" dirty="0">
                <a:solidFill>
                  <a:srgbClr val="111827"/>
                </a:solidFill>
                <a:latin typeface="Calibri" pitchFamily="34" charset="0"/>
                <a:ea typeface="Calibri" pitchFamily="34" charset="-122"/>
                <a:cs typeface="Calibri" pitchFamily="34" charset="-120"/>
              </a:rPr>
              <a:t>Responsive / mobile UI</a:t>
            </a:r>
            <a:endParaRPr lang="en-US" sz="1200" dirty="0"/>
          </a:p>
        </p:txBody>
      </p:sp>
      <p:sp>
        <p:nvSpPr>
          <p:cNvPr id="54" name="Shape 49"/>
          <p:cNvSpPr/>
          <p:nvPr/>
        </p:nvSpPr>
        <p:spPr>
          <a:xfrm>
            <a:off x="6675120" y="4700016"/>
            <a:ext cx="2011680" cy="109728"/>
          </a:xfrm>
          <a:prstGeom prst="roundRect">
            <a:avLst>
              <a:gd name="adj" fmla="val 83333"/>
            </a:avLst>
          </a:prstGeom>
          <a:solidFill>
            <a:srgbClr val="E6E9F3"/>
          </a:solidFill>
          <a:ln w="12700">
            <a:solidFill>
              <a:srgbClr val="E6E9F3"/>
            </a:solidFill>
            <a:prstDash val="solid"/>
          </a:ln>
        </p:spPr>
      </p:sp>
      <p:sp>
        <p:nvSpPr>
          <p:cNvPr id="55" name="Shape 50"/>
          <p:cNvSpPr/>
          <p:nvPr/>
        </p:nvSpPr>
        <p:spPr>
          <a:xfrm>
            <a:off x="6675120" y="4700016"/>
            <a:ext cx="2011680" cy="109728"/>
          </a:xfrm>
          <a:prstGeom prst="roundRect">
            <a:avLst>
              <a:gd name="adj" fmla="val 83333"/>
            </a:avLst>
          </a:prstGeom>
          <a:solidFill>
            <a:srgbClr val="0F9D6B"/>
          </a:solidFill>
          <a:ln w="12700">
            <a:solidFill>
              <a:srgbClr val="0F9D6B"/>
            </a:solidFill>
            <a:prstDash val="solid"/>
          </a:ln>
        </p:spPr>
      </p:sp>
      <p:sp>
        <p:nvSpPr>
          <p:cNvPr id="56" name="Text 51"/>
          <p:cNvSpPr/>
          <p:nvPr/>
        </p:nvSpPr>
        <p:spPr>
          <a:xfrm>
            <a:off x="8869680" y="4572000"/>
            <a:ext cx="1005840" cy="365760"/>
          </a:xfrm>
          <a:prstGeom prst="rect">
            <a:avLst/>
          </a:prstGeom>
          <a:noFill/>
          <a:ln/>
        </p:spPr>
        <p:txBody>
          <a:bodyPr wrap="square" lIns="0" tIns="0" rIns="0" bIns="0" rtlCol="0" anchor="ctr"/>
          <a:lstStyle/>
          <a:p>
            <a:pPr indent="0" marL="0">
              <a:buNone/>
            </a:pPr>
            <a:r>
              <a:rPr lang="en-US" sz="1100" dirty="0">
                <a:solidFill>
                  <a:srgbClr val="111827"/>
                </a:solidFill>
                <a:latin typeface="Calibri" pitchFamily="34" charset="0"/>
                <a:ea typeface="Calibri" pitchFamily="34" charset="-122"/>
                <a:cs typeface="Calibri" pitchFamily="34" charset="-120"/>
              </a:rPr>
              <a:t>4 of 9</a:t>
            </a:r>
            <a:endParaRPr lang="en-US" sz="1100" dirty="0"/>
          </a:p>
        </p:txBody>
      </p:sp>
      <p:sp>
        <p:nvSpPr>
          <p:cNvPr id="57" name="Shape 52"/>
          <p:cNvSpPr/>
          <p:nvPr/>
        </p:nvSpPr>
        <p:spPr>
          <a:xfrm>
            <a:off x="9921240" y="4636008"/>
            <a:ext cx="777240" cy="246888"/>
          </a:xfrm>
          <a:prstGeom prst="roundRect">
            <a:avLst>
              <a:gd name="adj" fmla="val 37037"/>
            </a:avLst>
          </a:prstGeom>
          <a:solidFill>
            <a:srgbClr val="DFF5EA"/>
          </a:solidFill>
          <a:ln w="12700">
            <a:solidFill>
              <a:srgbClr val="DFF5EA"/>
            </a:solidFill>
            <a:prstDash val="solid"/>
          </a:ln>
        </p:spPr>
      </p:sp>
      <p:sp>
        <p:nvSpPr>
          <p:cNvPr id="58" name="Text 53"/>
          <p:cNvSpPr/>
          <p:nvPr/>
        </p:nvSpPr>
        <p:spPr>
          <a:xfrm>
            <a:off x="9921240" y="4636008"/>
            <a:ext cx="777240" cy="246888"/>
          </a:xfrm>
          <a:prstGeom prst="rect">
            <a:avLst/>
          </a:prstGeom>
          <a:noFill/>
          <a:ln/>
        </p:spPr>
        <p:txBody>
          <a:bodyPr wrap="square" lIns="0" tIns="0" rIns="0" bIns="0" rtlCol="0" anchor="ctr"/>
          <a:lstStyle/>
          <a:p>
            <a:pPr algn="ctr" indent="0" marL="0">
              <a:buNone/>
            </a:pPr>
            <a:r>
              <a:rPr lang="en-US" sz="950" b="1" dirty="0">
                <a:solidFill>
                  <a:srgbClr val="0F9D6B"/>
                </a:solidFill>
                <a:latin typeface="Calibri" pitchFamily="34" charset="0"/>
                <a:ea typeface="Calibri" pitchFamily="34" charset="-122"/>
                <a:cs typeface="Calibri" pitchFamily="34" charset="-120"/>
              </a:rPr>
              <a:t>Strong</a:t>
            </a:r>
            <a:endParaRPr lang="en-US" sz="950" dirty="0"/>
          </a:p>
        </p:txBody>
      </p:sp>
      <p:sp>
        <p:nvSpPr>
          <p:cNvPr id="59" name="Text 54"/>
          <p:cNvSpPr/>
          <p:nvPr/>
        </p:nvSpPr>
        <p:spPr>
          <a:xfrm>
            <a:off x="3749040" y="5029200"/>
            <a:ext cx="2834640" cy="365760"/>
          </a:xfrm>
          <a:prstGeom prst="rect">
            <a:avLst/>
          </a:prstGeom>
          <a:noFill/>
          <a:ln/>
        </p:spPr>
        <p:txBody>
          <a:bodyPr wrap="square" lIns="0" tIns="0" rIns="0" bIns="0" rtlCol="0" anchor="ctr"/>
          <a:lstStyle/>
          <a:p>
            <a:pPr indent="0" marL="0">
              <a:buNone/>
            </a:pPr>
            <a:r>
              <a:rPr lang="en-US" sz="1200" b="1" dirty="0">
                <a:solidFill>
                  <a:srgbClr val="111827"/>
                </a:solidFill>
                <a:latin typeface="Calibri" pitchFamily="34" charset="0"/>
                <a:ea typeface="Calibri" pitchFamily="34" charset="-122"/>
                <a:cs typeface="Calibri" pitchFamily="34" charset="-120"/>
              </a:rPr>
              <a:t>PHP</a:t>
            </a:r>
            <a:endParaRPr lang="en-US" sz="1200" dirty="0"/>
          </a:p>
        </p:txBody>
      </p:sp>
      <p:sp>
        <p:nvSpPr>
          <p:cNvPr id="60" name="Shape 55"/>
          <p:cNvSpPr/>
          <p:nvPr/>
        </p:nvSpPr>
        <p:spPr>
          <a:xfrm>
            <a:off x="6675120" y="5157216"/>
            <a:ext cx="2011680" cy="109728"/>
          </a:xfrm>
          <a:prstGeom prst="roundRect">
            <a:avLst>
              <a:gd name="adj" fmla="val 83333"/>
            </a:avLst>
          </a:prstGeom>
          <a:solidFill>
            <a:srgbClr val="E6E9F3"/>
          </a:solidFill>
          <a:ln w="12700">
            <a:solidFill>
              <a:srgbClr val="E6E9F3"/>
            </a:solidFill>
            <a:prstDash val="solid"/>
          </a:ln>
        </p:spPr>
      </p:sp>
      <p:sp>
        <p:nvSpPr>
          <p:cNvPr id="61" name="Shape 56"/>
          <p:cNvSpPr/>
          <p:nvPr/>
        </p:nvSpPr>
        <p:spPr>
          <a:xfrm>
            <a:off x="6675120" y="5157216"/>
            <a:ext cx="1709928" cy="109728"/>
          </a:xfrm>
          <a:prstGeom prst="roundRect">
            <a:avLst>
              <a:gd name="adj" fmla="val 83333"/>
            </a:avLst>
          </a:prstGeom>
          <a:solidFill>
            <a:srgbClr val="0F9D6B"/>
          </a:solidFill>
          <a:ln w="12700">
            <a:solidFill>
              <a:srgbClr val="0F9D6B"/>
            </a:solidFill>
            <a:prstDash val="solid"/>
          </a:ln>
        </p:spPr>
      </p:sp>
      <p:sp>
        <p:nvSpPr>
          <p:cNvPr id="62" name="Text 57"/>
          <p:cNvSpPr/>
          <p:nvPr/>
        </p:nvSpPr>
        <p:spPr>
          <a:xfrm>
            <a:off x="8869680" y="5029200"/>
            <a:ext cx="1005840" cy="365760"/>
          </a:xfrm>
          <a:prstGeom prst="rect">
            <a:avLst/>
          </a:prstGeom>
          <a:noFill/>
          <a:ln/>
        </p:spPr>
        <p:txBody>
          <a:bodyPr wrap="square" lIns="0" tIns="0" rIns="0" bIns="0" rtlCol="0" anchor="ctr"/>
          <a:lstStyle/>
          <a:p>
            <a:pPr indent="0" marL="0">
              <a:buNone/>
            </a:pPr>
            <a:r>
              <a:rPr lang="en-US" sz="1100" dirty="0">
                <a:solidFill>
                  <a:srgbClr val="111827"/>
                </a:solidFill>
                <a:latin typeface="Calibri" pitchFamily="34" charset="0"/>
                <a:ea typeface="Calibri" pitchFamily="34" charset="-122"/>
                <a:cs typeface="Calibri" pitchFamily="34" charset="-120"/>
              </a:rPr>
              <a:t>1 of 4</a:t>
            </a:r>
            <a:endParaRPr lang="en-US" sz="1100" dirty="0"/>
          </a:p>
        </p:txBody>
      </p:sp>
      <p:sp>
        <p:nvSpPr>
          <p:cNvPr id="63" name="Shape 58"/>
          <p:cNvSpPr/>
          <p:nvPr/>
        </p:nvSpPr>
        <p:spPr>
          <a:xfrm>
            <a:off x="9921240" y="5093208"/>
            <a:ext cx="777240" cy="246888"/>
          </a:xfrm>
          <a:prstGeom prst="roundRect">
            <a:avLst>
              <a:gd name="adj" fmla="val 37037"/>
            </a:avLst>
          </a:prstGeom>
          <a:solidFill>
            <a:srgbClr val="DFF5EA"/>
          </a:solidFill>
          <a:ln w="12700">
            <a:solidFill>
              <a:srgbClr val="DFF5EA"/>
            </a:solidFill>
            <a:prstDash val="solid"/>
          </a:ln>
        </p:spPr>
      </p:sp>
      <p:sp>
        <p:nvSpPr>
          <p:cNvPr id="64" name="Text 59"/>
          <p:cNvSpPr/>
          <p:nvPr/>
        </p:nvSpPr>
        <p:spPr>
          <a:xfrm>
            <a:off x="9921240" y="5093208"/>
            <a:ext cx="777240" cy="246888"/>
          </a:xfrm>
          <a:prstGeom prst="rect">
            <a:avLst/>
          </a:prstGeom>
          <a:noFill/>
          <a:ln/>
        </p:spPr>
        <p:txBody>
          <a:bodyPr wrap="square" lIns="0" tIns="0" rIns="0" bIns="0" rtlCol="0" anchor="ctr"/>
          <a:lstStyle/>
          <a:p>
            <a:pPr algn="ctr" indent="0" marL="0">
              <a:buNone/>
            </a:pPr>
            <a:r>
              <a:rPr lang="en-US" sz="950" b="1" dirty="0">
                <a:solidFill>
                  <a:srgbClr val="0F9D6B"/>
                </a:solidFill>
                <a:latin typeface="Calibri" pitchFamily="34" charset="0"/>
                <a:ea typeface="Calibri" pitchFamily="34" charset="-122"/>
                <a:cs typeface="Calibri" pitchFamily="34" charset="-120"/>
              </a:rPr>
              <a:t>Strong</a:t>
            </a:r>
            <a:endParaRPr lang="en-US" sz="950" dirty="0"/>
          </a:p>
        </p:txBody>
      </p:sp>
      <p:sp>
        <p:nvSpPr>
          <p:cNvPr id="65" name="Text 60"/>
          <p:cNvSpPr/>
          <p:nvPr/>
        </p:nvSpPr>
        <p:spPr>
          <a:xfrm>
            <a:off x="3749040" y="5486400"/>
            <a:ext cx="2834640" cy="365760"/>
          </a:xfrm>
          <a:prstGeom prst="rect">
            <a:avLst/>
          </a:prstGeom>
          <a:noFill/>
          <a:ln/>
        </p:spPr>
        <p:txBody>
          <a:bodyPr wrap="square" lIns="0" tIns="0" rIns="0" bIns="0" rtlCol="0" anchor="ctr"/>
          <a:lstStyle/>
          <a:p>
            <a:pPr indent="0" marL="0">
              <a:buNone/>
            </a:pPr>
            <a:r>
              <a:rPr lang="en-US" sz="1200" b="1" dirty="0">
                <a:solidFill>
                  <a:srgbClr val="111827"/>
                </a:solidFill>
                <a:latin typeface="Calibri" pitchFamily="34" charset="0"/>
                <a:ea typeface="Calibri" pitchFamily="34" charset="-122"/>
                <a:cs typeface="Calibri" pitchFamily="34" charset="-120"/>
              </a:rPr>
              <a:t>Delivery / project management</a:t>
            </a:r>
            <a:endParaRPr lang="en-US" sz="1200" dirty="0"/>
          </a:p>
        </p:txBody>
      </p:sp>
      <p:sp>
        <p:nvSpPr>
          <p:cNvPr id="66" name="Shape 61"/>
          <p:cNvSpPr/>
          <p:nvPr/>
        </p:nvSpPr>
        <p:spPr>
          <a:xfrm>
            <a:off x="6675120" y="5614416"/>
            <a:ext cx="2011680" cy="109728"/>
          </a:xfrm>
          <a:prstGeom prst="roundRect">
            <a:avLst>
              <a:gd name="adj" fmla="val 83333"/>
            </a:avLst>
          </a:prstGeom>
          <a:solidFill>
            <a:srgbClr val="E6E9F3"/>
          </a:solidFill>
          <a:ln w="12700">
            <a:solidFill>
              <a:srgbClr val="E6E9F3"/>
            </a:solidFill>
            <a:prstDash val="solid"/>
          </a:ln>
        </p:spPr>
      </p:sp>
      <p:sp>
        <p:nvSpPr>
          <p:cNvPr id="67" name="Shape 62"/>
          <p:cNvSpPr/>
          <p:nvPr/>
        </p:nvSpPr>
        <p:spPr>
          <a:xfrm>
            <a:off x="6675120" y="5614416"/>
            <a:ext cx="2011680" cy="109728"/>
          </a:xfrm>
          <a:prstGeom prst="roundRect">
            <a:avLst>
              <a:gd name="adj" fmla="val 83333"/>
            </a:avLst>
          </a:prstGeom>
          <a:solidFill>
            <a:srgbClr val="0F9D6B"/>
          </a:solidFill>
          <a:ln w="12700">
            <a:solidFill>
              <a:srgbClr val="0F9D6B"/>
            </a:solidFill>
            <a:prstDash val="solid"/>
          </a:ln>
        </p:spPr>
      </p:sp>
      <p:sp>
        <p:nvSpPr>
          <p:cNvPr id="68" name="Text 63"/>
          <p:cNvSpPr/>
          <p:nvPr/>
        </p:nvSpPr>
        <p:spPr>
          <a:xfrm>
            <a:off x="8869680" y="5486400"/>
            <a:ext cx="1005840" cy="365760"/>
          </a:xfrm>
          <a:prstGeom prst="rect">
            <a:avLst/>
          </a:prstGeom>
          <a:noFill/>
          <a:ln/>
        </p:spPr>
        <p:txBody>
          <a:bodyPr wrap="square" lIns="0" tIns="0" rIns="0" bIns="0" rtlCol="0" anchor="ctr"/>
          <a:lstStyle/>
          <a:p>
            <a:pPr indent="0" marL="0">
              <a:buNone/>
            </a:pPr>
            <a:r>
              <a:rPr lang="en-US" sz="1100" dirty="0">
                <a:solidFill>
                  <a:srgbClr val="111827"/>
                </a:solidFill>
                <a:latin typeface="Calibri" pitchFamily="34" charset="0"/>
                <a:ea typeface="Calibri" pitchFamily="34" charset="-122"/>
                <a:cs typeface="Calibri" pitchFamily="34" charset="-120"/>
              </a:rPr>
              <a:t>2 of 5</a:t>
            </a:r>
            <a:endParaRPr lang="en-US" sz="1100" dirty="0"/>
          </a:p>
        </p:txBody>
      </p:sp>
      <p:sp>
        <p:nvSpPr>
          <p:cNvPr id="69" name="Shape 64"/>
          <p:cNvSpPr/>
          <p:nvPr/>
        </p:nvSpPr>
        <p:spPr>
          <a:xfrm>
            <a:off x="9921240" y="5550408"/>
            <a:ext cx="777240" cy="246888"/>
          </a:xfrm>
          <a:prstGeom prst="roundRect">
            <a:avLst>
              <a:gd name="adj" fmla="val 37037"/>
            </a:avLst>
          </a:prstGeom>
          <a:solidFill>
            <a:srgbClr val="DFF5EA"/>
          </a:solidFill>
          <a:ln w="12700">
            <a:solidFill>
              <a:srgbClr val="DFF5EA"/>
            </a:solidFill>
            <a:prstDash val="solid"/>
          </a:ln>
        </p:spPr>
      </p:sp>
      <p:sp>
        <p:nvSpPr>
          <p:cNvPr id="70" name="Text 65"/>
          <p:cNvSpPr/>
          <p:nvPr/>
        </p:nvSpPr>
        <p:spPr>
          <a:xfrm>
            <a:off x="9921240" y="5550408"/>
            <a:ext cx="777240" cy="246888"/>
          </a:xfrm>
          <a:prstGeom prst="rect">
            <a:avLst/>
          </a:prstGeom>
          <a:noFill/>
          <a:ln/>
        </p:spPr>
        <p:txBody>
          <a:bodyPr wrap="square" lIns="0" tIns="0" rIns="0" bIns="0" rtlCol="0" anchor="ctr"/>
          <a:lstStyle/>
          <a:p>
            <a:pPr algn="ctr" indent="0" marL="0">
              <a:buNone/>
            </a:pPr>
            <a:r>
              <a:rPr lang="en-US" sz="950" b="1" dirty="0">
                <a:solidFill>
                  <a:srgbClr val="0F9D6B"/>
                </a:solidFill>
                <a:latin typeface="Calibri" pitchFamily="34" charset="0"/>
                <a:ea typeface="Calibri" pitchFamily="34" charset="-122"/>
                <a:cs typeface="Calibri" pitchFamily="34" charset="-120"/>
              </a:rPr>
              <a:t>Strong</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6FB"/>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2D69E2"/>
          </a:solidFill>
          <a:ln w="12700">
            <a:solidFill>
              <a:srgbClr val="2D69E2"/>
            </a:solidFill>
            <a:prstDash val="solid"/>
          </a:ln>
        </p:spPr>
      </p:sp>
      <p:sp>
        <p:nvSpPr>
          <p:cNvPr id="3" name="Text 1"/>
          <p:cNvSpPr/>
          <p:nvPr/>
        </p:nvSpPr>
        <p:spPr>
          <a:xfrm>
            <a:off x="548640" y="347472"/>
            <a:ext cx="8229600" cy="274320"/>
          </a:xfrm>
          <a:prstGeom prst="rect">
            <a:avLst/>
          </a:prstGeom>
          <a:noFill/>
          <a:ln/>
        </p:spPr>
        <p:txBody>
          <a:bodyPr wrap="square" lIns="0" tIns="0" rIns="0" bIns="0" rtlCol="0" anchor="t"/>
          <a:lstStyle/>
          <a:p>
            <a:pPr indent="0" marL="0">
              <a:buNone/>
            </a:pPr>
            <a:r>
              <a:rPr lang="en-US" sz="1100" b="1" spc="300" kern="0" dirty="0">
                <a:solidFill>
                  <a:srgbClr val="2D69E2"/>
                </a:solidFill>
                <a:latin typeface="Calibri" pitchFamily="34" charset="0"/>
                <a:ea typeface="Calibri" pitchFamily="34" charset="-122"/>
                <a:cs typeface="Calibri" pitchFamily="34" charset="-120"/>
              </a:rPr>
              <a:t>PROPOSED TEAM</a:t>
            </a:r>
            <a:endParaRPr lang="en-US" sz="1100" dirty="0"/>
          </a:p>
        </p:txBody>
      </p:sp>
      <p:sp>
        <p:nvSpPr>
          <p:cNvPr id="4" name="Text 2"/>
          <p:cNvSpPr/>
          <p:nvPr/>
        </p:nvSpPr>
        <p:spPr>
          <a:xfrm>
            <a:off x="548640" y="621792"/>
            <a:ext cx="9326880" cy="731520"/>
          </a:xfrm>
          <a:prstGeom prst="rect">
            <a:avLst/>
          </a:prstGeom>
          <a:noFill/>
          <a:ln/>
        </p:spPr>
        <p:txBody>
          <a:bodyPr wrap="square" lIns="0" tIns="0" rIns="0" bIns="0" rtlCol="0" anchor="t">
            <a:normAutofit/>
          </a:bodyPr>
          <a:lstStyle/>
          <a:p>
            <a:pPr indent="0" marL="0">
              <a:buNone/>
            </a:pPr>
            <a:r>
              <a:rPr lang="en-US" sz="2800" b="1" dirty="0">
                <a:solidFill>
                  <a:srgbClr val="0B1B5E"/>
                </a:solidFill>
                <a:latin typeface="Calibri" pitchFamily="34" charset="0"/>
                <a:ea typeface="Calibri" pitchFamily="34" charset="-122"/>
                <a:cs typeface="Calibri" pitchFamily="34" charset="-120"/>
              </a:rPr>
              <a:t>The team we would put on it</a:t>
            </a:r>
            <a:endParaRPr lang="en-US" sz="2800" dirty="0"/>
          </a:p>
        </p:txBody>
      </p:sp>
      <p:pic>
        <p:nvPicPr>
          <p:cNvPr id="5" name="Image 0" descr="Samsung logo">    </p:cNvPr>
          <p:cNvPicPr>
            <a:picLocks noChangeAspect="1"/>
          </p:cNvPicPr>
          <p:nvPr/>
        </p:nvPicPr>
        <p:blipFill>
          <a:blip r:embed="rId1"/>
          <a:stretch>
            <a:fillRect/>
          </a:stretch>
        </p:blipFill>
        <p:spPr>
          <a:xfrm>
            <a:off x="10454335" y="347472"/>
            <a:ext cx="1188720" cy="377258"/>
          </a:xfrm>
          <a:prstGeom prst="rect">
            <a:avLst/>
          </a:prstGeom>
        </p:spPr>
      </p:pic>
      <p:sp>
        <p:nvSpPr>
          <p:cNvPr id="6" name="Text 3"/>
          <p:cNvSpPr/>
          <p:nvPr/>
        </p:nvSpPr>
        <p:spPr>
          <a:xfrm>
            <a:off x="548640" y="6446520"/>
            <a:ext cx="7315200" cy="256032"/>
          </a:xfrm>
          <a:prstGeom prst="rect">
            <a:avLst/>
          </a:prstGeom>
          <a:noFill/>
          <a:ln/>
        </p:spPr>
        <p:txBody>
          <a:bodyPr wrap="square" lIns="0" tIns="0" rIns="0" bIns="0" rtlCol="0" anchor="t"/>
          <a:lstStyle/>
          <a:p>
            <a:pPr indent="0" marL="0">
              <a:buNone/>
            </a:pPr>
            <a:r>
              <a:rPr lang="en-US" sz="1000" dirty="0">
                <a:solidFill>
                  <a:srgbClr val="5B6477"/>
                </a:solidFill>
                <a:latin typeface="Calibri" pitchFamily="34" charset="0"/>
                <a:ea typeface="Calibri" pitchFamily="34" charset="-122"/>
                <a:cs typeface="Calibri" pitchFamily="34" charset="-120"/>
              </a:rPr>
              <a:t>Nike. Just Do It. Nike IN  ·  Prepared by Samsung SDS</a:t>
            </a:r>
            <a:endParaRPr lang="en-US" sz="1000" dirty="0"/>
          </a:p>
        </p:txBody>
      </p:sp>
      <p:sp>
        <p:nvSpPr>
          <p:cNvPr id="7" name="Text 4"/>
          <p:cNvSpPr/>
          <p:nvPr/>
        </p:nvSpPr>
        <p:spPr>
          <a:xfrm>
            <a:off x="11185855" y="6446520"/>
            <a:ext cx="457200" cy="256032"/>
          </a:xfrm>
          <a:prstGeom prst="rect">
            <a:avLst/>
          </a:prstGeom>
          <a:noFill/>
          <a:ln/>
        </p:spPr>
        <p:txBody>
          <a:bodyPr wrap="square" lIns="0" tIns="0" rIns="0" bIns="0" rtlCol="0" anchor="t"/>
          <a:lstStyle/>
          <a:p>
            <a:pPr algn="r" indent="0" marL="0">
              <a:buNone/>
            </a:pPr>
            <a:r>
              <a:rPr lang="en-US" sz="1000" dirty="0">
                <a:solidFill>
                  <a:srgbClr val="5B6477"/>
                </a:solidFill>
                <a:latin typeface="Calibri" pitchFamily="34" charset="0"/>
                <a:ea typeface="Calibri" pitchFamily="34" charset="-122"/>
                <a:cs typeface="Calibri" pitchFamily="34" charset="-120"/>
              </a:rPr>
              <a:t>12</a:t>
            </a:r>
            <a:endParaRPr lang="en-US" sz="1000" dirty="0"/>
          </a:p>
        </p:txBody>
      </p:sp>
      <p:sp>
        <p:nvSpPr>
          <p:cNvPr id="9" name="Shape 5"/>
          <p:cNvSpPr/>
          <p:nvPr/>
        </p:nvSpPr>
        <p:spPr>
          <a:xfrm>
            <a:off x="548640" y="1508760"/>
            <a:ext cx="3545738" cy="2148840"/>
          </a:xfrm>
          <a:prstGeom prst="roundRect">
            <a:avLst>
              <a:gd name="adj" fmla="val 4255"/>
            </a:avLst>
          </a:prstGeom>
          <a:solidFill>
            <a:srgbClr val="FFFFFF"/>
          </a:solidFill>
          <a:ln w="12700">
            <a:solidFill>
              <a:srgbClr val="DDE2EE"/>
            </a:solidFill>
            <a:prstDash val="solid"/>
          </a:ln>
        </p:spPr>
      </p:sp>
      <p:sp>
        <p:nvSpPr>
          <p:cNvPr id="10" name="Shape 6"/>
          <p:cNvSpPr/>
          <p:nvPr/>
        </p:nvSpPr>
        <p:spPr>
          <a:xfrm>
            <a:off x="777240" y="1737360"/>
            <a:ext cx="640080" cy="640080"/>
          </a:xfrm>
          <a:prstGeom prst="ellipse">
            <a:avLst/>
          </a:prstGeom>
          <a:solidFill>
            <a:srgbClr val="0F8B8D"/>
          </a:solidFill>
          <a:ln w="12700">
            <a:solidFill>
              <a:srgbClr val="0F8B8D"/>
            </a:solidFill>
            <a:prstDash val="solid"/>
          </a:ln>
        </p:spPr>
      </p:sp>
      <p:sp>
        <p:nvSpPr>
          <p:cNvPr id="11" name="Text 7"/>
          <p:cNvSpPr/>
          <p:nvPr/>
        </p:nvSpPr>
        <p:spPr>
          <a:xfrm>
            <a:off x="777240" y="173736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AM</a:t>
            </a:r>
            <a:endParaRPr lang="en-US" sz="1800" dirty="0"/>
          </a:p>
        </p:txBody>
      </p:sp>
      <p:sp>
        <p:nvSpPr>
          <p:cNvPr id="12" name="Text 8"/>
          <p:cNvSpPr/>
          <p:nvPr/>
        </p:nvSpPr>
        <p:spPr>
          <a:xfrm>
            <a:off x="1554480" y="1737360"/>
            <a:ext cx="1716938" cy="320040"/>
          </a:xfrm>
          <a:prstGeom prst="rect">
            <a:avLst/>
          </a:prstGeom>
          <a:noFill/>
          <a:ln/>
        </p:spPr>
        <p:txBody>
          <a:bodyPr wrap="square" lIns="0" tIns="0" rIns="0" bIns="0" rtlCol="0" anchor="t"/>
          <a:lstStyle/>
          <a:p>
            <a:pPr indent="0" marL="0">
              <a:buNone/>
            </a:pPr>
            <a:r>
              <a:rPr lang="en-US" sz="1500" b="1" dirty="0">
                <a:solidFill>
                  <a:srgbClr val="111827"/>
                </a:solidFill>
                <a:latin typeface="Calibri" pitchFamily="34" charset="0"/>
                <a:ea typeface="Calibri" pitchFamily="34" charset="-122"/>
                <a:cs typeface="Calibri" pitchFamily="34" charset="-120"/>
              </a:rPr>
              <a:t>Aarav Mehta</a:t>
            </a:r>
            <a:endParaRPr lang="en-US" sz="1500" dirty="0"/>
          </a:p>
        </p:txBody>
      </p:sp>
      <p:sp>
        <p:nvSpPr>
          <p:cNvPr id="13" name="Text 9"/>
          <p:cNvSpPr/>
          <p:nvPr/>
        </p:nvSpPr>
        <p:spPr>
          <a:xfrm>
            <a:off x="1554480" y="2057400"/>
            <a:ext cx="1716938" cy="274320"/>
          </a:xfrm>
          <a:prstGeom prst="rect">
            <a:avLst/>
          </a:prstGeom>
          <a:noFill/>
          <a:ln/>
        </p:spPr>
        <p:txBody>
          <a:bodyPr wrap="square" lIns="0" tIns="0" rIns="0" bIns="0" rtlCol="0" anchor="t"/>
          <a:lstStyle/>
          <a:p>
            <a:pPr indent="0" marL="0">
              <a:buNone/>
            </a:pPr>
            <a:r>
              <a:rPr lang="en-US" sz="1100" dirty="0">
                <a:solidFill>
                  <a:srgbClr val="5B6477"/>
                </a:solidFill>
                <a:latin typeface="Calibri" pitchFamily="34" charset="0"/>
                <a:ea typeface="Calibri" pitchFamily="34" charset="-122"/>
                <a:cs typeface="Calibri" pitchFamily="34" charset="-120"/>
              </a:rPr>
              <a:t>Senior Frontend Engineer</a:t>
            </a:r>
            <a:endParaRPr lang="en-US" sz="1100" dirty="0"/>
          </a:p>
        </p:txBody>
      </p:sp>
      <p:sp>
        <p:nvSpPr>
          <p:cNvPr id="14" name="Text 10"/>
          <p:cNvSpPr/>
          <p:nvPr/>
        </p:nvSpPr>
        <p:spPr>
          <a:xfrm>
            <a:off x="3225698" y="1737360"/>
            <a:ext cx="685800" cy="365760"/>
          </a:xfrm>
          <a:prstGeom prst="rect">
            <a:avLst/>
          </a:prstGeom>
          <a:noFill/>
          <a:ln/>
        </p:spPr>
        <p:txBody>
          <a:bodyPr wrap="square" lIns="0" tIns="0" rIns="0" bIns="0" rtlCol="0" anchor="t"/>
          <a:lstStyle/>
          <a:p>
            <a:pPr algn="r" indent="0" marL="0">
              <a:buNone/>
            </a:pPr>
            <a:r>
              <a:rPr lang="en-US" sz="2000" b="1" dirty="0">
                <a:solidFill>
                  <a:srgbClr val="2D69E2"/>
                </a:solidFill>
                <a:latin typeface="Calibri" pitchFamily="34" charset="0"/>
                <a:ea typeface="Calibri" pitchFamily="34" charset="-122"/>
                <a:cs typeface="Calibri" pitchFamily="34" charset="-120"/>
              </a:rPr>
              <a:t>94%</a:t>
            </a:r>
            <a:endParaRPr lang="en-US" sz="2000" dirty="0"/>
          </a:p>
        </p:txBody>
      </p:sp>
      <p:sp>
        <p:nvSpPr>
          <p:cNvPr id="15" name="Text 11"/>
          <p:cNvSpPr/>
          <p:nvPr/>
        </p:nvSpPr>
        <p:spPr>
          <a:xfrm>
            <a:off x="3225698" y="2103120"/>
            <a:ext cx="685800" cy="228600"/>
          </a:xfrm>
          <a:prstGeom prst="rect">
            <a:avLst/>
          </a:prstGeom>
          <a:noFill/>
          <a:ln/>
        </p:spPr>
        <p:txBody>
          <a:bodyPr wrap="square" lIns="0" tIns="0" rIns="0" bIns="0" rtlCol="0" anchor="t"/>
          <a:lstStyle/>
          <a:p>
            <a:pPr algn="r" indent="0" marL="0">
              <a:buNone/>
            </a:pPr>
            <a:r>
              <a:rPr lang="en-US" sz="1000" dirty="0">
                <a:solidFill>
                  <a:srgbClr val="5B6477"/>
                </a:solidFill>
                <a:latin typeface="Calibri" pitchFamily="34" charset="0"/>
                <a:ea typeface="Calibri" pitchFamily="34" charset="-122"/>
                <a:cs typeface="Calibri" pitchFamily="34" charset="-120"/>
              </a:rPr>
              <a:t>fit</a:t>
            </a:r>
            <a:endParaRPr lang="en-US" sz="1000" dirty="0"/>
          </a:p>
        </p:txBody>
      </p:sp>
      <p:sp>
        <p:nvSpPr>
          <p:cNvPr id="16" name="Text 12"/>
          <p:cNvSpPr/>
          <p:nvPr/>
        </p:nvSpPr>
        <p:spPr>
          <a:xfrm>
            <a:off x="777240" y="2606040"/>
            <a:ext cx="3088538" cy="320040"/>
          </a:xfrm>
          <a:prstGeom prst="rect">
            <a:avLst/>
          </a:prstGeom>
          <a:noFill/>
          <a:ln/>
        </p:spPr>
        <p:txBody>
          <a:bodyPr wrap="square" lIns="0" tIns="0" rIns="0" bIns="0" rtlCol="0" anchor="t"/>
          <a:lstStyle/>
          <a:p>
            <a:pPr indent="0" marL="0">
              <a:buNone/>
            </a:pPr>
            <a:r>
              <a:rPr lang="en-US" sz="1100" dirty="0">
                <a:solidFill>
                  <a:srgbClr val="111827"/>
                </a:solidFill>
                <a:latin typeface="Calibri" pitchFamily="34" charset="0"/>
                <a:ea typeface="Calibri" pitchFamily="34" charset="-122"/>
                <a:cs typeface="Calibri" pitchFamily="34" charset="-120"/>
              </a:rPr>
              <a:t>nextjs · responsive-ui · web-performance</a:t>
            </a:r>
            <a:endParaRPr lang="en-US" sz="1100" dirty="0"/>
          </a:p>
        </p:txBody>
      </p:sp>
      <p:sp>
        <p:nvSpPr>
          <p:cNvPr id="17" name="Text 13"/>
          <p:cNvSpPr/>
          <p:nvPr/>
        </p:nvSpPr>
        <p:spPr>
          <a:xfrm>
            <a:off x="777240" y="2971800"/>
            <a:ext cx="3088538" cy="274320"/>
          </a:xfrm>
          <a:prstGeom prst="rect">
            <a:avLst/>
          </a:prstGeom>
          <a:noFill/>
          <a:ln/>
        </p:spPr>
        <p:txBody>
          <a:bodyPr wrap="square" lIns="0" tIns="0" rIns="0" bIns="0" rtlCol="0" anchor="t"/>
          <a:lstStyle/>
          <a:p>
            <a:pPr indent="0" marL="0">
              <a:buNone/>
            </a:pPr>
            <a:r>
              <a:rPr lang="en-US" sz="1050" dirty="0">
                <a:solidFill>
                  <a:srgbClr val="5B6477"/>
                </a:solidFill>
                <a:latin typeface="Calibri" pitchFamily="34" charset="0"/>
                <a:ea typeface="Calibri" pitchFamily="34" charset="-122"/>
                <a:cs typeface="Calibri" pitchFamily="34" charset="-120"/>
              </a:rPr>
              <a:t>Level 5/5 · available from 2026-11-02</a:t>
            </a:r>
            <a:endParaRPr lang="en-US" sz="1050" dirty="0"/>
          </a:p>
        </p:txBody>
      </p:sp>
      <p:sp>
        <p:nvSpPr>
          <p:cNvPr id="18" name="Text 14"/>
          <p:cNvSpPr/>
          <p:nvPr/>
        </p:nvSpPr>
        <p:spPr>
          <a:xfrm>
            <a:off x="777240" y="3227832"/>
            <a:ext cx="3088538" cy="365760"/>
          </a:xfrm>
          <a:prstGeom prst="rect">
            <a:avLst/>
          </a:prstGeom>
          <a:noFill/>
          <a:ln/>
        </p:spPr>
        <p:txBody>
          <a:bodyPr wrap="square" lIns="0" tIns="0" rIns="0" bIns="0" rtlCol="0" anchor="t"/>
          <a:lstStyle/>
          <a:p>
            <a:pPr indent="0" marL="0">
              <a:buNone/>
            </a:pPr>
            <a:r>
              <a:rPr lang="en-US" sz="900" dirty="0">
                <a:solidFill>
                  <a:srgbClr val="5B6477"/>
                </a:solidFill>
                <a:latin typeface="Calibri" pitchFamily="34" charset="0"/>
                <a:ea typeface="Calibri" pitchFamily="34" charset="-122"/>
                <a:cs typeface="Calibri" pitchFamily="34" charset="-120"/>
              </a:rPr>
              <a:t>Level 5/5 in nextjs, responsive-ui, web-performance; free from 2026-11-02. Needed for nextjs (…</a:t>
            </a:r>
            <a:endParaRPr lang="en-US" sz="900" dirty="0"/>
          </a:p>
        </p:txBody>
      </p:sp>
      <p:sp>
        <p:nvSpPr>
          <p:cNvPr id="19" name="Shape 15"/>
          <p:cNvSpPr/>
          <p:nvPr/>
        </p:nvSpPr>
        <p:spPr>
          <a:xfrm>
            <a:off x="4322978" y="1508760"/>
            <a:ext cx="3545738" cy="2148840"/>
          </a:xfrm>
          <a:prstGeom prst="roundRect">
            <a:avLst>
              <a:gd name="adj" fmla="val 4255"/>
            </a:avLst>
          </a:prstGeom>
          <a:solidFill>
            <a:srgbClr val="FFFFFF"/>
          </a:solidFill>
          <a:ln w="12700">
            <a:solidFill>
              <a:srgbClr val="DDE2EE"/>
            </a:solidFill>
            <a:prstDash val="solid"/>
          </a:ln>
        </p:spPr>
      </p:sp>
      <p:sp>
        <p:nvSpPr>
          <p:cNvPr id="20" name="Shape 16"/>
          <p:cNvSpPr/>
          <p:nvPr/>
        </p:nvSpPr>
        <p:spPr>
          <a:xfrm>
            <a:off x="4551578" y="1737360"/>
            <a:ext cx="640080" cy="640080"/>
          </a:xfrm>
          <a:prstGeom prst="ellipse">
            <a:avLst/>
          </a:prstGeom>
          <a:solidFill>
            <a:srgbClr val="5B3FD0"/>
          </a:solidFill>
          <a:ln w="12700">
            <a:solidFill>
              <a:srgbClr val="5B3FD0"/>
            </a:solidFill>
            <a:prstDash val="solid"/>
          </a:ln>
        </p:spPr>
      </p:sp>
      <p:sp>
        <p:nvSpPr>
          <p:cNvPr id="21" name="Text 17"/>
          <p:cNvSpPr/>
          <p:nvPr/>
        </p:nvSpPr>
        <p:spPr>
          <a:xfrm>
            <a:off x="4551578" y="173736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DM</a:t>
            </a:r>
            <a:endParaRPr lang="en-US" sz="1800" dirty="0"/>
          </a:p>
        </p:txBody>
      </p:sp>
      <p:sp>
        <p:nvSpPr>
          <p:cNvPr id="22" name="Text 18"/>
          <p:cNvSpPr/>
          <p:nvPr/>
        </p:nvSpPr>
        <p:spPr>
          <a:xfrm>
            <a:off x="5328818" y="1737360"/>
            <a:ext cx="1716938" cy="320040"/>
          </a:xfrm>
          <a:prstGeom prst="rect">
            <a:avLst/>
          </a:prstGeom>
          <a:noFill/>
          <a:ln/>
        </p:spPr>
        <p:txBody>
          <a:bodyPr wrap="square" lIns="0" tIns="0" rIns="0" bIns="0" rtlCol="0" anchor="t"/>
          <a:lstStyle/>
          <a:p>
            <a:pPr indent="0" marL="0">
              <a:buNone/>
            </a:pPr>
            <a:r>
              <a:rPr lang="en-US" sz="1500" b="1" dirty="0">
                <a:solidFill>
                  <a:srgbClr val="111827"/>
                </a:solidFill>
                <a:latin typeface="Calibri" pitchFamily="34" charset="0"/>
                <a:ea typeface="Calibri" pitchFamily="34" charset="-122"/>
                <a:cs typeface="Calibri" pitchFamily="34" charset="-120"/>
              </a:rPr>
              <a:t>Dev Malhotra</a:t>
            </a:r>
            <a:endParaRPr lang="en-US" sz="1500" dirty="0"/>
          </a:p>
        </p:txBody>
      </p:sp>
      <p:sp>
        <p:nvSpPr>
          <p:cNvPr id="23" name="Text 19"/>
          <p:cNvSpPr/>
          <p:nvPr/>
        </p:nvSpPr>
        <p:spPr>
          <a:xfrm>
            <a:off x="5328818" y="2057400"/>
            <a:ext cx="1716938" cy="274320"/>
          </a:xfrm>
          <a:prstGeom prst="rect">
            <a:avLst/>
          </a:prstGeom>
          <a:noFill/>
          <a:ln/>
        </p:spPr>
        <p:txBody>
          <a:bodyPr wrap="square" lIns="0" tIns="0" rIns="0" bIns="0" rtlCol="0" anchor="t"/>
          <a:lstStyle/>
          <a:p>
            <a:pPr indent="0" marL="0">
              <a:buNone/>
            </a:pPr>
            <a:r>
              <a:rPr lang="en-US" sz="1100" dirty="0">
                <a:solidFill>
                  <a:srgbClr val="5B6477"/>
                </a:solidFill>
                <a:latin typeface="Calibri" pitchFamily="34" charset="0"/>
                <a:ea typeface="Calibri" pitchFamily="34" charset="-122"/>
                <a:cs typeface="Calibri" pitchFamily="34" charset="-120"/>
              </a:rPr>
              <a:t>Senior Frontend Engineer</a:t>
            </a:r>
            <a:endParaRPr lang="en-US" sz="1100" dirty="0"/>
          </a:p>
        </p:txBody>
      </p:sp>
      <p:sp>
        <p:nvSpPr>
          <p:cNvPr id="24" name="Text 20"/>
          <p:cNvSpPr/>
          <p:nvPr/>
        </p:nvSpPr>
        <p:spPr>
          <a:xfrm>
            <a:off x="7000037" y="1737360"/>
            <a:ext cx="685800" cy="365760"/>
          </a:xfrm>
          <a:prstGeom prst="rect">
            <a:avLst/>
          </a:prstGeom>
          <a:noFill/>
          <a:ln/>
        </p:spPr>
        <p:txBody>
          <a:bodyPr wrap="square" lIns="0" tIns="0" rIns="0" bIns="0" rtlCol="0" anchor="t"/>
          <a:lstStyle/>
          <a:p>
            <a:pPr algn="r" indent="0" marL="0">
              <a:buNone/>
            </a:pPr>
            <a:r>
              <a:rPr lang="en-US" sz="2000" b="1" dirty="0">
                <a:solidFill>
                  <a:srgbClr val="2D69E2"/>
                </a:solidFill>
                <a:latin typeface="Calibri" pitchFamily="34" charset="0"/>
                <a:ea typeface="Calibri" pitchFamily="34" charset="-122"/>
                <a:cs typeface="Calibri" pitchFamily="34" charset="-120"/>
              </a:rPr>
              <a:t>94%</a:t>
            </a:r>
            <a:endParaRPr lang="en-US" sz="2000" dirty="0"/>
          </a:p>
        </p:txBody>
      </p:sp>
      <p:sp>
        <p:nvSpPr>
          <p:cNvPr id="25" name="Text 21"/>
          <p:cNvSpPr/>
          <p:nvPr/>
        </p:nvSpPr>
        <p:spPr>
          <a:xfrm>
            <a:off x="7000037" y="2103120"/>
            <a:ext cx="685800" cy="228600"/>
          </a:xfrm>
          <a:prstGeom prst="rect">
            <a:avLst/>
          </a:prstGeom>
          <a:noFill/>
          <a:ln/>
        </p:spPr>
        <p:txBody>
          <a:bodyPr wrap="square" lIns="0" tIns="0" rIns="0" bIns="0" rtlCol="0" anchor="t"/>
          <a:lstStyle/>
          <a:p>
            <a:pPr algn="r" indent="0" marL="0">
              <a:buNone/>
            </a:pPr>
            <a:r>
              <a:rPr lang="en-US" sz="1000" dirty="0">
                <a:solidFill>
                  <a:srgbClr val="5B6477"/>
                </a:solidFill>
                <a:latin typeface="Calibri" pitchFamily="34" charset="0"/>
                <a:ea typeface="Calibri" pitchFamily="34" charset="-122"/>
                <a:cs typeface="Calibri" pitchFamily="34" charset="-120"/>
              </a:rPr>
              <a:t>fit</a:t>
            </a:r>
            <a:endParaRPr lang="en-US" sz="1000" dirty="0"/>
          </a:p>
        </p:txBody>
      </p:sp>
      <p:sp>
        <p:nvSpPr>
          <p:cNvPr id="26" name="Text 22"/>
          <p:cNvSpPr/>
          <p:nvPr/>
        </p:nvSpPr>
        <p:spPr>
          <a:xfrm>
            <a:off x="4551578" y="2606040"/>
            <a:ext cx="3088538" cy="320040"/>
          </a:xfrm>
          <a:prstGeom prst="rect">
            <a:avLst/>
          </a:prstGeom>
          <a:noFill/>
          <a:ln/>
        </p:spPr>
        <p:txBody>
          <a:bodyPr wrap="square" lIns="0" tIns="0" rIns="0" bIns="0" rtlCol="0" anchor="t"/>
          <a:lstStyle/>
          <a:p>
            <a:pPr indent="0" marL="0">
              <a:buNone/>
            </a:pPr>
            <a:r>
              <a:rPr lang="en-US" sz="1100" dirty="0">
                <a:solidFill>
                  <a:srgbClr val="111827"/>
                </a:solidFill>
                <a:latin typeface="Calibri" pitchFamily="34" charset="0"/>
                <a:ea typeface="Calibri" pitchFamily="34" charset="-122"/>
                <a:cs typeface="Calibri" pitchFamily="34" charset="-120"/>
              </a:rPr>
              <a:t>nextjs · responsive-ui · web-performance</a:t>
            </a:r>
            <a:endParaRPr lang="en-US" sz="1100" dirty="0"/>
          </a:p>
        </p:txBody>
      </p:sp>
      <p:sp>
        <p:nvSpPr>
          <p:cNvPr id="27" name="Text 23"/>
          <p:cNvSpPr/>
          <p:nvPr/>
        </p:nvSpPr>
        <p:spPr>
          <a:xfrm>
            <a:off x="4551578" y="2971800"/>
            <a:ext cx="3088538" cy="274320"/>
          </a:xfrm>
          <a:prstGeom prst="rect">
            <a:avLst/>
          </a:prstGeom>
          <a:noFill/>
          <a:ln/>
        </p:spPr>
        <p:txBody>
          <a:bodyPr wrap="square" lIns="0" tIns="0" rIns="0" bIns="0" rtlCol="0" anchor="t"/>
          <a:lstStyle/>
          <a:p>
            <a:pPr indent="0" marL="0">
              <a:buNone/>
            </a:pPr>
            <a:r>
              <a:rPr lang="en-US" sz="1050" dirty="0">
                <a:solidFill>
                  <a:srgbClr val="5B6477"/>
                </a:solidFill>
                <a:latin typeface="Calibri" pitchFamily="34" charset="0"/>
                <a:ea typeface="Calibri" pitchFamily="34" charset="-122"/>
                <a:cs typeface="Calibri" pitchFamily="34" charset="-120"/>
              </a:rPr>
              <a:t>Level 5/5 · available from 2026-11-09</a:t>
            </a:r>
            <a:endParaRPr lang="en-US" sz="1050" dirty="0"/>
          </a:p>
        </p:txBody>
      </p:sp>
      <p:sp>
        <p:nvSpPr>
          <p:cNvPr id="28" name="Text 24"/>
          <p:cNvSpPr/>
          <p:nvPr/>
        </p:nvSpPr>
        <p:spPr>
          <a:xfrm>
            <a:off x="4551578" y="3227832"/>
            <a:ext cx="3088538" cy="365760"/>
          </a:xfrm>
          <a:prstGeom prst="rect">
            <a:avLst/>
          </a:prstGeom>
          <a:noFill/>
          <a:ln/>
        </p:spPr>
        <p:txBody>
          <a:bodyPr wrap="square" lIns="0" tIns="0" rIns="0" bIns="0" rtlCol="0" anchor="t"/>
          <a:lstStyle/>
          <a:p>
            <a:pPr indent="0" marL="0">
              <a:buNone/>
            </a:pPr>
            <a:r>
              <a:rPr lang="en-US" sz="900" dirty="0">
                <a:solidFill>
                  <a:srgbClr val="5B6477"/>
                </a:solidFill>
                <a:latin typeface="Calibri" pitchFamily="34" charset="0"/>
                <a:ea typeface="Calibri" pitchFamily="34" charset="-122"/>
                <a:cs typeface="Calibri" pitchFamily="34" charset="-120"/>
              </a:rPr>
              <a:t>Level 5/5 in nextjs, responsive-ui, web-performance; free from 2026-11-09. Needed for web-perf…</a:t>
            </a:r>
            <a:endParaRPr lang="en-US" sz="900" dirty="0"/>
          </a:p>
        </p:txBody>
      </p:sp>
      <p:sp>
        <p:nvSpPr>
          <p:cNvPr id="29" name="Shape 25"/>
          <p:cNvSpPr/>
          <p:nvPr/>
        </p:nvSpPr>
        <p:spPr>
          <a:xfrm>
            <a:off x="8097317" y="1508760"/>
            <a:ext cx="3545738" cy="2148840"/>
          </a:xfrm>
          <a:prstGeom prst="roundRect">
            <a:avLst>
              <a:gd name="adj" fmla="val 4255"/>
            </a:avLst>
          </a:prstGeom>
          <a:solidFill>
            <a:srgbClr val="FFFFFF"/>
          </a:solidFill>
          <a:ln w="12700">
            <a:solidFill>
              <a:srgbClr val="DDE2EE"/>
            </a:solidFill>
            <a:prstDash val="solid"/>
          </a:ln>
        </p:spPr>
      </p:sp>
      <p:sp>
        <p:nvSpPr>
          <p:cNvPr id="30" name="Shape 26"/>
          <p:cNvSpPr/>
          <p:nvPr/>
        </p:nvSpPr>
        <p:spPr>
          <a:xfrm>
            <a:off x="8325917" y="1737360"/>
            <a:ext cx="640080" cy="640080"/>
          </a:xfrm>
          <a:prstGeom prst="ellipse">
            <a:avLst/>
          </a:prstGeom>
          <a:solidFill>
            <a:srgbClr val="0F8B8D"/>
          </a:solidFill>
          <a:ln w="12700">
            <a:solidFill>
              <a:srgbClr val="0F8B8D"/>
            </a:solidFill>
            <a:prstDash val="solid"/>
          </a:ln>
        </p:spPr>
      </p:sp>
      <p:sp>
        <p:nvSpPr>
          <p:cNvPr id="31" name="Text 27"/>
          <p:cNvSpPr/>
          <p:nvPr/>
        </p:nvSpPr>
        <p:spPr>
          <a:xfrm>
            <a:off x="8325917" y="173736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VD</a:t>
            </a:r>
            <a:endParaRPr lang="en-US" sz="1800" dirty="0"/>
          </a:p>
        </p:txBody>
      </p:sp>
      <p:sp>
        <p:nvSpPr>
          <p:cNvPr id="32" name="Text 28"/>
          <p:cNvSpPr/>
          <p:nvPr/>
        </p:nvSpPr>
        <p:spPr>
          <a:xfrm>
            <a:off x="9103157" y="1737360"/>
            <a:ext cx="1716938" cy="320040"/>
          </a:xfrm>
          <a:prstGeom prst="rect">
            <a:avLst/>
          </a:prstGeom>
          <a:noFill/>
          <a:ln/>
        </p:spPr>
        <p:txBody>
          <a:bodyPr wrap="square" lIns="0" tIns="0" rIns="0" bIns="0" rtlCol="0" anchor="t"/>
          <a:lstStyle/>
          <a:p>
            <a:pPr indent="0" marL="0">
              <a:buNone/>
            </a:pPr>
            <a:r>
              <a:rPr lang="en-US" sz="1500" b="1" dirty="0">
                <a:solidFill>
                  <a:srgbClr val="111827"/>
                </a:solidFill>
                <a:latin typeface="Calibri" pitchFamily="34" charset="0"/>
                <a:ea typeface="Calibri" pitchFamily="34" charset="-122"/>
                <a:cs typeface="Calibri" pitchFamily="34" charset="-120"/>
              </a:rPr>
              <a:t>Vikram Das</a:t>
            </a:r>
            <a:endParaRPr lang="en-US" sz="1500" dirty="0"/>
          </a:p>
        </p:txBody>
      </p:sp>
      <p:sp>
        <p:nvSpPr>
          <p:cNvPr id="33" name="Text 29"/>
          <p:cNvSpPr/>
          <p:nvPr/>
        </p:nvSpPr>
        <p:spPr>
          <a:xfrm>
            <a:off x="9103157" y="2057400"/>
            <a:ext cx="1716938" cy="274320"/>
          </a:xfrm>
          <a:prstGeom prst="rect">
            <a:avLst/>
          </a:prstGeom>
          <a:noFill/>
          <a:ln/>
        </p:spPr>
        <p:txBody>
          <a:bodyPr wrap="square" lIns="0" tIns="0" rIns="0" bIns="0" rtlCol="0" anchor="t"/>
          <a:lstStyle/>
          <a:p>
            <a:pPr indent="0" marL="0">
              <a:buNone/>
            </a:pPr>
            <a:r>
              <a:rPr lang="en-US" sz="1100" dirty="0">
                <a:solidFill>
                  <a:srgbClr val="5B6477"/>
                </a:solidFill>
                <a:latin typeface="Calibri" pitchFamily="34" charset="0"/>
                <a:ea typeface="Calibri" pitchFamily="34" charset="-122"/>
                <a:cs typeface="Calibri" pitchFamily="34" charset="-120"/>
              </a:rPr>
              <a:t>Design Systems Engineer</a:t>
            </a:r>
            <a:endParaRPr lang="en-US" sz="1100" dirty="0"/>
          </a:p>
        </p:txBody>
      </p:sp>
      <p:sp>
        <p:nvSpPr>
          <p:cNvPr id="34" name="Text 30"/>
          <p:cNvSpPr/>
          <p:nvPr/>
        </p:nvSpPr>
        <p:spPr>
          <a:xfrm>
            <a:off x="10774375" y="1737360"/>
            <a:ext cx="685800" cy="365760"/>
          </a:xfrm>
          <a:prstGeom prst="rect">
            <a:avLst/>
          </a:prstGeom>
          <a:noFill/>
          <a:ln/>
        </p:spPr>
        <p:txBody>
          <a:bodyPr wrap="square" lIns="0" tIns="0" rIns="0" bIns="0" rtlCol="0" anchor="t"/>
          <a:lstStyle/>
          <a:p>
            <a:pPr algn="r" indent="0" marL="0">
              <a:buNone/>
            </a:pPr>
            <a:r>
              <a:rPr lang="en-US" sz="2000" b="1" dirty="0">
                <a:solidFill>
                  <a:srgbClr val="2D69E2"/>
                </a:solidFill>
                <a:latin typeface="Calibri" pitchFamily="34" charset="0"/>
                <a:ea typeface="Calibri" pitchFamily="34" charset="-122"/>
                <a:cs typeface="Calibri" pitchFamily="34" charset="-120"/>
              </a:rPr>
              <a:t>83%</a:t>
            </a:r>
            <a:endParaRPr lang="en-US" sz="2000" dirty="0"/>
          </a:p>
        </p:txBody>
      </p:sp>
      <p:sp>
        <p:nvSpPr>
          <p:cNvPr id="35" name="Text 31"/>
          <p:cNvSpPr/>
          <p:nvPr/>
        </p:nvSpPr>
        <p:spPr>
          <a:xfrm>
            <a:off x="10774375" y="2103120"/>
            <a:ext cx="685800" cy="228600"/>
          </a:xfrm>
          <a:prstGeom prst="rect">
            <a:avLst/>
          </a:prstGeom>
          <a:noFill/>
          <a:ln/>
        </p:spPr>
        <p:txBody>
          <a:bodyPr wrap="square" lIns="0" tIns="0" rIns="0" bIns="0" rtlCol="0" anchor="t"/>
          <a:lstStyle/>
          <a:p>
            <a:pPr algn="r" indent="0" marL="0">
              <a:buNone/>
            </a:pPr>
            <a:r>
              <a:rPr lang="en-US" sz="1000" dirty="0">
                <a:solidFill>
                  <a:srgbClr val="5B6477"/>
                </a:solidFill>
                <a:latin typeface="Calibri" pitchFamily="34" charset="0"/>
                <a:ea typeface="Calibri" pitchFamily="34" charset="-122"/>
                <a:cs typeface="Calibri" pitchFamily="34" charset="-120"/>
              </a:rPr>
              <a:t>fit</a:t>
            </a:r>
            <a:endParaRPr lang="en-US" sz="1000" dirty="0"/>
          </a:p>
        </p:txBody>
      </p:sp>
      <p:sp>
        <p:nvSpPr>
          <p:cNvPr id="36" name="Text 32"/>
          <p:cNvSpPr/>
          <p:nvPr/>
        </p:nvSpPr>
        <p:spPr>
          <a:xfrm>
            <a:off x="8325917" y="2606040"/>
            <a:ext cx="3088538" cy="320040"/>
          </a:xfrm>
          <a:prstGeom prst="rect">
            <a:avLst/>
          </a:prstGeom>
          <a:noFill/>
          <a:ln/>
        </p:spPr>
        <p:txBody>
          <a:bodyPr wrap="square" lIns="0" tIns="0" rIns="0" bIns="0" rtlCol="0" anchor="t"/>
          <a:lstStyle/>
          <a:p>
            <a:pPr indent="0" marL="0">
              <a:buNone/>
            </a:pPr>
            <a:r>
              <a:rPr lang="en-US" sz="1100" dirty="0">
                <a:solidFill>
                  <a:srgbClr val="111827"/>
                </a:solidFill>
                <a:latin typeface="Calibri" pitchFamily="34" charset="0"/>
                <a:ea typeface="Calibri" pitchFamily="34" charset="-122"/>
                <a:cs typeface="Calibri" pitchFamily="34" charset="-120"/>
              </a:rPr>
              <a:t>design-systems · nextjs · responsive-ui</a:t>
            </a:r>
            <a:endParaRPr lang="en-US" sz="1100" dirty="0"/>
          </a:p>
        </p:txBody>
      </p:sp>
      <p:sp>
        <p:nvSpPr>
          <p:cNvPr id="37" name="Text 33"/>
          <p:cNvSpPr/>
          <p:nvPr/>
        </p:nvSpPr>
        <p:spPr>
          <a:xfrm>
            <a:off x="8325917" y="2971800"/>
            <a:ext cx="3088538" cy="274320"/>
          </a:xfrm>
          <a:prstGeom prst="rect">
            <a:avLst/>
          </a:prstGeom>
          <a:noFill/>
          <a:ln/>
        </p:spPr>
        <p:txBody>
          <a:bodyPr wrap="square" lIns="0" tIns="0" rIns="0" bIns="0" rtlCol="0" anchor="t"/>
          <a:lstStyle/>
          <a:p>
            <a:pPr indent="0" marL="0">
              <a:buNone/>
            </a:pPr>
            <a:r>
              <a:rPr lang="en-US" sz="1050" dirty="0">
                <a:solidFill>
                  <a:srgbClr val="5B6477"/>
                </a:solidFill>
                <a:latin typeface="Calibri" pitchFamily="34" charset="0"/>
                <a:ea typeface="Calibri" pitchFamily="34" charset="-122"/>
                <a:cs typeface="Calibri" pitchFamily="34" charset="-120"/>
              </a:rPr>
              <a:t>Level 4/5 · available from 2026-11-02</a:t>
            </a:r>
            <a:endParaRPr lang="en-US" sz="1050" dirty="0"/>
          </a:p>
        </p:txBody>
      </p:sp>
      <p:sp>
        <p:nvSpPr>
          <p:cNvPr id="38" name="Text 34"/>
          <p:cNvSpPr/>
          <p:nvPr/>
        </p:nvSpPr>
        <p:spPr>
          <a:xfrm>
            <a:off x="8325917" y="3227832"/>
            <a:ext cx="3088538" cy="365760"/>
          </a:xfrm>
          <a:prstGeom prst="rect">
            <a:avLst/>
          </a:prstGeom>
          <a:noFill/>
          <a:ln/>
        </p:spPr>
        <p:txBody>
          <a:bodyPr wrap="square" lIns="0" tIns="0" rIns="0" bIns="0" rtlCol="0" anchor="t"/>
          <a:lstStyle/>
          <a:p>
            <a:pPr indent="0" marL="0">
              <a:buNone/>
            </a:pPr>
            <a:r>
              <a:rPr lang="en-US" sz="900" dirty="0">
                <a:solidFill>
                  <a:srgbClr val="5B6477"/>
                </a:solidFill>
                <a:latin typeface="Calibri" pitchFamily="34" charset="0"/>
                <a:ea typeface="Calibri" pitchFamily="34" charset="-122"/>
                <a:cs typeface="Calibri" pitchFamily="34" charset="-120"/>
              </a:rPr>
              <a:t>Level 4/5 in design-systems, nextjs, responsive-ui; free from 2026-11-02. Needed for design-sy…</a:t>
            </a:r>
            <a:endParaRPr lang="en-US" sz="900" dirty="0"/>
          </a:p>
        </p:txBody>
      </p:sp>
      <p:sp>
        <p:nvSpPr>
          <p:cNvPr id="39" name="Shape 35"/>
          <p:cNvSpPr/>
          <p:nvPr/>
        </p:nvSpPr>
        <p:spPr>
          <a:xfrm>
            <a:off x="548640" y="3886200"/>
            <a:ext cx="3545738" cy="2148840"/>
          </a:xfrm>
          <a:prstGeom prst="roundRect">
            <a:avLst>
              <a:gd name="adj" fmla="val 4255"/>
            </a:avLst>
          </a:prstGeom>
          <a:solidFill>
            <a:srgbClr val="FFFFFF"/>
          </a:solidFill>
          <a:ln w="12700">
            <a:solidFill>
              <a:srgbClr val="DDE2EE"/>
            </a:solidFill>
            <a:prstDash val="solid"/>
          </a:ln>
        </p:spPr>
      </p:sp>
      <p:sp>
        <p:nvSpPr>
          <p:cNvPr id="40" name="Shape 36"/>
          <p:cNvSpPr/>
          <p:nvPr/>
        </p:nvSpPr>
        <p:spPr>
          <a:xfrm>
            <a:off x="777240" y="4114800"/>
            <a:ext cx="640080" cy="640080"/>
          </a:xfrm>
          <a:prstGeom prst="ellipse">
            <a:avLst/>
          </a:prstGeom>
          <a:solidFill>
            <a:srgbClr val="0F8B8D"/>
          </a:solidFill>
          <a:ln w="12700">
            <a:solidFill>
              <a:srgbClr val="0F8B8D"/>
            </a:solidFill>
            <a:prstDash val="solid"/>
          </a:ln>
        </p:spPr>
      </p:sp>
      <p:sp>
        <p:nvSpPr>
          <p:cNvPr id="41" name="Text 37"/>
          <p:cNvSpPr/>
          <p:nvPr/>
        </p:nvSpPr>
        <p:spPr>
          <a:xfrm>
            <a:off x="777240" y="41148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AR</a:t>
            </a:r>
            <a:endParaRPr lang="en-US" sz="1800" dirty="0"/>
          </a:p>
        </p:txBody>
      </p:sp>
      <p:sp>
        <p:nvSpPr>
          <p:cNvPr id="42" name="Text 38"/>
          <p:cNvSpPr/>
          <p:nvPr/>
        </p:nvSpPr>
        <p:spPr>
          <a:xfrm>
            <a:off x="1554480" y="4114800"/>
            <a:ext cx="1716938" cy="320040"/>
          </a:xfrm>
          <a:prstGeom prst="rect">
            <a:avLst/>
          </a:prstGeom>
          <a:noFill/>
          <a:ln/>
        </p:spPr>
        <p:txBody>
          <a:bodyPr wrap="square" lIns="0" tIns="0" rIns="0" bIns="0" rtlCol="0" anchor="t"/>
          <a:lstStyle/>
          <a:p>
            <a:pPr indent="0" marL="0">
              <a:buNone/>
            </a:pPr>
            <a:r>
              <a:rPr lang="en-US" sz="1500" b="1" dirty="0">
                <a:solidFill>
                  <a:srgbClr val="111827"/>
                </a:solidFill>
                <a:latin typeface="Calibri" pitchFamily="34" charset="0"/>
                <a:ea typeface="Calibri" pitchFamily="34" charset="-122"/>
                <a:cs typeface="Calibri" pitchFamily="34" charset="-120"/>
              </a:rPr>
              <a:t>Ananya Rao</a:t>
            </a:r>
            <a:endParaRPr lang="en-US" sz="1500" dirty="0"/>
          </a:p>
        </p:txBody>
      </p:sp>
      <p:sp>
        <p:nvSpPr>
          <p:cNvPr id="43" name="Text 39"/>
          <p:cNvSpPr/>
          <p:nvPr/>
        </p:nvSpPr>
        <p:spPr>
          <a:xfrm>
            <a:off x="1554480" y="4434840"/>
            <a:ext cx="1716938" cy="274320"/>
          </a:xfrm>
          <a:prstGeom prst="rect">
            <a:avLst/>
          </a:prstGeom>
          <a:noFill/>
          <a:ln/>
        </p:spPr>
        <p:txBody>
          <a:bodyPr wrap="square" lIns="0" tIns="0" rIns="0" bIns="0" rtlCol="0" anchor="t"/>
          <a:lstStyle/>
          <a:p>
            <a:pPr indent="0" marL="0">
              <a:buNone/>
            </a:pPr>
            <a:r>
              <a:rPr lang="en-US" sz="1100" dirty="0">
                <a:solidFill>
                  <a:srgbClr val="5B6477"/>
                </a:solidFill>
                <a:latin typeface="Calibri" pitchFamily="34" charset="0"/>
                <a:ea typeface="Calibri" pitchFamily="34" charset="-122"/>
                <a:cs typeface="Calibri" pitchFamily="34" charset="-120"/>
              </a:rPr>
              <a:t>UX Designer</a:t>
            </a:r>
            <a:endParaRPr lang="en-US" sz="1100" dirty="0"/>
          </a:p>
        </p:txBody>
      </p:sp>
      <p:sp>
        <p:nvSpPr>
          <p:cNvPr id="44" name="Text 40"/>
          <p:cNvSpPr/>
          <p:nvPr/>
        </p:nvSpPr>
        <p:spPr>
          <a:xfrm>
            <a:off x="3225698" y="4114800"/>
            <a:ext cx="685800" cy="365760"/>
          </a:xfrm>
          <a:prstGeom prst="rect">
            <a:avLst/>
          </a:prstGeom>
          <a:noFill/>
          <a:ln/>
        </p:spPr>
        <p:txBody>
          <a:bodyPr wrap="square" lIns="0" tIns="0" rIns="0" bIns="0" rtlCol="0" anchor="t"/>
          <a:lstStyle/>
          <a:p>
            <a:pPr algn="r" indent="0" marL="0">
              <a:buNone/>
            </a:pPr>
            <a:r>
              <a:rPr lang="en-US" sz="2000" b="1" dirty="0">
                <a:solidFill>
                  <a:srgbClr val="2D69E2"/>
                </a:solidFill>
                <a:latin typeface="Calibri" pitchFamily="34" charset="0"/>
                <a:ea typeface="Calibri" pitchFamily="34" charset="-122"/>
                <a:cs typeface="Calibri" pitchFamily="34" charset="-120"/>
              </a:rPr>
              <a:t>73%</a:t>
            </a:r>
            <a:endParaRPr lang="en-US" sz="2000" dirty="0"/>
          </a:p>
        </p:txBody>
      </p:sp>
      <p:sp>
        <p:nvSpPr>
          <p:cNvPr id="45" name="Text 41"/>
          <p:cNvSpPr/>
          <p:nvPr/>
        </p:nvSpPr>
        <p:spPr>
          <a:xfrm>
            <a:off x="3225698" y="4480560"/>
            <a:ext cx="685800" cy="228600"/>
          </a:xfrm>
          <a:prstGeom prst="rect">
            <a:avLst/>
          </a:prstGeom>
          <a:noFill/>
          <a:ln/>
        </p:spPr>
        <p:txBody>
          <a:bodyPr wrap="square" lIns="0" tIns="0" rIns="0" bIns="0" rtlCol="0" anchor="t"/>
          <a:lstStyle/>
          <a:p>
            <a:pPr algn="r" indent="0" marL="0">
              <a:buNone/>
            </a:pPr>
            <a:r>
              <a:rPr lang="en-US" sz="1000" dirty="0">
                <a:solidFill>
                  <a:srgbClr val="5B6477"/>
                </a:solidFill>
                <a:latin typeface="Calibri" pitchFamily="34" charset="0"/>
                <a:ea typeface="Calibri" pitchFamily="34" charset="-122"/>
                <a:cs typeface="Calibri" pitchFamily="34" charset="-120"/>
              </a:rPr>
              <a:t>fit</a:t>
            </a:r>
            <a:endParaRPr lang="en-US" sz="1000" dirty="0"/>
          </a:p>
        </p:txBody>
      </p:sp>
      <p:sp>
        <p:nvSpPr>
          <p:cNvPr id="46" name="Text 42"/>
          <p:cNvSpPr/>
          <p:nvPr/>
        </p:nvSpPr>
        <p:spPr>
          <a:xfrm>
            <a:off x="777240" y="4983480"/>
            <a:ext cx="3088538" cy="320040"/>
          </a:xfrm>
          <a:prstGeom prst="rect">
            <a:avLst/>
          </a:prstGeom>
          <a:noFill/>
          <a:ln/>
        </p:spPr>
        <p:txBody>
          <a:bodyPr wrap="square" lIns="0" tIns="0" rIns="0" bIns="0" rtlCol="0" anchor="t"/>
          <a:lstStyle/>
          <a:p>
            <a:pPr indent="0" marL="0">
              <a:buNone/>
            </a:pPr>
            <a:r>
              <a:rPr lang="en-US" sz="1100" dirty="0">
                <a:solidFill>
                  <a:srgbClr val="111827"/>
                </a:solidFill>
                <a:latin typeface="Calibri" pitchFamily="34" charset="0"/>
                <a:ea typeface="Calibri" pitchFamily="34" charset="-122"/>
                <a:cs typeface="Calibri" pitchFamily="34" charset="-120"/>
              </a:rPr>
              <a:t>ux-design · design-systems</a:t>
            </a:r>
            <a:endParaRPr lang="en-US" sz="1100" dirty="0"/>
          </a:p>
        </p:txBody>
      </p:sp>
      <p:sp>
        <p:nvSpPr>
          <p:cNvPr id="47" name="Text 43"/>
          <p:cNvSpPr/>
          <p:nvPr/>
        </p:nvSpPr>
        <p:spPr>
          <a:xfrm>
            <a:off x="777240" y="5349240"/>
            <a:ext cx="3088538" cy="274320"/>
          </a:xfrm>
          <a:prstGeom prst="rect">
            <a:avLst/>
          </a:prstGeom>
          <a:noFill/>
          <a:ln/>
        </p:spPr>
        <p:txBody>
          <a:bodyPr wrap="square" lIns="0" tIns="0" rIns="0" bIns="0" rtlCol="0" anchor="t"/>
          <a:lstStyle/>
          <a:p>
            <a:pPr indent="0" marL="0">
              <a:buNone/>
            </a:pPr>
            <a:r>
              <a:rPr lang="en-US" sz="1050" dirty="0">
                <a:solidFill>
                  <a:srgbClr val="5B6477"/>
                </a:solidFill>
                <a:latin typeface="Calibri" pitchFamily="34" charset="0"/>
                <a:ea typeface="Calibri" pitchFamily="34" charset="-122"/>
                <a:cs typeface="Calibri" pitchFamily="34" charset="-120"/>
              </a:rPr>
              <a:t>Level 4/5 · available from 2026-11-02</a:t>
            </a:r>
            <a:endParaRPr lang="en-US" sz="1050" dirty="0"/>
          </a:p>
        </p:txBody>
      </p:sp>
      <p:sp>
        <p:nvSpPr>
          <p:cNvPr id="48" name="Text 44"/>
          <p:cNvSpPr/>
          <p:nvPr/>
        </p:nvSpPr>
        <p:spPr>
          <a:xfrm>
            <a:off x="777240" y="5605272"/>
            <a:ext cx="3088538" cy="365760"/>
          </a:xfrm>
          <a:prstGeom prst="rect">
            <a:avLst/>
          </a:prstGeom>
          <a:noFill/>
          <a:ln/>
        </p:spPr>
        <p:txBody>
          <a:bodyPr wrap="square" lIns="0" tIns="0" rIns="0" bIns="0" rtlCol="0" anchor="t"/>
          <a:lstStyle/>
          <a:p>
            <a:pPr indent="0" marL="0">
              <a:buNone/>
            </a:pPr>
            <a:r>
              <a:rPr lang="en-US" sz="900" dirty="0">
                <a:solidFill>
                  <a:srgbClr val="5B6477"/>
                </a:solidFill>
                <a:latin typeface="Calibri" pitchFamily="34" charset="0"/>
                <a:ea typeface="Calibri" pitchFamily="34" charset="-122"/>
                <a:cs typeface="Calibri" pitchFamily="34" charset="-120"/>
              </a:rPr>
              <a:t>Level 4/5 in ux-design, design-systems; free from 2026-11-02. Needed for ux-design (weight 1.0…</a:t>
            </a:r>
            <a:endParaRPr lang="en-US" sz="900" dirty="0"/>
          </a:p>
        </p:txBody>
      </p:sp>
      <p:sp>
        <p:nvSpPr>
          <p:cNvPr id="49" name="Shape 45"/>
          <p:cNvSpPr/>
          <p:nvPr/>
        </p:nvSpPr>
        <p:spPr>
          <a:xfrm>
            <a:off x="4322978" y="3886200"/>
            <a:ext cx="3545738" cy="2148840"/>
          </a:xfrm>
          <a:prstGeom prst="roundRect">
            <a:avLst>
              <a:gd name="adj" fmla="val 4255"/>
            </a:avLst>
          </a:prstGeom>
          <a:solidFill>
            <a:srgbClr val="FFFFFF"/>
          </a:solidFill>
          <a:ln w="12700">
            <a:solidFill>
              <a:srgbClr val="DDE2EE"/>
            </a:solidFill>
            <a:prstDash val="solid"/>
          </a:ln>
        </p:spPr>
      </p:sp>
      <p:sp>
        <p:nvSpPr>
          <p:cNvPr id="50" name="Shape 46"/>
          <p:cNvSpPr/>
          <p:nvPr/>
        </p:nvSpPr>
        <p:spPr>
          <a:xfrm>
            <a:off x="4551578" y="4114800"/>
            <a:ext cx="640080" cy="640080"/>
          </a:xfrm>
          <a:prstGeom prst="ellipse">
            <a:avLst/>
          </a:prstGeom>
          <a:solidFill>
            <a:srgbClr val="5B3FD0"/>
          </a:solidFill>
          <a:ln w="12700">
            <a:solidFill>
              <a:srgbClr val="5B3FD0"/>
            </a:solidFill>
            <a:prstDash val="solid"/>
          </a:ln>
        </p:spPr>
      </p:sp>
      <p:sp>
        <p:nvSpPr>
          <p:cNvPr id="51" name="Text 47"/>
          <p:cNvSpPr/>
          <p:nvPr/>
        </p:nvSpPr>
        <p:spPr>
          <a:xfrm>
            <a:off x="4551578" y="41148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IP</a:t>
            </a:r>
            <a:endParaRPr lang="en-US" sz="1800" dirty="0"/>
          </a:p>
        </p:txBody>
      </p:sp>
      <p:sp>
        <p:nvSpPr>
          <p:cNvPr id="52" name="Text 48"/>
          <p:cNvSpPr/>
          <p:nvPr/>
        </p:nvSpPr>
        <p:spPr>
          <a:xfrm>
            <a:off x="5328818" y="4114800"/>
            <a:ext cx="1716938" cy="320040"/>
          </a:xfrm>
          <a:prstGeom prst="rect">
            <a:avLst/>
          </a:prstGeom>
          <a:noFill/>
          <a:ln/>
        </p:spPr>
        <p:txBody>
          <a:bodyPr wrap="square" lIns="0" tIns="0" rIns="0" bIns="0" rtlCol="0" anchor="t"/>
          <a:lstStyle/>
          <a:p>
            <a:pPr indent="0" marL="0">
              <a:buNone/>
            </a:pPr>
            <a:r>
              <a:rPr lang="en-US" sz="1500" b="1" dirty="0">
                <a:solidFill>
                  <a:srgbClr val="111827"/>
                </a:solidFill>
                <a:latin typeface="Calibri" pitchFamily="34" charset="0"/>
                <a:ea typeface="Calibri" pitchFamily="34" charset="-122"/>
                <a:cs typeface="Calibri" pitchFamily="34" charset="-120"/>
              </a:rPr>
              <a:t>Isha Patel</a:t>
            </a:r>
            <a:endParaRPr lang="en-US" sz="1500" dirty="0"/>
          </a:p>
        </p:txBody>
      </p:sp>
      <p:sp>
        <p:nvSpPr>
          <p:cNvPr id="53" name="Text 49"/>
          <p:cNvSpPr/>
          <p:nvPr/>
        </p:nvSpPr>
        <p:spPr>
          <a:xfrm>
            <a:off x="5328818" y="4434840"/>
            <a:ext cx="1716938" cy="274320"/>
          </a:xfrm>
          <a:prstGeom prst="rect">
            <a:avLst/>
          </a:prstGeom>
          <a:noFill/>
          <a:ln/>
        </p:spPr>
        <p:txBody>
          <a:bodyPr wrap="square" lIns="0" tIns="0" rIns="0" bIns="0" rtlCol="0" anchor="t"/>
          <a:lstStyle/>
          <a:p>
            <a:pPr indent="0" marL="0">
              <a:buNone/>
            </a:pPr>
            <a:r>
              <a:rPr lang="en-US" sz="1100" dirty="0">
                <a:solidFill>
                  <a:srgbClr val="5B6477"/>
                </a:solidFill>
                <a:latin typeface="Calibri" pitchFamily="34" charset="0"/>
                <a:ea typeface="Calibri" pitchFamily="34" charset="-122"/>
                <a:cs typeface="Calibri" pitchFamily="34" charset="-120"/>
              </a:rPr>
              <a:t>QA Automation Engineer</a:t>
            </a:r>
            <a:endParaRPr lang="en-US" sz="1100" dirty="0"/>
          </a:p>
        </p:txBody>
      </p:sp>
      <p:sp>
        <p:nvSpPr>
          <p:cNvPr id="54" name="Text 50"/>
          <p:cNvSpPr/>
          <p:nvPr/>
        </p:nvSpPr>
        <p:spPr>
          <a:xfrm>
            <a:off x="7000037" y="4114800"/>
            <a:ext cx="685800" cy="365760"/>
          </a:xfrm>
          <a:prstGeom prst="rect">
            <a:avLst/>
          </a:prstGeom>
          <a:noFill/>
          <a:ln/>
        </p:spPr>
        <p:txBody>
          <a:bodyPr wrap="square" lIns="0" tIns="0" rIns="0" bIns="0" rtlCol="0" anchor="t"/>
          <a:lstStyle/>
          <a:p>
            <a:pPr algn="r" indent="0" marL="0">
              <a:buNone/>
            </a:pPr>
            <a:r>
              <a:rPr lang="en-US" sz="2000" b="1" dirty="0">
                <a:solidFill>
                  <a:srgbClr val="2D69E2"/>
                </a:solidFill>
                <a:latin typeface="Calibri" pitchFamily="34" charset="0"/>
                <a:ea typeface="Calibri" pitchFamily="34" charset="-122"/>
                <a:cs typeface="Calibri" pitchFamily="34" charset="-120"/>
              </a:rPr>
              <a:t>73%</a:t>
            </a:r>
            <a:endParaRPr lang="en-US" sz="2000" dirty="0"/>
          </a:p>
        </p:txBody>
      </p:sp>
      <p:sp>
        <p:nvSpPr>
          <p:cNvPr id="55" name="Text 51"/>
          <p:cNvSpPr/>
          <p:nvPr/>
        </p:nvSpPr>
        <p:spPr>
          <a:xfrm>
            <a:off x="7000037" y="4480560"/>
            <a:ext cx="685800" cy="228600"/>
          </a:xfrm>
          <a:prstGeom prst="rect">
            <a:avLst/>
          </a:prstGeom>
          <a:noFill/>
          <a:ln/>
        </p:spPr>
        <p:txBody>
          <a:bodyPr wrap="square" lIns="0" tIns="0" rIns="0" bIns="0" rtlCol="0" anchor="t"/>
          <a:lstStyle/>
          <a:p>
            <a:pPr algn="r" indent="0" marL="0">
              <a:buNone/>
            </a:pPr>
            <a:r>
              <a:rPr lang="en-US" sz="1000" dirty="0">
                <a:solidFill>
                  <a:srgbClr val="5B6477"/>
                </a:solidFill>
                <a:latin typeface="Calibri" pitchFamily="34" charset="0"/>
                <a:ea typeface="Calibri" pitchFamily="34" charset="-122"/>
                <a:cs typeface="Calibri" pitchFamily="34" charset="-120"/>
              </a:rPr>
              <a:t>fit</a:t>
            </a:r>
            <a:endParaRPr lang="en-US" sz="1000" dirty="0"/>
          </a:p>
        </p:txBody>
      </p:sp>
      <p:sp>
        <p:nvSpPr>
          <p:cNvPr id="56" name="Text 52"/>
          <p:cNvSpPr/>
          <p:nvPr/>
        </p:nvSpPr>
        <p:spPr>
          <a:xfrm>
            <a:off x="4551578" y="4983480"/>
            <a:ext cx="3088538" cy="320040"/>
          </a:xfrm>
          <a:prstGeom prst="rect">
            <a:avLst/>
          </a:prstGeom>
          <a:noFill/>
          <a:ln/>
        </p:spPr>
        <p:txBody>
          <a:bodyPr wrap="square" lIns="0" tIns="0" rIns="0" bIns="0" rtlCol="0" anchor="t"/>
          <a:lstStyle/>
          <a:p>
            <a:pPr indent="0" marL="0">
              <a:buNone/>
            </a:pPr>
            <a:r>
              <a:rPr lang="en-US" sz="1100" dirty="0">
                <a:solidFill>
                  <a:srgbClr val="111827"/>
                </a:solidFill>
                <a:latin typeface="Calibri" pitchFamily="34" charset="0"/>
                <a:ea typeface="Calibri" pitchFamily="34" charset="-122"/>
                <a:cs typeface="Calibri" pitchFamily="34" charset="-120"/>
              </a:rPr>
              <a:t>qa-testing · a11y</a:t>
            </a:r>
            <a:endParaRPr lang="en-US" sz="1100" dirty="0"/>
          </a:p>
        </p:txBody>
      </p:sp>
      <p:sp>
        <p:nvSpPr>
          <p:cNvPr id="57" name="Text 53"/>
          <p:cNvSpPr/>
          <p:nvPr/>
        </p:nvSpPr>
        <p:spPr>
          <a:xfrm>
            <a:off x="4551578" y="5349240"/>
            <a:ext cx="3088538" cy="274320"/>
          </a:xfrm>
          <a:prstGeom prst="rect">
            <a:avLst/>
          </a:prstGeom>
          <a:noFill/>
          <a:ln/>
        </p:spPr>
        <p:txBody>
          <a:bodyPr wrap="square" lIns="0" tIns="0" rIns="0" bIns="0" rtlCol="0" anchor="t"/>
          <a:lstStyle/>
          <a:p>
            <a:pPr indent="0" marL="0">
              <a:buNone/>
            </a:pPr>
            <a:r>
              <a:rPr lang="en-US" sz="1050" dirty="0">
                <a:solidFill>
                  <a:srgbClr val="5B6477"/>
                </a:solidFill>
                <a:latin typeface="Calibri" pitchFamily="34" charset="0"/>
                <a:ea typeface="Calibri" pitchFamily="34" charset="-122"/>
                <a:cs typeface="Calibri" pitchFamily="34" charset="-120"/>
              </a:rPr>
              <a:t>Level 4/5 · available from 2026-11-09</a:t>
            </a:r>
            <a:endParaRPr lang="en-US" sz="1050" dirty="0"/>
          </a:p>
        </p:txBody>
      </p:sp>
      <p:sp>
        <p:nvSpPr>
          <p:cNvPr id="58" name="Text 54"/>
          <p:cNvSpPr/>
          <p:nvPr/>
        </p:nvSpPr>
        <p:spPr>
          <a:xfrm>
            <a:off x="4551578" y="5605272"/>
            <a:ext cx="3088538" cy="365760"/>
          </a:xfrm>
          <a:prstGeom prst="rect">
            <a:avLst/>
          </a:prstGeom>
          <a:noFill/>
          <a:ln/>
        </p:spPr>
        <p:txBody>
          <a:bodyPr wrap="square" lIns="0" tIns="0" rIns="0" bIns="0" rtlCol="0" anchor="t"/>
          <a:lstStyle/>
          <a:p>
            <a:pPr indent="0" marL="0">
              <a:buNone/>
            </a:pPr>
            <a:r>
              <a:rPr lang="en-US" sz="900" dirty="0">
                <a:solidFill>
                  <a:srgbClr val="5B6477"/>
                </a:solidFill>
                <a:latin typeface="Calibri" pitchFamily="34" charset="0"/>
                <a:ea typeface="Calibri" pitchFamily="34" charset="-122"/>
                <a:cs typeface="Calibri" pitchFamily="34" charset="-120"/>
              </a:rPr>
              <a:t>Level 4/5 in qa-testing, a11y; free from 2026-11-09. Needed for qa-testing (weight 1.0).</a:t>
            </a:r>
            <a:endParaRPr lang="en-US" sz="900" dirty="0"/>
          </a:p>
        </p:txBody>
      </p:sp>
      <p:sp>
        <p:nvSpPr>
          <p:cNvPr id="59" name="Shape 55"/>
          <p:cNvSpPr/>
          <p:nvPr/>
        </p:nvSpPr>
        <p:spPr>
          <a:xfrm>
            <a:off x="8097317" y="3886200"/>
            <a:ext cx="3545738" cy="2148840"/>
          </a:xfrm>
          <a:prstGeom prst="roundRect">
            <a:avLst>
              <a:gd name="adj" fmla="val 4255"/>
            </a:avLst>
          </a:prstGeom>
          <a:solidFill>
            <a:srgbClr val="FFFFFF"/>
          </a:solidFill>
          <a:ln w="12700">
            <a:solidFill>
              <a:srgbClr val="DDE2EE"/>
            </a:solidFill>
            <a:prstDash val="solid"/>
          </a:ln>
        </p:spPr>
      </p:sp>
      <p:sp>
        <p:nvSpPr>
          <p:cNvPr id="60" name="Shape 56"/>
          <p:cNvSpPr/>
          <p:nvPr/>
        </p:nvSpPr>
        <p:spPr>
          <a:xfrm>
            <a:off x="8325917" y="4114800"/>
            <a:ext cx="640080" cy="640080"/>
          </a:xfrm>
          <a:prstGeom prst="ellipse">
            <a:avLst/>
          </a:prstGeom>
          <a:solidFill>
            <a:srgbClr val="2A6CF0"/>
          </a:solidFill>
          <a:ln w="12700">
            <a:solidFill>
              <a:srgbClr val="2A6CF0"/>
            </a:solidFill>
            <a:prstDash val="solid"/>
          </a:ln>
        </p:spPr>
      </p:sp>
      <p:sp>
        <p:nvSpPr>
          <p:cNvPr id="61" name="Text 57"/>
          <p:cNvSpPr/>
          <p:nvPr/>
        </p:nvSpPr>
        <p:spPr>
          <a:xfrm>
            <a:off x="8325917" y="41148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ZA</a:t>
            </a:r>
            <a:endParaRPr lang="en-US" sz="1800" dirty="0"/>
          </a:p>
        </p:txBody>
      </p:sp>
      <p:sp>
        <p:nvSpPr>
          <p:cNvPr id="62" name="Text 58"/>
          <p:cNvSpPr/>
          <p:nvPr/>
        </p:nvSpPr>
        <p:spPr>
          <a:xfrm>
            <a:off x="9103157" y="4114800"/>
            <a:ext cx="1716938" cy="320040"/>
          </a:xfrm>
          <a:prstGeom prst="rect">
            <a:avLst/>
          </a:prstGeom>
          <a:noFill/>
          <a:ln/>
        </p:spPr>
        <p:txBody>
          <a:bodyPr wrap="square" lIns="0" tIns="0" rIns="0" bIns="0" rtlCol="0" anchor="t"/>
          <a:lstStyle/>
          <a:p>
            <a:pPr indent="0" marL="0">
              <a:buNone/>
            </a:pPr>
            <a:r>
              <a:rPr lang="en-US" sz="1500" b="1" dirty="0">
                <a:solidFill>
                  <a:srgbClr val="111827"/>
                </a:solidFill>
                <a:latin typeface="Calibri" pitchFamily="34" charset="0"/>
                <a:ea typeface="Calibri" pitchFamily="34" charset="-122"/>
                <a:cs typeface="Calibri" pitchFamily="34" charset="-120"/>
              </a:rPr>
              <a:t>Zoya Ali</a:t>
            </a:r>
            <a:endParaRPr lang="en-US" sz="1500" dirty="0"/>
          </a:p>
        </p:txBody>
      </p:sp>
      <p:sp>
        <p:nvSpPr>
          <p:cNvPr id="63" name="Text 59"/>
          <p:cNvSpPr/>
          <p:nvPr/>
        </p:nvSpPr>
        <p:spPr>
          <a:xfrm>
            <a:off x="9103157" y="4434840"/>
            <a:ext cx="1716938" cy="274320"/>
          </a:xfrm>
          <a:prstGeom prst="rect">
            <a:avLst/>
          </a:prstGeom>
          <a:noFill/>
          <a:ln/>
        </p:spPr>
        <p:txBody>
          <a:bodyPr wrap="square" lIns="0" tIns="0" rIns="0" bIns="0" rtlCol="0" anchor="t"/>
          <a:lstStyle/>
          <a:p>
            <a:pPr indent="0" marL="0">
              <a:buNone/>
            </a:pPr>
            <a:r>
              <a:rPr lang="en-US" sz="1100" dirty="0">
                <a:solidFill>
                  <a:srgbClr val="5B6477"/>
                </a:solidFill>
                <a:latin typeface="Calibri" pitchFamily="34" charset="0"/>
                <a:ea typeface="Calibri" pitchFamily="34" charset="-122"/>
                <a:cs typeface="Calibri" pitchFamily="34" charset="-120"/>
              </a:rPr>
              <a:t>Accessibility Specialist</a:t>
            </a:r>
            <a:endParaRPr lang="en-US" sz="1100" dirty="0"/>
          </a:p>
        </p:txBody>
      </p:sp>
      <p:sp>
        <p:nvSpPr>
          <p:cNvPr id="64" name="Text 60"/>
          <p:cNvSpPr/>
          <p:nvPr/>
        </p:nvSpPr>
        <p:spPr>
          <a:xfrm>
            <a:off x="10774375" y="4114800"/>
            <a:ext cx="685800" cy="365760"/>
          </a:xfrm>
          <a:prstGeom prst="rect">
            <a:avLst/>
          </a:prstGeom>
          <a:noFill/>
          <a:ln/>
        </p:spPr>
        <p:txBody>
          <a:bodyPr wrap="square" lIns="0" tIns="0" rIns="0" bIns="0" rtlCol="0" anchor="t"/>
          <a:lstStyle/>
          <a:p>
            <a:pPr algn="r" indent="0" marL="0">
              <a:buNone/>
            </a:pPr>
            <a:r>
              <a:rPr lang="en-US" sz="2000" b="1" dirty="0">
                <a:solidFill>
                  <a:srgbClr val="2D69E2"/>
                </a:solidFill>
                <a:latin typeface="Calibri" pitchFamily="34" charset="0"/>
                <a:ea typeface="Calibri" pitchFamily="34" charset="-122"/>
                <a:cs typeface="Calibri" pitchFamily="34" charset="-120"/>
              </a:rPr>
              <a:t>72%</a:t>
            </a:r>
            <a:endParaRPr lang="en-US" sz="2000" dirty="0"/>
          </a:p>
        </p:txBody>
      </p:sp>
      <p:sp>
        <p:nvSpPr>
          <p:cNvPr id="65" name="Text 61"/>
          <p:cNvSpPr/>
          <p:nvPr/>
        </p:nvSpPr>
        <p:spPr>
          <a:xfrm>
            <a:off x="10774375" y="4480560"/>
            <a:ext cx="685800" cy="228600"/>
          </a:xfrm>
          <a:prstGeom prst="rect">
            <a:avLst/>
          </a:prstGeom>
          <a:noFill/>
          <a:ln/>
        </p:spPr>
        <p:txBody>
          <a:bodyPr wrap="square" lIns="0" tIns="0" rIns="0" bIns="0" rtlCol="0" anchor="t"/>
          <a:lstStyle/>
          <a:p>
            <a:pPr algn="r" indent="0" marL="0">
              <a:buNone/>
            </a:pPr>
            <a:r>
              <a:rPr lang="en-US" sz="1000" dirty="0">
                <a:solidFill>
                  <a:srgbClr val="5B6477"/>
                </a:solidFill>
                <a:latin typeface="Calibri" pitchFamily="34" charset="0"/>
                <a:ea typeface="Calibri" pitchFamily="34" charset="-122"/>
                <a:cs typeface="Calibri" pitchFamily="34" charset="-120"/>
              </a:rPr>
              <a:t>fit</a:t>
            </a:r>
            <a:endParaRPr lang="en-US" sz="1000" dirty="0"/>
          </a:p>
        </p:txBody>
      </p:sp>
      <p:sp>
        <p:nvSpPr>
          <p:cNvPr id="66" name="Text 62"/>
          <p:cNvSpPr/>
          <p:nvPr/>
        </p:nvSpPr>
        <p:spPr>
          <a:xfrm>
            <a:off x="8325917" y="4983480"/>
            <a:ext cx="3088538" cy="320040"/>
          </a:xfrm>
          <a:prstGeom prst="rect">
            <a:avLst/>
          </a:prstGeom>
          <a:noFill/>
          <a:ln/>
        </p:spPr>
        <p:txBody>
          <a:bodyPr wrap="square" lIns="0" tIns="0" rIns="0" bIns="0" rtlCol="0" anchor="t"/>
          <a:lstStyle/>
          <a:p>
            <a:pPr indent="0" marL="0">
              <a:buNone/>
            </a:pPr>
            <a:r>
              <a:rPr lang="en-US" sz="1100" dirty="0">
                <a:solidFill>
                  <a:srgbClr val="111827"/>
                </a:solidFill>
                <a:latin typeface="Calibri" pitchFamily="34" charset="0"/>
                <a:ea typeface="Calibri" pitchFamily="34" charset="-122"/>
                <a:cs typeface="Calibri" pitchFamily="34" charset="-120"/>
              </a:rPr>
              <a:t>a11y · qa-testing · responsive-ui</a:t>
            </a:r>
            <a:endParaRPr lang="en-US" sz="1100" dirty="0"/>
          </a:p>
        </p:txBody>
      </p:sp>
      <p:sp>
        <p:nvSpPr>
          <p:cNvPr id="67" name="Text 63"/>
          <p:cNvSpPr/>
          <p:nvPr/>
        </p:nvSpPr>
        <p:spPr>
          <a:xfrm>
            <a:off x="8325917" y="5349240"/>
            <a:ext cx="3088538" cy="274320"/>
          </a:xfrm>
          <a:prstGeom prst="rect">
            <a:avLst/>
          </a:prstGeom>
          <a:noFill/>
          <a:ln/>
        </p:spPr>
        <p:txBody>
          <a:bodyPr wrap="square" lIns="0" tIns="0" rIns="0" bIns="0" rtlCol="0" anchor="t"/>
          <a:lstStyle/>
          <a:p>
            <a:pPr indent="0" marL="0">
              <a:buNone/>
            </a:pPr>
            <a:r>
              <a:rPr lang="en-US" sz="1050" dirty="0">
                <a:solidFill>
                  <a:srgbClr val="5B6477"/>
                </a:solidFill>
                <a:latin typeface="Calibri" pitchFamily="34" charset="0"/>
                <a:ea typeface="Calibri" pitchFamily="34" charset="-122"/>
                <a:cs typeface="Calibri" pitchFamily="34" charset="-120"/>
              </a:rPr>
              <a:t>Level 3/5 · available from 2026-11-02</a:t>
            </a:r>
            <a:endParaRPr lang="en-US" sz="1050" dirty="0"/>
          </a:p>
        </p:txBody>
      </p:sp>
      <p:sp>
        <p:nvSpPr>
          <p:cNvPr id="68" name="Text 64"/>
          <p:cNvSpPr/>
          <p:nvPr/>
        </p:nvSpPr>
        <p:spPr>
          <a:xfrm>
            <a:off x="8325917" y="5605272"/>
            <a:ext cx="3088538" cy="365760"/>
          </a:xfrm>
          <a:prstGeom prst="rect">
            <a:avLst/>
          </a:prstGeom>
          <a:noFill/>
          <a:ln/>
        </p:spPr>
        <p:txBody>
          <a:bodyPr wrap="square" lIns="0" tIns="0" rIns="0" bIns="0" rtlCol="0" anchor="t"/>
          <a:lstStyle/>
          <a:p>
            <a:pPr indent="0" marL="0">
              <a:buNone/>
            </a:pPr>
            <a:r>
              <a:rPr lang="en-US" sz="900" dirty="0">
                <a:solidFill>
                  <a:srgbClr val="5B6477"/>
                </a:solidFill>
                <a:latin typeface="Calibri" pitchFamily="34" charset="0"/>
                <a:ea typeface="Calibri" pitchFamily="34" charset="-122"/>
                <a:cs typeface="Calibri" pitchFamily="34" charset="-120"/>
              </a:rPr>
              <a:t>Level 3/5 in a11y, qa-testing, responsive-ui; free from 2026-11-02. Needed for a11y (weight 1.…</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6FB"/>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2D69E2"/>
          </a:solidFill>
          <a:ln w="12700">
            <a:solidFill>
              <a:srgbClr val="2D69E2"/>
            </a:solidFill>
            <a:prstDash val="solid"/>
          </a:ln>
        </p:spPr>
      </p:sp>
      <p:sp>
        <p:nvSpPr>
          <p:cNvPr id="3" name="Text 1"/>
          <p:cNvSpPr/>
          <p:nvPr/>
        </p:nvSpPr>
        <p:spPr>
          <a:xfrm>
            <a:off x="548640" y="347472"/>
            <a:ext cx="8229600" cy="274320"/>
          </a:xfrm>
          <a:prstGeom prst="rect">
            <a:avLst/>
          </a:prstGeom>
          <a:noFill/>
          <a:ln/>
        </p:spPr>
        <p:txBody>
          <a:bodyPr wrap="square" lIns="0" tIns="0" rIns="0" bIns="0" rtlCol="0" anchor="t"/>
          <a:lstStyle/>
          <a:p>
            <a:pPr indent="0" marL="0">
              <a:buNone/>
            </a:pPr>
            <a:r>
              <a:rPr lang="en-US" sz="1100" b="1" spc="300" kern="0" dirty="0">
                <a:solidFill>
                  <a:srgbClr val="2D69E2"/>
                </a:solidFill>
                <a:latin typeface="Calibri" pitchFamily="34" charset="0"/>
                <a:ea typeface="Calibri" pitchFamily="34" charset="-122"/>
                <a:cs typeface="Calibri" pitchFamily="34" charset="-120"/>
              </a:rPr>
              <a:t>ESTIMATE</a:t>
            </a:r>
            <a:endParaRPr lang="en-US" sz="1100" dirty="0"/>
          </a:p>
        </p:txBody>
      </p:sp>
      <p:sp>
        <p:nvSpPr>
          <p:cNvPr id="4" name="Text 2"/>
          <p:cNvSpPr/>
          <p:nvPr/>
        </p:nvSpPr>
        <p:spPr>
          <a:xfrm>
            <a:off x="548640" y="621792"/>
            <a:ext cx="9326880" cy="731520"/>
          </a:xfrm>
          <a:prstGeom prst="rect">
            <a:avLst/>
          </a:prstGeom>
          <a:noFill/>
          <a:ln/>
        </p:spPr>
        <p:txBody>
          <a:bodyPr wrap="square" lIns="0" tIns="0" rIns="0" bIns="0" rtlCol="0" anchor="t">
            <a:normAutofit/>
          </a:bodyPr>
          <a:lstStyle/>
          <a:p>
            <a:pPr indent="0" marL="0">
              <a:buNone/>
            </a:pPr>
            <a:r>
              <a:rPr lang="en-US" sz="2800" b="1" dirty="0">
                <a:solidFill>
                  <a:srgbClr val="0B1B5E"/>
                </a:solidFill>
                <a:latin typeface="Calibri" pitchFamily="34" charset="0"/>
                <a:ea typeface="Calibri" pitchFamily="34" charset="-122"/>
                <a:cs typeface="Calibri" pitchFamily="34" charset="-120"/>
              </a:rPr>
              <a:t>The plan: effort and timeline</a:t>
            </a:r>
            <a:endParaRPr lang="en-US" sz="2800" dirty="0"/>
          </a:p>
        </p:txBody>
      </p:sp>
      <p:pic>
        <p:nvPicPr>
          <p:cNvPr id="5" name="Image 0" descr="Samsung logo">    </p:cNvPr>
          <p:cNvPicPr>
            <a:picLocks noChangeAspect="1"/>
          </p:cNvPicPr>
          <p:nvPr/>
        </p:nvPicPr>
        <p:blipFill>
          <a:blip r:embed="rId1"/>
          <a:stretch>
            <a:fillRect/>
          </a:stretch>
        </p:blipFill>
        <p:spPr>
          <a:xfrm>
            <a:off x="10454335" y="347472"/>
            <a:ext cx="1188720" cy="377258"/>
          </a:xfrm>
          <a:prstGeom prst="rect">
            <a:avLst/>
          </a:prstGeom>
        </p:spPr>
      </p:pic>
      <p:sp>
        <p:nvSpPr>
          <p:cNvPr id="6" name="Text 3"/>
          <p:cNvSpPr/>
          <p:nvPr/>
        </p:nvSpPr>
        <p:spPr>
          <a:xfrm>
            <a:off x="548640" y="6446520"/>
            <a:ext cx="7315200" cy="256032"/>
          </a:xfrm>
          <a:prstGeom prst="rect">
            <a:avLst/>
          </a:prstGeom>
          <a:noFill/>
          <a:ln/>
        </p:spPr>
        <p:txBody>
          <a:bodyPr wrap="square" lIns="0" tIns="0" rIns="0" bIns="0" rtlCol="0" anchor="t"/>
          <a:lstStyle/>
          <a:p>
            <a:pPr indent="0" marL="0">
              <a:buNone/>
            </a:pPr>
            <a:r>
              <a:rPr lang="en-US" sz="1000" dirty="0">
                <a:solidFill>
                  <a:srgbClr val="5B6477"/>
                </a:solidFill>
                <a:latin typeface="Calibri" pitchFamily="34" charset="0"/>
                <a:ea typeface="Calibri" pitchFamily="34" charset="-122"/>
                <a:cs typeface="Calibri" pitchFamily="34" charset="-120"/>
              </a:rPr>
              <a:t>Nike. Just Do It. Nike IN  ·  Prepared by Samsung SDS</a:t>
            </a:r>
            <a:endParaRPr lang="en-US" sz="1000" dirty="0"/>
          </a:p>
        </p:txBody>
      </p:sp>
      <p:sp>
        <p:nvSpPr>
          <p:cNvPr id="7" name="Text 4"/>
          <p:cNvSpPr/>
          <p:nvPr/>
        </p:nvSpPr>
        <p:spPr>
          <a:xfrm>
            <a:off x="11185855" y="6446520"/>
            <a:ext cx="457200" cy="256032"/>
          </a:xfrm>
          <a:prstGeom prst="rect">
            <a:avLst/>
          </a:prstGeom>
          <a:noFill/>
          <a:ln/>
        </p:spPr>
        <p:txBody>
          <a:bodyPr wrap="square" lIns="0" tIns="0" rIns="0" bIns="0" rtlCol="0" anchor="t"/>
          <a:lstStyle/>
          <a:p>
            <a:pPr algn="r" indent="0" marL="0">
              <a:buNone/>
            </a:pPr>
            <a:r>
              <a:rPr lang="en-US" sz="1000" dirty="0">
                <a:solidFill>
                  <a:srgbClr val="5B6477"/>
                </a:solidFill>
                <a:latin typeface="Calibri" pitchFamily="34" charset="0"/>
                <a:ea typeface="Calibri" pitchFamily="34" charset="-122"/>
                <a:cs typeface="Calibri" pitchFamily="34" charset="-120"/>
              </a:rPr>
              <a:t>13</a:t>
            </a:r>
            <a:endParaRPr lang="en-US" sz="1000" dirty="0"/>
          </a:p>
        </p:txBody>
      </p:sp>
      <p:sp>
        <p:nvSpPr>
          <p:cNvPr id="9" name="Text 5"/>
          <p:cNvSpPr/>
          <p:nvPr/>
        </p:nvSpPr>
        <p:spPr>
          <a:xfrm>
            <a:off x="548640" y="1463040"/>
            <a:ext cx="5486400" cy="274320"/>
          </a:xfrm>
          <a:prstGeom prst="rect">
            <a:avLst/>
          </a:prstGeom>
          <a:noFill/>
          <a:ln/>
        </p:spPr>
        <p:txBody>
          <a:bodyPr wrap="square" lIns="0" tIns="0" rIns="0" bIns="0" rtlCol="0" anchor="t"/>
          <a:lstStyle/>
          <a:p>
            <a:pPr indent="0" marL="0">
              <a:buNone/>
            </a:pPr>
            <a:r>
              <a:rPr lang="en-US" sz="1000" b="1" spc="200" kern="0" dirty="0">
                <a:solidFill>
                  <a:srgbClr val="5B6477"/>
                </a:solidFill>
                <a:latin typeface="Calibri" pitchFamily="34" charset="0"/>
                <a:ea typeface="Calibri" pitchFamily="34" charset="-122"/>
                <a:cs typeface="Calibri" pitchFamily="34" charset="-120"/>
              </a:rPr>
              <a:t>EFFORT BY WORKSTREAM (PERSON-DAYS)</a:t>
            </a:r>
            <a:endParaRPr lang="en-US" sz="1000" dirty="0"/>
          </a:p>
        </p:txBody>
      </p:sp>
      <p:sp>
        <p:nvSpPr>
          <p:cNvPr id="10" name="Shape 6"/>
          <p:cNvSpPr/>
          <p:nvPr/>
        </p:nvSpPr>
        <p:spPr>
          <a:xfrm>
            <a:off x="548640" y="1783080"/>
            <a:ext cx="1471813" cy="365760"/>
          </a:xfrm>
          <a:prstGeom prst="rect">
            <a:avLst/>
          </a:prstGeom>
          <a:solidFill>
            <a:srgbClr val="2D69E2"/>
          </a:solidFill>
          <a:ln w="12700">
            <a:solidFill>
              <a:srgbClr val="2D69E2"/>
            </a:solidFill>
            <a:prstDash val="solid"/>
          </a:ln>
        </p:spPr>
      </p:sp>
      <p:sp>
        <p:nvSpPr>
          <p:cNvPr id="11" name="Shape 7"/>
          <p:cNvSpPr/>
          <p:nvPr/>
        </p:nvSpPr>
        <p:spPr>
          <a:xfrm>
            <a:off x="2047885" y="1783080"/>
            <a:ext cx="2471310" cy="365760"/>
          </a:xfrm>
          <a:prstGeom prst="rect">
            <a:avLst/>
          </a:prstGeom>
          <a:solidFill>
            <a:srgbClr val="2A6CF0"/>
          </a:solidFill>
          <a:ln w="12700">
            <a:solidFill>
              <a:srgbClr val="2A6CF0"/>
            </a:solidFill>
            <a:prstDash val="solid"/>
          </a:ln>
        </p:spPr>
      </p:sp>
      <p:sp>
        <p:nvSpPr>
          <p:cNvPr id="12" name="Shape 8"/>
          <p:cNvSpPr/>
          <p:nvPr/>
        </p:nvSpPr>
        <p:spPr>
          <a:xfrm>
            <a:off x="4546627" y="1783080"/>
            <a:ext cx="672216" cy="365760"/>
          </a:xfrm>
          <a:prstGeom prst="rect">
            <a:avLst/>
          </a:prstGeom>
          <a:solidFill>
            <a:srgbClr val="0F8B8D"/>
          </a:solidFill>
          <a:ln w="12700">
            <a:solidFill>
              <a:srgbClr val="0F8B8D"/>
            </a:solidFill>
            <a:prstDash val="solid"/>
          </a:ln>
        </p:spPr>
      </p:sp>
      <p:sp>
        <p:nvSpPr>
          <p:cNvPr id="13" name="Shape 9"/>
          <p:cNvSpPr/>
          <p:nvPr/>
        </p:nvSpPr>
        <p:spPr>
          <a:xfrm>
            <a:off x="5246275" y="1783080"/>
            <a:ext cx="2471310" cy="365760"/>
          </a:xfrm>
          <a:prstGeom prst="rect">
            <a:avLst/>
          </a:prstGeom>
          <a:solidFill>
            <a:srgbClr val="5B3FD0"/>
          </a:solidFill>
          <a:ln w="12700">
            <a:solidFill>
              <a:srgbClr val="5B3FD0"/>
            </a:solidFill>
            <a:prstDash val="solid"/>
          </a:ln>
        </p:spPr>
      </p:sp>
      <p:sp>
        <p:nvSpPr>
          <p:cNvPr id="14" name="Shape 10"/>
          <p:cNvSpPr/>
          <p:nvPr/>
        </p:nvSpPr>
        <p:spPr>
          <a:xfrm>
            <a:off x="7745017" y="1783080"/>
            <a:ext cx="1171964" cy="365760"/>
          </a:xfrm>
          <a:prstGeom prst="rect">
            <a:avLst/>
          </a:prstGeom>
          <a:solidFill>
            <a:srgbClr val="D99A1B"/>
          </a:solidFill>
          <a:ln w="12700">
            <a:solidFill>
              <a:srgbClr val="D99A1B"/>
            </a:solidFill>
            <a:prstDash val="solid"/>
          </a:ln>
        </p:spPr>
      </p:sp>
      <p:sp>
        <p:nvSpPr>
          <p:cNvPr id="15" name="Shape 11"/>
          <p:cNvSpPr/>
          <p:nvPr/>
        </p:nvSpPr>
        <p:spPr>
          <a:xfrm>
            <a:off x="8944414" y="1783080"/>
            <a:ext cx="372367" cy="365760"/>
          </a:xfrm>
          <a:prstGeom prst="rect">
            <a:avLst/>
          </a:prstGeom>
          <a:solidFill>
            <a:srgbClr val="E0457B"/>
          </a:solidFill>
          <a:ln w="12700">
            <a:solidFill>
              <a:srgbClr val="E0457B"/>
            </a:solidFill>
            <a:prstDash val="solid"/>
          </a:ln>
        </p:spPr>
      </p:sp>
      <p:sp>
        <p:nvSpPr>
          <p:cNvPr id="16" name="Shape 12"/>
          <p:cNvSpPr/>
          <p:nvPr/>
        </p:nvSpPr>
        <p:spPr>
          <a:xfrm>
            <a:off x="9344212" y="1783080"/>
            <a:ext cx="1371864" cy="365760"/>
          </a:xfrm>
          <a:prstGeom prst="rect">
            <a:avLst/>
          </a:prstGeom>
          <a:solidFill>
            <a:srgbClr val="8892B0"/>
          </a:solidFill>
          <a:ln w="12700">
            <a:solidFill>
              <a:srgbClr val="8892B0"/>
            </a:solidFill>
            <a:prstDash val="solid"/>
          </a:ln>
        </p:spPr>
      </p:sp>
      <p:sp>
        <p:nvSpPr>
          <p:cNvPr id="17" name="Shape 13"/>
          <p:cNvSpPr/>
          <p:nvPr/>
        </p:nvSpPr>
        <p:spPr>
          <a:xfrm>
            <a:off x="10743508" y="1783080"/>
            <a:ext cx="872115" cy="365760"/>
          </a:xfrm>
          <a:prstGeom prst="rect">
            <a:avLst/>
          </a:prstGeom>
          <a:solidFill>
            <a:srgbClr val="2D69E2"/>
          </a:solidFill>
          <a:ln w="12700">
            <a:solidFill>
              <a:srgbClr val="2D69E2"/>
            </a:solidFill>
            <a:prstDash val="solid"/>
          </a:ln>
        </p:spPr>
      </p:sp>
      <p:sp>
        <p:nvSpPr>
          <p:cNvPr id="18" name="Shape 14"/>
          <p:cNvSpPr/>
          <p:nvPr/>
        </p:nvSpPr>
        <p:spPr>
          <a:xfrm>
            <a:off x="548640" y="2350008"/>
            <a:ext cx="128016" cy="128016"/>
          </a:xfrm>
          <a:prstGeom prst="rect">
            <a:avLst/>
          </a:prstGeom>
          <a:solidFill>
            <a:srgbClr val="2D69E2"/>
          </a:solidFill>
          <a:ln w="12700">
            <a:solidFill>
              <a:srgbClr val="2D69E2"/>
            </a:solidFill>
            <a:prstDash val="solid"/>
          </a:ln>
        </p:spPr>
      </p:sp>
      <p:sp>
        <p:nvSpPr>
          <p:cNvPr id="19" name="Text 15"/>
          <p:cNvSpPr/>
          <p:nvPr/>
        </p:nvSpPr>
        <p:spPr>
          <a:xfrm>
            <a:off x="777240" y="2286000"/>
            <a:ext cx="5212080" cy="274320"/>
          </a:xfrm>
          <a:prstGeom prst="rect">
            <a:avLst/>
          </a:prstGeom>
          <a:noFill/>
          <a:ln/>
        </p:spPr>
        <p:txBody>
          <a:bodyPr wrap="square" lIns="0" tIns="0" rIns="0" bIns="0" rtlCol="0" anchor="t"/>
          <a:lstStyle/>
          <a:p>
            <a:pPr indent="0" marL="0">
              <a:buNone/>
            </a:pPr>
            <a:r>
              <a:rPr lang="en-US" sz="1050" dirty="0">
                <a:solidFill>
                  <a:srgbClr val="111827"/>
                </a:solidFill>
                <a:latin typeface="Calibri" pitchFamily="34" charset="0"/>
                <a:ea typeface="Calibri" pitchFamily="34" charset="-122"/>
                <a:cs typeface="Calibri" pitchFamily="34" charset="-120"/>
              </a:rPr>
              <a:t>Homepage rebuild (design + front end)  ·  15 d (14%)</a:t>
            </a:r>
            <a:endParaRPr lang="en-US" sz="1050" dirty="0"/>
          </a:p>
        </p:txBody>
      </p:sp>
      <p:sp>
        <p:nvSpPr>
          <p:cNvPr id="20" name="Shape 16"/>
          <p:cNvSpPr/>
          <p:nvPr/>
        </p:nvSpPr>
        <p:spPr>
          <a:xfrm>
            <a:off x="6126480" y="2350008"/>
            <a:ext cx="128016" cy="128016"/>
          </a:xfrm>
          <a:prstGeom prst="rect">
            <a:avLst/>
          </a:prstGeom>
          <a:solidFill>
            <a:srgbClr val="2A6CF0"/>
          </a:solidFill>
          <a:ln w="12700">
            <a:solidFill>
              <a:srgbClr val="2A6CF0"/>
            </a:solidFill>
            <a:prstDash val="solid"/>
          </a:ln>
        </p:spPr>
      </p:sp>
      <p:sp>
        <p:nvSpPr>
          <p:cNvPr id="21" name="Text 17"/>
          <p:cNvSpPr/>
          <p:nvPr/>
        </p:nvSpPr>
        <p:spPr>
          <a:xfrm>
            <a:off x="6355080" y="2286000"/>
            <a:ext cx="5212080" cy="274320"/>
          </a:xfrm>
          <a:prstGeom prst="rect">
            <a:avLst/>
          </a:prstGeom>
          <a:noFill/>
          <a:ln/>
        </p:spPr>
        <p:txBody>
          <a:bodyPr wrap="square" lIns="0" tIns="0" rIns="0" bIns="0" rtlCol="0" anchor="t"/>
          <a:lstStyle/>
          <a:p>
            <a:pPr indent="0" marL="0">
              <a:buNone/>
            </a:pPr>
            <a:r>
              <a:rPr lang="en-US" sz="1050" dirty="0">
                <a:solidFill>
                  <a:srgbClr val="111827"/>
                </a:solidFill>
                <a:latin typeface="Calibri" pitchFamily="34" charset="0"/>
                <a:ea typeface="Calibri" pitchFamily="34" charset="-122"/>
                <a:cs typeface="Calibri" pitchFamily="34" charset="-120"/>
              </a:rPr>
              <a:t>Performance engineering  ·  25 d (23%)</a:t>
            </a:r>
            <a:endParaRPr lang="en-US" sz="1050" dirty="0"/>
          </a:p>
        </p:txBody>
      </p:sp>
      <p:sp>
        <p:nvSpPr>
          <p:cNvPr id="22" name="Shape 18"/>
          <p:cNvSpPr/>
          <p:nvPr/>
        </p:nvSpPr>
        <p:spPr>
          <a:xfrm>
            <a:off x="548640" y="2624328"/>
            <a:ext cx="128016" cy="128016"/>
          </a:xfrm>
          <a:prstGeom prst="rect">
            <a:avLst/>
          </a:prstGeom>
          <a:solidFill>
            <a:srgbClr val="0F8B8D"/>
          </a:solidFill>
          <a:ln w="12700">
            <a:solidFill>
              <a:srgbClr val="0F8B8D"/>
            </a:solidFill>
            <a:prstDash val="solid"/>
          </a:ln>
        </p:spPr>
      </p:sp>
      <p:sp>
        <p:nvSpPr>
          <p:cNvPr id="23" name="Text 19"/>
          <p:cNvSpPr/>
          <p:nvPr/>
        </p:nvSpPr>
        <p:spPr>
          <a:xfrm>
            <a:off x="777240" y="2560320"/>
            <a:ext cx="5212080" cy="274320"/>
          </a:xfrm>
          <a:prstGeom prst="rect">
            <a:avLst/>
          </a:prstGeom>
          <a:noFill/>
          <a:ln/>
        </p:spPr>
        <p:txBody>
          <a:bodyPr wrap="square" lIns="0" tIns="0" rIns="0" bIns="0" rtlCol="0" anchor="t"/>
          <a:lstStyle/>
          <a:p>
            <a:pPr indent="0" marL="0">
              <a:buNone/>
            </a:pPr>
            <a:r>
              <a:rPr lang="en-US" sz="1050" dirty="0">
                <a:solidFill>
                  <a:srgbClr val="111827"/>
                </a:solidFill>
                <a:latin typeface="Calibri" pitchFamily="34" charset="0"/>
                <a:ea typeface="Calibri" pitchFamily="34" charset="-122"/>
                <a:cs typeface="Calibri" pitchFamily="34" charset="-120"/>
              </a:rPr>
              <a:t>Responsive &amp; mobile fixes  ·  7 d (6%)</a:t>
            </a:r>
            <a:endParaRPr lang="en-US" sz="1050" dirty="0"/>
          </a:p>
        </p:txBody>
      </p:sp>
      <p:sp>
        <p:nvSpPr>
          <p:cNvPr id="24" name="Shape 20"/>
          <p:cNvSpPr/>
          <p:nvPr/>
        </p:nvSpPr>
        <p:spPr>
          <a:xfrm>
            <a:off x="6126480" y="2624328"/>
            <a:ext cx="128016" cy="128016"/>
          </a:xfrm>
          <a:prstGeom prst="rect">
            <a:avLst/>
          </a:prstGeom>
          <a:solidFill>
            <a:srgbClr val="5B3FD0"/>
          </a:solidFill>
          <a:ln w="12700">
            <a:solidFill>
              <a:srgbClr val="5B3FD0"/>
            </a:solidFill>
            <a:prstDash val="solid"/>
          </a:ln>
        </p:spPr>
      </p:sp>
      <p:sp>
        <p:nvSpPr>
          <p:cNvPr id="25" name="Text 21"/>
          <p:cNvSpPr/>
          <p:nvPr/>
        </p:nvSpPr>
        <p:spPr>
          <a:xfrm>
            <a:off x="6355080" y="2560320"/>
            <a:ext cx="5212080" cy="274320"/>
          </a:xfrm>
          <a:prstGeom prst="rect">
            <a:avLst/>
          </a:prstGeom>
          <a:noFill/>
          <a:ln/>
        </p:spPr>
        <p:txBody>
          <a:bodyPr wrap="square" lIns="0" tIns="0" rIns="0" bIns="0" rtlCol="0" anchor="t"/>
          <a:lstStyle/>
          <a:p>
            <a:pPr indent="0" marL="0">
              <a:buNone/>
            </a:pPr>
            <a:r>
              <a:rPr lang="en-US" sz="1050" dirty="0">
                <a:solidFill>
                  <a:srgbClr val="111827"/>
                </a:solidFill>
                <a:latin typeface="Calibri" pitchFamily="34" charset="0"/>
                <a:ea typeface="Calibri" pitchFamily="34" charset="-122"/>
                <a:cs typeface="Calibri" pitchFamily="34" charset="-120"/>
              </a:rPr>
              <a:t>Accessibility remediation  ·  25 d (23%)</a:t>
            </a:r>
            <a:endParaRPr lang="en-US" sz="1050" dirty="0"/>
          </a:p>
        </p:txBody>
      </p:sp>
      <p:sp>
        <p:nvSpPr>
          <p:cNvPr id="26" name="Shape 22"/>
          <p:cNvSpPr/>
          <p:nvPr/>
        </p:nvSpPr>
        <p:spPr>
          <a:xfrm>
            <a:off x="548640" y="2898648"/>
            <a:ext cx="128016" cy="128016"/>
          </a:xfrm>
          <a:prstGeom prst="rect">
            <a:avLst/>
          </a:prstGeom>
          <a:solidFill>
            <a:srgbClr val="D99A1B"/>
          </a:solidFill>
          <a:ln w="12700">
            <a:solidFill>
              <a:srgbClr val="D99A1B"/>
            </a:solidFill>
            <a:prstDash val="solid"/>
          </a:ln>
        </p:spPr>
      </p:sp>
      <p:sp>
        <p:nvSpPr>
          <p:cNvPr id="27" name="Text 23"/>
          <p:cNvSpPr/>
          <p:nvPr/>
        </p:nvSpPr>
        <p:spPr>
          <a:xfrm>
            <a:off x="777240" y="2834640"/>
            <a:ext cx="5212080" cy="274320"/>
          </a:xfrm>
          <a:prstGeom prst="rect">
            <a:avLst/>
          </a:prstGeom>
          <a:noFill/>
          <a:ln/>
        </p:spPr>
        <p:txBody>
          <a:bodyPr wrap="square" lIns="0" tIns="0" rIns="0" bIns="0" rtlCol="0" anchor="t"/>
          <a:lstStyle/>
          <a:p>
            <a:pPr indent="0" marL="0">
              <a:buNone/>
            </a:pPr>
            <a:r>
              <a:rPr lang="en-US" sz="1050" dirty="0">
                <a:solidFill>
                  <a:srgbClr val="111827"/>
                </a:solidFill>
                <a:latin typeface="Calibri" pitchFamily="34" charset="0"/>
                <a:ea typeface="Calibri" pitchFamily="34" charset="-122"/>
                <a:cs typeface="Calibri" pitchFamily="34" charset="-120"/>
              </a:rPr>
              <a:t>UX &amp; conversion redesign  ·  12 d (11%)</a:t>
            </a:r>
            <a:endParaRPr lang="en-US" sz="1050" dirty="0"/>
          </a:p>
        </p:txBody>
      </p:sp>
      <p:sp>
        <p:nvSpPr>
          <p:cNvPr id="28" name="Shape 24"/>
          <p:cNvSpPr/>
          <p:nvPr/>
        </p:nvSpPr>
        <p:spPr>
          <a:xfrm>
            <a:off x="6126480" y="2898648"/>
            <a:ext cx="128016" cy="128016"/>
          </a:xfrm>
          <a:prstGeom prst="rect">
            <a:avLst/>
          </a:prstGeom>
          <a:solidFill>
            <a:srgbClr val="E0457B"/>
          </a:solidFill>
          <a:ln w="12700">
            <a:solidFill>
              <a:srgbClr val="E0457B"/>
            </a:solidFill>
            <a:prstDash val="solid"/>
          </a:ln>
        </p:spPr>
      </p:sp>
      <p:sp>
        <p:nvSpPr>
          <p:cNvPr id="29" name="Text 25"/>
          <p:cNvSpPr/>
          <p:nvPr/>
        </p:nvSpPr>
        <p:spPr>
          <a:xfrm>
            <a:off x="6355080" y="2834640"/>
            <a:ext cx="5212080" cy="274320"/>
          </a:xfrm>
          <a:prstGeom prst="rect">
            <a:avLst/>
          </a:prstGeom>
          <a:noFill/>
          <a:ln/>
        </p:spPr>
        <p:txBody>
          <a:bodyPr wrap="square" lIns="0" tIns="0" rIns="0" bIns="0" rtlCol="0" anchor="t"/>
          <a:lstStyle/>
          <a:p>
            <a:pPr indent="0" marL="0">
              <a:buNone/>
            </a:pPr>
            <a:r>
              <a:rPr lang="en-US" sz="1050" dirty="0">
                <a:solidFill>
                  <a:srgbClr val="111827"/>
                </a:solidFill>
                <a:latin typeface="Calibri" pitchFamily="34" charset="0"/>
                <a:ea typeface="Calibri" pitchFamily="34" charset="-122"/>
                <a:cs typeface="Calibri" pitchFamily="34" charset="-120"/>
              </a:rPr>
              <a:t>Structured data &amp; AI-search  ·  4 d (4%)</a:t>
            </a:r>
            <a:endParaRPr lang="en-US" sz="1050" dirty="0"/>
          </a:p>
        </p:txBody>
      </p:sp>
      <p:sp>
        <p:nvSpPr>
          <p:cNvPr id="30" name="Shape 26"/>
          <p:cNvSpPr/>
          <p:nvPr/>
        </p:nvSpPr>
        <p:spPr>
          <a:xfrm>
            <a:off x="548640" y="3172968"/>
            <a:ext cx="128016" cy="128016"/>
          </a:xfrm>
          <a:prstGeom prst="rect">
            <a:avLst/>
          </a:prstGeom>
          <a:solidFill>
            <a:srgbClr val="8892B0"/>
          </a:solidFill>
          <a:ln w="12700">
            <a:solidFill>
              <a:srgbClr val="8892B0"/>
            </a:solidFill>
            <a:prstDash val="solid"/>
          </a:ln>
        </p:spPr>
      </p:sp>
      <p:sp>
        <p:nvSpPr>
          <p:cNvPr id="31" name="Text 27"/>
          <p:cNvSpPr/>
          <p:nvPr/>
        </p:nvSpPr>
        <p:spPr>
          <a:xfrm>
            <a:off x="777240" y="3108960"/>
            <a:ext cx="5212080" cy="274320"/>
          </a:xfrm>
          <a:prstGeom prst="rect">
            <a:avLst/>
          </a:prstGeom>
          <a:noFill/>
          <a:ln/>
        </p:spPr>
        <p:txBody>
          <a:bodyPr wrap="square" lIns="0" tIns="0" rIns="0" bIns="0" rtlCol="0" anchor="t"/>
          <a:lstStyle/>
          <a:p>
            <a:pPr indent="0" marL="0">
              <a:buNone/>
            </a:pPr>
            <a:r>
              <a:rPr lang="en-US" sz="1050" dirty="0">
                <a:solidFill>
                  <a:srgbClr val="111827"/>
                </a:solidFill>
                <a:latin typeface="Calibri" pitchFamily="34" charset="0"/>
                <a:ea typeface="Calibri" pitchFamily="34" charset="-122"/>
                <a:cs typeface="Calibri" pitchFamily="34" charset="-120"/>
              </a:rPr>
              <a:t>QA &amp; launch  ·  14 d (13%)</a:t>
            </a:r>
            <a:endParaRPr lang="en-US" sz="1050" dirty="0"/>
          </a:p>
        </p:txBody>
      </p:sp>
      <p:sp>
        <p:nvSpPr>
          <p:cNvPr id="32" name="Shape 28"/>
          <p:cNvSpPr/>
          <p:nvPr/>
        </p:nvSpPr>
        <p:spPr>
          <a:xfrm>
            <a:off x="6126480" y="3172968"/>
            <a:ext cx="128016" cy="128016"/>
          </a:xfrm>
          <a:prstGeom prst="rect">
            <a:avLst/>
          </a:prstGeom>
          <a:solidFill>
            <a:srgbClr val="2D69E2"/>
          </a:solidFill>
          <a:ln w="12700">
            <a:solidFill>
              <a:srgbClr val="2D69E2"/>
            </a:solidFill>
            <a:prstDash val="solid"/>
          </a:ln>
        </p:spPr>
      </p:sp>
      <p:sp>
        <p:nvSpPr>
          <p:cNvPr id="33" name="Text 29"/>
          <p:cNvSpPr/>
          <p:nvPr/>
        </p:nvSpPr>
        <p:spPr>
          <a:xfrm>
            <a:off x="6355080" y="3108960"/>
            <a:ext cx="5212080" cy="274320"/>
          </a:xfrm>
          <a:prstGeom prst="rect">
            <a:avLst/>
          </a:prstGeom>
          <a:noFill/>
          <a:ln/>
        </p:spPr>
        <p:txBody>
          <a:bodyPr wrap="square" lIns="0" tIns="0" rIns="0" bIns="0" rtlCol="0" anchor="t"/>
          <a:lstStyle/>
          <a:p>
            <a:pPr indent="0" marL="0">
              <a:buNone/>
            </a:pPr>
            <a:r>
              <a:rPr lang="en-US" sz="1050" dirty="0">
                <a:solidFill>
                  <a:srgbClr val="111827"/>
                </a:solidFill>
                <a:latin typeface="Calibri" pitchFamily="34" charset="0"/>
                <a:ea typeface="Calibri" pitchFamily="34" charset="-122"/>
                <a:cs typeface="Calibri" pitchFamily="34" charset="-120"/>
              </a:rPr>
              <a:t>Delivery management  ·  9 d (8%)</a:t>
            </a:r>
            <a:endParaRPr lang="en-US" sz="1050" dirty="0"/>
          </a:p>
        </p:txBody>
      </p:sp>
      <p:sp>
        <p:nvSpPr>
          <p:cNvPr id="34" name="Text 30"/>
          <p:cNvSpPr/>
          <p:nvPr/>
        </p:nvSpPr>
        <p:spPr>
          <a:xfrm>
            <a:off x="548640" y="3383280"/>
            <a:ext cx="4572000" cy="274320"/>
          </a:xfrm>
          <a:prstGeom prst="rect">
            <a:avLst/>
          </a:prstGeom>
          <a:noFill/>
          <a:ln/>
        </p:spPr>
        <p:txBody>
          <a:bodyPr wrap="square" lIns="0" tIns="0" rIns="0" bIns="0" rtlCol="0" anchor="t"/>
          <a:lstStyle/>
          <a:p>
            <a:pPr indent="0" marL="0">
              <a:buNone/>
            </a:pPr>
            <a:r>
              <a:rPr lang="en-US" sz="1000" b="1" spc="200" kern="0" dirty="0">
                <a:solidFill>
                  <a:srgbClr val="5B6477"/>
                </a:solidFill>
                <a:latin typeface="Calibri" pitchFamily="34" charset="0"/>
                <a:ea typeface="Calibri" pitchFamily="34" charset="-122"/>
                <a:cs typeface="Calibri" pitchFamily="34" charset="-120"/>
              </a:rPr>
              <a:t>INDICATIVE TIMELINE</a:t>
            </a:r>
            <a:endParaRPr lang="en-US" sz="1000" dirty="0"/>
          </a:p>
        </p:txBody>
      </p:sp>
      <p:sp>
        <p:nvSpPr>
          <p:cNvPr id="35" name="Text 31"/>
          <p:cNvSpPr/>
          <p:nvPr/>
        </p:nvSpPr>
        <p:spPr>
          <a:xfrm>
            <a:off x="3657600" y="3703320"/>
            <a:ext cx="1996364" cy="228600"/>
          </a:xfrm>
          <a:prstGeom prst="rect">
            <a:avLst/>
          </a:prstGeom>
          <a:noFill/>
          <a:ln/>
        </p:spPr>
        <p:txBody>
          <a:bodyPr wrap="square" lIns="0" tIns="0" rIns="0" bIns="0" rtlCol="0" anchor="t"/>
          <a:lstStyle/>
          <a:p>
            <a:pPr algn="ctr" indent="0" marL="0">
              <a:buNone/>
            </a:pPr>
            <a:r>
              <a:rPr lang="en-US" sz="900" dirty="0">
                <a:solidFill>
                  <a:srgbClr val="5B6477"/>
                </a:solidFill>
                <a:latin typeface="Calibri" pitchFamily="34" charset="0"/>
                <a:ea typeface="Calibri" pitchFamily="34" charset="-122"/>
                <a:cs typeface="Calibri" pitchFamily="34" charset="-120"/>
              </a:rPr>
              <a:t>Week 1</a:t>
            </a:r>
            <a:endParaRPr lang="en-US" sz="900" dirty="0"/>
          </a:p>
        </p:txBody>
      </p:sp>
      <p:sp>
        <p:nvSpPr>
          <p:cNvPr id="36" name="Text 32"/>
          <p:cNvSpPr/>
          <p:nvPr/>
        </p:nvSpPr>
        <p:spPr>
          <a:xfrm>
            <a:off x="5653964" y="3703320"/>
            <a:ext cx="1996364" cy="228600"/>
          </a:xfrm>
          <a:prstGeom prst="rect">
            <a:avLst/>
          </a:prstGeom>
          <a:noFill/>
          <a:ln/>
        </p:spPr>
        <p:txBody>
          <a:bodyPr wrap="square" lIns="0" tIns="0" rIns="0" bIns="0" rtlCol="0" anchor="t"/>
          <a:lstStyle/>
          <a:p>
            <a:pPr algn="ctr" indent="0" marL="0">
              <a:buNone/>
            </a:pPr>
            <a:r>
              <a:rPr lang="en-US" sz="900" dirty="0">
                <a:solidFill>
                  <a:srgbClr val="5B6477"/>
                </a:solidFill>
                <a:latin typeface="Calibri" pitchFamily="34" charset="0"/>
                <a:ea typeface="Calibri" pitchFamily="34" charset="-122"/>
                <a:cs typeface="Calibri" pitchFamily="34" charset="-120"/>
              </a:rPr>
              <a:t>Week 2</a:t>
            </a:r>
            <a:endParaRPr lang="en-US" sz="900" dirty="0"/>
          </a:p>
        </p:txBody>
      </p:sp>
      <p:sp>
        <p:nvSpPr>
          <p:cNvPr id="37" name="Text 33"/>
          <p:cNvSpPr/>
          <p:nvPr/>
        </p:nvSpPr>
        <p:spPr>
          <a:xfrm>
            <a:off x="7650328" y="3703320"/>
            <a:ext cx="1996364" cy="228600"/>
          </a:xfrm>
          <a:prstGeom prst="rect">
            <a:avLst/>
          </a:prstGeom>
          <a:noFill/>
          <a:ln/>
        </p:spPr>
        <p:txBody>
          <a:bodyPr wrap="square" lIns="0" tIns="0" rIns="0" bIns="0" rtlCol="0" anchor="t"/>
          <a:lstStyle/>
          <a:p>
            <a:pPr algn="ctr" indent="0" marL="0">
              <a:buNone/>
            </a:pPr>
            <a:r>
              <a:rPr lang="en-US" sz="900" dirty="0">
                <a:solidFill>
                  <a:srgbClr val="5B6477"/>
                </a:solidFill>
                <a:latin typeface="Calibri" pitchFamily="34" charset="0"/>
                <a:ea typeface="Calibri" pitchFamily="34" charset="-122"/>
                <a:cs typeface="Calibri" pitchFamily="34" charset="-120"/>
              </a:rPr>
              <a:t>Week 3</a:t>
            </a:r>
            <a:endParaRPr lang="en-US" sz="900" dirty="0"/>
          </a:p>
        </p:txBody>
      </p:sp>
      <p:sp>
        <p:nvSpPr>
          <p:cNvPr id="38" name="Text 34"/>
          <p:cNvSpPr/>
          <p:nvPr/>
        </p:nvSpPr>
        <p:spPr>
          <a:xfrm>
            <a:off x="9646691" y="3703320"/>
            <a:ext cx="1996364" cy="228600"/>
          </a:xfrm>
          <a:prstGeom prst="rect">
            <a:avLst/>
          </a:prstGeom>
          <a:noFill/>
          <a:ln/>
        </p:spPr>
        <p:txBody>
          <a:bodyPr wrap="square" lIns="0" tIns="0" rIns="0" bIns="0" rtlCol="0" anchor="t"/>
          <a:lstStyle/>
          <a:p>
            <a:pPr algn="ctr" indent="0" marL="0">
              <a:buNone/>
            </a:pPr>
            <a:r>
              <a:rPr lang="en-US" sz="900" dirty="0">
                <a:solidFill>
                  <a:srgbClr val="5B6477"/>
                </a:solidFill>
                <a:latin typeface="Calibri" pitchFamily="34" charset="0"/>
                <a:ea typeface="Calibri" pitchFamily="34" charset="-122"/>
                <a:cs typeface="Calibri" pitchFamily="34" charset="-120"/>
              </a:rPr>
              <a:t>Week 4</a:t>
            </a:r>
            <a:endParaRPr lang="en-US" sz="900" dirty="0"/>
          </a:p>
        </p:txBody>
      </p:sp>
      <p:sp>
        <p:nvSpPr>
          <p:cNvPr id="39" name="Text 35"/>
          <p:cNvSpPr/>
          <p:nvPr/>
        </p:nvSpPr>
        <p:spPr>
          <a:xfrm>
            <a:off x="548640" y="3977640"/>
            <a:ext cx="3017520" cy="274320"/>
          </a:xfrm>
          <a:prstGeom prst="rect">
            <a:avLst/>
          </a:prstGeom>
          <a:noFill/>
          <a:ln/>
        </p:spPr>
        <p:txBody>
          <a:bodyPr wrap="square" lIns="0" tIns="0" rIns="0" bIns="0" rtlCol="0" anchor="ctr"/>
          <a:lstStyle/>
          <a:p>
            <a:pPr indent="0" marL="0">
              <a:buNone/>
            </a:pPr>
            <a:r>
              <a:rPr lang="en-US" sz="1000" dirty="0">
                <a:solidFill>
                  <a:srgbClr val="111827"/>
                </a:solidFill>
                <a:latin typeface="Calibri" pitchFamily="34" charset="0"/>
                <a:ea typeface="Calibri" pitchFamily="34" charset="-122"/>
                <a:cs typeface="Calibri" pitchFamily="34" charset="-120"/>
              </a:rPr>
              <a:t>Homepage rebuild (design + front end)</a:t>
            </a:r>
            <a:endParaRPr lang="en-US" sz="1000" dirty="0"/>
          </a:p>
        </p:txBody>
      </p:sp>
      <p:sp>
        <p:nvSpPr>
          <p:cNvPr id="40" name="Shape 36"/>
          <p:cNvSpPr/>
          <p:nvPr/>
        </p:nvSpPr>
        <p:spPr>
          <a:xfrm>
            <a:off x="3657600" y="4014216"/>
            <a:ext cx="7985455" cy="201168"/>
          </a:xfrm>
          <a:prstGeom prst="roundRect">
            <a:avLst>
              <a:gd name="adj" fmla="val 45455"/>
            </a:avLst>
          </a:prstGeom>
          <a:solidFill>
            <a:srgbClr val="EEF0F5"/>
          </a:solidFill>
          <a:ln w="12700">
            <a:solidFill>
              <a:srgbClr val="EEF0F5"/>
            </a:solidFill>
            <a:prstDash val="solid"/>
          </a:ln>
        </p:spPr>
      </p:sp>
      <p:sp>
        <p:nvSpPr>
          <p:cNvPr id="41" name="Shape 37"/>
          <p:cNvSpPr/>
          <p:nvPr/>
        </p:nvSpPr>
        <p:spPr>
          <a:xfrm>
            <a:off x="3657600" y="4014216"/>
            <a:ext cx="1726585" cy="201168"/>
          </a:xfrm>
          <a:prstGeom prst="roundRect">
            <a:avLst>
              <a:gd name="adj" fmla="val 45455"/>
            </a:avLst>
          </a:prstGeom>
          <a:solidFill>
            <a:srgbClr val="2D69E2"/>
          </a:solidFill>
          <a:ln w="12700">
            <a:solidFill>
              <a:srgbClr val="2D69E2"/>
            </a:solidFill>
            <a:prstDash val="solid"/>
          </a:ln>
        </p:spPr>
      </p:sp>
      <p:sp>
        <p:nvSpPr>
          <p:cNvPr id="42" name="Text 38"/>
          <p:cNvSpPr/>
          <p:nvPr/>
        </p:nvSpPr>
        <p:spPr>
          <a:xfrm>
            <a:off x="548640" y="4306824"/>
            <a:ext cx="3017520" cy="274320"/>
          </a:xfrm>
          <a:prstGeom prst="rect">
            <a:avLst/>
          </a:prstGeom>
          <a:noFill/>
          <a:ln/>
        </p:spPr>
        <p:txBody>
          <a:bodyPr wrap="square" lIns="0" tIns="0" rIns="0" bIns="0" rtlCol="0" anchor="ctr"/>
          <a:lstStyle/>
          <a:p>
            <a:pPr indent="0" marL="0">
              <a:buNone/>
            </a:pPr>
            <a:r>
              <a:rPr lang="en-US" sz="1000" dirty="0">
                <a:solidFill>
                  <a:srgbClr val="111827"/>
                </a:solidFill>
                <a:latin typeface="Calibri" pitchFamily="34" charset="0"/>
                <a:ea typeface="Calibri" pitchFamily="34" charset="-122"/>
                <a:cs typeface="Calibri" pitchFamily="34" charset="-120"/>
              </a:rPr>
              <a:t>Performance engineering</a:t>
            </a:r>
            <a:endParaRPr lang="en-US" sz="1000" dirty="0"/>
          </a:p>
        </p:txBody>
      </p:sp>
      <p:sp>
        <p:nvSpPr>
          <p:cNvPr id="43" name="Shape 39"/>
          <p:cNvSpPr/>
          <p:nvPr/>
        </p:nvSpPr>
        <p:spPr>
          <a:xfrm>
            <a:off x="3657600" y="4343400"/>
            <a:ext cx="7985455" cy="201168"/>
          </a:xfrm>
          <a:prstGeom prst="roundRect">
            <a:avLst>
              <a:gd name="adj" fmla="val 45455"/>
            </a:avLst>
          </a:prstGeom>
          <a:solidFill>
            <a:srgbClr val="EEF0F5"/>
          </a:solidFill>
          <a:ln w="12700">
            <a:solidFill>
              <a:srgbClr val="EEF0F5"/>
            </a:solidFill>
            <a:prstDash val="solid"/>
          </a:ln>
        </p:spPr>
      </p:sp>
      <p:sp>
        <p:nvSpPr>
          <p:cNvPr id="44" name="Shape 40"/>
          <p:cNvSpPr/>
          <p:nvPr/>
        </p:nvSpPr>
        <p:spPr>
          <a:xfrm>
            <a:off x="3657600" y="4343400"/>
            <a:ext cx="2877642" cy="201168"/>
          </a:xfrm>
          <a:prstGeom prst="roundRect">
            <a:avLst>
              <a:gd name="adj" fmla="val 45455"/>
            </a:avLst>
          </a:prstGeom>
          <a:solidFill>
            <a:srgbClr val="2A6CF0"/>
          </a:solidFill>
          <a:ln w="12700">
            <a:solidFill>
              <a:srgbClr val="2A6CF0"/>
            </a:solidFill>
            <a:prstDash val="solid"/>
          </a:ln>
        </p:spPr>
      </p:sp>
      <p:sp>
        <p:nvSpPr>
          <p:cNvPr id="45" name="Text 41"/>
          <p:cNvSpPr/>
          <p:nvPr/>
        </p:nvSpPr>
        <p:spPr>
          <a:xfrm>
            <a:off x="548640" y="4636008"/>
            <a:ext cx="3017520" cy="274320"/>
          </a:xfrm>
          <a:prstGeom prst="rect">
            <a:avLst/>
          </a:prstGeom>
          <a:noFill/>
          <a:ln/>
        </p:spPr>
        <p:txBody>
          <a:bodyPr wrap="square" lIns="0" tIns="0" rIns="0" bIns="0" rtlCol="0" anchor="ctr"/>
          <a:lstStyle/>
          <a:p>
            <a:pPr indent="0" marL="0">
              <a:buNone/>
            </a:pPr>
            <a:r>
              <a:rPr lang="en-US" sz="1000" dirty="0">
                <a:solidFill>
                  <a:srgbClr val="111827"/>
                </a:solidFill>
                <a:latin typeface="Calibri" pitchFamily="34" charset="0"/>
                <a:ea typeface="Calibri" pitchFamily="34" charset="-122"/>
                <a:cs typeface="Calibri" pitchFamily="34" charset="-120"/>
              </a:rPr>
              <a:t>Responsive &amp; mobile fixes</a:t>
            </a:r>
            <a:endParaRPr lang="en-US" sz="1000" dirty="0"/>
          </a:p>
        </p:txBody>
      </p:sp>
      <p:sp>
        <p:nvSpPr>
          <p:cNvPr id="46" name="Shape 42"/>
          <p:cNvSpPr/>
          <p:nvPr/>
        </p:nvSpPr>
        <p:spPr>
          <a:xfrm>
            <a:off x="3657600" y="4672584"/>
            <a:ext cx="7985455" cy="201168"/>
          </a:xfrm>
          <a:prstGeom prst="roundRect">
            <a:avLst>
              <a:gd name="adj" fmla="val 45455"/>
            </a:avLst>
          </a:prstGeom>
          <a:solidFill>
            <a:srgbClr val="EEF0F5"/>
          </a:solidFill>
          <a:ln w="12700">
            <a:solidFill>
              <a:srgbClr val="EEF0F5"/>
            </a:solidFill>
            <a:prstDash val="solid"/>
          </a:ln>
        </p:spPr>
      </p:sp>
      <p:sp>
        <p:nvSpPr>
          <p:cNvPr id="47" name="Shape 43"/>
          <p:cNvSpPr/>
          <p:nvPr/>
        </p:nvSpPr>
        <p:spPr>
          <a:xfrm>
            <a:off x="4216582" y="4672584"/>
            <a:ext cx="1197818" cy="201168"/>
          </a:xfrm>
          <a:prstGeom prst="roundRect">
            <a:avLst>
              <a:gd name="adj" fmla="val 45455"/>
            </a:avLst>
          </a:prstGeom>
          <a:solidFill>
            <a:srgbClr val="0F8B8D"/>
          </a:solidFill>
          <a:ln w="12700">
            <a:solidFill>
              <a:srgbClr val="0F8B8D"/>
            </a:solidFill>
            <a:prstDash val="solid"/>
          </a:ln>
        </p:spPr>
      </p:sp>
      <p:sp>
        <p:nvSpPr>
          <p:cNvPr id="48" name="Text 44"/>
          <p:cNvSpPr/>
          <p:nvPr/>
        </p:nvSpPr>
        <p:spPr>
          <a:xfrm>
            <a:off x="548640" y="4965192"/>
            <a:ext cx="3017520" cy="274320"/>
          </a:xfrm>
          <a:prstGeom prst="rect">
            <a:avLst/>
          </a:prstGeom>
          <a:noFill/>
          <a:ln/>
        </p:spPr>
        <p:txBody>
          <a:bodyPr wrap="square" lIns="0" tIns="0" rIns="0" bIns="0" rtlCol="0" anchor="ctr"/>
          <a:lstStyle/>
          <a:p>
            <a:pPr indent="0" marL="0">
              <a:buNone/>
            </a:pPr>
            <a:r>
              <a:rPr lang="en-US" sz="1000" dirty="0">
                <a:solidFill>
                  <a:srgbClr val="111827"/>
                </a:solidFill>
                <a:latin typeface="Calibri" pitchFamily="34" charset="0"/>
                <a:ea typeface="Calibri" pitchFamily="34" charset="-122"/>
                <a:cs typeface="Calibri" pitchFamily="34" charset="-120"/>
              </a:rPr>
              <a:t>Accessibility remediation</a:t>
            </a:r>
            <a:endParaRPr lang="en-US" sz="1000" dirty="0"/>
          </a:p>
        </p:txBody>
      </p:sp>
      <p:sp>
        <p:nvSpPr>
          <p:cNvPr id="49" name="Shape 45"/>
          <p:cNvSpPr/>
          <p:nvPr/>
        </p:nvSpPr>
        <p:spPr>
          <a:xfrm>
            <a:off x="3657600" y="5001768"/>
            <a:ext cx="7985455" cy="201168"/>
          </a:xfrm>
          <a:prstGeom prst="roundRect">
            <a:avLst>
              <a:gd name="adj" fmla="val 45455"/>
            </a:avLst>
          </a:prstGeom>
          <a:solidFill>
            <a:srgbClr val="EEF0F5"/>
          </a:solidFill>
          <a:ln w="12700">
            <a:solidFill>
              <a:srgbClr val="EEF0F5"/>
            </a:solidFill>
            <a:prstDash val="solid"/>
          </a:ln>
        </p:spPr>
      </p:sp>
      <p:sp>
        <p:nvSpPr>
          <p:cNvPr id="50" name="Shape 46"/>
          <p:cNvSpPr/>
          <p:nvPr/>
        </p:nvSpPr>
        <p:spPr>
          <a:xfrm>
            <a:off x="4775564" y="5001768"/>
            <a:ext cx="2877642" cy="201168"/>
          </a:xfrm>
          <a:prstGeom prst="roundRect">
            <a:avLst>
              <a:gd name="adj" fmla="val 45455"/>
            </a:avLst>
          </a:prstGeom>
          <a:solidFill>
            <a:srgbClr val="5B3FD0"/>
          </a:solidFill>
          <a:ln w="12700">
            <a:solidFill>
              <a:srgbClr val="5B3FD0"/>
            </a:solidFill>
            <a:prstDash val="solid"/>
          </a:ln>
        </p:spPr>
      </p:sp>
      <p:sp>
        <p:nvSpPr>
          <p:cNvPr id="51" name="Text 47"/>
          <p:cNvSpPr/>
          <p:nvPr/>
        </p:nvSpPr>
        <p:spPr>
          <a:xfrm>
            <a:off x="548640" y="5294376"/>
            <a:ext cx="3017520" cy="274320"/>
          </a:xfrm>
          <a:prstGeom prst="rect">
            <a:avLst/>
          </a:prstGeom>
          <a:noFill/>
          <a:ln/>
        </p:spPr>
        <p:txBody>
          <a:bodyPr wrap="square" lIns="0" tIns="0" rIns="0" bIns="0" rtlCol="0" anchor="ctr"/>
          <a:lstStyle/>
          <a:p>
            <a:pPr indent="0" marL="0">
              <a:buNone/>
            </a:pPr>
            <a:r>
              <a:rPr lang="en-US" sz="1000" dirty="0">
                <a:solidFill>
                  <a:srgbClr val="111827"/>
                </a:solidFill>
                <a:latin typeface="Calibri" pitchFamily="34" charset="0"/>
                <a:ea typeface="Calibri" pitchFamily="34" charset="-122"/>
                <a:cs typeface="Calibri" pitchFamily="34" charset="-120"/>
              </a:rPr>
              <a:t>UX &amp; conversion redesign</a:t>
            </a:r>
            <a:endParaRPr lang="en-US" sz="1000" dirty="0"/>
          </a:p>
        </p:txBody>
      </p:sp>
      <p:sp>
        <p:nvSpPr>
          <p:cNvPr id="52" name="Shape 48"/>
          <p:cNvSpPr/>
          <p:nvPr/>
        </p:nvSpPr>
        <p:spPr>
          <a:xfrm>
            <a:off x="3657600" y="5330952"/>
            <a:ext cx="7985455" cy="201168"/>
          </a:xfrm>
          <a:prstGeom prst="roundRect">
            <a:avLst>
              <a:gd name="adj" fmla="val 45455"/>
            </a:avLst>
          </a:prstGeom>
          <a:solidFill>
            <a:srgbClr val="EEF0F5"/>
          </a:solidFill>
          <a:ln w="12700">
            <a:solidFill>
              <a:srgbClr val="EEF0F5"/>
            </a:solidFill>
            <a:prstDash val="solid"/>
          </a:ln>
        </p:spPr>
      </p:sp>
      <p:sp>
        <p:nvSpPr>
          <p:cNvPr id="53" name="Shape 49"/>
          <p:cNvSpPr/>
          <p:nvPr/>
        </p:nvSpPr>
        <p:spPr>
          <a:xfrm>
            <a:off x="5334546" y="5330952"/>
            <a:ext cx="1381268" cy="201168"/>
          </a:xfrm>
          <a:prstGeom prst="roundRect">
            <a:avLst>
              <a:gd name="adj" fmla="val 45455"/>
            </a:avLst>
          </a:prstGeom>
          <a:solidFill>
            <a:srgbClr val="D99A1B"/>
          </a:solidFill>
          <a:ln w="12700">
            <a:solidFill>
              <a:srgbClr val="D99A1B"/>
            </a:solidFill>
            <a:prstDash val="solid"/>
          </a:ln>
        </p:spPr>
      </p:sp>
      <p:sp>
        <p:nvSpPr>
          <p:cNvPr id="54" name="Text 50"/>
          <p:cNvSpPr/>
          <p:nvPr/>
        </p:nvSpPr>
        <p:spPr>
          <a:xfrm>
            <a:off x="548640" y="5623560"/>
            <a:ext cx="3017520" cy="274320"/>
          </a:xfrm>
          <a:prstGeom prst="rect">
            <a:avLst/>
          </a:prstGeom>
          <a:noFill/>
          <a:ln/>
        </p:spPr>
        <p:txBody>
          <a:bodyPr wrap="square" lIns="0" tIns="0" rIns="0" bIns="0" rtlCol="0" anchor="ctr"/>
          <a:lstStyle/>
          <a:p>
            <a:pPr indent="0" marL="0">
              <a:buNone/>
            </a:pPr>
            <a:r>
              <a:rPr lang="en-US" sz="1000" dirty="0">
                <a:solidFill>
                  <a:srgbClr val="111827"/>
                </a:solidFill>
                <a:latin typeface="Calibri" pitchFamily="34" charset="0"/>
                <a:ea typeface="Calibri" pitchFamily="34" charset="-122"/>
                <a:cs typeface="Calibri" pitchFamily="34" charset="-120"/>
              </a:rPr>
              <a:t>Structured data &amp; AI-search</a:t>
            </a:r>
            <a:endParaRPr lang="en-US" sz="1000" dirty="0"/>
          </a:p>
        </p:txBody>
      </p:sp>
      <p:sp>
        <p:nvSpPr>
          <p:cNvPr id="55" name="Shape 51"/>
          <p:cNvSpPr/>
          <p:nvPr/>
        </p:nvSpPr>
        <p:spPr>
          <a:xfrm>
            <a:off x="3657600" y="5660136"/>
            <a:ext cx="7985455" cy="201168"/>
          </a:xfrm>
          <a:prstGeom prst="roundRect">
            <a:avLst>
              <a:gd name="adj" fmla="val 45455"/>
            </a:avLst>
          </a:prstGeom>
          <a:solidFill>
            <a:srgbClr val="EEF0F5"/>
          </a:solidFill>
          <a:ln w="12700">
            <a:solidFill>
              <a:srgbClr val="EEF0F5"/>
            </a:solidFill>
            <a:prstDash val="solid"/>
          </a:ln>
        </p:spPr>
      </p:sp>
      <p:sp>
        <p:nvSpPr>
          <p:cNvPr id="56" name="Shape 52"/>
          <p:cNvSpPr/>
          <p:nvPr/>
        </p:nvSpPr>
        <p:spPr>
          <a:xfrm>
            <a:off x="5893527" y="5660136"/>
            <a:ext cx="1197818" cy="201168"/>
          </a:xfrm>
          <a:prstGeom prst="roundRect">
            <a:avLst>
              <a:gd name="adj" fmla="val 45455"/>
            </a:avLst>
          </a:prstGeom>
          <a:solidFill>
            <a:srgbClr val="E0457B"/>
          </a:solidFill>
          <a:ln w="12700">
            <a:solidFill>
              <a:srgbClr val="E0457B"/>
            </a:solidFill>
            <a:prstDash val="solid"/>
          </a:ln>
        </p:spPr>
      </p:sp>
      <p:sp>
        <p:nvSpPr>
          <p:cNvPr id="57" name="Text 53"/>
          <p:cNvSpPr/>
          <p:nvPr/>
        </p:nvSpPr>
        <p:spPr>
          <a:xfrm>
            <a:off x="548640" y="5952744"/>
            <a:ext cx="3017520" cy="274320"/>
          </a:xfrm>
          <a:prstGeom prst="rect">
            <a:avLst/>
          </a:prstGeom>
          <a:noFill/>
          <a:ln/>
        </p:spPr>
        <p:txBody>
          <a:bodyPr wrap="square" lIns="0" tIns="0" rIns="0" bIns="0" rtlCol="0" anchor="ctr"/>
          <a:lstStyle/>
          <a:p>
            <a:pPr indent="0" marL="0">
              <a:buNone/>
            </a:pPr>
            <a:r>
              <a:rPr lang="en-US" sz="1000" dirty="0">
                <a:solidFill>
                  <a:srgbClr val="111827"/>
                </a:solidFill>
                <a:latin typeface="Calibri" pitchFamily="34" charset="0"/>
                <a:ea typeface="Calibri" pitchFamily="34" charset="-122"/>
                <a:cs typeface="Calibri" pitchFamily="34" charset="-120"/>
              </a:rPr>
              <a:t>QA &amp; launch</a:t>
            </a:r>
            <a:endParaRPr lang="en-US" sz="1000" dirty="0"/>
          </a:p>
        </p:txBody>
      </p:sp>
      <p:sp>
        <p:nvSpPr>
          <p:cNvPr id="58" name="Shape 54"/>
          <p:cNvSpPr/>
          <p:nvPr/>
        </p:nvSpPr>
        <p:spPr>
          <a:xfrm>
            <a:off x="3657600" y="5989320"/>
            <a:ext cx="7985455" cy="201168"/>
          </a:xfrm>
          <a:prstGeom prst="roundRect">
            <a:avLst>
              <a:gd name="adj" fmla="val 45455"/>
            </a:avLst>
          </a:prstGeom>
          <a:solidFill>
            <a:srgbClr val="EEF0F5"/>
          </a:solidFill>
          <a:ln w="12700">
            <a:solidFill>
              <a:srgbClr val="EEF0F5"/>
            </a:solidFill>
            <a:prstDash val="solid"/>
          </a:ln>
        </p:spPr>
      </p:sp>
      <p:sp>
        <p:nvSpPr>
          <p:cNvPr id="59" name="Shape 55"/>
          <p:cNvSpPr/>
          <p:nvPr/>
        </p:nvSpPr>
        <p:spPr>
          <a:xfrm>
            <a:off x="10031576" y="5989320"/>
            <a:ext cx="1611479" cy="201168"/>
          </a:xfrm>
          <a:prstGeom prst="roundRect">
            <a:avLst>
              <a:gd name="adj" fmla="val 45455"/>
            </a:avLst>
          </a:prstGeom>
          <a:solidFill>
            <a:srgbClr val="8892B0"/>
          </a:solidFill>
          <a:ln w="12700">
            <a:solidFill>
              <a:srgbClr val="8892B0"/>
            </a:solidFill>
            <a:prstDash val="solid"/>
          </a:ln>
        </p:spPr>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6FB"/>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2D69E2"/>
          </a:solidFill>
          <a:ln w="12700">
            <a:solidFill>
              <a:srgbClr val="2D69E2"/>
            </a:solidFill>
            <a:prstDash val="solid"/>
          </a:ln>
        </p:spPr>
      </p:sp>
      <p:sp>
        <p:nvSpPr>
          <p:cNvPr id="3" name="Text 1"/>
          <p:cNvSpPr/>
          <p:nvPr/>
        </p:nvSpPr>
        <p:spPr>
          <a:xfrm>
            <a:off x="548640" y="347472"/>
            <a:ext cx="8229600" cy="274320"/>
          </a:xfrm>
          <a:prstGeom prst="rect">
            <a:avLst/>
          </a:prstGeom>
          <a:noFill/>
          <a:ln/>
        </p:spPr>
        <p:txBody>
          <a:bodyPr wrap="square" lIns="0" tIns="0" rIns="0" bIns="0" rtlCol="0" anchor="t"/>
          <a:lstStyle/>
          <a:p>
            <a:pPr indent="0" marL="0">
              <a:buNone/>
            </a:pPr>
            <a:r>
              <a:rPr lang="en-US" sz="1100" b="1" spc="300" kern="0" dirty="0">
                <a:solidFill>
                  <a:srgbClr val="2D69E2"/>
                </a:solidFill>
                <a:latin typeface="Calibri" pitchFamily="34" charset="0"/>
                <a:ea typeface="Calibri" pitchFamily="34" charset="-122"/>
                <a:cs typeface="Calibri" pitchFamily="34" charset="-120"/>
              </a:rPr>
              <a:t>ESTIMATE · COMMERCIALS</a:t>
            </a:r>
            <a:endParaRPr lang="en-US" sz="1100" dirty="0"/>
          </a:p>
        </p:txBody>
      </p:sp>
      <p:sp>
        <p:nvSpPr>
          <p:cNvPr id="4" name="Text 2"/>
          <p:cNvSpPr/>
          <p:nvPr/>
        </p:nvSpPr>
        <p:spPr>
          <a:xfrm>
            <a:off x="548640" y="621792"/>
            <a:ext cx="9326880" cy="731520"/>
          </a:xfrm>
          <a:prstGeom prst="rect">
            <a:avLst/>
          </a:prstGeom>
          <a:noFill/>
          <a:ln/>
        </p:spPr>
        <p:txBody>
          <a:bodyPr wrap="square" lIns="0" tIns="0" rIns="0" bIns="0" rtlCol="0" anchor="t">
            <a:normAutofit/>
          </a:bodyPr>
          <a:lstStyle/>
          <a:p>
            <a:pPr indent="0" marL="0">
              <a:buNone/>
            </a:pPr>
            <a:r>
              <a:rPr lang="en-US" sz="2800" b="1" dirty="0">
                <a:solidFill>
                  <a:srgbClr val="0B1B5E"/>
                </a:solidFill>
                <a:latin typeface="Calibri" pitchFamily="34" charset="0"/>
                <a:ea typeface="Calibri" pitchFamily="34" charset="-122"/>
                <a:cs typeface="Calibri" pitchFamily="34" charset="-120"/>
              </a:rPr>
              <a:t>Investment</a:t>
            </a:r>
            <a:endParaRPr lang="en-US" sz="2800" dirty="0"/>
          </a:p>
        </p:txBody>
      </p:sp>
      <p:pic>
        <p:nvPicPr>
          <p:cNvPr id="5" name="Image 0" descr="Samsung logo">    </p:cNvPr>
          <p:cNvPicPr>
            <a:picLocks noChangeAspect="1"/>
          </p:cNvPicPr>
          <p:nvPr/>
        </p:nvPicPr>
        <p:blipFill>
          <a:blip r:embed="rId1"/>
          <a:stretch>
            <a:fillRect/>
          </a:stretch>
        </p:blipFill>
        <p:spPr>
          <a:xfrm>
            <a:off x="10454335" y="347472"/>
            <a:ext cx="1188720" cy="377258"/>
          </a:xfrm>
          <a:prstGeom prst="rect">
            <a:avLst/>
          </a:prstGeom>
        </p:spPr>
      </p:pic>
      <p:sp>
        <p:nvSpPr>
          <p:cNvPr id="6" name="Text 3"/>
          <p:cNvSpPr/>
          <p:nvPr/>
        </p:nvSpPr>
        <p:spPr>
          <a:xfrm>
            <a:off x="548640" y="6446520"/>
            <a:ext cx="7315200" cy="256032"/>
          </a:xfrm>
          <a:prstGeom prst="rect">
            <a:avLst/>
          </a:prstGeom>
          <a:noFill/>
          <a:ln/>
        </p:spPr>
        <p:txBody>
          <a:bodyPr wrap="square" lIns="0" tIns="0" rIns="0" bIns="0" rtlCol="0" anchor="t"/>
          <a:lstStyle/>
          <a:p>
            <a:pPr indent="0" marL="0">
              <a:buNone/>
            </a:pPr>
            <a:r>
              <a:rPr lang="en-US" sz="1000" dirty="0">
                <a:solidFill>
                  <a:srgbClr val="5B6477"/>
                </a:solidFill>
                <a:latin typeface="Calibri" pitchFamily="34" charset="0"/>
                <a:ea typeface="Calibri" pitchFamily="34" charset="-122"/>
                <a:cs typeface="Calibri" pitchFamily="34" charset="-120"/>
              </a:rPr>
              <a:t>Nike. Just Do It. Nike IN  ·  Prepared by Samsung SDS</a:t>
            </a:r>
            <a:endParaRPr lang="en-US" sz="1000" dirty="0"/>
          </a:p>
        </p:txBody>
      </p:sp>
      <p:sp>
        <p:nvSpPr>
          <p:cNvPr id="7" name="Text 4"/>
          <p:cNvSpPr/>
          <p:nvPr/>
        </p:nvSpPr>
        <p:spPr>
          <a:xfrm>
            <a:off x="11185855" y="6446520"/>
            <a:ext cx="457200" cy="256032"/>
          </a:xfrm>
          <a:prstGeom prst="rect">
            <a:avLst/>
          </a:prstGeom>
          <a:noFill/>
          <a:ln/>
        </p:spPr>
        <p:txBody>
          <a:bodyPr wrap="square" lIns="0" tIns="0" rIns="0" bIns="0" rtlCol="0" anchor="t"/>
          <a:lstStyle/>
          <a:p>
            <a:pPr algn="r" indent="0" marL="0">
              <a:buNone/>
            </a:pPr>
            <a:r>
              <a:rPr lang="en-US" sz="1000" dirty="0">
                <a:solidFill>
                  <a:srgbClr val="5B6477"/>
                </a:solidFill>
                <a:latin typeface="Calibri" pitchFamily="34" charset="0"/>
                <a:ea typeface="Calibri" pitchFamily="34" charset="-122"/>
                <a:cs typeface="Calibri" pitchFamily="34" charset="-120"/>
              </a:rPr>
              <a:t>14</a:t>
            </a:r>
            <a:endParaRPr lang="en-US" sz="1000" dirty="0"/>
          </a:p>
        </p:txBody>
      </p:sp>
      <p:sp>
        <p:nvSpPr>
          <p:cNvPr id="9" name="Shape 5"/>
          <p:cNvSpPr/>
          <p:nvPr/>
        </p:nvSpPr>
        <p:spPr>
          <a:xfrm>
            <a:off x="548640" y="1508760"/>
            <a:ext cx="5852160" cy="2103120"/>
          </a:xfrm>
          <a:prstGeom prst="roundRect">
            <a:avLst>
              <a:gd name="adj" fmla="val 4348"/>
            </a:avLst>
          </a:prstGeom>
          <a:solidFill>
            <a:srgbClr val="FFFFFF"/>
          </a:solidFill>
          <a:ln w="12700">
            <a:solidFill>
              <a:srgbClr val="DDE2EE"/>
            </a:solidFill>
            <a:prstDash val="solid"/>
          </a:ln>
        </p:spPr>
      </p:sp>
      <p:sp>
        <p:nvSpPr>
          <p:cNvPr id="10" name="Shape 6"/>
          <p:cNvSpPr/>
          <p:nvPr/>
        </p:nvSpPr>
        <p:spPr>
          <a:xfrm>
            <a:off x="548640" y="1508760"/>
            <a:ext cx="5852160" cy="64008"/>
          </a:xfrm>
          <a:prstGeom prst="rect">
            <a:avLst/>
          </a:prstGeom>
          <a:solidFill>
            <a:srgbClr val="2D69E2"/>
          </a:solidFill>
          <a:ln w="12700">
            <a:solidFill>
              <a:srgbClr val="2D69E2"/>
            </a:solidFill>
            <a:prstDash val="solid"/>
          </a:ln>
        </p:spPr>
      </p:sp>
      <p:sp>
        <p:nvSpPr>
          <p:cNvPr id="11" name="Text 7"/>
          <p:cNvSpPr/>
          <p:nvPr/>
        </p:nvSpPr>
        <p:spPr>
          <a:xfrm>
            <a:off x="822960" y="1737360"/>
            <a:ext cx="5303520" cy="274320"/>
          </a:xfrm>
          <a:prstGeom prst="rect">
            <a:avLst/>
          </a:prstGeom>
          <a:noFill/>
          <a:ln/>
        </p:spPr>
        <p:txBody>
          <a:bodyPr wrap="square" lIns="0" tIns="0" rIns="0" bIns="0" rtlCol="0" anchor="t"/>
          <a:lstStyle/>
          <a:p>
            <a:pPr indent="0" marL="0">
              <a:buNone/>
            </a:pPr>
            <a:r>
              <a:rPr lang="en-US" sz="1000" b="1" spc="200" kern="0" dirty="0">
                <a:solidFill>
                  <a:srgbClr val="5B6477"/>
                </a:solidFill>
                <a:latin typeface="Calibri" pitchFamily="34" charset="0"/>
                <a:ea typeface="Calibri" pitchFamily="34" charset="-122"/>
                <a:cs typeface="Calibri" pitchFamily="34" charset="-120"/>
              </a:rPr>
              <a:t>ESTIMATED INVESTMENT</a:t>
            </a:r>
            <a:endParaRPr lang="en-US" sz="1000" dirty="0"/>
          </a:p>
        </p:txBody>
      </p:sp>
      <p:sp>
        <p:nvSpPr>
          <p:cNvPr id="12" name="Text 8"/>
          <p:cNvSpPr/>
          <p:nvPr/>
        </p:nvSpPr>
        <p:spPr>
          <a:xfrm>
            <a:off x="822960" y="2103120"/>
            <a:ext cx="5303520" cy="822960"/>
          </a:xfrm>
          <a:prstGeom prst="rect">
            <a:avLst/>
          </a:prstGeom>
          <a:noFill/>
          <a:ln/>
        </p:spPr>
        <p:txBody>
          <a:bodyPr wrap="square" lIns="0" tIns="0" rIns="0" bIns="0" rtlCol="0" anchor="t">
            <a:normAutofit/>
          </a:bodyPr>
          <a:lstStyle/>
          <a:p>
            <a:pPr indent="0" marL="0">
              <a:buNone/>
            </a:pPr>
            <a:r>
              <a:rPr lang="en-US" sz="3400" b="1" dirty="0">
                <a:solidFill>
                  <a:srgbClr val="2D69E2"/>
                </a:solidFill>
                <a:latin typeface="Calibri" pitchFamily="34" charset="0"/>
                <a:ea typeface="Calibri" pitchFamily="34" charset="-122"/>
                <a:cs typeface="Calibri" pitchFamily="34" charset="-120"/>
              </a:rPr>
              <a:t>₹11,54,000 – ₹14,74,000</a:t>
            </a:r>
            <a:endParaRPr lang="en-US" sz="3400" dirty="0"/>
          </a:p>
        </p:txBody>
      </p:sp>
      <p:sp>
        <p:nvSpPr>
          <p:cNvPr id="13" name="Text 9"/>
          <p:cNvSpPr/>
          <p:nvPr/>
        </p:nvSpPr>
        <p:spPr>
          <a:xfrm>
            <a:off x="822960" y="3017520"/>
            <a:ext cx="5303520" cy="365760"/>
          </a:xfrm>
          <a:prstGeom prst="rect">
            <a:avLst/>
          </a:prstGeom>
          <a:noFill/>
          <a:ln/>
        </p:spPr>
        <p:txBody>
          <a:bodyPr wrap="square" lIns="0" tIns="0" rIns="0" bIns="0" rtlCol="0" anchor="t"/>
          <a:lstStyle/>
          <a:p>
            <a:pPr indent="0" marL="0">
              <a:buNone/>
            </a:pPr>
            <a:r>
              <a:rPr lang="en-US" sz="1200" dirty="0">
                <a:solidFill>
                  <a:srgbClr val="5B6477"/>
                </a:solidFill>
                <a:latin typeface="Calibri" pitchFamily="34" charset="0"/>
                <a:ea typeface="Calibri" pitchFamily="34" charset="-122"/>
                <a:cs typeface="Calibri" pitchFamily="34" charset="-120"/>
              </a:rPr>
              <a:t>₹11.5 lakh to ₹14.7 lakh · a range until discovery is complete</a:t>
            </a:r>
            <a:endParaRPr lang="en-US" sz="1200" dirty="0"/>
          </a:p>
        </p:txBody>
      </p:sp>
      <p:sp>
        <p:nvSpPr>
          <p:cNvPr id="14" name="Shape 10"/>
          <p:cNvSpPr/>
          <p:nvPr/>
        </p:nvSpPr>
        <p:spPr>
          <a:xfrm>
            <a:off x="6675120" y="1508760"/>
            <a:ext cx="2392528" cy="960120"/>
          </a:xfrm>
          <a:prstGeom prst="roundRect">
            <a:avLst>
              <a:gd name="adj" fmla="val 9524"/>
            </a:avLst>
          </a:prstGeom>
          <a:solidFill>
            <a:srgbClr val="FFFFFF"/>
          </a:solidFill>
          <a:ln w="12700">
            <a:solidFill>
              <a:srgbClr val="DDE2EE"/>
            </a:solidFill>
            <a:prstDash val="solid"/>
          </a:ln>
        </p:spPr>
      </p:sp>
      <p:sp>
        <p:nvSpPr>
          <p:cNvPr id="15" name="Text 11"/>
          <p:cNvSpPr/>
          <p:nvPr/>
        </p:nvSpPr>
        <p:spPr>
          <a:xfrm>
            <a:off x="6858000" y="1618488"/>
            <a:ext cx="2026768" cy="528066"/>
          </a:xfrm>
          <a:prstGeom prst="rect">
            <a:avLst/>
          </a:prstGeom>
          <a:noFill/>
          <a:ln/>
        </p:spPr>
        <p:txBody>
          <a:bodyPr wrap="square" lIns="0" tIns="0" rIns="0" bIns="0" rtlCol="0" anchor="ctr"/>
          <a:lstStyle/>
          <a:p>
            <a:pPr indent="0" marL="0">
              <a:buNone/>
            </a:pPr>
            <a:r>
              <a:rPr lang="en-US" sz="2800" b="1" dirty="0">
                <a:solidFill>
                  <a:srgbClr val="111827"/>
                </a:solidFill>
                <a:latin typeface="Calibri" pitchFamily="34" charset="0"/>
                <a:ea typeface="Calibri" pitchFamily="34" charset="-122"/>
                <a:cs typeface="Calibri" pitchFamily="34" charset="-120"/>
              </a:rPr>
              <a:t>111</a:t>
            </a:r>
            <a:endParaRPr lang="en-US" sz="2800" dirty="0"/>
          </a:p>
        </p:txBody>
      </p:sp>
      <p:sp>
        <p:nvSpPr>
          <p:cNvPr id="16" name="Text 12"/>
          <p:cNvSpPr/>
          <p:nvPr/>
        </p:nvSpPr>
        <p:spPr>
          <a:xfrm>
            <a:off x="6858000" y="2132838"/>
            <a:ext cx="2026768" cy="288036"/>
          </a:xfrm>
          <a:prstGeom prst="rect">
            <a:avLst/>
          </a:prstGeom>
          <a:noFill/>
          <a:ln/>
        </p:spPr>
        <p:txBody>
          <a:bodyPr wrap="square" lIns="0" tIns="0" rIns="0" bIns="0" rtlCol="0" anchor="t"/>
          <a:lstStyle/>
          <a:p>
            <a:pPr indent="0" marL="0">
              <a:buNone/>
            </a:pPr>
            <a:r>
              <a:rPr lang="en-US" sz="1100" dirty="0">
                <a:solidFill>
                  <a:srgbClr val="5B6477"/>
                </a:solidFill>
                <a:latin typeface="Calibri" pitchFamily="34" charset="0"/>
                <a:ea typeface="Calibri" pitchFamily="34" charset="-122"/>
                <a:cs typeface="Calibri" pitchFamily="34" charset="-120"/>
              </a:rPr>
              <a:t>person-days</a:t>
            </a:r>
            <a:endParaRPr lang="en-US" sz="1100" dirty="0"/>
          </a:p>
        </p:txBody>
      </p:sp>
      <p:sp>
        <p:nvSpPr>
          <p:cNvPr id="17" name="Shape 13"/>
          <p:cNvSpPr/>
          <p:nvPr/>
        </p:nvSpPr>
        <p:spPr>
          <a:xfrm>
            <a:off x="9250528" y="1508760"/>
            <a:ext cx="2392528" cy="960120"/>
          </a:xfrm>
          <a:prstGeom prst="roundRect">
            <a:avLst>
              <a:gd name="adj" fmla="val 9524"/>
            </a:avLst>
          </a:prstGeom>
          <a:solidFill>
            <a:srgbClr val="FFFFFF"/>
          </a:solidFill>
          <a:ln w="12700">
            <a:solidFill>
              <a:srgbClr val="DDE2EE"/>
            </a:solidFill>
            <a:prstDash val="solid"/>
          </a:ln>
        </p:spPr>
      </p:sp>
      <p:sp>
        <p:nvSpPr>
          <p:cNvPr id="18" name="Text 14"/>
          <p:cNvSpPr/>
          <p:nvPr/>
        </p:nvSpPr>
        <p:spPr>
          <a:xfrm>
            <a:off x="9433408" y="1618488"/>
            <a:ext cx="2026768" cy="528066"/>
          </a:xfrm>
          <a:prstGeom prst="rect">
            <a:avLst/>
          </a:prstGeom>
          <a:noFill/>
          <a:ln/>
        </p:spPr>
        <p:txBody>
          <a:bodyPr wrap="square" lIns="0" tIns="0" rIns="0" bIns="0" rtlCol="0" anchor="ctr"/>
          <a:lstStyle/>
          <a:p>
            <a:pPr indent="0" marL="0">
              <a:buNone/>
            </a:pPr>
            <a:r>
              <a:rPr lang="en-US" sz="2800" b="1" dirty="0">
                <a:solidFill>
                  <a:srgbClr val="111827"/>
                </a:solidFill>
                <a:latin typeface="Calibri" pitchFamily="34" charset="0"/>
                <a:ea typeface="Calibri" pitchFamily="34" charset="-122"/>
                <a:cs typeface="Calibri" pitchFamily="34" charset="-120"/>
              </a:rPr>
              <a:t>4 weeks</a:t>
            </a:r>
            <a:endParaRPr lang="en-US" sz="2800" dirty="0"/>
          </a:p>
        </p:txBody>
      </p:sp>
      <p:sp>
        <p:nvSpPr>
          <p:cNvPr id="19" name="Text 15"/>
          <p:cNvSpPr/>
          <p:nvPr/>
        </p:nvSpPr>
        <p:spPr>
          <a:xfrm>
            <a:off x="9433408" y="2132838"/>
            <a:ext cx="2026768" cy="288036"/>
          </a:xfrm>
          <a:prstGeom prst="rect">
            <a:avLst/>
          </a:prstGeom>
          <a:noFill/>
          <a:ln/>
        </p:spPr>
        <p:txBody>
          <a:bodyPr wrap="square" lIns="0" tIns="0" rIns="0" bIns="0" rtlCol="0" anchor="t"/>
          <a:lstStyle/>
          <a:p>
            <a:pPr indent="0" marL="0">
              <a:buNone/>
            </a:pPr>
            <a:r>
              <a:rPr lang="en-US" sz="1100" dirty="0">
                <a:solidFill>
                  <a:srgbClr val="5B6477"/>
                </a:solidFill>
                <a:latin typeface="Calibri" pitchFamily="34" charset="0"/>
                <a:ea typeface="Calibri" pitchFamily="34" charset="-122"/>
                <a:cs typeface="Calibri" pitchFamily="34" charset="-120"/>
              </a:rPr>
              <a:t>indicative duration</a:t>
            </a:r>
            <a:endParaRPr lang="en-US" sz="1100" dirty="0"/>
          </a:p>
        </p:txBody>
      </p:sp>
      <p:sp>
        <p:nvSpPr>
          <p:cNvPr id="20" name="Shape 16"/>
          <p:cNvSpPr/>
          <p:nvPr/>
        </p:nvSpPr>
        <p:spPr>
          <a:xfrm>
            <a:off x="6675120" y="2651760"/>
            <a:ext cx="2392528" cy="960120"/>
          </a:xfrm>
          <a:prstGeom prst="roundRect">
            <a:avLst>
              <a:gd name="adj" fmla="val 9524"/>
            </a:avLst>
          </a:prstGeom>
          <a:solidFill>
            <a:srgbClr val="FFFFFF"/>
          </a:solidFill>
          <a:ln w="12700">
            <a:solidFill>
              <a:srgbClr val="DDE2EE"/>
            </a:solidFill>
            <a:prstDash val="solid"/>
          </a:ln>
        </p:spPr>
      </p:sp>
      <p:sp>
        <p:nvSpPr>
          <p:cNvPr id="21" name="Text 17"/>
          <p:cNvSpPr/>
          <p:nvPr/>
        </p:nvSpPr>
        <p:spPr>
          <a:xfrm>
            <a:off x="6858000" y="2761488"/>
            <a:ext cx="2026768" cy="528066"/>
          </a:xfrm>
          <a:prstGeom prst="rect">
            <a:avLst/>
          </a:prstGeom>
          <a:noFill/>
          <a:ln/>
        </p:spPr>
        <p:txBody>
          <a:bodyPr wrap="square" lIns="0" tIns="0" rIns="0" bIns="0" rtlCol="0" anchor="ctr"/>
          <a:lstStyle/>
          <a:p>
            <a:pPr indent="0" marL="0">
              <a:buNone/>
            </a:pPr>
            <a:r>
              <a:rPr lang="en-US" sz="2800" b="1" dirty="0">
                <a:solidFill>
                  <a:srgbClr val="111827"/>
                </a:solidFill>
                <a:latin typeface="Calibri" pitchFamily="34" charset="0"/>
                <a:ea typeface="Calibri" pitchFamily="34" charset="-122"/>
                <a:cs typeface="Calibri" pitchFamily="34" charset="-120"/>
              </a:rPr>
              <a:t>6</a:t>
            </a:r>
            <a:endParaRPr lang="en-US" sz="2800" dirty="0"/>
          </a:p>
        </p:txBody>
      </p:sp>
      <p:sp>
        <p:nvSpPr>
          <p:cNvPr id="22" name="Text 18"/>
          <p:cNvSpPr/>
          <p:nvPr/>
        </p:nvSpPr>
        <p:spPr>
          <a:xfrm>
            <a:off x="6858000" y="3275838"/>
            <a:ext cx="2026768" cy="288036"/>
          </a:xfrm>
          <a:prstGeom prst="rect">
            <a:avLst/>
          </a:prstGeom>
          <a:noFill/>
          <a:ln/>
        </p:spPr>
        <p:txBody>
          <a:bodyPr wrap="square" lIns="0" tIns="0" rIns="0" bIns="0" rtlCol="0" anchor="t"/>
          <a:lstStyle/>
          <a:p>
            <a:pPr indent="0" marL="0">
              <a:buNone/>
            </a:pPr>
            <a:r>
              <a:rPr lang="en-US" sz="1100" dirty="0">
                <a:solidFill>
                  <a:srgbClr val="5B6477"/>
                </a:solidFill>
                <a:latin typeface="Calibri" pitchFamily="34" charset="0"/>
                <a:ea typeface="Calibri" pitchFamily="34" charset="-122"/>
                <a:cs typeface="Calibri" pitchFamily="34" charset="-120"/>
              </a:rPr>
              <a:t>people on the team</a:t>
            </a:r>
            <a:endParaRPr lang="en-US" sz="1100" dirty="0"/>
          </a:p>
        </p:txBody>
      </p:sp>
      <p:sp>
        <p:nvSpPr>
          <p:cNvPr id="23" name="Shape 19"/>
          <p:cNvSpPr/>
          <p:nvPr/>
        </p:nvSpPr>
        <p:spPr>
          <a:xfrm>
            <a:off x="9250528" y="2651760"/>
            <a:ext cx="2392528" cy="960120"/>
          </a:xfrm>
          <a:prstGeom prst="roundRect">
            <a:avLst>
              <a:gd name="adj" fmla="val 9524"/>
            </a:avLst>
          </a:prstGeom>
          <a:solidFill>
            <a:srgbClr val="FFFFFF"/>
          </a:solidFill>
          <a:ln w="12700">
            <a:solidFill>
              <a:srgbClr val="DDE2EE"/>
            </a:solidFill>
            <a:prstDash val="solid"/>
          </a:ln>
        </p:spPr>
      </p:sp>
      <p:sp>
        <p:nvSpPr>
          <p:cNvPr id="24" name="Text 20"/>
          <p:cNvSpPr/>
          <p:nvPr/>
        </p:nvSpPr>
        <p:spPr>
          <a:xfrm>
            <a:off x="9433408" y="2761488"/>
            <a:ext cx="2026768" cy="528066"/>
          </a:xfrm>
          <a:prstGeom prst="rect">
            <a:avLst/>
          </a:prstGeom>
          <a:noFill/>
          <a:ln/>
        </p:spPr>
        <p:txBody>
          <a:bodyPr wrap="square" lIns="0" tIns="0" rIns="0" bIns="0" rtlCol="0" anchor="ctr"/>
          <a:lstStyle/>
          <a:p>
            <a:pPr indent="0" marL="0">
              <a:buNone/>
            </a:pPr>
            <a:r>
              <a:rPr lang="en-US" sz="2000" b="1" dirty="0">
                <a:solidFill>
                  <a:srgbClr val="111827"/>
                </a:solidFill>
                <a:latin typeface="Calibri" pitchFamily="34" charset="0"/>
                <a:ea typeface="Calibri" pitchFamily="34" charset="-122"/>
                <a:cs typeface="Calibri" pitchFamily="34" charset="-120"/>
              </a:rPr>
              <a:t>In discovery</a:t>
            </a:r>
            <a:endParaRPr lang="en-US" sz="2000" dirty="0"/>
          </a:p>
        </p:txBody>
      </p:sp>
      <p:sp>
        <p:nvSpPr>
          <p:cNvPr id="25" name="Text 21"/>
          <p:cNvSpPr/>
          <p:nvPr/>
        </p:nvSpPr>
        <p:spPr>
          <a:xfrm>
            <a:off x="9433408" y="3275838"/>
            <a:ext cx="2026768" cy="288036"/>
          </a:xfrm>
          <a:prstGeom prst="rect">
            <a:avLst/>
          </a:prstGeom>
          <a:noFill/>
          <a:ln/>
        </p:spPr>
        <p:txBody>
          <a:bodyPr wrap="square" lIns="0" tIns="0" rIns="0" bIns="0" rtlCol="0" anchor="t"/>
          <a:lstStyle/>
          <a:p>
            <a:pPr indent="0" marL="0">
              <a:buNone/>
            </a:pPr>
            <a:r>
              <a:rPr lang="en-US" sz="1100" dirty="0">
                <a:solidFill>
                  <a:srgbClr val="5B6477"/>
                </a:solidFill>
                <a:latin typeface="Calibri" pitchFamily="34" charset="0"/>
                <a:ea typeface="Calibri" pitchFamily="34" charset="-122"/>
                <a:cs typeface="Calibri" pitchFamily="34" charset="-120"/>
              </a:rPr>
              <a:t>final scope and price</a:t>
            </a:r>
            <a:endParaRPr lang="en-US" sz="1100" dirty="0"/>
          </a:p>
        </p:txBody>
      </p:sp>
      <p:sp>
        <p:nvSpPr>
          <p:cNvPr id="26" name="Text 22"/>
          <p:cNvSpPr/>
          <p:nvPr/>
        </p:nvSpPr>
        <p:spPr>
          <a:xfrm>
            <a:off x="548640" y="3886200"/>
            <a:ext cx="5486400" cy="274320"/>
          </a:xfrm>
          <a:prstGeom prst="rect">
            <a:avLst/>
          </a:prstGeom>
          <a:noFill/>
          <a:ln/>
        </p:spPr>
        <p:txBody>
          <a:bodyPr wrap="square" lIns="0" tIns="0" rIns="0" bIns="0" rtlCol="0" anchor="t"/>
          <a:lstStyle/>
          <a:p>
            <a:pPr indent="0" marL="0">
              <a:buNone/>
            </a:pPr>
            <a:r>
              <a:rPr lang="en-US" sz="1000" b="1" spc="200" kern="0" dirty="0">
                <a:solidFill>
                  <a:srgbClr val="5B6477"/>
                </a:solidFill>
                <a:latin typeface="Calibri" pitchFamily="34" charset="0"/>
                <a:ea typeface="Calibri" pitchFamily="34" charset="-122"/>
                <a:cs typeface="Calibri" pitchFamily="34" charset="-120"/>
              </a:rPr>
              <a:t>ASSUMPTIONS</a:t>
            </a:r>
            <a:endParaRPr lang="en-US" sz="1000" dirty="0"/>
          </a:p>
        </p:txBody>
      </p:sp>
      <p:sp>
        <p:nvSpPr>
          <p:cNvPr id="27" name="Text 23"/>
          <p:cNvSpPr/>
          <p:nvPr/>
        </p:nvSpPr>
        <p:spPr>
          <a:xfrm>
            <a:off x="548640" y="4206240"/>
            <a:ext cx="11094415" cy="18288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111827"/>
                </a:solidFill>
                <a:latin typeface="Calibri" pitchFamily="34" charset="0"/>
                <a:ea typeface="Calibri" pitchFamily="34" charset="-122"/>
                <a:cs typeface="Calibri" pitchFamily="34" charset="-120"/>
              </a:rPr>
              <a:t>Homepage and key templates only; no new backend features</a:t>
            </a:r>
            <a:endParaRPr lang="en-US" sz="1300" dirty="0"/>
          </a:p>
          <a:p>
            <a:pPr marL="342900" indent="-342900">
              <a:spcAft>
                <a:spcPts val="600"/>
              </a:spcAft>
              <a:buSzPct val="100000"/>
              <a:buChar char="•"/>
            </a:pPr>
            <a:r>
              <a:rPr lang="en-US" sz="1300" dirty="0">
                <a:solidFill>
                  <a:srgbClr val="111827"/>
                </a:solidFill>
                <a:latin typeface="Calibri" pitchFamily="34" charset="0"/>
                <a:ea typeface="Calibri" pitchFamily="34" charset="-122"/>
                <a:cs typeface="Calibri" pitchFamily="34" charset="-120"/>
              </a:rPr>
              <a:t>Client provides brand assets and timely feedback</a:t>
            </a:r>
            <a:endParaRPr lang="en-US" sz="1300" dirty="0"/>
          </a:p>
          <a:p>
            <a:pPr marL="342900" indent="-342900">
              <a:spcAft>
                <a:spcPts val="600"/>
              </a:spcAft>
              <a:buSzPct val="100000"/>
              <a:buChar char="•"/>
            </a:pPr>
            <a:r>
              <a:rPr lang="en-US" sz="1300" dirty="0">
                <a:solidFill>
                  <a:srgbClr val="111827"/>
                </a:solidFill>
                <a:latin typeface="Calibri" pitchFamily="34" charset="0"/>
                <a:ea typeface="Calibri" pitchFamily="34" charset="-122"/>
                <a:cs typeface="Calibri" pitchFamily="34" charset="-120"/>
              </a:rPr>
              <a:t>Blended day rate 8250 with a 40% margin</a:t>
            </a:r>
            <a:endParaRPr lang="en-US" sz="1300" dirty="0"/>
          </a:p>
          <a:p>
            <a:pPr marL="342900" indent="-342900">
              <a:spcAft>
                <a:spcPts val="600"/>
              </a:spcAft>
              <a:buSzPct val="100000"/>
              <a:buChar char="•"/>
            </a:pPr>
            <a:r>
              <a:rPr lang="en-US" sz="1300" dirty="0">
                <a:solidFill>
                  <a:srgbClr val="111827"/>
                </a:solidFill>
                <a:latin typeface="Calibri" pitchFamily="34" charset="0"/>
                <a:ea typeface="Calibri" pitchFamily="34" charset="-122"/>
                <a:cs typeface="Calibri" pitchFamily="34" charset="-120"/>
              </a:rPr>
              <a:t>Estimate is +/- range until discovery is complete</a:t>
            </a:r>
            <a:endParaRPr lang="en-US" sz="1300" dirty="0"/>
          </a:p>
        </p:txBody>
      </p:sp>
      <p:sp>
        <p:nvSpPr>
          <p:cNvPr id="28" name="Text 24"/>
          <p:cNvSpPr/>
          <p:nvPr/>
        </p:nvSpPr>
        <p:spPr>
          <a:xfrm>
            <a:off x="548640" y="6035040"/>
            <a:ext cx="11094415" cy="274320"/>
          </a:xfrm>
          <a:prstGeom prst="rect">
            <a:avLst/>
          </a:prstGeom>
          <a:noFill/>
          <a:ln/>
        </p:spPr>
        <p:txBody>
          <a:bodyPr wrap="square" lIns="0" tIns="0" rIns="0" bIns="0" rtlCol="0" anchor="t"/>
          <a:lstStyle/>
          <a:p>
            <a:pPr indent="0" marL="0">
              <a:buNone/>
            </a:pPr>
            <a:r>
              <a:rPr lang="en-US" sz="1050" i="1" dirty="0">
                <a:solidFill>
                  <a:srgbClr val="5B6477"/>
                </a:solidFill>
                <a:latin typeface="Calibri" pitchFamily="34" charset="0"/>
                <a:ea typeface="Calibri" pitchFamily="34" charset="-122"/>
                <a:cs typeface="Calibri" pitchFamily="34" charset="-120"/>
              </a:rPr>
              <a:t>Terms: to be added by the account owner before this proposal is sent.</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6FB"/>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2D69E2"/>
          </a:solidFill>
          <a:ln w="12700">
            <a:solidFill>
              <a:srgbClr val="2D69E2"/>
            </a:solidFill>
            <a:prstDash val="solid"/>
          </a:ln>
        </p:spPr>
      </p:sp>
      <p:sp>
        <p:nvSpPr>
          <p:cNvPr id="3" name="Text 1"/>
          <p:cNvSpPr/>
          <p:nvPr/>
        </p:nvSpPr>
        <p:spPr>
          <a:xfrm>
            <a:off x="548640" y="347472"/>
            <a:ext cx="8229600" cy="274320"/>
          </a:xfrm>
          <a:prstGeom prst="rect">
            <a:avLst/>
          </a:prstGeom>
          <a:noFill/>
          <a:ln/>
        </p:spPr>
        <p:txBody>
          <a:bodyPr wrap="square" lIns="0" tIns="0" rIns="0" bIns="0" rtlCol="0" anchor="t"/>
          <a:lstStyle/>
          <a:p>
            <a:pPr indent="0" marL="0">
              <a:buNone/>
            </a:pPr>
            <a:r>
              <a:rPr lang="en-US" sz="1100" b="1" spc="300" kern="0" dirty="0">
                <a:solidFill>
                  <a:srgbClr val="2D69E2"/>
                </a:solidFill>
                <a:latin typeface="Calibri" pitchFamily="34" charset="0"/>
                <a:ea typeface="Calibri" pitchFamily="34" charset="-122"/>
                <a:cs typeface="Calibri" pitchFamily="34" charset="-120"/>
              </a:rPr>
              <a:t>WORKING TOGETHER</a:t>
            </a:r>
            <a:endParaRPr lang="en-US" sz="1100" dirty="0"/>
          </a:p>
        </p:txBody>
      </p:sp>
      <p:sp>
        <p:nvSpPr>
          <p:cNvPr id="4" name="Text 2"/>
          <p:cNvSpPr/>
          <p:nvPr/>
        </p:nvSpPr>
        <p:spPr>
          <a:xfrm>
            <a:off x="548640" y="621792"/>
            <a:ext cx="9326880" cy="731520"/>
          </a:xfrm>
          <a:prstGeom prst="rect">
            <a:avLst/>
          </a:prstGeom>
          <a:noFill/>
          <a:ln/>
        </p:spPr>
        <p:txBody>
          <a:bodyPr wrap="square" lIns="0" tIns="0" rIns="0" bIns="0" rtlCol="0" anchor="t">
            <a:normAutofit/>
          </a:bodyPr>
          <a:lstStyle/>
          <a:p>
            <a:pPr indent="0" marL="0">
              <a:buNone/>
            </a:pPr>
            <a:r>
              <a:rPr lang="en-US" sz="2800" b="1" dirty="0">
                <a:solidFill>
                  <a:srgbClr val="0B1B5E"/>
                </a:solidFill>
                <a:latin typeface="Calibri" pitchFamily="34" charset="0"/>
                <a:ea typeface="Calibri" pitchFamily="34" charset="-122"/>
                <a:cs typeface="Calibri" pitchFamily="34" charset="-120"/>
              </a:rPr>
              <a:t>Next steps</a:t>
            </a:r>
            <a:endParaRPr lang="en-US" sz="2800" dirty="0"/>
          </a:p>
        </p:txBody>
      </p:sp>
      <p:pic>
        <p:nvPicPr>
          <p:cNvPr id="5" name="Image 0" descr="Samsung logo">    </p:cNvPr>
          <p:cNvPicPr>
            <a:picLocks noChangeAspect="1"/>
          </p:cNvPicPr>
          <p:nvPr/>
        </p:nvPicPr>
        <p:blipFill>
          <a:blip r:embed="rId1"/>
          <a:stretch>
            <a:fillRect/>
          </a:stretch>
        </p:blipFill>
        <p:spPr>
          <a:xfrm>
            <a:off x="10454335" y="347472"/>
            <a:ext cx="1188720" cy="377258"/>
          </a:xfrm>
          <a:prstGeom prst="rect">
            <a:avLst/>
          </a:prstGeom>
        </p:spPr>
      </p:pic>
      <p:sp>
        <p:nvSpPr>
          <p:cNvPr id="6" name="Text 3"/>
          <p:cNvSpPr/>
          <p:nvPr/>
        </p:nvSpPr>
        <p:spPr>
          <a:xfrm>
            <a:off x="548640" y="6446520"/>
            <a:ext cx="7315200" cy="256032"/>
          </a:xfrm>
          <a:prstGeom prst="rect">
            <a:avLst/>
          </a:prstGeom>
          <a:noFill/>
          <a:ln/>
        </p:spPr>
        <p:txBody>
          <a:bodyPr wrap="square" lIns="0" tIns="0" rIns="0" bIns="0" rtlCol="0" anchor="t"/>
          <a:lstStyle/>
          <a:p>
            <a:pPr indent="0" marL="0">
              <a:buNone/>
            </a:pPr>
            <a:r>
              <a:rPr lang="en-US" sz="1000" dirty="0">
                <a:solidFill>
                  <a:srgbClr val="5B6477"/>
                </a:solidFill>
                <a:latin typeface="Calibri" pitchFamily="34" charset="0"/>
                <a:ea typeface="Calibri" pitchFamily="34" charset="-122"/>
                <a:cs typeface="Calibri" pitchFamily="34" charset="-120"/>
              </a:rPr>
              <a:t>Nike. Just Do It. Nike IN  ·  Prepared by Samsung SDS</a:t>
            </a:r>
            <a:endParaRPr lang="en-US" sz="1000" dirty="0"/>
          </a:p>
        </p:txBody>
      </p:sp>
      <p:sp>
        <p:nvSpPr>
          <p:cNvPr id="7" name="Text 4"/>
          <p:cNvSpPr/>
          <p:nvPr/>
        </p:nvSpPr>
        <p:spPr>
          <a:xfrm>
            <a:off x="11185855" y="6446520"/>
            <a:ext cx="457200" cy="256032"/>
          </a:xfrm>
          <a:prstGeom prst="rect">
            <a:avLst/>
          </a:prstGeom>
          <a:noFill/>
          <a:ln/>
        </p:spPr>
        <p:txBody>
          <a:bodyPr wrap="square" lIns="0" tIns="0" rIns="0" bIns="0" rtlCol="0" anchor="t"/>
          <a:lstStyle/>
          <a:p>
            <a:pPr algn="r" indent="0" marL="0">
              <a:buNone/>
            </a:pPr>
            <a:r>
              <a:rPr lang="en-US" sz="1000" dirty="0">
                <a:solidFill>
                  <a:srgbClr val="5B6477"/>
                </a:solidFill>
                <a:latin typeface="Calibri" pitchFamily="34" charset="0"/>
                <a:ea typeface="Calibri" pitchFamily="34" charset="-122"/>
                <a:cs typeface="Calibri" pitchFamily="34" charset="-120"/>
              </a:rPr>
              <a:t>15</a:t>
            </a:r>
            <a:endParaRPr lang="en-US" sz="1000" dirty="0"/>
          </a:p>
        </p:txBody>
      </p:sp>
      <p:sp>
        <p:nvSpPr>
          <p:cNvPr id="9" name="Shape 5"/>
          <p:cNvSpPr/>
          <p:nvPr/>
        </p:nvSpPr>
        <p:spPr>
          <a:xfrm>
            <a:off x="548640" y="1645920"/>
            <a:ext cx="11094415" cy="1234440"/>
          </a:xfrm>
          <a:prstGeom prst="roundRect">
            <a:avLst>
              <a:gd name="adj" fmla="val 7407"/>
            </a:avLst>
          </a:prstGeom>
          <a:solidFill>
            <a:srgbClr val="FFFFFF"/>
          </a:solidFill>
          <a:ln w="12700">
            <a:solidFill>
              <a:srgbClr val="DDE2EE"/>
            </a:solidFill>
            <a:prstDash val="solid"/>
          </a:ln>
        </p:spPr>
      </p:sp>
      <p:sp>
        <p:nvSpPr>
          <p:cNvPr id="10" name="Shape 6"/>
          <p:cNvSpPr/>
          <p:nvPr/>
        </p:nvSpPr>
        <p:spPr>
          <a:xfrm>
            <a:off x="822960" y="1920240"/>
            <a:ext cx="685800" cy="685800"/>
          </a:xfrm>
          <a:prstGeom prst="ellipse">
            <a:avLst/>
          </a:prstGeom>
          <a:solidFill>
            <a:srgbClr val="2D69E2"/>
          </a:solidFill>
          <a:ln w="12700">
            <a:solidFill>
              <a:srgbClr val="2D69E2"/>
            </a:solidFill>
            <a:prstDash val="solid"/>
          </a:ln>
        </p:spPr>
      </p:sp>
      <p:sp>
        <p:nvSpPr>
          <p:cNvPr id="11" name="Text 7"/>
          <p:cNvSpPr/>
          <p:nvPr/>
        </p:nvSpPr>
        <p:spPr>
          <a:xfrm>
            <a:off x="822960" y="1920240"/>
            <a:ext cx="685800" cy="68580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1</a:t>
            </a:r>
            <a:endParaRPr lang="en-US" sz="2400" dirty="0"/>
          </a:p>
        </p:txBody>
      </p:sp>
      <p:sp>
        <p:nvSpPr>
          <p:cNvPr id="12" name="Text 8"/>
          <p:cNvSpPr/>
          <p:nvPr/>
        </p:nvSpPr>
        <p:spPr>
          <a:xfrm>
            <a:off x="1828800" y="1847088"/>
            <a:ext cx="9448495" cy="365760"/>
          </a:xfrm>
          <a:prstGeom prst="rect">
            <a:avLst/>
          </a:prstGeom>
          <a:noFill/>
          <a:ln/>
        </p:spPr>
        <p:txBody>
          <a:bodyPr wrap="square" lIns="0" tIns="0" rIns="0" bIns="0" rtlCol="0" anchor="t"/>
          <a:lstStyle/>
          <a:p>
            <a:pPr indent="0" marL="0">
              <a:buNone/>
            </a:pPr>
            <a:r>
              <a:rPr lang="en-US" sz="1900" b="1" dirty="0">
                <a:solidFill>
                  <a:srgbClr val="111827"/>
                </a:solidFill>
                <a:latin typeface="Calibri" pitchFamily="34" charset="0"/>
                <a:ea typeface="Calibri" pitchFamily="34" charset="-122"/>
                <a:cs typeface="Calibri" pitchFamily="34" charset="-120"/>
              </a:rPr>
              <a:t>Walk through the concept</a:t>
            </a:r>
            <a:endParaRPr lang="en-US" sz="1900" dirty="0"/>
          </a:p>
        </p:txBody>
      </p:sp>
      <p:sp>
        <p:nvSpPr>
          <p:cNvPr id="13" name="Text 9"/>
          <p:cNvSpPr/>
          <p:nvPr/>
        </p:nvSpPr>
        <p:spPr>
          <a:xfrm>
            <a:off x="1828800" y="2286000"/>
            <a:ext cx="9448495" cy="502920"/>
          </a:xfrm>
          <a:prstGeom prst="rect">
            <a:avLst/>
          </a:prstGeom>
          <a:noFill/>
          <a:ln/>
        </p:spPr>
        <p:txBody>
          <a:bodyPr wrap="square" lIns="0" tIns="0" rIns="0" bIns="0" rtlCol="0" anchor="t"/>
          <a:lstStyle/>
          <a:p>
            <a:pPr indent="0" marL="0">
              <a:buNone/>
            </a:pPr>
            <a:r>
              <a:rPr lang="en-US" sz="1300" dirty="0">
                <a:solidFill>
                  <a:srgbClr val="5B6477"/>
                </a:solidFill>
                <a:latin typeface="Calibri" pitchFamily="34" charset="0"/>
                <a:ea typeface="Calibri" pitchFamily="34" charset="-122"/>
                <a:cs typeface="Calibri" pitchFamily="34" charset="-120"/>
              </a:rPr>
              <a:t>A 30-minute session with your team on Nike. Just Do It. Nike IN's homepage concept, the audit and the technology review.</a:t>
            </a:r>
            <a:endParaRPr lang="en-US" sz="1300" dirty="0"/>
          </a:p>
        </p:txBody>
      </p:sp>
      <p:sp>
        <p:nvSpPr>
          <p:cNvPr id="14" name="Shape 10"/>
          <p:cNvSpPr/>
          <p:nvPr/>
        </p:nvSpPr>
        <p:spPr>
          <a:xfrm>
            <a:off x="548640" y="3108960"/>
            <a:ext cx="11094415" cy="1234440"/>
          </a:xfrm>
          <a:prstGeom prst="roundRect">
            <a:avLst>
              <a:gd name="adj" fmla="val 7407"/>
            </a:avLst>
          </a:prstGeom>
          <a:solidFill>
            <a:srgbClr val="FFFFFF"/>
          </a:solidFill>
          <a:ln w="12700">
            <a:solidFill>
              <a:srgbClr val="DDE2EE"/>
            </a:solidFill>
            <a:prstDash val="solid"/>
          </a:ln>
        </p:spPr>
      </p:sp>
      <p:sp>
        <p:nvSpPr>
          <p:cNvPr id="15" name="Shape 11"/>
          <p:cNvSpPr/>
          <p:nvPr/>
        </p:nvSpPr>
        <p:spPr>
          <a:xfrm>
            <a:off x="822960" y="3383280"/>
            <a:ext cx="685800" cy="685800"/>
          </a:xfrm>
          <a:prstGeom prst="ellipse">
            <a:avLst/>
          </a:prstGeom>
          <a:solidFill>
            <a:srgbClr val="2D69E2"/>
          </a:solidFill>
          <a:ln w="12700">
            <a:solidFill>
              <a:srgbClr val="2D69E2"/>
            </a:solidFill>
            <a:prstDash val="solid"/>
          </a:ln>
        </p:spPr>
      </p:sp>
      <p:sp>
        <p:nvSpPr>
          <p:cNvPr id="16" name="Text 12"/>
          <p:cNvSpPr/>
          <p:nvPr/>
        </p:nvSpPr>
        <p:spPr>
          <a:xfrm>
            <a:off x="822960" y="3383280"/>
            <a:ext cx="685800" cy="68580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2</a:t>
            </a:r>
            <a:endParaRPr lang="en-US" sz="2400" dirty="0"/>
          </a:p>
        </p:txBody>
      </p:sp>
      <p:sp>
        <p:nvSpPr>
          <p:cNvPr id="17" name="Text 13"/>
          <p:cNvSpPr/>
          <p:nvPr/>
        </p:nvSpPr>
        <p:spPr>
          <a:xfrm>
            <a:off x="1828800" y="3310128"/>
            <a:ext cx="9448495" cy="365760"/>
          </a:xfrm>
          <a:prstGeom prst="rect">
            <a:avLst/>
          </a:prstGeom>
          <a:noFill/>
          <a:ln/>
        </p:spPr>
        <p:txBody>
          <a:bodyPr wrap="square" lIns="0" tIns="0" rIns="0" bIns="0" rtlCol="0" anchor="t"/>
          <a:lstStyle/>
          <a:p>
            <a:pPr indent="0" marL="0">
              <a:buNone/>
            </a:pPr>
            <a:r>
              <a:rPr lang="en-US" sz="1900" b="1" dirty="0">
                <a:solidFill>
                  <a:srgbClr val="111827"/>
                </a:solidFill>
                <a:latin typeface="Calibri" pitchFamily="34" charset="0"/>
                <a:ea typeface="Calibri" pitchFamily="34" charset="-122"/>
                <a:cs typeface="Calibri" pitchFamily="34" charset="-120"/>
              </a:rPr>
              <a:t>Discovery week</a:t>
            </a:r>
            <a:endParaRPr lang="en-US" sz="1900" dirty="0"/>
          </a:p>
        </p:txBody>
      </p:sp>
      <p:sp>
        <p:nvSpPr>
          <p:cNvPr id="18" name="Text 14"/>
          <p:cNvSpPr/>
          <p:nvPr/>
        </p:nvSpPr>
        <p:spPr>
          <a:xfrm>
            <a:off x="1828800" y="3749040"/>
            <a:ext cx="9448495" cy="502920"/>
          </a:xfrm>
          <a:prstGeom prst="rect">
            <a:avLst/>
          </a:prstGeom>
          <a:noFill/>
          <a:ln/>
        </p:spPr>
        <p:txBody>
          <a:bodyPr wrap="square" lIns="0" tIns="0" rIns="0" bIns="0" rtlCol="0" anchor="t"/>
          <a:lstStyle/>
          <a:p>
            <a:pPr indent="0" marL="0">
              <a:buNone/>
            </a:pPr>
            <a:r>
              <a:rPr lang="en-US" sz="1300" dirty="0">
                <a:solidFill>
                  <a:srgbClr val="5B6477"/>
                </a:solidFill>
                <a:latin typeface="Calibri" pitchFamily="34" charset="0"/>
                <a:ea typeface="Calibri" pitchFamily="34" charset="-122"/>
                <a:cs typeface="Calibri" pitchFamily="34" charset="-120"/>
              </a:rPr>
              <a:t>We confirm scope, constraints and price, and fix the plan and the team.</a:t>
            </a:r>
            <a:endParaRPr lang="en-US" sz="1300" dirty="0"/>
          </a:p>
        </p:txBody>
      </p:sp>
      <p:sp>
        <p:nvSpPr>
          <p:cNvPr id="19" name="Shape 15"/>
          <p:cNvSpPr/>
          <p:nvPr/>
        </p:nvSpPr>
        <p:spPr>
          <a:xfrm>
            <a:off x="548640" y="4572000"/>
            <a:ext cx="11094415" cy="1234440"/>
          </a:xfrm>
          <a:prstGeom prst="roundRect">
            <a:avLst>
              <a:gd name="adj" fmla="val 7407"/>
            </a:avLst>
          </a:prstGeom>
          <a:solidFill>
            <a:srgbClr val="FFFFFF"/>
          </a:solidFill>
          <a:ln w="12700">
            <a:solidFill>
              <a:srgbClr val="DDE2EE"/>
            </a:solidFill>
            <a:prstDash val="solid"/>
          </a:ln>
        </p:spPr>
      </p:sp>
      <p:sp>
        <p:nvSpPr>
          <p:cNvPr id="20" name="Shape 16"/>
          <p:cNvSpPr/>
          <p:nvPr/>
        </p:nvSpPr>
        <p:spPr>
          <a:xfrm>
            <a:off x="822960" y="4846320"/>
            <a:ext cx="685800" cy="685800"/>
          </a:xfrm>
          <a:prstGeom prst="ellipse">
            <a:avLst/>
          </a:prstGeom>
          <a:solidFill>
            <a:srgbClr val="2D69E2"/>
          </a:solidFill>
          <a:ln w="12700">
            <a:solidFill>
              <a:srgbClr val="2D69E2"/>
            </a:solidFill>
            <a:prstDash val="solid"/>
          </a:ln>
        </p:spPr>
      </p:sp>
      <p:sp>
        <p:nvSpPr>
          <p:cNvPr id="21" name="Text 17"/>
          <p:cNvSpPr/>
          <p:nvPr/>
        </p:nvSpPr>
        <p:spPr>
          <a:xfrm>
            <a:off x="822960" y="4846320"/>
            <a:ext cx="685800" cy="68580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3</a:t>
            </a:r>
            <a:endParaRPr lang="en-US" sz="2400" dirty="0"/>
          </a:p>
        </p:txBody>
      </p:sp>
      <p:sp>
        <p:nvSpPr>
          <p:cNvPr id="22" name="Text 18"/>
          <p:cNvSpPr/>
          <p:nvPr/>
        </p:nvSpPr>
        <p:spPr>
          <a:xfrm>
            <a:off x="1828800" y="4773168"/>
            <a:ext cx="9448495" cy="365760"/>
          </a:xfrm>
          <a:prstGeom prst="rect">
            <a:avLst/>
          </a:prstGeom>
          <a:noFill/>
          <a:ln/>
        </p:spPr>
        <p:txBody>
          <a:bodyPr wrap="square" lIns="0" tIns="0" rIns="0" bIns="0" rtlCol="0" anchor="t"/>
          <a:lstStyle/>
          <a:p>
            <a:pPr indent="0" marL="0">
              <a:buNone/>
            </a:pPr>
            <a:r>
              <a:rPr lang="en-US" sz="1900" b="1" dirty="0">
                <a:solidFill>
                  <a:srgbClr val="111827"/>
                </a:solidFill>
                <a:latin typeface="Calibri" pitchFamily="34" charset="0"/>
                <a:ea typeface="Calibri" pitchFamily="34" charset="-122"/>
                <a:cs typeface="Calibri" pitchFamily="34" charset="-120"/>
              </a:rPr>
              <a:t>Start building</a:t>
            </a:r>
            <a:endParaRPr lang="en-US" sz="1900" dirty="0"/>
          </a:p>
        </p:txBody>
      </p:sp>
      <p:sp>
        <p:nvSpPr>
          <p:cNvPr id="23" name="Text 19"/>
          <p:cNvSpPr/>
          <p:nvPr/>
        </p:nvSpPr>
        <p:spPr>
          <a:xfrm>
            <a:off x="1828800" y="5212080"/>
            <a:ext cx="9448495" cy="502920"/>
          </a:xfrm>
          <a:prstGeom prst="rect">
            <a:avLst/>
          </a:prstGeom>
          <a:noFill/>
          <a:ln/>
        </p:spPr>
        <p:txBody>
          <a:bodyPr wrap="square" lIns="0" tIns="0" rIns="0" bIns="0" rtlCol="0" anchor="t"/>
          <a:lstStyle/>
          <a:p>
            <a:pPr indent="0" marL="0">
              <a:buNone/>
            </a:pPr>
            <a:r>
              <a:rPr lang="en-US" sz="1300" dirty="0">
                <a:solidFill>
                  <a:srgbClr val="5B6477"/>
                </a:solidFill>
                <a:latin typeface="Calibri" pitchFamily="34" charset="0"/>
                <a:ea typeface="Calibri" pitchFamily="34" charset="-122"/>
                <a:cs typeface="Calibri" pitchFamily="34" charset="-120"/>
              </a:rPr>
              <a:t>The team starts 2026-11-02, with weekly demos and a launch plan.</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B1B5E"/>
        </a:solidFill>
      </p:bgPr>
    </p:bg>
    <p:spTree>
      <p:nvGrpSpPr>
        <p:cNvPr id="1" name=""/>
        <p:cNvGrpSpPr/>
        <p:nvPr/>
      </p:nvGrpSpPr>
      <p:grpSpPr>
        <a:xfrm>
          <a:off x="0" y="0"/>
          <a:ext cx="0" cy="0"/>
          <a:chOff x="0" y="0"/>
          <a:chExt cx="0" cy="0"/>
        </a:xfrm>
      </p:grpSpPr>
      <p:pic>
        <p:nvPicPr>
          <p:cNvPr id="2" name="Image 0" descr="Abstract network background">    </p:cNvPr>
          <p:cNvPicPr>
            <a:picLocks noChangeAspect="1"/>
          </p:cNvPicPr>
          <p:nvPr/>
        </p:nvPicPr>
        <p:blipFill>
          <a:blip r:embed="rId1"/>
          <a:stretch>
            <a:fillRect/>
          </a:stretch>
        </p:blipFill>
        <p:spPr>
          <a:xfrm>
            <a:off x="0" y="0"/>
            <a:ext cx="12191695" cy="6858000"/>
          </a:xfrm>
          <a:prstGeom prst="rect">
            <a:avLst/>
          </a:prstGeom>
        </p:spPr>
      </p:pic>
      <p:pic>
        <p:nvPicPr>
          <p:cNvPr id="3" name="Image 1" descr="Samsung logo">    </p:cNvPr>
          <p:cNvPicPr>
            <a:picLocks noChangeAspect="1"/>
          </p:cNvPicPr>
          <p:nvPr/>
        </p:nvPicPr>
        <p:blipFill>
          <a:blip r:embed="rId2"/>
          <a:stretch>
            <a:fillRect/>
          </a:stretch>
        </p:blipFill>
        <p:spPr>
          <a:xfrm>
            <a:off x="4632808" y="1371600"/>
            <a:ext cx="2926080" cy="928636"/>
          </a:xfrm>
          <a:prstGeom prst="rect">
            <a:avLst/>
          </a:prstGeom>
        </p:spPr>
      </p:pic>
      <p:sp>
        <p:nvSpPr>
          <p:cNvPr id="4" name="Text 0"/>
          <p:cNvSpPr/>
          <p:nvPr/>
        </p:nvSpPr>
        <p:spPr>
          <a:xfrm>
            <a:off x="1097280" y="2834640"/>
            <a:ext cx="9997135" cy="1463040"/>
          </a:xfrm>
          <a:prstGeom prst="rect">
            <a:avLst/>
          </a:prstGeom>
          <a:noFill/>
          <a:ln/>
        </p:spPr>
        <p:txBody>
          <a:bodyPr wrap="square" lIns="0" tIns="0" rIns="0" bIns="0" rtlCol="0" anchor="t">
            <a:normAutofit/>
          </a:bodyPr>
          <a:lstStyle/>
          <a:p>
            <a:pPr algn="ctr" indent="0" marL="0">
              <a:buNone/>
            </a:pPr>
            <a:r>
              <a:rPr lang="en-US" sz="3400" b="1" dirty="0">
                <a:solidFill>
                  <a:srgbClr val="FFFFFF"/>
                </a:solidFill>
                <a:latin typeface="Calibri" pitchFamily="34" charset="0"/>
                <a:ea typeface="Calibri" pitchFamily="34" charset="-122"/>
                <a:cs typeface="Calibri" pitchFamily="34" charset="-120"/>
              </a:rPr>
              <a:t>Let's make Nike. Just Do It. Nike IN's website your strongest sales channel.</a:t>
            </a:r>
            <a:endParaRPr lang="en-US" sz="3400" dirty="0"/>
          </a:p>
        </p:txBody>
      </p:sp>
      <p:sp>
        <p:nvSpPr>
          <p:cNvPr id="5" name="Text 1"/>
          <p:cNvSpPr/>
          <p:nvPr/>
        </p:nvSpPr>
        <p:spPr>
          <a:xfrm>
            <a:off x="1097280" y="4572000"/>
            <a:ext cx="9997135" cy="457200"/>
          </a:xfrm>
          <a:prstGeom prst="rect">
            <a:avLst/>
          </a:prstGeom>
          <a:noFill/>
          <a:ln/>
        </p:spPr>
        <p:txBody>
          <a:bodyPr wrap="square" lIns="0" tIns="0" rIns="0" bIns="0" rtlCol="0" anchor="t"/>
          <a:lstStyle/>
          <a:p>
            <a:pPr algn="ctr" indent="0" marL="0">
              <a:buNone/>
            </a:pPr>
            <a:r>
              <a:rPr lang="en-US" sz="1800" dirty="0">
                <a:solidFill>
                  <a:srgbClr val="DCE3FF"/>
                </a:solidFill>
                <a:latin typeface="Calibri" pitchFamily="34" charset="0"/>
                <a:ea typeface="Calibri" pitchFamily="34" charset="-122"/>
                <a:cs typeface="Calibri" pitchFamily="34" charset="-120"/>
              </a:rPr>
              <a:t>Samsung SDS · Digital Engineering</a:t>
            </a:r>
            <a:endParaRPr lang="en-US" sz="1800" dirty="0"/>
          </a:p>
        </p:txBody>
      </p:sp>
      <p:sp>
        <p:nvSpPr>
          <p:cNvPr id="6" name="Text 2"/>
          <p:cNvSpPr/>
          <p:nvPr/>
        </p:nvSpPr>
        <p:spPr>
          <a:xfrm>
            <a:off x="1097280" y="5120640"/>
            <a:ext cx="9997135" cy="365760"/>
          </a:xfrm>
          <a:prstGeom prst="rect">
            <a:avLst/>
          </a:prstGeom>
          <a:noFill/>
          <a:ln/>
        </p:spPr>
        <p:txBody>
          <a:bodyPr wrap="square" lIns="0" tIns="0" rIns="0" bIns="0" rtlCol="0" anchor="t"/>
          <a:lstStyle/>
          <a:p>
            <a:pPr algn="ctr" indent="0" marL="0">
              <a:buNone/>
            </a:pPr>
            <a:r>
              <a:rPr lang="en-US" sz="1300" dirty="0">
                <a:solidFill>
                  <a:srgbClr val="B7C4FF"/>
                </a:solidFill>
                <a:latin typeface="Calibri" pitchFamily="34" charset="0"/>
                <a:ea typeface="Calibri" pitchFamily="34" charset="-122"/>
                <a:cs typeface="Calibri" pitchFamily="34" charset="-120"/>
              </a:rPr>
              <a:t>nike.in  ·  2026-10-26</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F6FB"/>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2D69E2"/>
          </a:solidFill>
          <a:ln w="12700">
            <a:solidFill>
              <a:srgbClr val="2D69E2"/>
            </a:solidFill>
            <a:prstDash val="solid"/>
          </a:ln>
        </p:spPr>
      </p:sp>
      <p:sp>
        <p:nvSpPr>
          <p:cNvPr id="3" name="Text 1"/>
          <p:cNvSpPr/>
          <p:nvPr/>
        </p:nvSpPr>
        <p:spPr>
          <a:xfrm>
            <a:off x="548640" y="347472"/>
            <a:ext cx="8229600" cy="274320"/>
          </a:xfrm>
          <a:prstGeom prst="rect">
            <a:avLst/>
          </a:prstGeom>
          <a:noFill/>
          <a:ln/>
        </p:spPr>
        <p:txBody>
          <a:bodyPr wrap="square" lIns="0" tIns="0" rIns="0" bIns="0" rtlCol="0" anchor="t"/>
          <a:lstStyle/>
          <a:p>
            <a:pPr indent="0" marL="0">
              <a:buNone/>
            </a:pPr>
            <a:r>
              <a:rPr lang="en-US" sz="1100" b="1" spc="300" kern="0" dirty="0">
                <a:solidFill>
                  <a:srgbClr val="2D69E2"/>
                </a:solidFill>
                <a:latin typeface="Calibri" pitchFamily="34" charset="0"/>
                <a:ea typeface="Calibri" pitchFamily="34" charset="-122"/>
                <a:cs typeface="Calibri" pitchFamily="34" charset="-120"/>
              </a:rPr>
              <a:t>APPENDIX</a:t>
            </a:r>
            <a:endParaRPr lang="en-US" sz="1100" dirty="0"/>
          </a:p>
        </p:txBody>
      </p:sp>
      <p:sp>
        <p:nvSpPr>
          <p:cNvPr id="4" name="Text 2"/>
          <p:cNvSpPr/>
          <p:nvPr/>
        </p:nvSpPr>
        <p:spPr>
          <a:xfrm>
            <a:off x="548640" y="621792"/>
            <a:ext cx="9326880" cy="731520"/>
          </a:xfrm>
          <a:prstGeom prst="rect">
            <a:avLst/>
          </a:prstGeom>
          <a:noFill/>
          <a:ln/>
        </p:spPr>
        <p:txBody>
          <a:bodyPr wrap="square" lIns="0" tIns="0" rIns="0" bIns="0" rtlCol="0" anchor="t">
            <a:normAutofit/>
          </a:bodyPr>
          <a:lstStyle/>
          <a:p>
            <a:pPr indent="0" marL="0">
              <a:buNone/>
            </a:pPr>
            <a:r>
              <a:rPr lang="en-US" sz="2800" b="1" dirty="0">
                <a:solidFill>
                  <a:srgbClr val="0B1B5E"/>
                </a:solidFill>
                <a:latin typeface="Calibri" pitchFamily="34" charset="0"/>
                <a:ea typeface="Calibri" pitchFamily="34" charset="-122"/>
                <a:cs typeface="Calibri" pitchFamily="34" charset="-120"/>
              </a:rPr>
              <a:t>How we measured</a:t>
            </a:r>
            <a:endParaRPr lang="en-US" sz="2800" dirty="0"/>
          </a:p>
        </p:txBody>
      </p:sp>
      <p:pic>
        <p:nvPicPr>
          <p:cNvPr id="5" name="Image 0" descr="Samsung logo">    </p:cNvPr>
          <p:cNvPicPr>
            <a:picLocks noChangeAspect="1"/>
          </p:cNvPicPr>
          <p:nvPr/>
        </p:nvPicPr>
        <p:blipFill>
          <a:blip r:embed="rId1"/>
          <a:stretch>
            <a:fillRect/>
          </a:stretch>
        </p:blipFill>
        <p:spPr>
          <a:xfrm>
            <a:off x="10454335" y="347472"/>
            <a:ext cx="1188720" cy="377258"/>
          </a:xfrm>
          <a:prstGeom prst="rect">
            <a:avLst/>
          </a:prstGeom>
        </p:spPr>
      </p:pic>
      <p:sp>
        <p:nvSpPr>
          <p:cNvPr id="6" name="Text 3"/>
          <p:cNvSpPr/>
          <p:nvPr/>
        </p:nvSpPr>
        <p:spPr>
          <a:xfrm>
            <a:off x="548640" y="6446520"/>
            <a:ext cx="7315200" cy="256032"/>
          </a:xfrm>
          <a:prstGeom prst="rect">
            <a:avLst/>
          </a:prstGeom>
          <a:noFill/>
          <a:ln/>
        </p:spPr>
        <p:txBody>
          <a:bodyPr wrap="square" lIns="0" tIns="0" rIns="0" bIns="0" rtlCol="0" anchor="t"/>
          <a:lstStyle/>
          <a:p>
            <a:pPr indent="0" marL="0">
              <a:buNone/>
            </a:pPr>
            <a:r>
              <a:rPr lang="en-US" sz="1000" dirty="0">
                <a:solidFill>
                  <a:srgbClr val="5B6477"/>
                </a:solidFill>
                <a:latin typeface="Calibri" pitchFamily="34" charset="0"/>
                <a:ea typeface="Calibri" pitchFamily="34" charset="-122"/>
                <a:cs typeface="Calibri" pitchFamily="34" charset="-120"/>
              </a:rPr>
              <a:t>Nike. Just Do It. Nike IN  ·  Prepared by Samsung SDS</a:t>
            </a:r>
            <a:endParaRPr lang="en-US" sz="1000" dirty="0"/>
          </a:p>
        </p:txBody>
      </p:sp>
      <p:sp>
        <p:nvSpPr>
          <p:cNvPr id="7" name="Text 4"/>
          <p:cNvSpPr/>
          <p:nvPr/>
        </p:nvSpPr>
        <p:spPr>
          <a:xfrm>
            <a:off x="11185855" y="6446520"/>
            <a:ext cx="457200" cy="256032"/>
          </a:xfrm>
          <a:prstGeom prst="rect">
            <a:avLst/>
          </a:prstGeom>
          <a:noFill/>
          <a:ln/>
        </p:spPr>
        <p:txBody>
          <a:bodyPr wrap="square" lIns="0" tIns="0" rIns="0" bIns="0" rtlCol="0" anchor="t"/>
          <a:lstStyle/>
          <a:p>
            <a:pPr algn="r" indent="0" marL="0">
              <a:buNone/>
            </a:pPr>
            <a:r>
              <a:rPr lang="en-US" sz="1000" dirty="0">
                <a:solidFill>
                  <a:srgbClr val="5B6477"/>
                </a:solidFill>
                <a:latin typeface="Calibri" pitchFamily="34" charset="0"/>
                <a:ea typeface="Calibri" pitchFamily="34" charset="-122"/>
                <a:cs typeface="Calibri" pitchFamily="34" charset="-120"/>
              </a:rPr>
              <a:t>17</a:t>
            </a:r>
            <a:endParaRPr lang="en-US" sz="1000" dirty="0"/>
          </a:p>
        </p:txBody>
      </p:sp>
      <p:sp>
        <p:nvSpPr>
          <p:cNvPr id="9" name="Shape 5"/>
          <p:cNvSpPr/>
          <p:nvPr/>
        </p:nvSpPr>
        <p:spPr>
          <a:xfrm>
            <a:off x="548640" y="1508760"/>
            <a:ext cx="5394960" cy="1188720"/>
          </a:xfrm>
          <a:prstGeom prst="roundRect">
            <a:avLst>
              <a:gd name="adj" fmla="val 7692"/>
            </a:avLst>
          </a:prstGeom>
          <a:solidFill>
            <a:srgbClr val="FFFFFF"/>
          </a:solidFill>
          <a:ln w="12700">
            <a:solidFill>
              <a:srgbClr val="DDE2EE"/>
            </a:solidFill>
            <a:prstDash val="solid"/>
          </a:ln>
        </p:spPr>
      </p:sp>
      <p:sp>
        <p:nvSpPr>
          <p:cNvPr id="10" name="Text 6"/>
          <p:cNvSpPr/>
          <p:nvPr/>
        </p:nvSpPr>
        <p:spPr>
          <a:xfrm>
            <a:off x="777240" y="1645920"/>
            <a:ext cx="4937760" cy="274320"/>
          </a:xfrm>
          <a:prstGeom prst="rect">
            <a:avLst/>
          </a:prstGeom>
          <a:noFill/>
          <a:ln/>
        </p:spPr>
        <p:txBody>
          <a:bodyPr wrap="square" lIns="0" tIns="0" rIns="0" bIns="0" rtlCol="0" anchor="t"/>
          <a:lstStyle/>
          <a:p>
            <a:pPr indent="0" marL="0">
              <a:buNone/>
            </a:pPr>
            <a:r>
              <a:rPr lang="en-US" sz="1400" b="1" dirty="0">
                <a:solidFill>
                  <a:srgbClr val="2D69E2"/>
                </a:solidFill>
                <a:latin typeface="Calibri" pitchFamily="34" charset="0"/>
                <a:ea typeface="Calibri" pitchFamily="34" charset="-122"/>
                <a:cs typeface="Calibri" pitchFamily="34" charset="-120"/>
              </a:rPr>
              <a:t>Speed</a:t>
            </a:r>
            <a:endParaRPr lang="en-US" sz="1400" dirty="0"/>
          </a:p>
        </p:txBody>
      </p:sp>
      <p:sp>
        <p:nvSpPr>
          <p:cNvPr id="11" name="Text 7"/>
          <p:cNvSpPr/>
          <p:nvPr/>
        </p:nvSpPr>
        <p:spPr>
          <a:xfrm>
            <a:off x="777240" y="1965960"/>
            <a:ext cx="4937760" cy="685800"/>
          </a:xfrm>
          <a:prstGeom prst="rect">
            <a:avLst/>
          </a:prstGeom>
          <a:noFill/>
          <a:ln/>
        </p:spPr>
        <p:txBody>
          <a:bodyPr wrap="square" lIns="0" tIns="0" rIns="0" bIns="0" rtlCol="0" anchor="t"/>
          <a:lstStyle/>
          <a:p>
            <a:pPr indent="0" marL="0">
              <a:buNone/>
            </a:pPr>
            <a:r>
              <a:rPr lang="en-US" sz="1150" dirty="0">
                <a:solidFill>
                  <a:srgbClr val="5B6477"/>
                </a:solidFill>
                <a:latin typeface="Calibri" pitchFamily="34" charset="0"/>
                <a:ea typeface="Calibri" pitchFamily="34" charset="-122"/>
                <a:cs typeface="Calibri" pitchFamily="34" charset="-120"/>
              </a:rPr>
              <a:t>Lighthouse 12, mobile profile with simulated throttling. Falls back to browser timings if Lighthouse cannot run.</a:t>
            </a:r>
            <a:endParaRPr lang="en-US" sz="1150" dirty="0"/>
          </a:p>
        </p:txBody>
      </p:sp>
      <p:sp>
        <p:nvSpPr>
          <p:cNvPr id="12" name="Shape 8"/>
          <p:cNvSpPr/>
          <p:nvPr/>
        </p:nvSpPr>
        <p:spPr>
          <a:xfrm>
            <a:off x="6172200" y="1508760"/>
            <a:ext cx="5394960" cy="1188720"/>
          </a:xfrm>
          <a:prstGeom prst="roundRect">
            <a:avLst>
              <a:gd name="adj" fmla="val 7692"/>
            </a:avLst>
          </a:prstGeom>
          <a:solidFill>
            <a:srgbClr val="FFFFFF"/>
          </a:solidFill>
          <a:ln w="12700">
            <a:solidFill>
              <a:srgbClr val="DDE2EE"/>
            </a:solidFill>
            <a:prstDash val="solid"/>
          </a:ln>
        </p:spPr>
      </p:sp>
      <p:sp>
        <p:nvSpPr>
          <p:cNvPr id="13" name="Text 9"/>
          <p:cNvSpPr/>
          <p:nvPr/>
        </p:nvSpPr>
        <p:spPr>
          <a:xfrm>
            <a:off x="6400800" y="1645920"/>
            <a:ext cx="4937760" cy="274320"/>
          </a:xfrm>
          <a:prstGeom prst="rect">
            <a:avLst/>
          </a:prstGeom>
          <a:noFill/>
          <a:ln/>
        </p:spPr>
        <p:txBody>
          <a:bodyPr wrap="square" lIns="0" tIns="0" rIns="0" bIns="0" rtlCol="0" anchor="t"/>
          <a:lstStyle/>
          <a:p>
            <a:pPr indent="0" marL="0">
              <a:buNone/>
            </a:pPr>
            <a:r>
              <a:rPr lang="en-US" sz="1400" b="1" dirty="0">
                <a:solidFill>
                  <a:srgbClr val="2D69E2"/>
                </a:solidFill>
                <a:latin typeface="Calibri" pitchFamily="34" charset="0"/>
                <a:ea typeface="Calibri" pitchFamily="34" charset="-122"/>
                <a:cs typeface="Calibri" pitchFamily="34" charset="-120"/>
              </a:rPr>
              <a:t>Mobile</a:t>
            </a:r>
            <a:endParaRPr lang="en-US" sz="1400" dirty="0"/>
          </a:p>
        </p:txBody>
      </p:sp>
      <p:sp>
        <p:nvSpPr>
          <p:cNvPr id="14" name="Text 10"/>
          <p:cNvSpPr/>
          <p:nvPr/>
        </p:nvSpPr>
        <p:spPr>
          <a:xfrm>
            <a:off x="6400800" y="1965960"/>
            <a:ext cx="4937760" cy="685800"/>
          </a:xfrm>
          <a:prstGeom prst="rect">
            <a:avLst/>
          </a:prstGeom>
          <a:noFill/>
          <a:ln/>
        </p:spPr>
        <p:txBody>
          <a:bodyPr wrap="square" lIns="0" tIns="0" rIns="0" bIns="0" rtlCol="0" anchor="t"/>
          <a:lstStyle/>
          <a:p>
            <a:pPr indent="0" marL="0">
              <a:buNone/>
            </a:pPr>
            <a:r>
              <a:rPr lang="en-US" sz="1150" dirty="0">
                <a:solidFill>
                  <a:srgbClr val="5B6477"/>
                </a:solidFill>
                <a:latin typeface="Calibri" pitchFamily="34" charset="0"/>
                <a:ea typeface="Calibri" pitchFamily="34" charset="-122"/>
                <a:cs typeface="Calibri" pitchFamily="34" charset="-120"/>
              </a:rPr>
              <a:t>The page reloaded at phone size with touch: viewport, overflow, tap targets, text size.</a:t>
            </a:r>
            <a:endParaRPr lang="en-US" sz="1150" dirty="0"/>
          </a:p>
        </p:txBody>
      </p:sp>
      <p:sp>
        <p:nvSpPr>
          <p:cNvPr id="15" name="Shape 11"/>
          <p:cNvSpPr/>
          <p:nvPr/>
        </p:nvSpPr>
        <p:spPr>
          <a:xfrm>
            <a:off x="548640" y="2880360"/>
            <a:ext cx="5394960" cy="1188720"/>
          </a:xfrm>
          <a:prstGeom prst="roundRect">
            <a:avLst>
              <a:gd name="adj" fmla="val 7692"/>
            </a:avLst>
          </a:prstGeom>
          <a:solidFill>
            <a:srgbClr val="FFFFFF"/>
          </a:solidFill>
          <a:ln w="12700">
            <a:solidFill>
              <a:srgbClr val="DDE2EE"/>
            </a:solidFill>
            <a:prstDash val="solid"/>
          </a:ln>
        </p:spPr>
      </p:sp>
      <p:sp>
        <p:nvSpPr>
          <p:cNvPr id="16" name="Text 12"/>
          <p:cNvSpPr/>
          <p:nvPr/>
        </p:nvSpPr>
        <p:spPr>
          <a:xfrm>
            <a:off x="777240" y="3017520"/>
            <a:ext cx="4937760" cy="274320"/>
          </a:xfrm>
          <a:prstGeom prst="rect">
            <a:avLst/>
          </a:prstGeom>
          <a:noFill/>
          <a:ln/>
        </p:spPr>
        <p:txBody>
          <a:bodyPr wrap="square" lIns="0" tIns="0" rIns="0" bIns="0" rtlCol="0" anchor="t"/>
          <a:lstStyle/>
          <a:p>
            <a:pPr indent="0" marL="0">
              <a:buNone/>
            </a:pPr>
            <a:r>
              <a:rPr lang="en-US" sz="1400" b="1" dirty="0">
                <a:solidFill>
                  <a:srgbClr val="2D69E2"/>
                </a:solidFill>
                <a:latin typeface="Calibri" pitchFamily="34" charset="0"/>
                <a:ea typeface="Calibri" pitchFamily="34" charset="-122"/>
                <a:cs typeface="Calibri" pitchFamily="34" charset="-120"/>
              </a:rPr>
              <a:t>Accessibility</a:t>
            </a:r>
            <a:endParaRPr lang="en-US" sz="1400" dirty="0"/>
          </a:p>
        </p:txBody>
      </p:sp>
      <p:sp>
        <p:nvSpPr>
          <p:cNvPr id="17" name="Text 13"/>
          <p:cNvSpPr/>
          <p:nvPr/>
        </p:nvSpPr>
        <p:spPr>
          <a:xfrm>
            <a:off x="777240" y="3337560"/>
            <a:ext cx="4937760" cy="685800"/>
          </a:xfrm>
          <a:prstGeom prst="rect">
            <a:avLst/>
          </a:prstGeom>
          <a:noFill/>
          <a:ln/>
        </p:spPr>
        <p:txBody>
          <a:bodyPr wrap="square" lIns="0" tIns="0" rIns="0" bIns="0" rtlCol="0" anchor="t"/>
          <a:lstStyle/>
          <a:p>
            <a:pPr indent="0" marL="0">
              <a:buNone/>
            </a:pPr>
            <a:r>
              <a:rPr lang="en-US" sz="1150" dirty="0">
                <a:solidFill>
                  <a:srgbClr val="5B6477"/>
                </a:solidFill>
                <a:latin typeface="Calibri" pitchFamily="34" charset="0"/>
                <a:ea typeface="Calibri" pitchFamily="34" charset="-122"/>
                <a:cs typeface="Calibri" pitchFamily="34" charset="-120"/>
              </a:rPr>
              <a:t>axe-core run in a real browser; each rule weighted by impact.</a:t>
            </a:r>
            <a:endParaRPr lang="en-US" sz="1150" dirty="0"/>
          </a:p>
        </p:txBody>
      </p:sp>
      <p:sp>
        <p:nvSpPr>
          <p:cNvPr id="18" name="Shape 14"/>
          <p:cNvSpPr/>
          <p:nvPr/>
        </p:nvSpPr>
        <p:spPr>
          <a:xfrm>
            <a:off x="6172200" y="2880360"/>
            <a:ext cx="5394960" cy="1188720"/>
          </a:xfrm>
          <a:prstGeom prst="roundRect">
            <a:avLst>
              <a:gd name="adj" fmla="val 7692"/>
            </a:avLst>
          </a:prstGeom>
          <a:solidFill>
            <a:srgbClr val="FFFFFF"/>
          </a:solidFill>
          <a:ln w="12700">
            <a:solidFill>
              <a:srgbClr val="DDE2EE"/>
            </a:solidFill>
            <a:prstDash val="solid"/>
          </a:ln>
        </p:spPr>
      </p:sp>
      <p:sp>
        <p:nvSpPr>
          <p:cNvPr id="19" name="Text 15"/>
          <p:cNvSpPr/>
          <p:nvPr/>
        </p:nvSpPr>
        <p:spPr>
          <a:xfrm>
            <a:off x="6400800" y="3017520"/>
            <a:ext cx="4937760" cy="274320"/>
          </a:xfrm>
          <a:prstGeom prst="rect">
            <a:avLst/>
          </a:prstGeom>
          <a:noFill/>
          <a:ln/>
        </p:spPr>
        <p:txBody>
          <a:bodyPr wrap="square" lIns="0" tIns="0" rIns="0" bIns="0" rtlCol="0" anchor="t"/>
          <a:lstStyle/>
          <a:p>
            <a:pPr indent="0" marL="0">
              <a:buNone/>
            </a:pPr>
            <a:r>
              <a:rPr lang="en-US" sz="1400" b="1" dirty="0">
                <a:solidFill>
                  <a:srgbClr val="2D69E2"/>
                </a:solidFill>
                <a:latin typeface="Calibri" pitchFamily="34" charset="0"/>
                <a:ea typeface="Calibri" pitchFamily="34" charset="-122"/>
                <a:cs typeface="Calibri" pitchFamily="34" charset="-120"/>
              </a:rPr>
              <a:t>UX</a:t>
            </a:r>
            <a:endParaRPr lang="en-US" sz="1400" dirty="0"/>
          </a:p>
        </p:txBody>
      </p:sp>
      <p:sp>
        <p:nvSpPr>
          <p:cNvPr id="20" name="Text 16"/>
          <p:cNvSpPr/>
          <p:nvPr/>
        </p:nvSpPr>
        <p:spPr>
          <a:xfrm>
            <a:off x="6400800" y="3337560"/>
            <a:ext cx="4937760" cy="685800"/>
          </a:xfrm>
          <a:prstGeom prst="rect">
            <a:avLst/>
          </a:prstGeom>
          <a:noFill/>
          <a:ln/>
        </p:spPr>
        <p:txBody>
          <a:bodyPr wrap="square" lIns="0" tIns="0" rIns="0" bIns="0" rtlCol="0" anchor="t"/>
          <a:lstStyle/>
          <a:p>
            <a:pPr indent="0" marL="0">
              <a:buNone/>
            </a:pPr>
            <a:r>
              <a:rPr lang="en-US" sz="1150" dirty="0">
                <a:solidFill>
                  <a:srgbClr val="5B6477"/>
                </a:solidFill>
                <a:latin typeface="Calibri" pitchFamily="34" charset="0"/>
                <a:ea typeface="Calibri" pitchFamily="34" charset="-122"/>
                <a:cs typeface="Calibri" pitchFamily="34" charset="-120"/>
              </a:rPr>
              <a:t>A vision model scores a screenshot against a fixed rubric; findings must cite what is visible.</a:t>
            </a:r>
            <a:endParaRPr lang="en-US" sz="1150" dirty="0"/>
          </a:p>
        </p:txBody>
      </p:sp>
      <p:sp>
        <p:nvSpPr>
          <p:cNvPr id="21" name="Shape 17"/>
          <p:cNvSpPr/>
          <p:nvPr/>
        </p:nvSpPr>
        <p:spPr>
          <a:xfrm>
            <a:off x="548640" y="4251960"/>
            <a:ext cx="5394960" cy="1188720"/>
          </a:xfrm>
          <a:prstGeom prst="roundRect">
            <a:avLst>
              <a:gd name="adj" fmla="val 7692"/>
            </a:avLst>
          </a:prstGeom>
          <a:solidFill>
            <a:srgbClr val="FFFFFF"/>
          </a:solidFill>
          <a:ln w="12700">
            <a:solidFill>
              <a:srgbClr val="DDE2EE"/>
            </a:solidFill>
            <a:prstDash val="solid"/>
          </a:ln>
        </p:spPr>
      </p:sp>
      <p:sp>
        <p:nvSpPr>
          <p:cNvPr id="22" name="Text 18"/>
          <p:cNvSpPr/>
          <p:nvPr/>
        </p:nvSpPr>
        <p:spPr>
          <a:xfrm>
            <a:off x="777240" y="4389120"/>
            <a:ext cx="4937760" cy="274320"/>
          </a:xfrm>
          <a:prstGeom prst="rect">
            <a:avLst/>
          </a:prstGeom>
          <a:noFill/>
          <a:ln/>
        </p:spPr>
        <p:txBody>
          <a:bodyPr wrap="square" lIns="0" tIns="0" rIns="0" bIns="0" rtlCol="0" anchor="t"/>
          <a:lstStyle/>
          <a:p>
            <a:pPr indent="0" marL="0">
              <a:buNone/>
            </a:pPr>
            <a:r>
              <a:rPr lang="en-US" sz="1400" b="1" dirty="0">
                <a:solidFill>
                  <a:srgbClr val="2D69E2"/>
                </a:solidFill>
                <a:latin typeface="Calibri" pitchFamily="34" charset="0"/>
                <a:ea typeface="Calibri" pitchFamily="34" charset="-122"/>
                <a:cs typeface="Calibri" pitchFamily="34" charset="-120"/>
              </a:rPr>
              <a:t>AI search</a:t>
            </a:r>
            <a:endParaRPr lang="en-US" sz="1400" dirty="0"/>
          </a:p>
        </p:txBody>
      </p:sp>
      <p:sp>
        <p:nvSpPr>
          <p:cNvPr id="23" name="Text 19"/>
          <p:cNvSpPr/>
          <p:nvPr/>
        </p:nvSpPr>
        <p:spPr>
          <a:xfrm>
            <a:off x="777240" y="4709160"/>
            <a:ext cx="4937760" cy="685800"/>
          </a:xfrm>
          <a:prstGeom prst="rect">
            <a:avLst/>
          </a:prstGeom>
          <a:noFill/>
          <a:ln/>
        </p:spPr>
        <p:txBody>
          <a:bodyPr wrap="square" lIns="0" tIns="0" rIns="0" bIns="0" rtlCol="0" anchor="t"/>
          <a:lstStyle/>
          <a:p>
            <a:pPr indent="0" marL="0">
              <a:buNone/>
            </a:pPr>
            <a:r>
              <a:rPr lang="en-US" sz="1150" dirty="0">
                <a:solidFill>
                  <a:srgbClr val="5B6477"/>
                </a:solidFill>
                <a:latin typeface="Calibri" pitchFamily="34" charset="0"/>
                <a:ea typeface="Calibri" pitchFamily="34" charset="-122"/>
                <a:cs typeface="Calibri" pitchFamily="34" charset="-120"/>
              </a:rPr>
              <a:t>Structured data, llms.txt, AI-crawler rules and a model judgement of how clearly the page says what you do.</a:t>
            </a:r>
            <a:endParaRPr lang="en-US" sz="1150" dirty="0"/>
          </a:p>
        </p:txBody>
      </p:sp>
      <p:sp>
        <p:nvSpPr>
          <p:cNvPr id="24" name="Shape 20"/>
          <p:cNvSpPr/>
          <p:nvPr/>
        </p:nvSpPr>
        <p:spPr>
          <a:xfrm>
            <a:off x="6172200" y="4251960"/>
            <a:ext cx="5394960" cy="1188720"/>
          </a:xfrm>
          <a:prstGeom prst="roundRect">
            <a:avLst>
              <a:gd name="adj" fmla="val 7692"/>
            </a:avLst>
          </a:prstGeom>
          <a:solidFill>
            <a:srgbClr val="FFFFFF"/>
          </a:solidFill>
          <a:ln w="12700">
            <a:solidFill>
              <a:srgbClr val="DDE2EE"/>
            </a:solidFill>
            <a:prstDash val="solid"/>
          </a:ln>
        </p:spPr>
      </p:sp>
      <p:sp>
        <p:nvSpPr>
          <p:cNvPr id="25" name="Text 21"/>
          <p:cNvSpPr/>
          <p:nvPr/>
        </p:nvSpPr>
        <p:spPr>
          <a:xfrm>
            <a:off x="6400800" y="4389120"/>
            <a:ext cx="4937760" cy="274320"/>
          </a:xfrm>
          <a:prstGeom prst="rect">
            <a:avLst/>
          </a:prstGeom>
          <a:noFill/>
          <a:ln/>
        </p:spPr>
        <p:txBody>
          <a:bodyPr wrap="square" lIns="0" tIns="0" rIns="0" bIns="0" rtlCol="0" anchor="t"/>
          <a:lstStyle/>
          <a:p>
            <a:pPr indent="0" marL="0">
              <a:buNone/>
            </a:pPr>
            <a:r>
              <a:rPr lang="en-US" sz="1400" b="1" dirty="0">
                <a:solidFill>
                  <a:srgbClr val="2D69E2"/>
                </a:solidFill>
                <a:latin typeface="Calibri" pitchFamily="34" charset="0"/>
                <a:ea typeface="Calibri" pitchFamily="34" charset="-122"/>
                <a:cs typeface="Calibri" pitchFamily="34" charset="-120"/>
              </a:rPr>
              <a:t>Technology</a:t>
            </a:r>
            <a:endParaRPr lang="en-US" sz="1400" dirty="0"/>
          </a:p>
        </p:txBody>
      </p:sp>
      <p:sp>
        <p:nvSpPr>
          <p:cNvPr id="26" name="Text 22"/>
          <p:cNvSpPr/>
          <p:nvPr/>
        </p:nvSpPr>
        <p:spPr>
          <a:xfrm>
            <a:off x="6400800" y="4709160"/>
            <a:ext cx="4937760" cy="685800"/>
          </a:xfrm>
          <a:prstGeom prst="rect">
            <a:avLst/>
          </a:prstGeom>
          <a:noFill/>
          <a:ln/>
        </p:spPr>
        <p:txBody>
          <a:bodyPr wrap="square" lIns="0" tIns="0" rIns="0" bIns="0" rtlCol="0" anchor="t"/>
          <a:lstStyle/>
          <a:p>
            <a:pPr indent="0" marL="0">
              <a:buNone/>
            </a:pPr>
            <a:r>
              <a:rPr lang="en-US" sz="1150" dirty="0">
                <a:solidFill>
                  <a:srgbClr val="5B6477"/>
                </a:solidFill>
                <a:latin typeface="Calibri" pitchFamily="34" charset="0"/>
                <a:ea typeface="Calibri" pitchFamily="34" charset="-122"/>
                <a:cs typeface="Calibri" pitchFamily="34" charset="-120"/>
              </a:rPr>
              <a:t>About 130 signatures over network requests, headers, cookies, markup and script globals. A hint, not a certainty.</a:t>
            </a:r>
            <a:endParaRPr lang="en-US" sz="1150" dirty="0"/>
          </a:p>
        </p:txBody>
      </p:sp>
      <p:sp>
        <p:nvSpPr>
          <p:cNvPr id="27" name="Text 23"/>
          <p:cNvSpPr/>
          <p:nvPr/>
        </p:nvSpPr>
        <p:spPr>
          <a:xfrm>
            <a:off x="548640" y="5760720"/>
            <a:ext cx="11094415" cy="457200"/>
          </a:xfrm>
          <a:prstGeom prst="rect">
            <a:avLst/>
          </a:prstGeom>
          <a:noFill/>
          <a:ln/>
        </p:spPr>
        <p:txBody>
          <a:bodyPr wrap="square" lIns="0" tIns="0" rIns="0" bIns="0" rtlCol="0" anchor="t"/>
          <a:lstStyle/>
          <a:p>
            <a:pPr indent="0" marL="0">
              <a:buNone/>
            </a:pPr>
            <a:r>
              <a:rPr lang="en-US" sz="1100" dirty="0">
                <a:solidFill>
                  <a:srgbClr val="5B6477"/>
                </a:solidFill>
                <a:latin typeface="Calibri" pitchFamily="34" charset="0"/>
                <a:ea typeface="Calibri" pitchFamily="34" charset="-122"/>
                <a:cs typeface="Calibri" pitchFamily="34" charset="-120"/>
              </a:rPr>
              <a:t>Scores are for the homepage only, measured once. The bench roster, skills inventory and rates are sample data until connected to real systems.</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Samsung SDS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Nike. Just Do It. Nike IN: website improvement proposal</dc:title>
  <dc:subject>PptxGenJS Presentation</dc:subject>
  <dc:creator>Samsung SDS</dc:creator>
  <cp:lastModifiedBy>Samsung SDS</cp:lastModifiedBy>
  <cp:revision>1</cp:revision>
  <dcterms:created xsi:type="dcterms:W3CDTF">2026-10-26T19:06:57Z</dcterms:created>
  <dcterms:modified xsi:type="dcterms:W3CDTF">2026-10-26T19:06:57Z</dcterms:modified>
</cp:coreProperties>
</file>