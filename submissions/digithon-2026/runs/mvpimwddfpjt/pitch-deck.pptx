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charts/chart1.xml" ContentType="application/vnd.openxmlformats-officedocument.drawingml.chart+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charts/chart2.xml" ContentType="application/vnd.openxmlformats-officedocument.drawingml.chart+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Score</c:v>
                </c:pt>
              </c:strCache>
            </c:strRef>
          </c:tx>
          <c:spPr>
            <a:solidFill>
              <a:schemeClr val="accent1"/>
            </a:solidFill>
            <a:ln w="9525" cap="flat">
              <a:solidFill>
                <a:srgbClr val="F9F9F9"/>
              </a:solidFill>
              <a:prstDash val="solid"/>
              <a:round/>
            </a:ln>
            <a:effectLst/>
          </c:spPr>
          <c:dPt>
            <c:idx val="0"/>
            <c:bubble3D val="0"/>
            <c:spPr>
              <a:solidFill>
                <a:srgbClr val="D64545"/>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Score</c:v>
                </c:pt>
                <c:pt idx="1">
                  <c:v>Rest</c:v>
                </c:pt>
              </c:strCache>
            </c:strRef>
          </c:cat>
          <c:val>
            <c:numRef>
              <c:f>Sheet1!$B$2:$B$3</c:f>
              <c:numCache>
                <c:ptCount val="2"/>
                <c:pt idx="0">
                  <c:v>46</c:v>
                </c:pt>
                <c:pt idx="1">
                  <c:v>54</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doughnutChart>
        <c:varyColors val="1"/>
        <c:ser>
          <c:idx val="0"/>
          <c:order val="0"/>
          <c:tx>
            <c:strRef>
              <c:f>Sheet1!$B$1</c:f>
              <c:strCache>
                <c:ptCount val="1"/>
                <c:pt idx="0">
                  <c:v>Match</c:v>
                </c:pt>
              </c:strCache>
            </c:strRef>
          </c:tx>
          <c:spPr>
            <a:solidFill>
              <a:schemeClr val="accent1"/>
            </a:solidFill>
            <a:ln w="9525" cap="flat">
              <a:solidFill>
                <a:srgbClr val="F9F9F9"/>
              </a:solidFill>
              <a:prstDash val="solid"/>
              <a:round/>
            </a:ln>
            <a:effectLst/>
          </c:spPr>
          <c:dPt>
            <c:idx val="0"/>
            <c:bubble3D val="0"/>
            <c:spPr>
              <a:solidFill>
                <a:srgbClr val="0F9D6B"/>
              </a:solidFill>
              <a:ln w="9525" cap="flat">
                <a:solidFill>
                  <a:srgbClr val="FFFFFF"/>
                </a:solidFill>
                <a:prstDash val="solid"/>
                <a:round/>
              </a:ln>
              <a:effectLst/>
            </c:spPr>
          </c:dPt>
          <c:dPt>
            <c:idx val="1"/>
            <c:bubble3D val="0"/>
            <c:spPr>
              <a:solidFill>
                <a:srgbClr val="E6E9F3"/>
              </a:solidFill>
              <a:ln w="9525"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showLegendKey val="0"/>
            <c:showVal val="0"/>
            <c:showCatName val="1"/>
            <c:showSerName val="0"/>
            <c:showPercent val="1"/>
            <c:showBubbleSize val="0"/>
            <c:showLeaderLines val="0"/>
          </c:dLbls>
          <c:cat>
            <c:strRef>
              <c:f>Sheet1!$A$2:$A$3</c:f>
              <c:strCache>
                <c:ptCount val="2"/>
                <c:pt idx="0">
                  <c:v>Match</c:v>
                </c:pt>
                <c:pt idx="1">
                  <c:v>Rest</c:v>
                </c:pt>
              </c:strCache>
            </c:strRef>
          </c:cat>
          <c:val>
            <c:numRef>
              <c:f>Sheet1!$B$2:$B$3</c:f>
              <c:numCache>
                <c:ptCount val="2"/>
                <c:pt idx="0">
                  <c:v>94</c:v>
                </c:pt>
                <c:pt idx="1">
                  <c:v>6</c:v>
                </c:pt>
              </c:numCache>
            </c:numRef>
          </c:val>
        </c:ser>
        <c:firstSliceAng val="0"/>
        <c:holeSize val="74"/>
      </c:doughnut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Cover. This proposal is for Samsung UK (samsung.com). The left side names the engagement; the right shows their homepage today and the concept redesign.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Overall score 46 out of 100, grade F. The three biggest opportunities are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score is measured: Lighthouse for speed, axe-core for accessibility, a phone-sized browser for mobile, a vision model for UX and tool checks plus a model judgement for AI search. Findings and evidence follow.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finding carries its evidence, the recommended fix and why it matters to the business.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Detected from 257 network requests, response headers, cookies, page markup and script globals. Each technology is coloured by how well our people cover it. Detection is a strong hint, not a certainty.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map each detected technology to our skills inventory. 87 percent of the platform stack has capacity today. Gaps are shown honestly with a plan to cover them. Skills data is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concept is built from Samsung UK's own colours, fonts and content, then re-checked by the same inspectors. It is a concept for discussion, not a final design.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Most visitors arrive on a phone. These are phone-sized screenshots of the live site and of the concept.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change in the concept answers a specific audit finding.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organisation match score is 94 out of 100: how well our skills cover what this work needs, weighted by importance and availability. It uses the detected technology stack and the audit findings. Skills are sample data until connected to the real inventory.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Named people who are available. Fit blends their level and how much of the needed skill weight they cover. This is sample talent data until connected to the real roster.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About 123 person-days over 5 weeks. The timeline is an indicative picture of the effort, to be fixed in discovery.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price range until discovery is complete, with every assumption stated.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simple steps. Nothing is sent or committed until a human approves.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Thank the audience and agree the first step.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Methods and limits, for anyone who wants to check our work.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7315017" y="0"/>
            <a:ext cx="4876678" cy="6858000"/>
          </a:xfrm>
          <a:prstGeom prst="rect">
            <a:avLst/>
          </a:prstGeom>
          <a:solidFill>
            <a:srgbClr val="F4F6FB"/>
          </a:solidFill>
          <a:ln w="12700">
            <a:solidFill>
              <a:srgbClr val="F4F6FB"/>
            </a:solidFill>
            <a:prstDash val="solid"/>
          </a:ln>
        </p:spPr>
      </p:sp>
      <p:sp>
        <p:nvSpPr>
          <p:cNvPr id="3" name="Shape 1"/>
          <p:cNvSpPr/>
          <p:nvPr/>
        </p:nvSpPr>
        <p:spPr>
          <a:xfrm>
            <a:off x="548640" y="502920"/>
            <a:ext cx="1474013" cy="499262"/>
          </a:xfrm>
          <a:prstGeom prst="ellipse">
            <a:avLst/>
          </a:prstGeom>
          <a:solidFill>
            <a:srgbClr val="FFFFFF"/>
          </a:solidFill>
          <a:ln w="12700">
            <a:solidFill>
              <a:srgbClr val="FFFFFF"/>
            </a:solidFill>
            <a:prstDash val="solid"/>
          </a:ln>
        </p:spPr>
      </p:sp>
      <p:sp>
        <p:nvSpPr>
          <p:cNvPr id="4" name="Text 2"/>
          <p:cNvSpPr/>
          <p:nvPr/>
        </p:nvSpPr>
        <p:spPr>
          <a:xfrm>
            <a:off x="548640" y="502920"/>
            <a:ext cx="1474013" cy="499262"/>
          </a:xfrm>
          <a:prstGeom prst="rect">
            <a:avLst/>
          </a:prstGeom>
          <a:noFill/>
          <a:ln/>
        </p:spPr>
        <p:txBody>
          <a:bodyPr wrap="square" lIns="0" tIns="0" rIns="0" bIns="0" rtlCol="0" anchor="ctr"/>
          <a:lstStyle/>
          <a:p>
            <a:pPr algn="ctr" indent="0" marL="0">
              <a:buNone/>
            </a:pPr>
            <a:r>
              <a:rPr lang="en-US" sz="1404" b="1" spc="100" kern="0" dirty="0">
                <a:solidFill>
                  <a:srgbClr val="1428A0"/>
                </a:solidFill>
                <a:latin typeface="Calibri" pitchFamily="34" charset="0"/>
                <a:ea typeface="Calibri" pitchFamily="34" charset="-122"/>
                <a:cs typeface="Calibri" pitchFamily="34" charset="-120"/>
              </a:rPr>
              <a:t>SAMSUNG</a:t>
            </a:r>
            <a:endParaRPr lang="en-US" sz="1404" dirty="0"/>
          </a:p>
        </p:txBody>
      </p:sp>
      <p:sp>
        <p:nvSpPr>
          <p:cNvPr id="5" name="Text 3"/>
          <p:cNvSpPr/>
          <p:nvPr/>
        </p:nvSpPr>
        <p:spPr>
          <a:xfrm>
            <a:off x="2141525" y="502920"/>
            <a:ext cx="784555" cy="499262"/>
          </a:xfrm>
          <a:prstGeom prst="rect">
            <a:avLst/>
          </a:prstGeom>
          <a:noFill/>
          <a:ln/>
        </p:spPr>
        <p:txBody>
          <a:bodyPr wrap="square" lIns="0" tIns="0" rIns="0" bIns="0" rtlCol="0" anchor="ctr"/>
          <a:lstStyle/>
          <a:p>
            <a:pPr indent="0" marL="0">
              <a:buNone/>
            </a:pPr>
            <a:r>
              <a:rPr lang="en-US" sz="2340" b="1" spc="200" kern="0" dirty="0">
                <a:solidFill>
                  <a:srgbClr val="FFFFFF"/>
                </a:solidFill>
                <a:latin typeface="Calibri" pitchFamily="34" charset="0"/>
                <a:ea typeface="Calibri" pitchFamily="34" charset="-122"/>
                <a:cs typeface="Calibri" pitchFamily="34" charset="-120"/>
              </a:rPr>
              <a:t>SDS</a:t>
            </a:r>
            <a:endParaRPr lang="en-US" sz="2340" dirty="0"/>
          </a:p>
        </p:txBody>
      </p:sp>
      <p:sp>
        <p:nvSpPr>
          <p:cNvPr id="6" name="Text 4"/>
          <p:cNvSpPr/>
          <p:nvPr/>
        </p:nvSpPr>
        <p:spPr>
          <a:xfrm>
            <a:off x="548640" y="1828800"/>
            <a:ext cx="6400800" cy="320040"/>
          </a:xfrm>
          <a:prstGeom prst="rect">
            <a:avLst/>
          </a:prstGeom>
          <a:noFill/>
          <a:ln/>
        </p:spPr>
        <p:txBody>
          <a:bodyPr wrap="square" lIns="0" tIns="0" rIns="0" bIns="0" rtlCol="0" anchor="t"/>
          <a:lstStyle/>
          <a:p>
            <a:pPr indent="0" marL="0">
              <a:buNone/>
            </a:pPr>
            <a:r>
              <a:rPr lang="en-US" sz="1300" b="1" spc="400" kern="0" dirty="0">
                <a:solidFill>
                  <a:srgbClr val="B7C4FF"/>
                </a:solidFill>
                <a:latin typeface="Calibri" pitchFamily="34" charset="0"/>
                <a:ea typeface="Calibri" pitchFamily="34" charset="-122"/>
                <a:cs typeface="Calibri" pitchFamily="34" charset="-120"/>
              </a:rPr>
              <a:t>WEBSITE IMPROVEMENT PROPOSAL</a:t>
            </a:r>
            <a:endParaRPr lang="en-US" sz="1300" dirty="0"/>
          </a:p>
        </p:txBody>
      </p:sp>
      <p:sp>
        <p:nvSpPr>
          <p:cNvPr id="7" name="Text 5"/>
          <p:cNvSpPr/>
          <p:nvPr/>
        </p:nvSpPr>
        <p:spPr>
          <a:xfrm>
            <a:off x="548640" y="2240280"/>
            <a:ext cx="6583680" cy="1828800"/>
          </a:xfrm>
          <a:prstGeom prst="rect">
            <a:avLst/>
          </a:prstGeom>
          <a:noFill/>
          <a:ln/>
        </p:spPr>
        <p:txBody>
          <a:bodyPr wrap="square" lIns="0" tIns="0" rIns="0" bIns="0" rtlCol="0" anchor="t">
            <a:normAutofit/>
          </a:bodyPr>
          <a:lstStyle/>
          <a:p>
            <a:pPr indent="0" marL="0">
              <a:buNone/>
            </a:pPr>
            <a:r>
              <a:rPr lang="en-US" sz="4400" b="1" dirty="0">
                <a:solidFill>
                  <a:srgbClr val="FFFFFF"/>
                </a:solidFill>
                <a:latin typeface="Calibri" pitchFamily="34" charset="0"/>
                <a:ea typeface="Calibri" pitchFamily="34" charset="-122"/>
                <a:cs typeface="Calibri" pitchFamily="34" charset="-120"/>
              </a:rPr>
              <a:t>A better Samsung UK homepage</a:t>
            </a:r>
            <a:endParaRPr lang="en-US" sz="4400" dirty="0"/>
          </a:p>
        </p:txBody>
      </p:sp>
      <p:sp>
        <p:nvSpPr>
          <p:cNvPr id="8" name="Text 6"/>
          <p:cNvSpPr/>
          <p:nvPr/>
        </p:nvSpPr>
        <p:spPr>
          <a:xfrm>
            <a:off x="548640" y="4160520"/>
            <a:ext cx="6309360" cy="822960"/>
          </a:xfrm>
          <a:prstGeom prst="rect">
            <a:avLst/>
          </a:prstGeom>
          <a:noFill/>
          <a:ln/>
        </p:spPr>
        <p:txBody>
          <a:bodyPr wrap="square" lIns="0" tIns="0" rIns="0" bIns="0" rtlCol="0" anchor="t"/>
          <a:lstStyle/>
          <a:p>
            <a:pPr indent="0" marL="0">
              <a:buNone/>
            </a:pPr>
            <a:r>
              <a:rPr lang="en-US" sz="1800" dirty="0">
                <a:solidFill>
                  <a:srgbClr val="DCE3FF"/>
                </a:solidFill>
                <a:latin typeface="Calibri" pitchFamily="34" charset="0"/>
                <a:ea typeface="Calibri" pitchFamily="34" charset="-122"/>
                <a:cs typeface="Calibri" pitchFamily="34" charset="-120"/>
              </a:rPr>
              <a:t>Audit, technology review, concept redesign and delivery plan for Samsung UK</a:t>
            </a:r>
            <a:endParaRPr lang="en-US" sz="1800" dirty="0"/>
          </a:p>
        </p:txBody>
      </p:sp>
      <p:sp>
        <p:nvSpPr>
          <p:cNvPr id="9" name="Text 7"/>
          <p:cNvSpPr/>
          <p:nvPr/>
        </p:nvSpPr>
        <p:spPr>
          <a:xfrm>
            <a:off x="548640" y="5577840"/>
            <a:ext cx="6583680" cy="640080"/>
          </a:xfrm>
          <a:prstGeom prst="rect">
            <a:avLst/>
          </a:prstGeom>
          <a:noFill/>
          <a:ln/>
        </p:spPr>
        <p:txBody>
          <a:bodyPr wrap="square" lIns="0" tIns="0" rIns="0" bIns="0" rtlCol="0" anchor="t"/>
          <a:lstStyle/>
          <a:p>
            <a:pPr indent="0" marL="0">
              <a:buNone/>
            </a:pPr>
            <a:r>
              <a:rPr lang="en-US" sz="1300" b="1" dirty="0">
                <a:solidFill>
                  <a:srgbClr val="B7C4FF"/>
                </a:solidFill>
                <a:latin typeface="Calibri" pitchFamily="34" charset="0"/>
                <a:ea typeface="Calibri" pitchFamily="34" charset="-122"/>
                <a:cs typeface="Calibri" pitchFamily="34" charset="-120"/>
              </a:rPr>
              <a:t>samsung.com</a:t>
            </a:r>
            <a:endParaRPr lang="en-US" sz="1300" dirty="0"/>
          </a:p>
          <a:p>
            <a:pPr indent="0" marL="0">
              <a:buNone/>
            </a:pPr>
            <a:r>
              <a:rPr lang="en-US" sz="1300" dirty="0">
                <a:solidFill>
                  <a:srgbClr val="B7C4FF"/>
                </a:solidFill>
                <a:latin typeface="Calibri" pitchFamily="34" charset="0"/>
                <a:ea typeface="Calibri" pitchFamily="34" charset="-122"/>
                <a:cs typeface="Calibri" pitchFamily="34" charset="-120"/>
              </a:rPr>
              <a:t>Prepared 2026-10-26 by Samsung SDS · Digital Engineering</a:t>
            </a:r>
            <a:endParaRPr lang="en-US" sz="1300" dirty="0"/>
          </a:p>
        </p:txBody>
      </p:sp>
      <p:sp>
        <p:nvSpPr>
          <p:cNvPr id="10" name="Shape 8"/>
          <p:cNvSpPr/>
          <p:nvPr/>
        </p:nvSpPr>
        <p:spPr>
          <a:xfrm>
            <a:off x="7635057" y="822960"/>
            <a:ext cx="4206240" cy="2514600"/>
          </a:xfrm>
          <a:prstGeom prst="roundRect">
            <a:avLst>
              <a:gd name="adj" fmla="val 3636"/>
            </a:avLst>
          </a:prstGeom>
          <a:solidFill>
            <a:srgbClr val="FFFFFF"/>
          </a:solidFill>
          <a:ln w="12700">
            <a:solidFill>
              <a:srgbClr val="DDE2EE"/>
            </a:solidFill>
            <a:prstDash val="solid"/>
          </a:ln>
        </p:spPr>
      </p:sp>
      <p:pic>
        <p:nvPicPr>
          <p:cNvPr id="11" name="Image 0" descr="/Users/manish/Development/Workspace/samsung/digithon-2026/.worktrees/ppt-eval/runs/mvpimwddfpjt/shot-desktop.png">    </p:cNvPr>
          <p:cNvPicPr>
            <a:picLocks noChangeAspect="1"/>
          </p:cNvPicPr>
          <p:nvPr/>
        </p:nvPicPr>
        <p:blipFill>
          <a:blip r:embed="rId1"/>
          <a:srcRect l="0" r="0" t="0" b="0"/>
          <a:stretch/>
        </p:blipFill>
        <p:spPr>
          <a:xfrm>
            <a:off x="7680777" y="868680"/>
            <a:ext cx="4114800" cy="2423160"/>
          </a:xfrm>
          <a:prstGeom prst="rect">
            <a:avLst/>
          </a:prstGeom>
        </p:spPr>
      </p:pic>
      <p:sp>
        <p:nvSpPr>
          <p:cNvPr id="12" name="Text 9"/>
          <p:cNvSpPr/>
          <p:nvPr/>
        </p:nvSpPr>
        <p:spPr>
          <a:xfrm>
            <a:off x="7635057" y="3401568"/>
            <a:ext cx="4206240" cy="274320"/>
          </a:xfrm>
          <a:prstGeom prst="rect">
            <a:avLst/>
          </a:prstGeom>
          <a:noFill/>
          <a:ln/>
        </p:spPr>
        <p:txBody>
          <a:bodyPr wrap="square" lIns="0" tIns="0" rIns="0" bIns="0" rtlCol="0" anchor="t"/>
          <a:lstStyle/>
          <a:p>
            <a:pPr algn="ctr" indent="0" marL="0">
              <a:buNone/>
            </a:pPr>
            <a:r>
              <a:rPr lang="en-US" sz="1100" b="1" dirty="0">
                <a:solidFill>
                  <a:srgbClr val="5B6477"/>
                </a:solidFill>
                <a:latin typeface="Calibri" pitchFamily="34" charset="0"/>
                <a:ea typeface="Calibri" pitchFamily="34" charset="-122"/>
                <a:cs typeface="Calibri" pitchFamily="34" charset="-120"/>
              </a:rPr>
              <a:t>Samsung UK today</a:t>
            </a:r>
            <a:endParaRPr lang="en-US" sz="1100" dirty="0"/>
          </a:p>
        </p:txBody>
      </p:sp>
      <p:sp>
        <p:nvSpPr>
          <p:cNvPr id="13" name="Shape 10"/>
          <p:cNvSpPr/>
          <p:nvPr/>
        </p:nvSpPr>
        <p:spPr>
          <a:xfrm>
            <a:off x="7817937" y="3749040"/>
            <a:ext cx="4206240" cy="2514600"/>
          </a:xfrm>
          <a:prstGeom prst="roundRect">
            <a:avLst>
              <a:gd name="adj" fmla="val 3636"/>
            </a:avLst>
          </a:prstGeom>
          <a:solidFill>
            <a:srgbClr val="FFFFFF"/>
          </a:solidFill>
          <a:ln w="12700">
            <a:solidFill>
              <a:srgbClr val="1428A0"/>
            </a:solidFill>
            <a:prstDash val="solid"/>
          </a:ln>
        </p:spPr>
      </p:sp>
      <p:pic>
        <p:nvPicPr>
          <p:cNvPr id="14" name="Image 1" descr="/Users/manish/Development/Workspace/samsung/digithon-2026/.worktrees/ppt-eval/runs/mvpimwddfpjt/shot-after.png">    </p:cNvPr>
          <p:cNvPicPr>
            <a:picLocks noChangeAspect="1"/>
          </p:cNvPicPr>
          <p:nvPr/>
        </p:nvPicPr>
        <p:blipFill>
          <a:blip r:embed="rId2"/>
          <a:srcRect l="0" r="0" t="0" b="0"/>
          <a:stretch/>
        </p:blipFill>
        <p:spPr>
          <a:xfrm>
            <a:off x="7863657" y="3794760"/>
            <a:ext cx="4114800" cy="2423160"/>
          </a:xfrm>
          <a:prstGeom prst="rect">
            <a:avLst/>
          </a:prstGeom>
        </p:spPr>
      </p:pic>
      <p:sp>
        <p:nvSpPr>
          <p:cNvPr id="15" name="Shape 11"/>
          <p:cNvSpPr/>
          <p:nvPr/>
        </p:nvSpPr>
        <p:spPr>
          <a:xfrm>
            <a:off x="10972617" y="3886200"/>
            <a:ext cx="914400" cy="246888"/>
          </a:xfrm>
          <a:prstGeom prst="roundRect">
            <a:avLst>
              <a:gd name="adj" fmla="val 37037"/>
            </a:avLst>
          </a:prstGeom>
          <a:solidFill>
            <a:srgbClr val="1428A0"/>
          </a:solidFill>
          <a:ln w="12700">
            <a:solidFill>
              <a:srgbClr val="1428A0"/>
            </a:solidFill>
            <a:prstDash val="solid"/>
          </a:ln>
        </p:spPr>
      </p:sp>
      <p:sp>
        <p:nvSpPr>
          <p:cNvPr id="16" name="Text 12"/>
          <p:cNvSpPr/>
          <p:nvPr/>
        </p:nvSpPr>
        <p:spPr>
          <a:xfrm>
            <a:off x="10972617" y="3886200"/>
            <a:ext cx="91440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EXECUTIVE SUMMARY</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Where you stand, and what we recommend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2</a:t>
            </a:r>
            <a:endParaRPr lang="en-US" sz="1000" dirty="0"/>
          </a:p>
        </p:txBody>
      </p:sp>
      <p:sp>
        <p:nvSpPr>
          <p:cNvPr id="11" name="Shape 8"/>
          <p:cNvSpPr/>
          <p:nvPr/>
        </p:nvSpPr>
        <p:spPr>
          <a:xfrm>
            <a:off x="548640" y="1508760"/>
            <a:ext cx="3200400" cy="3017520"/>
          </a:xfrm>
          <a:prstGeom prst="roundRect">
            <a:avLst>
              <a:gd name="adj" fmla="val 3030"/>
            </a:avLst>
          </a:prstGeom>
          <a:solidFill>
            <a:srgbClr val="FFFFFF"/>
          </a:solidFill>
          <a:ln w="12700">
            <a:solidFill>
              <a:srgbClr val="DDE2EE"/>
            </a:solidFill>
            <a:prstDash val="solid"/>
          </a:ln>
        </p:spPr>
      </p:sp>
      <p:graphicFrame>
        <p:nvGraphicFramePr>
          <p:cNvPr id="12" name="Chart 0" descr=""/>
          <p:cNvGraphicFramePr/>
          <p:nvPr/>
        </p:nvGraphicFramePr>
        <p:xfrm>
          <a:off x="868680" y="1645920"/>
          <a:ext cx="2560320" cy="228600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331720"/>
            <a:ext cx="3200400" cy="822960"/>
          </a:xfrm>
          <a:prstGeom prst="rect">
            <a:avLst/>
          </a:prstGeom>
          <a:noFill/>
          <a:ln/>
        </p:spPr>
        <p:txBody>
          <a:bodyPr wrap="square" lIns="0" tIns="0" rIns="0" bIns="0" rtlCol="0" anchor="ctr"/>
          <a:lstStyle/>
          <a:p>
            <a:pPr algn="ctr" indent="0" marL="0">
              <a:buNone/>
            </a:pPr>
            <a:r>
              <a:rPr lang="en-US" sz="4800" b="1" dirty="0">
                <a:solidFill>
                  <a:srgbClr val="D64545"/>
                </a:solidFill>
                <a:latin typeface="Calibri" pitchFamily="34" charset="0"/>
                <a:ea typeface="Calibri" pitchFamily="34" charset="-122"/>
                <a:cs typeface="Calibri" pitchFamily="34" charset="-120"/>
              </a:rPr>
              <a:t>46</a:t>
            </a:r>
            <a:endParaRPr lang="en-US" sz="4800" dirty="0"/>
          </a:p>
        </p:txBody>
      </p:sp>
      <p:sp>
        <p:nvSpPr>
          <p:cNvPr id="14" name="Text 10"/>
          <p:cNvSpPr/>
          <p:nvPr/>
        </p:nvSpPr>
        <p:spPr>
          <a:xfrm>
            <a:off x="548640" y="3977640"/>
            <a:ext cx="3200400" cy="274320"/>
          </a:xfrm>
          <a:prstGeom prst="rect">
            <a:avLst/>
          </a:prstGeom>
          <a:noFill/>
          <a:ln/>
        </p:spPr>
        <p:txBody>
          <a:bodyPr wrap="square" lIns="0" tIns="0" rIns="0" bIns="0" rtlCol="0" anchor="t"/>
          <a:lstStyle/>
          <a:p>
            <a:pPr algn="ctr" indent="0" marL="0">
              <a:buNone/>
            </a:pPr>
            <a:r>
              <a:rPr lang="en-US" sz="1300" dirty="0">
                <a:solidFill>
                  <a:srgbClr val="5B6477"/>
                </a:solidFill>
                <a:latin typeface="Calibri" pitchFamily="34" charset="0"/>
                <a:ea typeface="Calibri" pitchFamily="34" charset="-122"/>
                <a:cs typeface="Calibri" pitchFamily="34" charset="-120"/>
              </a:rPr>
              <a:t>out of 100 · grade F</a:t>
            </a:r>
            <a:endParaRPr lang="en-US" sz="1300" dirty="0"/>
          </a:p>
        </p:txBody>
      </p:sp>
      <p:sp>
        <p:nvSpPr>
          <p:cNvPr id="15" name="Text 11"/>
          <p:cNvSpPr/>
          <p:nvPr/>
        </p:nvSpPr>
        <p:spPr>
          <a:xfrm>
            <a:off x="548640" y="4224528"/>
            <a:ext cx="3200400" cy="274320"/>
          </a:xfrm>
          <a:prstGeom prst="rect">
            <a:avLst/>
          </a:prstGeom>
          <a:noFill/>
          <a:ln/>
        </p:spPr>
        <p:txBody>
          <a:bodyPr wrap="square" lIns="0" tIns="0" rIns="0" bIns="0" rtlCol="0" anchor="t"/>
          <a:lstStyle/>
          <a:p>
            <a:pPr algn="ctr" indent="0" marL="0">
              <a:buNone/>
            </a:pPr>
            <a:r>
              <a:rPr lang="en-US" sz="1100" dirty="0">
                <a:solidFill>
                  <a:srgbClr val="5B6477"/>
                </a:solidFill>
                <a:latin typeface="Calibri" pitchFamily="34" charset="0"/>
                <a:ea typeface="Calibri" pitchFamily="34" charset="-122"/>
                <a:cs typeface="Calibri" pitchFamily="34" charset="-120"/>
              </a:rPr>
              <a:t>samsung.com today</a:t>
            </a:r>
            <a:endParaRPr lang="en-US" sz="1100" dirty="0"/>
          </a:p>
        </p:txBody>
      </p:sp>
      <p:sp>
        <p:nvSpPr>
          <p:cNvPr id="16" name="Text 12"/>
          <p:cNvSpPr/>
          <p:nvPr/>
        </p:nvSpPr>
        <p:spPr>
          <a:xfrm>
            <a:off x="4114800" y="1508760"/>
            <a:ext cx="7315200" cy="274320"/>
          </a:xfrm>
          <a:prstGeom prst="rect">
            <a:avLst/>
          </a:prstGeom>
          <a:noFill/>
          <a:ln/>
        </p:spPr>
        <p:txBody>
          <a:bodyPr wrap="square" lIns="0" tIns="0" rIns="0" bIns="0" rtlCol="0" anchor="t"/>
          <a:lstStyle/>
          <a:p>
            <a:pPr indent="0" marL="0">
              <a:buNone/>
            </a:pPr>
            <a:r>
              <a:rPr lang="en-US" sz="1100" b="1" spc="200" kern="0" dirty="0">
                <a:solidFill>
                  <a:srgbClr val="5B6477"/>
                </a:solidFill>
                <a:latin typeface="Calibri" pitchFamily="34" charset="0"/>
                <a:ea typeface="Calibri" pitchFamily="34" charset="-122"/>
                <a:cs typeface="Calibri" pitchFamily="34" charset="-120"/>
              </a:rPr>
              <a:t>THE BIGGEST OPPORTUNITIES</a:t>
            </a:r>
            <a:endParaRPr lang="en-US" sz="1100" dirty="0"/>
          </a:p>
        </p:txBody>
      </p:sp>
      <p:sp>
        <p:nvSpPr>
          <p:cNvPr id="17" name="Shape 13"/>
          <p:cNvSpPr/>
          <p:nvPr/>
        </p:nvSpPr>
        <p:spPr>
          <a:xfrm>
            <a:off x="4114800" y="1874520"/>
            <a:ext cx="7498080" cy="804672"/>
          </a:xfrm>
          <a:prstGeom prst="roundRect">
            <a:avLst>
              <a:gd name="adj" fmla="val 11364"/>
            </a:avLst>
          </a:prstGeom>
          <a:solidFill>
            <a:srgbClr val="FFFFFF"/>
          </a:solidFill>
          <a:ln w="12700">
            <a:solidFill>
              <a:srgbClr val="DDE2EE"/>
            </a:solidFill>
            <a:prstDash val="solid"/>
          </a:ln>
        </p:spPr>
      </p:sp>
      <p:sp>
        <p:nvSpPr>
          <p:cNvPr id="18" name="Text 14"/>
          <p:cNvSpPr/>
          <p:nvPr/>
        </p:nvSpPr>
        <p:spPr>
          <a:xfrm>
            <a:off x="4251960" y="19842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1</a:t>
            </a:r>
            <a:endParaRPr lang="en-US" sz="2600" dirty="0"/>
          </a:p>
        </p:txBody>
      </p:sp>
      <p:sp>
        <p:nvSpPr>
          <p:cNvPr id="19" name="Text 15"/>
          <p:cNvSpPr/>
          <p:nvPr/>
        </p:nvSpPr>
        <p:spPr>
          <a:xfrm>
            <a:off x="4800600" y="19659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Main content takes 19.7s to appear on mobile</a:t>
            </a:r>
            <a:endParaRPr lang="en-US" sz="1500" dirty="0"/>
          </a:p>
        </p:txBody>
      </p:sp>
      <p:sp>
        <p:nvSpPr>
          <p:cNvPr id="20" name="Text 16"/>
          <p:cNvSpPr/>
          <p:nvPr/>
        </p:nvSpPr>
        <p:spPr>
          <a:xfrm>
            <a:off x="4800600" y="23042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Every extra second of load time costs conversions; slow pages also rank lower in search.</a:t>
            </a:r>
            <a:endParaRPr lang="en-US" sz="1100" dirty="0"/>
          </a:p>
        </p:txBody>
      </p:sp>
      <p:sp>
        <p:nvSpPr>
          <p:cNvPr id="21" name="Shape 17"/>
          <p:cNvSpPr/>
          <p:nvPr/>
        </p:nvSpPr>
        <p:spPr>
          <a:xfrm>
            <a:off x="4114800" y="2788920"/>
            <a:ext cx="7498080" cy="804672"/>
          </a:xfrm>
          <a:prstGeom prst="roundRect">
            <a:avLst>
              <a:gd name="adj" fmla="val 11364"/>
            </a:avLst>
          </a:prstGeom>
          <a:solidFill>
            <a:srgbClr val="FFFFFF"/>
          </a:solidFill>
          <a:ln w="12700">
            <a:solidFill>
              <a:srgbClr val="DDE2EE"/>
            </a:solidFill>
            <a:prstDash val="solid"/>
          </a:ln>
        </p:spPr>
      </p:sp>
      <p:sp>
        <p:nvSpPr>
          <p:cNvPr id="22" name="Text 18"/>
          <p:cNvSpPr/>
          <p:nvPr/>
        </p:nvSpPr>
        <p:spPr>
          <a:xfrm>
            <a:off x="4251960" y="28986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2</a:t>
            </a:r>
            <a:endParaRPr lang="en-US" sz="2600" dirty="0"/>
          </a:p>
        </p:txBody>
      </p:sp>
      <p:sp>
        <p:nvSpPr>
          <p:cNvPr id="23" name="Text 19"/>
          <p:cNvSpPr/>
          <p:nvPr/>
        </p:nvSpPr>
        <p:spPr>
          <a:xfrm>
            <a:off x="4800600" y="28803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Page is unresponsive for 2.6s while loading</a:t>
            </a:r>
            <a:endParaRPr lang="en-US" sz="1500" dirty="0"/>
          </a:p>
        </p:txBody>
      </p:sp>
      <p:sp>
        <p:nvSpPr>
          <p:cNvPr id="24" name="Text 20"/>
          <p:cNvSpPr/>
          <p:nvPr/>
        </p:nvSpPr>
        <p:spPr>
          <a:xfrm>
            <a:off x="4800600" y="32186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Taps and scrolls feel broken while scripts run, so visitors leave before they act.</a:t>
            </a:r>
            <a:endParaRPr lang="en-US" sz="1100" dirty="0"/>
          </a:p>
        </p:txBody>
      </p:sp>
      <p:sp>
        <p:nvSpPr>
          <p:cNvPr id="25" name="Shape 21"/>
          <p:cNvSpPr/>
          <p:nvPr/>
        </p:nvSpPr>
        <p:spPr>
          <a:xfrm>
            <a:off x="4114800" y="3703320"/>
            <a:ext cx="7498080" cy="804672"/>
          </a:xfrm>
          <a:prstGeom prst="roundRect">
            <a:avLst>
              <a:gd name="adj" fmla="val 11364"/>
            </a:avLst>
          </a:prstGeom>
          <a:solidFill>
            <a:srgbClr val="FFFFFF"/>
          </a:solidFill>
          <a:ln w="12700">
            <a:solidFill>
              <a:srgbClr val="DDE2EE"/>
            </a:solidFill>
            <a:prstDash val="solid"/>
          </a:ln>
        </p:spPr>
      </p:sp>
      <p:sp>
        <p:nvSpPr>
          <p:cNvPr id="26" name="Text 22"/>
          <p:cNvSpPr/>
          <p:nvPr/>
        </p:nvSpPr>
        <p:spPr>
          <a:xfrm>
            <a:off x="4251960" y="3813048"/>
            <a:ext cx="457200" cy="585216"/>
          </a:xfrm>
          <a:prstGeom prst="rect">
            <a:avLst/>
          </a:prstGeom>
          <a:noFill/>
          <a:ln/>
        </p:spPr>
        <p:txBody>
          <a:bodyPr wrap="square" lIns="0" tIns="0" rIns="0" bIns="0" rtlCol="0" anchor="ctr"/>
          <a:lstStyle/>
          <a:p>
            <a:pPr indent="0" marL="0">
              <a:buNone/>
            </a:pPr>
            <a:r>
              <a:rPr lang="en-US" sz="2600" b="1" dirty="0">
                <a:solidFill>
                  <a:srgbClr val="1428A0"/>
                </a:solidFill>
                <a:latin typeface="Calibri" pitchFamily="34" charset="0"/>
                <a:ea typeface="Calibri" pitchFamily="34" charset="-122"/>
                <a:cs typeface="Calibri" pitchFamily="34" charset="-120"/>
              </a:rPr>
              <a:t>3</a:t>
            </a:r>
            <a:endParaRPr lang="en-US" sz="2600" dirty="0"/>
          </a:p>
        </p:txBody>
      </p:sp>
      <p:sp>
        <p:nvSpPr>
          <p:cNvPr id="27" name="Text 23"/>
          <p:cNvSpPr/>
          <p:nvPr/>
        </p:nvSpPr>
        <p:spPr>
          <a:xfrm>
            <a:off x="4800600" y="3794760"/>
            <a:ext cx="6675120"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302 tap targets are too small</a:t>
            </a:r>
            <a:endParaRPr lang="en-US" sz="1500" dirty="0"/>
          </a:p>
        </p:txBody>
      </p:sp>
      <p:sp>
        <p:nvSpPr>
          <p:cNvPr id="28" name="Text 24"/>
          <p:cNvSpPr/>
          <p:nvPr/>
        </p:nvSpPr>
        <p:spPr>
          <a:xfrm>
            <a:off x="4800600" y="4133088"/>
            <a:ext cx="6675120"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Mis-taps frustrate users right where you want them to act.</a:t>
            </a:r>
            <a:endParaRPr lang="en-US" sz="1100" dirty="0"/>
          </a:p>
        </p:txBody>
      </p:sp>
      <p:sp>
        <p:nvSpPr>
          <p:cNvPr id="29" name="Shape 25"/>
          <p:cNvSpPr/>
          <p:nvPr/>
        </p:nvSpPr>
        <p:spPr>
          <a:xfrm>
            <a:off x="548640" y="4800600"/>
            <a:ext cx="2072579" cy="1371600"/>
          </a:xfrm>
          <a:prstGeom prst="roundRect">
            <a:avLst>
              <a:gd name="adj" fmla="val 6667"/>
            </a:avLst>
          </a:prstGeom>
          <a:solidFill>
            <a:srgbClr val="FFFFFF"/>
          </a:solidFill>
          <a:ln w="12700">
            <a:solidFill>
              <a:srgbClr val="DDE2EE"/>
            </a:solidFill>
            <a:prstDash val="solid"/>
          </a:ln>
        </p:spPr>
      </p:sp>
      <p:sp>
        <p:nvSpPr>
          <p:cNvPr id="30" name="Text 26"/>
          <p:cNvSpPr/>
          <p:nvPr/>
        </p:nvSpPr>
        <p:spPr>
          <a:xfrm>
            <a:off x="731520"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10</a:t>
            </a:r>
            <a:endParaRPr lang="en-US" sz="2800" dirty="0"/>
          </a:p>
        </p:txBody>
      </p:sp>
      <p:sp>
        <p:nvSpPr>
          <p:cNvPr id="31" name="Text 27"/>
          <p:cNvSpPr/>
          <p:nvPr/>
        </p:nvSpPr>
        <p:spPr>
          <a:xfrm>
            <a:off x="731520"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found</a:t>
            </a:r>
            <a:endParaRPr lang="en-US" sz="1100" dirty="0"/>
          </a:p>
        </p:txBody>
      </p:sp>
      <p:sp>
        <p:nvSpPr>
          <p:cNvPr id="32" name="Shape 28"/>
          <p:cNvSpPr/>
          <p:nvPr/>
        </p:nvSpPr>
        <p:spPr>
          <a:xfrm>
            <a:off x="2804099" y="4800600"/>
            <a:ext cx="2072579" cy="1371600"/>
          </a:xfrm>
          <a:prstGeom prst="roundRect">
            <a:avLst>
              <a:gd name="adj" fmla="val 6667"/>
            </a:avLst>
          </a:prstGeom>
          <a:solidFill>
            <a:srgbClr val="FFFFFF"/>
          </a:solidFill>
          <a:ln w="12700">
            <a:solidFill>
              <a:srgbClr val="DDE2EE"/>
            </a:solidFill>
            <a:prstDash val="solid"/>
          </a:ln>
        </p:spPr>
      </p:sp>
      <p:sp>
        <p:nvSpPr>
          <p:cNvPr id="33" name="Text 29"/>
          <p:cNvSpPr/>
          <p:nvPr/>
        </p:nvSpPr>
        <p:spPr>
          <a:xfrm>
            <a:off x="2986979" y="4910328"/>
            <a:ext cx="1706819" cy="75438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94/100</a:t>
            </a:r>
            <a:endParaRPr lang="en-US" sz="2800" dirty="0"/>
          </a:p>
        </p:txBody>
      </p:sp>
      <p:sp>
        <p:nvSpPr>
          <p:cNvPr id="34" name="Text 30"/>
          <p:cNvSpPr/>
          <p:nvPr/>
        </p:nvSpPr>
        <p:spPr>
          <a:xfrm>
            <a:off x="2986979"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Organisation match</a:t>
            </a:r>
            <a:endParaRPr lang="en-US" sz="1100" dirty="0"/>
          </a:p>
        </p:txBody>
      </p:sp>
      <p:sp>
        <p:nvSpPr>
          <p:cNvPr id="35" name="Shape 31"/>
          <p:cNvSpPr/>
          <p:nvPr/>
        </p:nvSpPr>
        <p:spPr>
          <a:xfrm>
            <a:off x="5059558" y="4800600"/>
            <a:ext cx="2072579" cy="1371600"/>
          </a:xfrm>
          <a:prstGeom prst="roundRect">
            <a:avLst>
              <a:gd name="adj" fmla="val 6667"/>
            </a:avLst>
          </a:prstGeom>
          <a:solidFill>
            <a:srgbClr val="FFFFFF"/>
          </a:solidFill>
          <a:ln w="12700">
            <a:solidFill>
              <a:srgbClr val="DDE2EE"/>
            </a:solidFill>
            <a:prstDash val="solid"/>
          </a:ln>
        </p:spPr>
      </p:sp>
      <p:sp>
        <p:nvSpPr>
          <p:cNvPr id="36" name="Text 32"/>
          <p:cNvSpPr/>
          <p:nvPr/>
        </p:nvSpPr>
        <p:spPr>
          <a:xfrm>
            <a:off x="5242438"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 people</a:t>
            </a:r>
            <a:endParaRPr lang="en-US" sz="2800" dirty="0"/>
          </a:p>
        </p:txBody>
      </p:sp>
      <p:sp>
        <p:nvSpPr>
          <p:cNvPr id="37" name="Text 33"/>
          <p:cNvSpPr/>
          <p:nvPr/>
        </p:nvSpPr>
        <p:spPr>
          <a:xfrm>
            <a:off x="5242438"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Team</a:t>
            </a:r>
            <a:endParaRPr lang="en-US" sz="1100" dirty="0"/>
          </a:p>
        </p:txBody>
      </p:sp>
      <p:sp>
        <p:nvSpPr>
          <p:cNvPr id="38" name="Shape 34"/>
          <p:cNvSpPr/>
          <p:nvPr/>
        </p:nvSpPr>
        <p:spPr>
          <a:xfrm>
            <a:off x="7315017" y="4800600"/>
            <a:ext cx="2072579" cy="1371600"/>
          </a:xfrm>
          <a:prstGeom prst="roundRect">
            <a:avLst>
              <a:gd name="adj" fmla="val 6667"/>
            </a:avLst>
          </a:prstGeom>
          <a:solidFill>
            <a:srgbClr val="FFFFFF"/>
          </a:solidFill>
          <a:ln w="12700">
            <a:solidFill>
              <a:srgbClr val="DDE2EE"/>
            </a:solidFill>
            <a:prstDash val="solid"/>
          </a:ln>
        </p:spPr>
      </p:sp>
      <p:sp>
        <p:nvSpPr>
          <p:cNvPr id="39" name="Text 35"/>
          <p:cNvSpPr/>
          <p:nvPr/>
        </p:nvSpPr>
        <p:spPr>
          <a:xfrm>
            <a:off x="7497897" y="4910328"/>
            <a:ext cx="1706819" cy="754380"/>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5 weeks</a:t>
            </a:r>
            <a:endParaRPr lang="en-US" sz="2800" dirty="0"/>
          </a:p>
        </p:txBody>
      </p:sp>
      <p:sp>
        <p:nvSpPr>
          <p:cNvPr id="40" name="Text 36"/>
          <p:cNvSpPr/>
          <p:nvPr/>
        </p:nvSpPr>
        <p:spPr>
          <a:xfrm>
            <a:off x="7497897"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Timeline</a:t>
            </a:r>
            <a:endParaRPr lang="en-US" sz="1100" dirty="0"/>
          </a:p>
        </p:txBody>
      </p:sp>
      <p:sp>
        <p:nvSpPr>
          <p:cNvPr id="41" name="Shape 37"/>
          <p:cNvSpPr/>
          <p:nvPr/>
        </p:nvSpPr>
        <p:spPr>
          <a:xfrm>
            <a:off x="9570476" y="4800600"/>
            <a:ext cx="2072579" cy="1371600"/>
          </a:xfrm>
          <a:prstGeom prst="roundRect">
            <a:avLst>
              <a:gd name="adj" fmla="val 6667"/>
            </a:avLst>
          </a:prstGeom>
          <a:solidFill>
            <a:srgbClr val="FFFFFF"/>
          </a:solidFill>
          <a:ln w="12700">
            <a:solidFill>
              <a:srgbClr val="DDE2EE"/>
            </a:solidFill>
            <a:prstDash val="solid"/>
          </a:ln>
        </p:spPr>
      </p:sp>
      <p:sp>
        <p:nvSpPr>
          <p:cNvPr id="42" name="Text 38"/>
          <p:cNvSpPr/>
          <p:nvPr/>
        </p:nvSpPr>
        <p:spPr>
          <a:xfrm>
            <a:off x="9753356" y="4910328"/>
            <a:ext cx="1706819" cy="754380"/>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₹13.2–16.8 lakh</a:t>
            </a:r>
            <a:endParaRPr lang="en-US" sz="2000" dirty="0"/>
          </a:p>
        </p:txBody>
      </p:sp>
      <p:sp>
        <p:nvSpPr>
          <p:cNvPr id="43" name="Text 39"/>
          <p:cNvSpPr/>
          <p:nvPr/>
        </p:nvSpPr>
        <p:spPr>
          <a:xfrm>
            <a:off x="9753356" y="5692140"/>
            <a:ext cx="1706819" cy="4114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Investment</a:t>
            </a:r>
            <a:endParaRPr lang="en-US" sz="11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UK scores today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3</a:t>
            </a:r>
            <a:endParaRPr lang="en-US" sz="1000" dirty="0"/>
          </a:p>
        </p:txBody>
      </p:sp>
      <p:sp>
        <p:nvSpPr>
          <p:cNvPr id="11" name="Shape 8"/>
          <p:cNvSpPr/>
          <p:nvPr/>
        </p:nvSpPr>
        <p:spPr>
          <a:xfrm>
            <a:off x="548640" y="1508760"/>
            <a:ext cx="2072579" cy="4206240"/>
          </a:xfrm>
          <a:prstGeom prst="roundRect">
            <a:avLst>
              <a:gd name="adj" fmla="val 4412"/>
            </a:avLst>
          </a:prstGeom>
          <a:solidFill>
            <a:srgbClr val="FFFFFF"/>
          </a:solidFill>
          <a:ln w="12700">
            <a:solidFill>
              <a:srgbClr val="DDE2EE"/>
            </a:solidFill>
            <a:prstDash val="solid"/>
          </a:ln>
        </p:spPr>
      </p:sp>
      <p:sp>
        <p:nvSpPr>
          <p:cNvPr id="12" name="Shape 9"/>
          <p:cNvSpPr/>
          <p:nvPr/>
        </p:nvSpPr>
        <p:spPr>
          <a:xfrm>
            <a:off x="548640" y="1508760"/>
            <a:ext cx="2072579" cy="64008"/>
          </a:xfrm>
          <a:prstGeom prst="rect">
            <a:avLst/>
          </a:prstGeom>
          <a:solidFill>
            <a:srgbClr val="D64545"/>
          </a:solidFill>
          <a:ln w="12700">
            <a:solidFill>
              <a:srgbClr val="D64545"/>
            </a:solidFill>
            <a:prstDash val="solid"/>
          </a:ln>
        </p:spPr>
      </p:sp>
      <p:sp>
        <p:nvSpPr>
          <p:cNvPr id="13" name="Text 10"/>
          <p:cNvSpPr/>
          <p:nvPr/>
        </p:nvSpPr>
        <p:spPr>
          <a:xfrm>
            <a:off x="731520"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Speed</a:t>
            </a:r>
            <a:endParaRPr lang="en-US" sz="1500" dirty="0"/>
          </a:p>
        </p:txBody>
      </p:sp>
      <p:sp>
        <p:nvSpPr>
          <p:cNvPr id="14" name="Text 11"/>
          <p:cNvSpPr/>
          <p:nvPr/>
        </p:nvSpPr>
        <p:spPr>
          <a:xfrm>
            <a:off x="731520"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23</a:t>
            </a:r>
            <a:endParaRPr lang="en-US" sz="4400" dirty="0"/>
          </a:p>
        </p:txBody>
      </p:sp>
      <p:sp>
        <p:nvSpPr>
          <p:cNvPr id="15" name="Shape 12"/>
          <p:cNvSpPr/>
          <p:nvPr/>
        </p:nvSpPr>
        <p:spPr>
          <a:xfrm>
            <a:off x="1569659" y="2286000"/>
            <a:ext cx="868680" cy="246888"/>
          </a:xfrm>
          <a:prstGeom prst="roundRect">
            <a:avLst>
              <a:gd name="adj" fmla="val 37037"/>
            </a:avLst>
          </a:prstGeom>
          <a:solidFill>
            <a:srgbClr val="FDE4E4"/>
          </a:solidFill>
          <a:ln w="12700">
            <a:solidFill>
              <a:srgbClr val="FDE4E4"/>
            </a:solidFill>
            <a:prstDash val="solid"/>
          </a:ln>
        </p:spPr>
      </p:sp>
      <p:sp>
        <p:nvSpPr>
          <p:cNvPr id="16" name="Text 13"/>
          <p:cNvSpPr/>
          <p:nvPr/>
        </p:nvSpPr>
        <p:spPr>
          <a:xfrm>
            <a:off x="1569659"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17" name="Shape 14"/>
          <p:cNvSpPr/>
          <p:nvPr/>
        </p:nvSpPr>
        <p:spPr>
          <a:xfrm>
            <a:off x="731520" y="2926080"/>
            <a:ext cx="1706819" cy="109728"/>
          </a:xfrm>
          <a:prstGeom prst="roundRect">
            <a:avLst>
              <a:gd name="adj" fmla="val 83333"/>
            </a:avLst>
          </a:prstGeom>
          <a:solidFill>
            <a:srgbClr val="E6E9F3"/>
          </a:solidFill>
          <a:ln w="12700">
            <a:solidFill>
              <a:srgbClr val="E6E9F3"/>
            </a:solidFill>
            <a:prstDash val="solid"/>
          </a:ln>
        </p:spPr>
      </p:sp>
      <p:sp>
        <p:nvSpPr>
          <p:cNvPr id="18" name="Shape 15"/>
          <p:cNvSpPr/>
          <p:nvPr/>
        </p:nvSpPr>
        <p:spPr>
          <a:xfrm>
            <a:off x="731520" y="2926080"/>
            <a:ext cx="392568" cy="109728"/>
          </a:xfrm>
          <a:prstGeom prst="roundRect">
            <a:avLst>
              <a:gd name="adj" fmla="val 83333"/>
            </a:avLst>
          </a:prstGeom>
          <a:solidFill>
            <a:srgbClr val="D64545"/>
          </a:solidFill>
          <a:ln w="12700">
            <a:solidFill>
              <a:srgbClr val="D64545"/>
            </a:solidFill>
            <a:prstDash val="solid"/>
          </a:ln>
        </p:spPr>
      </p:sp>
      <p:sp>
        <p:nvSpPr>
          <p:cNvPr id="19" name="Text 16"/>
          <p:cNvSpPr/>
          <p:nvPr/>
        </p:nvSpPr>
        <p:spPr>
          <a:xfrm>
            <a:off x="731520"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Lighthouse mobile score 23; main content in 19.7s, blocking time 2576 ms.</a:t>
            </a:r>
            <a:endParaRPr lang="en-US" sz="1100" dirty="0"/>
          </a:p>
        </p:txBody>
      </p:sp>
      <p:sp>
        <p:nvSpPr>
          <p:cNvPr id="20" name="Text 17"/>
          <p:cNvSpPr/>
          <p:nvPr/>
        </p:nvSpPr>
        <p:spPr>
          <a:xfrm>
            <a:off x="731520"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Lighthouse score</a:t>
            </a:r>
            <a:endParaRPr lang="en-US" sz="900" dirty="0"/>
          </a:p>
        </p:txBody>
      </p:sp>
      <p:sp>
        <p:nvSpPr>
          <p:cNvPr id="21" name="Text 18"/>
          <p:cNvSpPr/>
          <p:nvPr/>
        </p:nvSpPr>
        <p:spPr>
          <a:xfrm>
            <a:off x="731520"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23</a:t>
            </a:r>
            <a:endParaRPr lang="en-US" sz="1200" dirty="0"/>
          </a:p>
        </p:txBody>
      </p:sp>
      <p:sp>
        <p:nvSpPr>
          <p:cNvPr id="22" name="Text 19"/>
          <p:cNvSpPr/>
          <p:nvPr/>
        </p:nvSpPr>
        <p:spPr>
          <a:xfrm>
            <a:off x="731520"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LCP</a:t>
            </a:r>
            <a:endParaRPr lang="en-US" sz="900" dirty="0"/>
          </a:p>
        </p:txBody>
      </p:sp>
      <p:sp>
        <p:nvSpPr>
          <p:cNvPr id="23" name="Text 20"/>
          <p:cNvSpPr/>
          <p:nvPr/>
        </p:nvSpPr>
        <p:spPr>
          <a:xfrm>
            <a:off x="731520"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19.7s</a:t>
            </a:r>
            <a:endParaRPr lang="en-US" sz="1200" dirty="0"/>
          </a:p>
        </p:txBody>
      </p:sp>
      <p:sp>
        <p:nvSpPr>
          <p:cNvPr id="24" name="Text 21"/>
          <p:cNvSpPr/>
          <p:nvPr/>
        </p:nvSpPr>
        <p:spPr>
          <a:xfrm>
            <a:off x="731520"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TBT</a:t>
            </a:r>
            <a:endParaRPr lang="en-US" sz="900" dirty="0"/>
          </a:p>
        </p:txBody>
      </p:sp>
      <p:sp>
        <p:nvSpPr>
          <p:cNvPr id="25" name="Text 22"/>
          <p:cNvSpPr/>
          <p:nvPr/>
        </p:nvSpPr>
        <p:spPr>
          <a:xfrm>
            <a:off x="731520"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2576 ms</a:t>
            </a:r>
            <a:endParaRPr lang="en-US" sz="1200" dirty="0"/>
          </a:p>
        </p:txBody>
      </p:sp>
      <p:sp>
        <p:nvSpPr>
          <p:cNvPr id="26" name="Shape 23"/>
          <p:cNvSpPr/>
          <p:nvPr/>
        </p:nvSpPr>
        <p:spPr>
          <a:xfrm>
            <a:off x="2804099" y="1508760"/>
            <a:ext cx="2072579" cy="4206240"/>
          </a:xfrm>
          <a:prstGeom prst="roundRect">
            <a:avLst>
              <a:gd name="adj" fmla="val 4412"/>
            </a:avLst>
          </a:prstGeom>
          <a:solidFill>
            <a:srgbClr val="FFFFFF"/>
          </a:solidFill>
          <a:ln w="12700">
            <a:solidFill>
              <a:srgbClr val="DDE2EE"/>
            </a:solidFill>
            <a:prstDash val="solid"/>
          </a:ln>
        </p:spPr>
      </p:sp>
      <p:sp>
        <p:nvSpPr>
          <p:cNvPr id="27" name="Shape 24"/>
          <p:cNvSpPr/>
          <p:nvPr/>
        </p:nvSpPr>
        <p:spPr>
          <a:xfrm>
            <a:off x="2804099" y="1508760"/>
            <a:ext cx="2072579" cy="64008"/>
          </a:xfrm>
          <a:prstGeom prst="rect">
            <a:avLst/>
          </a:prstGeom>
          <a:solidFill>
            <a:srgbClr val="D64545"/>
          </a:solidFill>
          <a:ln w="12700">
            <a:solidFill>
              <a:srgbClr val="D64545"/>
            </a:solidFill>
            <a:prstDash val="solid"/>
          </a:ln>
        </p:spPr>
      </p:sp>
      <p:sp>
        <p:nvSpPr>
          <p:cNvPr id="28" name="Text 25"/>
          <p:cNvSpPr/>
          <p:nvPr/>
        </p:nvSpPr>
        <p:spPr>
          <a:xfrm>
            <a:off x="2986979"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Mobile</a:t>
            </a:r>
            <a:endParaRPr lang="en-US" sz="1500" dirty="0"/>
          </a:p>
        </p:txBody>
      </p:sp>
      <p:sp>
        <p:nvSpPr>
          <p:cNvPr id="29" name="Text 26"/>
          <p:cNvSpPr/>
          <p:nvPr/>
        </p:nvSpPr>
        <p:spPr>
          <a:xfrm>
            <a:off x="2986979"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58</a:t>
            </a:r>
            <a:endParaRPr lang="en-US" sz="4400" dirty="0"/>
          </a:p>
        </p:txBody>
      </p:sp>
      <p:sp>
        <p:nvSpPr>
          <p:cNvPr id="30" name="Shape 27"/>
          <p:cNvSpPr/>
          <p:nvPr/>
        </p:nvSpPr>
        <p:spPr>
          <a:xfrm>
            <a:off x="3825118" y="2286000"/>
            <a:ext cx="868680" cy="246888"/>
          </a:xfrm>
          <a:prstGeom prst="roundRect">
            <a:avLst>
              <a:gd name="adj" fmla="val 37037"/>
            </a:avLst>
          </a:prstGeom>
          <a:solidFill>
            <a:srgbClr val="FDE4E4"/>
          </a:solidFill>
          <a:ln w="12700">
            <a:solidFill>
              <a:srgbClr val="FDE4E4"/>
            </a:solidFill>
            <a:prstDash val="solid"/>
          </a:ln>
        </p:spPr>
      </p:sp>
      <p:sp>
        <p:nvSpPr>
          <p:cNvPr id="31" name="Text 28"/>
          <p:cNvSpPr/>
          <p:nvPr/>
        </p:nvSpPr>
        <p:spPr>
          <a:xfrm>
            <a:off x="3825118"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D</a:t>
            </a:r>
            <a:endParaRPr lang="en-US" sz="1000" dirty="0"/>
          </a:p>
        </p:txBody>
      </p:sp>
      <p:sp>
        <p:nvSpPr>
          <p:cNvPr id="32" name="Shape 29"/>
          <p:cNvSpPr/>
          <p:nvPr/>
        </p:nvSpPr>
        <p:spPr>
          <a:xfrm>
            <a:off x="2986979" y="2926080"/>
            <a:ext cx="1706819" cy="109728"/>
          </a:xfrm>
          <a:prstGeom prst="roundRect">
            <a:avLst>
              <a:gd name="adj" fmla="val 83333"/>
            </a:avLst>
          </a:prstGeom>
          <a:solidFill>
            <a:srgbClr val="E6E9F3"/>
          </a:solidFill>
          <a:ln w="12700">
            <a:solidFill>
              <a:srgbClr val="E6E9F3"/>
            </a:solidFill>
            <a:prstDash val="solid"/>
          </a:ln>
        </p:spPr>
      </p:sp>
      <p:sp>
        <p:nvSpPr>
          <p:cNvPr id="33" name="Shape 30"/>
          <p:cNvSpPr/>
          <p:nvPr/>
        </p:nvSpPr>
        <p:spPr>
          <a:xfrm>
            <a:off x="2986979" y="2926080"/>
            <a:ext cx="989955" cy="109728"/>
          </a:xfrm>
          <a:prstGeom prst="roundRect">
            <a:avLst>
              <a:gd name="adj" fmla="val 83333"/>
            </a:avLst>
          </a:prstGeom>
          <a:solidFill>
            <a:srgbClr val="D64545"/>
          </a:solidFill>
          <a:ln w="12700">
            <a:solidFill>
              <a:srgbClr val="D64545"/>
            </a:solidFill>
            <a:prstDash val="solid"/>
          </a:ln>
        </p:spPr>
      </p:sp>
      <p:sp>
        <p:nvSpPr>
          <p:cNvPr id="34" name="Text 31"/>
          <p:cNvSpPr/>
          <p:nvPr/>
        </p:nvSpPr>
        <p:spPr>
          <a:xfrm>
            <a:off x="2986979"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302 of 664 tap targets are too small on mobile.</a:t>
            </a:r>
            <a:endParaRPr lang="en-US" sz="1100" dirty="0"/>
          </a:p>
        </p:txBody>
      </p:sp>
      <p:sp>
        <p:nvSpPr>
          <p:cNvPr id="35" name="Text 32"/>
          <p:cNvSpPr/>
          <p:nvPr/>
        </p:nvSpPr>
        <p:spPr>
          <a:xfrm>
            <a:off x="2986979"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Horizontal overflow</a:t>
            </a:r>
            <a:endParaRPr lang="en-US" sz="900" dirty="0"/>
          </a:p>
        </p:txBody>
      </p:sp>
      <p:sp>
        <p:nvSpPr>
          <p:cNvPr id="36" name="Text 33"/>
          <p:cNvSpPr/>
          <p:nvPr/>
        </p:nvSpPr>
        <p:spPr>
          <a:xfrm>
            <a:off x="2986979"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0px</a:t>
            </a:r>
            <a:endParaRPr lang="en-US" sz="1200" dirty="0"/>
          </a:p>
        </p:txBody>
      </p:sp>
      <p:sp>
        <p:nvSpPr>
          <p:cNvPr id="37" name="Text 34"/>
          <p:cNvSpPr/>
          <p:nvPr/>
        </p:nvSpPr>
        <p:spPr>
          <a:xfrm>
            <a:off x="2986979"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Small tap targets</a:t>
            </a:r>
            <a:endParaRPr lang="en-US" sz="900" dirty="0"/>
          </a:p>
        </p:txBody>
      </p:sp>
      <p:sp>
        <p:nvSpPr>
          <p:cNvPr id="38" name="Text 35"/>
          <p:cNvSpPr/>
          <p:nvPr/>
        </p:nvSpPr>
        <p:spPr>
          <a:xfrm>
            <a:off x="2986979"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302/664</a:t>
            </a:r>
            <a:endParaRPr lang="en-US" sz="1200" dirty="0"/>
          </a:p>
        </p:txBody>
      </p:sp>
      <p:sp>
        <p:nvSpPr>
          <p:cNvPr id="39" name="Text 36"/>
          <p:cNvSpPr/>
          <p:nvPr/>
        </p:nvSpPr>
        <p:spPr>
          <a:xfrm>
            <a:off x="2986979"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Tiny text blocks</a:t>
            </a:r>
            <a:endParaRPr lang="en-US" sz="900" dirty="0"/>
          </a:p>
        </p:txBody>
      </p:sp>
      <p:sp>
        <p:nvSpPr>
          <p:cNvPr id="40" name="Text 37"/>
          <p:cNvSpPr/>
          <p:nvPr/>
        </p:nvSpPr>
        <p:spPr>
          <a:xfrm>
            <a:off x="2986979"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61</a:t>
            </a:r>
            <a:endParaRPr lang="en-US" sz="1200" dirty="0"/>
          </a:p>
        </p:txBody>
      </p:sp>
      <p:sp>
        <p:nvSpPr>
          <p:cNvPr id="41" name="Shape 38"/>
          <p:cNvSpPr/>
          <p:nvPr/>
        </p:nvSpPr>
        <p:spPr>
          <a:xfrm>
            <a:off x="5059558" y="1508760"/>
            <a:ext cx="2072579" cy="4206240"/>
          </a:xfrm>
          <a:prstGeom prst="roundRect">
            <a:avLst>
              <a:gd name="adj" fmla="val 4412"/>
            </a:avLst>
          </a:prstGeom>
          <a:solidFill>
            <a:srgbClr val="FFFFFF"/>
          </a:solidFill>
          <a:ln w="12700">
            <a:solidFill>
              <a:srgbClr val="DDE2EE"/>
            </a:solidFill>
            <a:prstDash val="solid"/>
          </a:ln>
        </p:spPr>
      </p:sp>
      <p:sp>
        <p:nvSpPr>
          <p:cNvPr id="42" name="Shape 39"/>
          <p:cNvSpPr/>
          <p:nvPr/>
        </p:nvSpPr>
        <p:spPr>
          <a:xfrm>
            <a:off x="5059558" y="1508760"/>
            <a:ext cx="2072579" cy="64008"/>
          </a:xfrm>
          <a:prstGeom prst="rect">
            <a:avLst/>
          </a:prstGeom>
          <a:solidFill>
            <a:srgbClr val="D64545"/>
          </a:solidFill>
          <a:ln w="12700">
            <a:solidFill>
              <a:srgbClr val="D64545"/>
            </a:solidFill>
            <a:prstDash val="solid"/>
          </a:ln>
        </p:spPr>
      </p:sp>
      <p:sp>
        <p:nvSpPr>
          <p:cNvPr id="43" name="Text 40"/>
          <p:cNvSpPr/>
          <p:nvPr/>
        </p:nvSpPr>
        <p:spPr>
          <a:xfrm>
            <a:off x="5242438"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Accessibility</a:t>
            </a:r>
            <a:endParaRPr lang="en-US" sz="1500" dirty="0"/>
          </a:p>
        </p:txBody>
      </p:sp>
      <p:sp>
        <p:nvSpPr>
          <p:cNvPr id="44" name="Text 41"/>
          <p:cNvSpPr/>
          <p:nvPr/>
        </p:nvSpPr>
        <p:spPr>
          <a:xfrm>
            <a:off x="5242438"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0</a:t>
            </a:r>
            <a:endParaRPr lang="en-US" sz="4400" dirty="0"/>
          </a:p>
        </p:txBody>
      </p:sp>
      <p:sp>
        <p:nvSpPr>
          <p:cNvPr id="45" name="Shape 42"/>
          <p:cNvSpPr/>
          <p:nvPr/>
        </p:nvSpPr>
        <p:spPr>
          <a:xfrm>
            <a:off x="6080577" y="2286000"/>
            <a:ext cx="868680" cy="246888"/>
          </a:xfrm>
          <a:prstGeom prst="roundRect">
            <a:avLst>
              <a:gd name="adj" fmla="val 37037"/>
            </a:avLst>
          </a:prstGeom>
          <a:solidFill>
            <a:srgbClr val="FDE4E4"/>
          </a:solidFill>
          <a:ln w="12700">
            <a:solidFill>
              <a:srgbClr val="FDE4E4"/>
            </a:solidFill>
            <a:prstDash val="solid"/>
          </a:ln>
        </p:spPr>
      </p:sp>
      <p:sp>
        <p:nvSpPr>
          <p:cNvPr id="46" name="Text 43"/>
          <p:cNvSpPr/>
          <p:nvPr/>
        </p:nvSpPr>
        <p:spPr>
          <a:xfrm>
            <a:off x="6080577"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F</a:t>
            </a:r>
            <a:endParaRPr lang="en-US" sz="1000" dirty="0"/>
          </a:p>
        </p:txBody>
      </p:sp>
      <p:sp>
        <p:nvSpPr>
          <p:cNvPr id="47" name="Shape 44"/>
          <p:cNvSpPr/>
          <p:nvPr/>
        </p:nvSpPr>
        <p:spPr>
          <a:xfrm>
            <a:off x="5242438" y="2926080"/>
            <a:ext cx="1706819" cy="109728"/>
          </a:xfrm>
          <a:prstGeom prst="roundRect">
            <a:avLst>
              <a:gd name="adj" fmla="val 83333"/>
            </a:avLst>
          </a:prstGeom>
          <a:solidFill>
            <a:srgbClr val="E6E9F3"/>
          </a:solidFill>
          <a:ln w="12700">
            <a:solidFill>
              <a:srgbClr val="E6E9F3"/>
            </a:solidFill>
            <a:prstDash val="solid"/>
          </a:ln>
        </p:spPr>
      </p:sp>
      <p:sp>
        <p:nvSpPr>
          <p:cNvPr id="48" name="Shape 45"/>
          <p:cNvSpPr/>
          <p:nvPr/>
        </p:nvSpPr>
        <p:spPr>
          <a:xfrm>
            <a:off x="5242438" y="2926080"/>
            <a:ext cx="91440" cy="109728"/>
          </a:xfrm>
          <a:prstGeom prst="roundRect">
            <a:avLst>
              <a:gd name="adj" fmla="val 100000"/>
            </a:avLst>
          </a:prstGeom>
          <a:solidFill>
            <a:srgbClr val="D64545"/>
          </a:solidFill>
          <a:ln w="12700">
            <a:solidFill>
              <a:srgbClr val="D64545"/>
            </a:solidFill>
            <a:prstDash val="solid"/>
          </a:ln>
        </p:spPr>
      </p:sp>
      <p:sp>
        <p:nvSpPr>
          <p:cNvPr id="49" name="Text 46"/>
          <p:cNvSpPr/>
          <p:nvPr/>
        </p:nvSpPr>
        <p:spPr>
          <a:xfrm>
            <a:off x="5242438"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13 accessibility rules failed (10 serious or critical).</a:t>
            </a:r>
            <a:endParaRPr lang="en-US" sz="1100" dirty="0"/>
          </a:p>
        </p:txBody>
      </p:sp>
      <p:sp>
        <p:nvSpPr>
          <p:cNvPr id="50" name="Text 47"/>
          <p:cNvSpPr/>
          <p:nvPr/>
        </p:nvSpPr>
        <p:spPr>
          <a:xfrm>
            <a:off x="5242438"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Rules failed</a:t>
            </a:r>
            <a:endParaRPr lang="en-US" sz="900" dirty="0"/>
          </a:p>
        </p:txBody>
      </p:sp>
      <p:sp>
        <p:nvSpPr>
          <p:cNvPr id="51" name="Text 48"/>
          <p:cNvSpPr/>
          <p:nvPr/>
        </p:nvSpPr>
        <p:spPr>
          <a:xfrm>
            <a:off x="5242438"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13</a:t>
            </a:r>
            <a:endParaRPr lang="en-US" sz="1200" dirty="0"/>
          </a:p>
        </p:txBody>
      </p:sp>
      <p:sp>
        <p:nvSpPr>
          <p:cNvPr id="52" name="Text 49"/>
          <p:cNvSpPr/>
          <p:nvPr/>
        </p:nvSpPr>
        <p:spPr>
          <a:xfrm>
            <a:off x="5242438"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Critical</a:t>
            </a:r>
            <a:endParaRPr lang="en-US" sz="900" dirty="0"/>
          </a:p>
        </p:txBody>
      </p:sp>
      <p:sp>
        <p:nvSpPr>
          <p:cNvPr id="53" name="Text 50"/>
          <p:cNvSpPr/>
          <p:nvPr/>
        </p:nvSpPr>
        <p:spPr>
          <a:xfrm>
            <a:off x="5242438"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a:t>
            </a:r>
            <a:endParaRPr lang="en-US" sz="1200" dirty="0"/>
          </a:p>
        </p:txBody>
      </p:sp>
      <p:sp>
        <p:nvSpPr>
          <p:cNvPr id="54" name="Text 51"/>
          <p:cNvSpPr/>
          <p:nvPr/>
        </p:nvSpPr>
        <p:spPr>
          <a:xfrm>
            <a:off x="5242438"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Serious</a:t>
            </a:r>
            <a:endParaRPr lang="en-US" sz="900" dirty="0"/>
          </a:p>
        </p:txBody>
      </p:sp>
      <p:sp>
        <p:nvSpPr>
          <p:cNvPr id="55" name="Text 52"/>
          <p:cNvSpPr/>
          <p:nvPr/>
        </p:nvSpPr>
        <p:spPr>
          <a:xfrm>
            <a:off x="5242438"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4</a:t>
            </a:r>
            <a:endParaRPr lang="en-US" sz="1200" dirty="0"/>
          </a:p>
        </p:txBody>
      </p:sp>
      <p:sp>
        <p:nvSpPr>
          <p:cNvPr id="56" name="Shape 53"/>
          <p:cNvSpPr/>
          <p:nvPr/>
        </p:nvSpPr>
        <p:spPr>
          <a:xfrm>
            <a:off x="7315017" y="1508760"/>
            <a:ext cx="2072579" cy="4206240"/>
          </a:xfrm>
          <a:prstGeom prst="roundRect">
            <a:avLst>
              <a:gd name="adj" fmla="val 4412"/>
            </a:avLst>
          </a:prstGeom>
          <a:solidFill>
            <a:srgbClr val="FFFFFF"/>
          </a:solidFill>
          <a:ln w="12700">
            <a:solidFill>
              <a:srgbClr val="DDE2EE"/>
            </a:solidFill>
            <a:prstDash val="solid"/>
          </a:ln>
        </p:spPr>
      </p:sp>
      <p:sp>
        <p:nvSpPr>
          <p:cNvPr id="57" name="Shape 54"/>
          <p:cNvSpPr/>
          <p:nvPr/>
        </p:nvSpPr>
        <p:spPr>
          <a:xfrm>
            <a:off x="7315017" y="1508760"/>
            <a:ext cx="2072579" cy="64008"/>
          </a:xfrm>
          <a:prstGeom prst="rect">
            <a:avLst/>
          </a:prstGeom>
          <a:solidFill>
            <a:srgbClr val="D64545"/>
          </a:solidFill>
          <a:ln w="12700">
            <a:solidFill>
              <a:srgbClr val="D64545"/>
            </a:solidFill>
            <a:prstDash val="solid"/>
          </a:ln>
        </p:spPr>
      </p:sp>
      <p:sp>
        <p:nvSpPr>
          <p:cNvPr id="58" name="Text 55"/>
          <p:cNvSpPr/>
          <p:nvPr/>
        </p:nvSpPr>
        <p:spPr>
          <a:xfrm>
            <a:off x="7497897"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UX</a:t>
            </a:r>
            <a:endParaRPr lang="en-US" sz="1500" dirty="0"/>
          </a:p>
        </p:txBody>
      </p:sp>
      <p:sp>
        <p:nvSpPr>
          <p:cNvPr id="59" name="Text 56"/>
          <p:cNvSpPr/>
          <p:nvPr/>
        </p:nvSpPr>
        <p:spPr>
          <a:xfrm>
            <a:off x="7497897" y="2057400"/>
            <a:ext cx="1249619" cy="777240"/>
          </a:xfrm>
          <a:prstGeom prst="rect">
            <a:avLst/>
          </a:prstGeom>
          <a:noFill/>
          <a:ln/>
        </p:spPr>
        <p:txBody>
          <a:bodyPr wrap="square" lIns="0" tIns="0" rIns="0" bIns="0" rtlCol="0" anchor="ctr"/>
          <a:lstStyle/>
          <a:p>
            <a:pPr indent="0" marL="0">
              <a:buNone/>
            </a:pPr>
            <a:r>
              <a:rPr lang="en-US" sz="4400" b="1" dirty="0">
                <a:solidFill>
                  <a:srgbClr val="D64545"/>
                </a:solidFill>
                <a:latin typeface="Calibri" pitchFamily="34" charset="0"/>
                <a:ea typeface="Calibri" pitchFamily="34" charset="-122"/>
                <a:cs typeface="Calibri" pitchFamily="34" charset="-120"/>
              </a:rPr>
              <a:t>60</a:t>
            </a:r>
            <a:endParaRPr lang="en-US" sz="4400" dirty="0"/>
          </a:p>
        </p:txBody>
      </p:sp>
      <p:sp>
        <p:nvSpPr>
          <p:cNvPr id="60" name="Shape 57"/>
          <p:cNvSpPr/>
          <p:nvPr/>
        </p:nvSpPr>
        <p:spPr>
          <a:xfrm>
            <a:off x="8336036" y="2286000"/>
            <a:ext cx="868680" cy="246888"/>
          </a:xfrm>
          <a:prstGeom prst="roundRect">
            <a:avLst>
              <a:gd name="adj" fmla="val 37037"/>
            </a:avLst>
          </a:prstGeom>
          <a:solidFill>
            <a:srgbClr val="FDE4E4"/>
          </a:solidFill>
          <a:ln w="12700">
            <a:solidFill>
              <a:srgbClr val="FDE4E4"/>
            </a:solidFill>
            <a:prstDash val="solid"/>
          </a:ln>
        </p:spPr>
      </p:sp>
      <p:sp>
        <p:nvSpPr>
          <p:cNvPr id="61" name="Text 58"/>
          <p:cNvSpPr/>
          <p:nvPr/>
        </p:nvSpPr>
        <p:spPr>
          <a:xfrm>
            <a:off x="8336036" y="2286000"/>
            <a:ext cx="868680" cy="246888"/>
          </a:xfrm>
          <a:prstGeom prst="rect">
            <a:avLst/>
          </a:prstGeom>
          <a:noFill/>
          <a:ln/>
        </p:spPr>
        <p:txBody>
          <a:bodyPr wrap="square" lIns="0" tIns="0" rIns="0" bIns="0" rtlCol="0" anchor="ctr"/>
          <a:lstStyle/>
          <a:p>
            <a:pPr algn="ctr" indent="0" marL="0">
              <a:buNone/>
            </a:pPr>
            <a:r>
              <a:rPr lang="en-US" sz="1000" b="1" dirty="0">
                <a:solidFill>
                  <a:srgbClr val="D64545"/>
                </a:solidFill>
                <a:latin typeface="Calibri" pitchFamily="34" charset="0"/>
                <a:ea typeface="Calibri" pitchFamily="34" charset="-122"/>
                <a:cs typeface="Calibri" pitchFamily="34" charset="-120"/>
              </a:rPr>
              <a:t>Grade D</a:t>
            </a:r>
            <a:endParaRPr lang="en-US" sz="1000" dirty="0"/>
          </a:p>
        </p:txBody>
      </p:sp>
      <p:sp>
        <p:nvSpPr>
          <p:cNvPr id="62" name="Shape 59"/>
          <p:cNvSpPr/>
          <p:nvPr/>
        </p:nvSpPr>
        <p:spPr>
          <a:xfrm>
            <a:off x="7497897" y="2926080"/>
            <a:ext cx="1706819" cy="109728"/>
          </a:xfrm>
          <a:prstGeom prst="roundRect">
            <a:avLst>
              <a:gd name="adj" fmla="val 83333"/>
            </a:avLst>
          </a:prstGeom>
          <a:solidFill>
            <a:srgbClr val="E6E9F3"/>
          </a:solidFill>
          <a:ln w="12700">
            <a:solidFill>
              <a:srgbClr val="E6E9F3"/>
            </a:solidFill>
            <a:prstDash val="solid"/>
          </a:ln>
        </p:spPr>
      </p:sp>
      <p:sp>
        <p:nvSpPr>
          <p:cNvPr id="63" name="Shape 60"/>
          <p:cNvSpPr/>
          <p:nvPr/>
        </p:nvSpPr>
        <p:spPr>
          <a:xfrm>
            <a:off x="7497897" y="2926080"/>
            <a:ext cx="1024091" cy="109728"/>
          </a:xfrm>
          <a:prstGeom prst="roundRect">
            <a:avLst>
              <a:gd name="adj" fmla="val 83333"/>
            </a:avLst>
          </a:prstGeom>
          <a:solidFill>
            <a:srgbClr val="D64545"/>
          </a:solidFill>
          <a:ln w="12700">
            <a:solidFill>
              <a:srgbClr val="D64545"/>
            </a:solidFill>
            <a:prstDash val="solid"/>
          </a:ln>
        </p:spPr>
      </p:sp>
      <p:sp>
        <p:nvSpPr>
          <p:cNvPr id="64" name="Text 61"/>
          <p:cNvSpPr/>
          <p:nvPr/>
        </p:nvSpPr>
        <p:spPr>
          <a:xfrm>
            <a:off x="7497897"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Weakest area: visual hierarchy (2/5).</a:t>
            </a:r>
            <a:endParaRPr lang="en-US" sz="1100" dirty="0"/>
          </a:p>
        </p:txBody>
      </p:sp>
      <p:sp>
        <p:nvSpPr>
          <p:cNvPr id="65" name="Text 62"/>
          <p:cNvSpPr/>
          <p:nvPr/>
        </p:nvSpPr>
        <p:spPr>
          <a:xfrm>
            <a:off x="7497897"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Visual hierarchy</a:t>
            </a:r>
            <a:endParaRPr lang="en-US" sz="900" dirty="0"/>
          </a:p>
        </p:txBody>
      </p:sp>
      <p:sp>
        <p:nvSpPr>
          <p:cNvPr id="66" name="Text 63"/>
          <p:cNvSpPr/>
          <p:nvPr/>
        </p:nvSpPr>
        <p:spPr>
          <a:xfrm>
            <a:off x="7497897"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2</a:t>
            </a:r>
            <a:endParaRPr lang="en-US" sz="1200" dirty="0"/>
          </a:p>
        </p:txBody>
      </p:sp>
      <p:sp>
        <p:nvSpPr>
          <p:cNvPr id="67" name="Text 64"/>
          <p:cNvSpPr/>
          <p:nvPr/>
        </p:nvSpPr>
        <p:spPr>
          <a:xfrm>
            <a:off x="7497897"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CTA clarity</a:t>
            </a:r>
            <a:endParaRPr lang="en-US" sz="900" dirty="0"/>
          </a:p>
        </p:txBody>
      </p:sp>
      <p:sp>
        <p:nvSpPr>
          <p:cNvPr id="68" name="Text 65"/>
          <p:cNvSpPr/>
          <p:nvPr/>
        </p:nvSpPr>
        <p:spPr>
          <a:xfrm>
            <a:off x="7497897"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69" name="Text 66"/>
          <p:cNvSpPr/>
          <p:nvPr/>
        </p:nvSpPr>
        <p:spPr>
          <a:xfrm>
            <a:off x="7497897"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Navigation</a:t>
            </a:r>
            <a:endParaRPr lang="en-US" sz="900" dirty="0"/>
          </a:p>
        </p:txBody>
      </p:sp>
      <p:sp>
        <p:nvSpPr>
          <p:cNvPr id="70" name="Text 67"/>
          <p:cNvSpPr/>
          <p:nvPr/>
        </p:nvSpPr>
        <p:spPr>
          <a:xfrm>
            <a:off x="7497897"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3</a:t>
            </a:r>
            <a:endParaRPr lang="en-US" sz="1200" dirty="0"/>
          </a:p>
        </p:txBody>
      </p:sp>
      <p:sp>
        <p:nvSpPr>
          <p:cNvPr id="71" name="Shape 68"/>
          <p:cNvSpPr/>
          <p:nvPr/>
        </p:nvSpPr>
        <p:spPr>
          <a:xfrm>
            <a:off x="9570476" y="1508760"/>
            <a:ext cx="2072579" cy="4206240"/>
          </a:xfrm>
          <a:prstGeom prst="roundRect">
            <a:avLst>
              <a:gd name="adj" fmla="val 4412"/>
            </a:avLst>
          </a:prstGeom>
          <a:solidFill>
            <a:srgbClr val="FFFFFF"/>
          </a:solidFill>
          <a:ln w="12700">
            <a:solidFill>
              <a:srgbClr val="DDE2EE"/>
            </a:solidFill>
            <a:prstDash val="solid"/>
          </a:ln>
        </p:spPr>
      </p:sp>
      <p:sp>
        <p:nvSpPr>
          <p:cNvPr id="72" name="Shape 69"/>
          <p:cNvSpPr/>
          <p:nvPr/>
        </p:nvSpPr>
        <p:spPr>
          <a:xfrm>
            <a:off x="9570476" y="1508760"/>
            <a:ext cx="2072579" cy="64008"/>
          </a:xfrm>
          <a:prstGeom prst="rect">
            <a:avLst/>
          </a:prstGeom>
          <a:solidFill>
            <a:srgbClr val="0F9D6B"/>
          </a:solidFill>
          <a:ln w="12700">
            <a:solidFill>
              <a:srgbClr val="0F9D6B"/>
            </a:solidFill>
            <a:prstDash val="solid"/>
          </a:ln>
        </p:spPr>
      </p:sp>
      <p:sp>
        <p:nvSpPr>
          <p:cNvPr id="73" name="Text 70"/>
          <p:cNvSpPr/>
          <p:nvPr/>
        </p:nvSpPr>
        <p:spPr>
          <a:xfrm>
            <a:off x="9753356" y="1691640"/>
            <a:ext cx="1706819"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AI search</a:t>
            </a:r>
            <a:endParaRPr lang="en-US" sz="1500" dirty="0"/>
          </a:p>
        </p:txBody>
      </p:sp>
      <p:sp>
        <p:nvSpPr>
          <p:cNvPr id="74" name="Text 71"/>
          <p:cNvSpPr/>
          <p:nvPr/>
        </p:nvSpPr>
        <p:spPr>
          <a:xfrm>
            <a:off x="9753356" y="2057400"/>
            <a:ext cx="1249619" cy="777240"/>
          </a:xfrm>
          <a:prstGeom prst="rect">
            <a:avLst/>
          </a:prstGeom>
          <a:noFill/>
          <a:ln/>
        </p:spPr>
        <p:txBody>
          <a:bodyPr wrap="square" lIns="0" tIns="0" rIns="0" bIns="0" rtlCol="0" anchor="ctr"/>
          <a:lstStyle/>
          <a:p>
            <a:pPr indent="0" marL="0">
              <a:buNone/>
            </a:pPr>
            <a:r>
              <a:rPr lang="en-US" sz="4400" b="1" dirty="0">
                <a:solidFill>
                  <a:srgbClr val="0F9D6B"/>
                </a:solidFill>
                <a:latin typeface="Calibri" pitchFamily="34" charset="0"/>
                <a:ea typeface="Calibri" pitchFamily="34" charset="-122"/>
                <a:cs typeface="Calibri" pitchFamily="34" charset="-120"/>
              </a:rPr>
              <a:t>97</a:t>
            </a:r>
            <a:endParaRPr lang="en-US" sz="4400" dirty="0"/>
          </a:p>
        </p:txBody>
      </p:sp>
      <p:sp>
        <p:nvSpPr>
          <p:cNvPr id="75" name="Shape 72"/>
          <p:cNvSpPr/>
          <p:nvPr/>
        </p:nvSpPr>
        <p:spPr>
          <a:xfrm>
            <a:off x="10591495" y="2286000"/>
            <a:ext cx="868680" cy="246888"/>
          </a:xfrm>
          <a:prstGeom prst="roundRect">
            <a:avLst>
              <a:gd name="adj" fmla="val 37037"/>
            </a:avLst>
          </a:prstGeom>
          <a:solidFill>
            <a:srgbClr val="DFF5EA"/>
          </a:solidFill>
          <a:ln w="12700">
            <a:solidFill>
              <a:srgbClr val="DFF5EA"/>
            </a:solidFill>
            <a:prstDash val="solid"/>
          </a:ln>
        </p:spPr>
      </p:sp>
      <p:sp>
        <p:nvSpPr>
          <p:cNvPr id="76" name="Text 73"/>
          <p:cNvSpPr/>
          <p:nvPr/>
        </p:nvSpPr>
        <p:spPr>
          <a:xfrm>
            <a:off x="10591495" y="228600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Grade A</a:t>
            </a:r>
            <a:endParaRPr lang="en-US" sz="1000" dirty="0"/>
          </a:p>
        </p:txBody>
      </p:sp>
      <p:sp>
        <p:nvSpPr>
          <p:cNvPr id="77" name="Shape 74"/>
          <p:cNvSpPr/>
          <p:nvPr/>
        </p:nvSpPr>
        <p:spPr>
          <a:xfrm>
            <a:off x="9753356" y="2926080"/>
            <a:ext cx="1706819" cy="109728"/>
          </a:xfrm>
          <a:prstGeom prst="roundRect">
            <a:avLst>
              <a:gd name="adj" fmla="val 83333"/>
            </a:avLst>
          </a:prstGeom>
          <a:solidFill>
            <a:srgbClr val="E6E9F3"/>
          </a:solidFill>
          <a:ln w="12700">
            <a:solidFill>
              <a:srgbClr val="E6E9F3"/>
            </a:solidFill>
            <a:prstDash val="solid"/>
          </a:ln>
        </p:spPr>
      </p:sp>
      <p:sp>
        <p:nvSpPr>
          <p:cNvPr id="78" name="Shape 75"/>
          <p:cNvSpPr/>
          <p:nvPr/>
        </p:nvSpPr>
        <p:spPr>
          <a:xfrm>
            <a:off x="9753356" y="2926080"/>
            <a:ext cx="1655614" cy="109728"/>
          </a:xfrm>
          <a:prstGeom prst="roundRect">
            <a:avLst>
              <a:gd name="adj" fmla="val 83333"/>
            </a:avLst>
          </a:prstGeom>
          <a:solidFill>
            <a:srgbClr val="0F9D6B"/>
          </a:solidFill>
          <a:ln w="12700">
            <a:solidFill>
              <a:srgbClr val="0F9D6B"/>
            </a:solidFill>
            <a:prstDash val="solid"/>
          </a:ln>
        </p:spPr>
      </p:sp>
      <p:sp>
        <p:nvSpPr>
          <p:cNvPr id="79" name="Text 76"/>
          <p:cNvSpPr/>
          <p:nvPr/>
        </p:nvSpPr>
        <p:spPr>
          <a:xfrm>
            <a:off x="9753356" y="3200400"/>
            <a:ext cx="1706819" cy="86868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Structured data found; llms.txt present.</a:t>
            </a:r>
            <a:endParaRPr lang="en-US" sz="1100" dirty="0"/>
          </a:p>
        </p:txBody>
      </p:sp>
      <p:sp>
        <p:nvSpPr>
          <p:cNvPr id="80" name="Text 77"/>
          <p:cNvSpPr/>
          <p:nvPr/>
        </p:nvSpPr>
        <p:spPr>
          <a:xfrm>
            <a:off x="9753356" y="416052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JSON-LD blocks</a:t>
            </a:r>
            <a:endParaRPr lang="en-US" sz="900" dirty="0"/>
          </a:p>
        </p:txBody>
      </p:sp>
      <p:sp>
        <p:nvSpPr>
          <p:cNvPr id="81" name="Text 78"/>
          <p:cNvSpPr/>
          <p:nvPr/>
        </p:nvSpPr>
        <p:spPr>
          <a:xfrm>
            <a:off x="9753356" y="433425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6</a:t>
            </a:r>
            <a:endParaRPr lang="en-US" sz="1200" dirty="0"/>
          </a:p>
        </p:txBody>
      </p:sp>
      <p:sp>
        <p:nvSpPr>
          <p:cNvPr id="82" name="Text 79"/>
          <p:cNvSpPr/>
          <p:nvPr/>
        </p:nvSpPr>
        <p:spPr>
          <a:xfrm>
            <a:off x="9753356" y="466344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Schema types</a:t>
            </a:r>
            <a:endParaRPr lang="en-US" sz="900" dirty="0"/>
          </a:p>
        </p:txBody>
      </p:sp>
      <p:sp>
        <p:nvSpPr>
          <p:cNvPr id="83" name="Text 80"/>
          <p:cNvSpPr/>
          <p:nvPr/>
        </p:nvSpPr>
        <p:spPr>
          <a:xfrm>
            <a:off x="9753356" y="483717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ProductGroup,…</a:t>
            </a:r>
            <a:endParaRPr lang="en-US" sz="1200" dirty="0"/>
          </a:p>
        </p:txBody>
      </p:sp>
      <p:sp>
        <p:nvSpPr>
          <p:cNvPr id="84" name="Text 81"/>
          <p:cNvSpPr/>
          <p:nvPr/>
        </p:nvSpPr>
        <p:spPr>
          <a:xfrm>
            <a:off x="9753356" y="5166360"/>
            <a:ext cx="1706819" cy="201168"/>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llms.txt</a:t>
            </a:r>
            <a:endParaRPr lang="en-US" sz="900" dirty="0"/>
          </a:p>
        </p:txBody>
      </p:sp>
      <p:sp>
        <p:nvSpPr>
          <p:cNvPr id="85" name="Text 82"/>
          <p:cNvSpPr/>
          <p:nvPr/>
        </p:nvSpPr>
        <p:spPr>
          <a:xfrm>
            <a:off x="9753356" y="5340096"/>
            <a:ext cx="1706819" cy="256032"/>
          </a:xfrm>
          <a:prstGeom prst="rect">
            <a:avLst/>
          </a:prstGeom>
          <a:noFill/>
          <a:ln/>
        </p:spPr>
        <p:txBody>
          <a:bodyPr wrap="square" lIns="0" tIns="0" rIns="0" bIns="0" rtlCol="0" anchor="t"/>
          <a:lstStyle/>
          <a:p>
            <a:pPr indent="0" marL="0">
              <a:buNone/>
            </a:pPr>
            <a:r>
              <a:rPr lang="en-US" sz="1200" b="1" dirty="0">
                <a:solidFill>
                  <a:srgbClr val="111827"/>
                </a:solidFill>
                <a:latin typeface="Calibri" pitchFamily="34" charset="0"/>
                <a:ea typeface="Calibri" pitchFamily="34" charset="-122"/>
                <a:cs typeface="Calibri" pitchFamily="34" charset="-120"/>
              </a:rPr>
              <a:t>yes</a:t>
            </a:r>
            <a:endParaRPr lang="en-US" sz="1200" dirty="0"/>
          </a:p>
        </p:txBody>
      </p:sp>
      <p:sp>
        <p:nvSpPr>
          <p:cNvPr id="86" name="Text 83"/>
          <p:cNvSpPr/>
          <p:nvPr/>
        </p:nvSpPr>
        <p:spPr>
          <a:xfrm>
            <a:off x="548640" y="5943600"/>
            <a:ext cx="11094415"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Overall 46/100, grade F: speed 20%, mobile 20%, accessibility 20%, UX 25%, AI search 15%.</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(1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4</a:t>
            </a:r>
            <a:endParaRPr lang="en-US" sz="10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Main content takes 19.7s to appear on 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mobile LCP 19668 ms (target &lt; 2500 ms), FCP 12596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Compress and preload the hero image, defer non-critical scripts, serve via a CDN.</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Page is unresponsive for 2.6s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Total blocking time 2576 ms (target &lt; 200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Split and defer JavaScript, remove unused third-party scripts.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Eliminate render-blocking resources: about 3.8s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3750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"Eliminate render-blocking resources".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Reduce unused JavaScript: about 3.2s to gain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opportunity, estimated saving 3240 ms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Address "Reduce unused JavaScript".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302 tap targets are too small</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302 of 664 links/buttons are under 32px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Make interactive elements at least 44x44px with spacing between them.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contain particular children</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aria-required-children: 8 element(s), e.g. .nv00-gnb-v4__l0-menu-list--left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bl>
          </a:graphicData>
        </a:graphic>
      </p:graphicFrame>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THE AUDIT · FINDINGS AND EVIDENCE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we found (2 of 2)</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5</a:t>
            </a:r>
            <a:endParaRPr lang="en-US" sz="1000" dirty="0"/>
          </a:p>
        </p:txBody>
      </p:sp>
      <p:graphicFrame>
        <p:nvGraphicFramePr>
          <p:cNvPr id="6" name="Table 0"/>
          <p:cNvGraphicFramePr>
            <a:graphicFrameLocks noGrp="1"/>
          </p:cNvGraphicFramePr>
          <p:nvPr>
            <p:extLst>
              <p:ext uri="{D42A27DB-BD31-4B8C-83A1-F6EECF244321}">
                <p14:modId xmlns:p14="http://schemas.microsoft.com/office/powerpoint/2010/main" val="1579011935"/>
              </p:ext>
            </p:extLst>
          </p:nvPr>
        </p:nvGraphicFramePr>
        <p:xfrm>
          <a:off x="548640" y="1508760"/>
          <a:ext cx="11094415" cy="914400"/>
        </p:xfrm>
        <a:graphic>
          <a:graphicData uri="http://schemas.openxmlformats.org/drawingml/2006/table">
            <a:tbl>
              <a:tblPr/>
              <a:tblGrid>
                <a:gridCol w="1234440"/>
                <a:gridCol w="2834640"/>
                <a:gridCol w="3108960"/>
                <a:gridCol w="3154680"/>
                <a:gridCol w="758952"/>
              </a:tblGrid>
              <a:tr h="731520">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AREA</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FINDING</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EVIDENCE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RECOMMENDED FIX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c>
                  <a:txBody>
                    <a:bodyPr/>
                    <a:lstStyle/>
                    <a:p>
                      <a:pPr indent="0" marL="0">
                        <a:buNone/>
                      </a:pPr>
                      <a:r>
                        <a:rPr lang="en-US" sz="1000" b="1" dirty="0">
                          <a:solidFill>
                            <a:srgbClr val="5B6477"/>
                          </a:solidFill>
                          <a:latin typeface="Calibri" pitchFamily="34" charset="0"/>
                          <a:ea typeface="Calibri" pitchFamily="34" charset="-122"/>
                          <a:cs typeface="Calibri" pitchFamily="34" charset="-120"/>
                        </a:rPr>
                        <a:t>IMPACT</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4F6FB"/>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aria-required-parent: 23 element(s), e.g. .nv00-gnb-v4__l0-menu-link[an-la="L0_2_shop"][h…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ARIA attributes must conform to valid values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aria-valid-attr-value: 1 element(s), e.g. #payment-tab-2</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Accessibility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ARIA attributes must conform to valid names</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aria-valid-attr: 6 element(s), e.g. #tab-panel-0</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Fix the flagged elements and add automated a11y checks to CI.</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D64545"/>
                          </a:solidFill>
                          <a:latin typeface="Calibri" pitchFamily="34" charset="0"/>
                          <a:ea typeface="Calibri" pitchFamily="34" charset="-122"/>
                          <a:cs typeface="Calibri" pitchFamily="34" charset="-120"/>
                        </a:rPr>
                        <a:t>High</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E4E4"/>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Speed</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Layout jumps while loading</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Lighthouse CLS 0.117 (target &lt; 0.1)</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Reserve space for images, ads and embeds; avoid late-injected banners.</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Mobile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Text is too small to read comfortably</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61 text blocks under 12px</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Use a 16px base font size and a fluid type scale.</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r h="731520">
                <a:tc>
                  <a:txBody>
                    <a:bodyPr/>
                    <a:lstStyle/>
                    <a:p>
                      <a:pPr indent="0" marL="0">
                        <a:buNone/>
                      </a:pPr>
                      <a:r>
                        <a:rPr lang="en-US" sz="1100" b="1" dirty="0">
                          <a:solidFill>
                            <a:srgbClr val="1428A0"/>
                          </a:solidFill>
                          <a:latin typeface="Calibri" pitchFamily="34" charset="0"/>
                          <a:ea typeface="Calibri" pitchFamily="34" charset="-122"/>
                          <a:cs typeface="Calibri" pitchFamily="34" charset="-120"/>
                        </a:rPr>
                        <a:t>UX</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100" b="1" dirty="0">
                          <a:solidFill>
                            <a:srgbClr val="111827"/>
                          </a:solidFill>
                          <a:latin typeface="Calibri" pitchFamily="34" charset="0"/>
                          <a:ea typeface="Calibri" pitchFamily="34" charset="-122"/>
                          <a:cs typeface="Calibri" pitchFamily="34" charset="-120"/>
                        </a:rPr>
                        <a:t>Cookie consent modal blocks the page and competes with the main conte…</a:t>
                      </a:r>
                      <a:endParaRPr lang="en-US" sz="11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5B6477"/>
                          </a:solidFill>
                          <a:latin typeface="Calibri" pitchFamily="34" charset="0"/>
                          <a:ea typeface="Calibri" pitchFamily="34" charset="-122"/>
                          <a:cs typeface="Calibri" pitchFamily="34" charset="-120"/>
                        </a:rPr>
                        <a:t>A large white modal covers the center of the viewport. It holds about 20 lines of dense l…</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indent="0" marL="0">
                        <a:buNone/>
                      </a:pPr>
                      <a:r>
                        <a:rPr lang="en-US" sz="1000" dirty="0">
                          <a:solidFill>
                            <a:srgbClr val="111827"/>
                          </a:solidFill>
                          <a:latin typeface="Calibri" pitchFamily="34" charset="0"/>
                          <a:ea typeface="Calibri" pitchFamily="34" charset="-122"/>
                          <a:cs typeface="Calibri" pitchFamily="34" charset="-120"/>
                        </a:rPr>
                        <a:t>Use a compact bottom banner or a smaller modal. Put a short summary at the top, give the butto…</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FFFFF"/>
                    </a:solidFill>
                  </a:tcPr>
                </a:tc>
                <a:tc>
                  <a:txBody>
                    <a:bodyPr/>
                    <a:lstStyle/>
                    <a:p>
                      <a:pPr algn="ctr" indent="0" marL="0">
                        <a:buNone/>
                      </a:pPr>
                      <a:r>
                        <a:rPr lang="en-US" sz="1000" b="1" dirty="0">
                          <a:solidFill>
                            <a:srgbClr val="B7791F"/>
                          </a:solidFill>
                          <a:latin typeface="Calibri" pitchFamily="34" charset="0"/>
                          <a:ea typeface="Calibri" pitchFamily="34" charset="-122"/>
                          <a:cs typeface="Calibri" pitchFamily="34" charset="-120"/>
                        </a:rPr>
                        <a:t>Medium</a:t>
                      </a:r>
                      <a:endParaRPr lang="en-US" sz="1000" dirty="0">
                        <a:latin typeface="Calibri" charset="0"/>
                        <a:ea typeface="Calibri" charset="0"/>
                        <a:cs typeface="Calibri" charset="0"/>
                      </a:endParaRPr>
                    </a:p>
                  </a:txBody>
                  <a:tcPr marL="91440" marR="91440" marT="45720" marB="45720" anchor="ctr">
                    <a:lnL w="9525" cap="flat" cmpd="sng" algn="ctr">
                      <a:solidFill>
                        <a:srgbClr val="DDE2EE"/>
                      </a:solidFill>
                      <a:prstDash val="solid"/>
                      <a:round/>
                      <a:headEnd type="none" w="med" len="med"/>
                      <a:tailEnd type="none" w="med" len="med"/>
                    </a:lnL>
                    <a:lnR w="9525" cap="flat" cmpd="sng" algn="ctr">
                      <a:solidFill>
                        <a:srgbClr val="DDE2EE"/>
                      </a:solidFill>
                      <a:prstDash val="solid"/>
                      <a:round/>
                      <a:headEnd type="none" w="med" len="med"/>
                      <a:tailEnd type="none" w="med" len="med"/>
                    </a:lnR>
                    <a:lnT w="9525" cap="flat" cmpd="sng" algn="ctr">
                      <a:solidFill>
                        <a:srgbClr val="DDE2EE"/>
                      </a:solidFill>
                      <a:prstDash val="solid"/>
                      <a:round/>
                      <a:headEnd type="none" w="med" len="med"/>
                      <a:tailEnd type="none" w="med" len="med"/>
                    </a:lnT>
                    <a:lnB w="9525" cap="flat" cmpd="sng" algn="ctr">
                      <a:solidFill>
                        <a:srgbClr val="DDE2EE"/>
                      </a:solidFill>
                      <a:prstDash val="solid"/>
                      <a:round/>
                      <a:headEnd type="none" w="med" len="med"/>
                      <a:tailEnd type="none" w="med" len="med"/>
                    </a:lnB>
                    <a:solidFill>
                      <a:srgbClr val="FDF0D5"/>
                    </a:solidFill>
                  </a:tcPr>
                </a:tc>
              </a:tr>
            </a:tbl>
          </a:graphicData>
        </a:graphic>
      </p:graphicFrame>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technology behind samsung.com</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6</a:t>
            </a:r>
            <a:endParaRPr lang="en-US" sz="1000" dirty="0"/>
          </a:p>
        </p:txBody>
      </p:sp>
      <p:sp>
        <p:nvSpPr>
          <p:cNvPr id="11" name="Shape 8"/>
          <p:cNvSpPr/>
          <p:nvPr/>
        </p:nvSpPr>
        <p:spPr>
          <a:xfrm>
            <a:off x="548640" y="1463040"/>
            <a:ext cx="2636444" cy="1097280"/>
          </a:xfrm>
          <a:prstGeom prst="roundRect">
            <a:avLst>
              <a:gd name="adj" fmla="val 8333"/>
            </a:avLst>
          </a:prstGeom>
          <a:solidFill>
            <a:srgbClr val="FFFFFF"/>
          </a:solidFill>
          <a:ln w="12700">
            <a:solidFill>
              <a:srgbClr val="DDE2EE"/>
            </a:solidFill>
            <a:prstDash val="solid"/>
          </a:ln>
        </p:spPr>
      </p:sp>
      <p:sp>
        <p:nvSpPr>
          <p:cNvPr id="12" name="Text 9"/>
          <p:cNvSpPr/>
          <p:nvPr/>
        </p:nvSpPr>
        <p:spPr>
          <a:xfrm>
            <a:off x="731520"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10</a:t>
            </a:r>
            <a:endParaRPr lang="en-US" sz="2800" dirty="0"/>
          </a:p>
        </p:txBody>
      </p:sp>
      <p:sp>
        <p:nvSpPr>
          <p:cNvPr id="13" name="Text 10"/>
          <p:cNvSpPr/>
          <p:nvPr/>
        </p:nvSpPr>
        <p:spPr>
          <a:xfrm>
            <a:off x="731520"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technologies detected</a:t>
            </a:r>
            <a:endParaRPr lang="en-US" sz="1100" dirty="0"/>
          </a:p>
        </p:txBody>
      </p:sp>
      <p:sp>
        <p:nvSpPr>
          <p:cNvPr id="14" name="Shape 11"/>
          <p:cNvSpPr/>
          <p:nvPr/>
        </p:nvSpPr>
        <p:spPr>
          <a:xfrm>
            <a:off x="3367964" y="1463040"/>
            <a:ext cx="2636444" cy="1097280"/>
          </a:xfrm>
          <a:prstGeom prst="roundRect">
            <a:avLst>
              <a:gd name="adj" fmla="val 8333"/>
            </a:avLst>
          </a:prstGeom>
          <a:solidFill>
            <a:srgbClr val="FFFFFF"/>
          </a:solidFill>
          <a:ln w="12700">
            <a:solidFill>
              <a:srgbClr val="DDE2EE"/>
            </a:solidFill>
            <a:prstDash val="solid"/>
          </a:ln>
        </p:spPr>
      </p:sp>
      <p:sp>
        <p:nvSpPr>
          <p:cNvPr id="15" name="Text 12"/>
          <p:cNvSpPr/>
          <p:nvPr/>
        </p:nvSpPr>
        <p:spPr>
          <a:xfrm>
            <a:off x="3550844"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257</a:t>
            </a:r>
            <a:endParaRPr lang="en-US" sz="2800" dirty="0"/>
          </a:p>
        </p:txBody>
      </p:sp>
      <p:sp>
        <p:nvSpPr>
          <p:cNvPr id="16" name="Text 13"/>
          <p:cNvSpPr/>
          <p:nvPr/>
        </p:nvSpPr>
        <p:spPr>
          <a:xfrm>
            <a:off x="3550844"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network requests</a:t>
            </a:r>
            <a:endParaRPr lang="en-US" sz="1100" dirty="0"/>
          </a:p>
        </p:txBody>
      </p:sp>
      <p:sp>
        <p:nvSpPr>
          <p:cNvPr id="17" name="Shape 14"/>
          <p:cNvSpPr/>
          <p:nvPr/>
        </p:nvSpPr>
        <p:spPr>
          <a:xfrm>
            <a:off x="6187288" y="1463040"/>
            <a:ext cx="2636444" cy="1097280"/>
          </a:xfrm>
          <a:prstGeom prst="roundRect">
            <a:avLst>
              <a:gd name="adj" fmla="val 8333"/>
            </a:avLst>
          </a:prstGeom>
          <a:solidFill>
            <a:srgbClr val="FFFFFF"/>
          </a:solidFill>
          <a:ln w="12700">
            <a:solidFill>
              <a:srgbClr val="DDE2EE"/>
            </a:solidFill>
            <a:prstDash val="solid"/>
          </a:ln>
        </p:spPr>
      </p:sp>
      <p:sp>
        <p:nvSpPr>
          <p:cNvPr id="18" name="Text 15"/>
          <p:cNvSpPr/>
          <p:nvPr/>
        </p:nvSpPr>
        <p:spPr>
          <a:xfrm>
            <a:off x="6370168"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50%</a:t>
            </a:r>
            <a:endParaRPr lang="en-US" sz="2800" dirty="0"/>
          </a:p>
        </p:txBody>
      </p:sp>
      <p:sp>
        <p:nvSpPr>
          <p:cNvPr id="19" name="Text 16"/>
          <p:cNvSpPr/>
          <p:nvPr/>
        </p:nvSpPr>
        <p:spPr>
          <a:xfrm>
            <a:off x="6370168"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third-party requests</a:t>
            </a:r>
            <a:endParaRPr lang="en-US" sz="1100" dirty="0"/>
          </a:p>
        </p:txBody>
      </p:sp>
      <p:sp>
        <p:nvSpPr>
          <p:cNvPr id="20" name="Shape 17"/>
          <p:cNvSpPr/>
          <p:nvPr/>
        </p:nvSpPr>
        <p:spPr>
          <a:xfrm>
            <a:off x="9006611" y="1463040"/>
            <a:ext cx="2636444" cy="1097280"/>
          </a:xfrm>
          <a:prstGeom prst="roundRect">
            <a:avLst>
              <a:gd name="adj" fmla="val 8333"/>
            </a:avLst>
          </a:prstGeom>
          <a:solidFill>
            <a:srgbClr val="FFFFFF"/>
          </a:solidFill>
          <a:ln w="12700">
            <a:solidFill>
              <a:srgbClr val="DDE2EE"/>
            </a:solidFill>
            <a:prstDash val="solid"/>
          </a:ln>
        </p:spPr>
      </p:sp>
      <p:sp>
        <p:nvSpPr>
          <p:cNvPr id="21" name="Text 18"/>
          <p:cNvSpPr/>
          <p:nvPr/>
        </p:nvSpPr>
        <p:spPr>
          <a:xfrm>
            <a:off x="9189491" y="1572768"/>
            <a:ext cx="2270684" cy="603504"/>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9</a:t>
            </a:r>
            <a:endParaRPr lang="en-US" sz="2800" dirty="0"/>
          </a:p>
        </p:txBody>
      </p:sp>
      <p:sp>
        <p:nvSpPr>
          <p:cNvPr id="22" name="Text 19"/>
          <p:cNvSpPr/>
          <p:nvPr/>
        </p:nvSpPr>
        <p:spPr>
          <a:xfrm>
            <a:off x="9189491" y="2176272"/>
            <a:ext cx="2270684" cy="329184"/>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domains contacted</a:t>
            </a:r>
            <a:endParaRPr lang="en-US" sz="1100" dirty="0"/>
          </a:p>
        </p:txBody>
      </p:sp>
      <p:sp>
        <p:nvSpPr>
          <p:cNvPr id="23" name="Text 20"/>
          <p:cNvSpPr/>
          <p:nvPr/>
        </p:nvSpPr>
        <p:spPr>
          <a:xfrm>
            <a:off x="548640" y="28346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FRONTEND FRAMEWORK</a:t>
            </a:r>
            <a:endParaRPr lang="en-US" sz="950" dirty="0"/>
          </a:p>
        </p:txBody>
      </p:sp>
      <p:sp>
        <p:nvSpPr>
          <p:cNvPr id="24" name="Shape 21"/>
          <p:cNvSpPr/>
          <p:nvPr/>
        </p:nvSpPr>
        <p:spPr>
          <a:xfrm>
            <a:off x="2743200" y="2788920"/>
            <a:ext cx="1143000" cy="329184"/>
          </a:xfrm>
          <a:prstGeom prst="roundRect">
            <a:avLst>
              <a:gd name="adj" fmla="val 27778"/>
            </a:avLst>
          </a:prstGeom>
          <a:solidFill>
            <a:srgbClr val="FFFFFF"/>
          </a:solidFill>
          <a:ln w="12700">
            <a:solidFill>
              <a:srgbClr val="DDE2EE"/>
            </a:solidFill>
            <a:prstDash val="solid"/>
          </a:ln>
        </p:spPr>
      </p:sp>
      <p:pic>
        <p:nvPicPr>
          <p:cNvPr id="25" name="Image 0" descr="jQuery logo">    </p:cNvPr>
          <p:cNvPicPr>
            <a:picLocks noChangeAspect="1"/>
          </p:cNvPicPr>
          <p:nvPr/>
        </p:nvPicPr>
        <p:blipFill>
          <a:blip r:embed="rId1"/>
          <a:stretch>
            <a:fillRect/>
          </a:stretch>
        </p:blipFill>
        <p:spPr>
          <a:xfrm>
            <a:off x="2834640" y="2852928"/>
            <a:ext cx="201168" cy="201168"/>
          </a:xfrm>
          <a:prstGeom prst="rect">
            <a:avLst/>
          </a:prstGeom>
        </p:spPr>
      </p:pic>
      <p:sp>
        <p:nvSpPr>
          <p:cNvPr id="26" name="Text 22"/>
          <p:cNvSpPr/>
          <p:nvPr/>
        </p:nvSpPr>
        <p:spPr>
          <a:xfrm>
            <a:off x="3054096" y="27889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jQuery</a:t>
            </a:r>
            <a:endParaRPr lang="en-US" sz="1000" dirty="0"/>
          </a:p>
        </p:txBody>
      </p:sp>
      <p:sp>
        <p:nvSpPr>
          <p:cNvPr id="27" name="Text 23"/>
          <p:cNvSpPr/>
          <p:nvPr/>
        </p:nvSpPr>
        <p:spPr>
          <a:xfrm>
            <a:off x="548640" y="32461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COMMERCE PLATFORM</a:t>
            </a:r>
            <a:endParaRPr lang="en-US" sz="950" dirty="0"/>
          </a:p>
        </p:txBody>
      </p:sp>
      <p:sp>
        <p:nvSpPr>
          <p:cNvPr id="28" name="Shape 24"/>
          <p:cNvSpPr/>
          <p:nvPr/>
        </p:nvSpPr>
        <p:spPr>
          <a:xfrm>
            <a:off x="2743200" y="3200400"/>
            <a:ext cx="2651760" cy="329184"/>
          </a:xfrm>
          <a:prstGeom prst="roundRect">
            <a:avLst>
              <a:gd name="adj" fmla="val 27778"/>
            </a:avLst>
          </a:prstGeom>
          <a:solidFill>
            <a:srgbClr val="FFFFFF"/>
          </a:solidFill>
          <a:ln w="25400">
            <a:solidFill>
              <a:srgbClr val="0F9D6B"/>
            </a:solidFill>
            <a:prstDash val="solid"/>
          </a:ln>
        </p:spPr>
      </p:sp>
      <p:pic>
        <p:nvPicPr>
          <p:cNvPr id="29" name="Image 1" descr="SAP Commerce Cloud (Hybris) logo">    </p:cNvPr>
          <p:cNvPicPr>
            <a:picLocks noChangeAspect="1"/>
          </p:cNvPicPr>
          <p:nvPr/>
        </p:nvPicPr>
        <p:blipFill>
          <a:blip r:embed="rId2"/>
          <a:stretch>
            <a:fillRect/>
          </a:stretch>
        </p:blipFill>
        <p:spPr>
          <a:xfrm>
            <a:off x="2834640" y="3264408"/>
            <a:ext cx="201168" cy="201168"/>
          </a:xfrm>
          <a:prstGeom prst="rect">
            <a:avLst/>
          </a:prstGeom>
        </p:spPr>
      </p:pic>
      <p:sp>
        <p:nvSpPr>
          <p:cNvPr id="30" name="Text 25"/>
          <p:cNvSpPr/>
          <p:nvPr/>
        </p:nvSpPr>
        <p:spPr>
          <a:xfrm>
            <a:off x="3054096" y="3200400"/>
            <a:ext cx="234086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SAP Commerce Cloud (Hybris)</a:t>
            </a:r>
            <a:endParaRPr lang="en-US" sz="1000" dirty="0"/>
          </a:p>
        </p:txBody>
      </p:sp>
      <p:sp>
        <p:nvSpPr>
          <p:cNvPr id="31" name="Text 26"/>
          <p:cNvSpPr/>
          <p:nvPr/>
        </p:nvSpPr>
        <p:spPr>
          <a:xfrm>
            <a:off x="548640" y="36576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CMS &amp; EXPERIENCE</a:t>
            </a:r>
            <a:endParaRPr lang="en-US" sz="950" dirty="0"/>
          </a:p>
        </p:txBody>
      </p:sp>
      <p:sp>
        <p:nvSpPr>
          <p:cNvPr id="32" name="Shape 27"/>
          <p:cNvSpPr/>
          <p:nvPr/>
        </p:nvSpPr>
        <p:spPr>
          <a:xfrm>
            <a:off x="2743200" y="3611880"/>
            <a:ext cx="2231136" cy="329184"/>
          </a:xfrm>
          <a:prstGeom prst="roundRect">
            <a:avLst>
              <a:gd name="adj" fmla="val 27778"/>
            </a:avLst>
          </a:prstGeom>
          <a:solidFill>
            <a:srgbClr val="FFFFFF"/>
          </a:solidFill>
          <a:ln w="25400">
            <a:solidFill>
              <a:srgbClr val="0F9D6B"/>
            </a:solidFill>
            <a:prstDash val="solid"/>
          </a:ln>
        </p:spPr>
      </p:sp>
      <p:sp>
        <p:nvSpPr>
          <p:cNvPr id="33" name="Text 28"/>
          <p:cNvSpPr/>
          <p:nvPr/>
        </p:nvSpPr>
        <p:spPr>
          <a:xfrm>
            <a:off x="2743200" y="3611880"/>
            <a:ext cx="2231136"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Manager</a:t>
            </a:r>
            <a:endParaRPr lang="en-US" sz="1000" dirty="0"/>
          </a:p>
        </p:txBody>
      </p:sp>
      <p:sp>
        <p:nvSpPr>
          <p:cNvPr id="34" name="Text 29"/>
          <p:cNvSpPr/>
          <p:nvPr/>
        </p:nvSpPr>
        <p:spPr>
          <a:xfrm>
            <a:off x="548640" y="406908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TAG MANAGER</a:t>
            </a:r>
            <a:endParaRPr lang="en-US" sz="950" dirty="0"/>
          </a:p>
        </p:txBody>
      </p:sp>
      <p:sp>
        <p:nvSpPr>
          <p:cNvPr id="35" name="Shape 30"/>
          <p:cNvSpPr/>
          <p:nvPr/>
        </p:nvSpPr>
        <p:spPr>
          <a:xfrm>
            <a:off x="2743200" y="4023360"/>
            <a:ext cx="2651760" cy="329184"/>
          </a:xfrm>
          <a:prstGeom prst="roundRect">
            <a:avLst>
              <a:gd name="adj" fmla="val 27778"/>
            </a:avLst>
          </a:prstGeom>
          <a:solidFill>
            <a:srgbClr val="FFFFFF"/>
          </a:solidFill>
          <a:ln w="25400">
            <a:solidFill>
              <a:srgbClr val="B7791F"/>
            </a:solidFill>
            <a:prstDash val="solid"/>
          </a:ln>
        </p:spPr>
      </p:sp>
      <p:sp>
        <p:nvSpPr>
          <p:cNvPr id="36" name="Text 31"/>
          <p:cNvSpPr/>
          <p:nvPr/>
        </p:nvSpPr>
        <p:spPr>
          <a:xfrm>
            <a:off x="2743200" y="4023360"/>
            <a:ext cx="265176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Adobe Experience Platform Launch</a:t>
            </a:r>
            <a:endParaRPr lang="en-US" sz="1000" dirty="0"/>
          </a:p>
        </p:txBody>
      </p:sp>
      <p:sp>
        <p:nvSpPr>
          <p:cNvPr id="37" name="Text 32"/>
          <p:cNvSpPr/>
          <p:nvPr/>
        </p:nvSpPr>
        <p:spPr>
          <a:xfrm>
            <a:off x="548640" y="448056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MONITORING</a:t>
            </a:r>
            <a:endParaRPr lang="en-US" sz="950" dirty="0"/>
          </a:p>
        </p:txBody>
      </p:sp>
      <p:sp>
        <p:nvSpPr>
          <p:cNvPr id="38" name="Shape 33"/>
          <p:cNvSpPr/>
          <p:nvPr/>
        </p:nvSpPr>
        <p:spPr>
          <a:xfrm>
            <a:off x="2743200" y="4434840"/>
            <a:ext cx="1687068" cy="329184"/>
          </a:xfrm>
          <a:prstGeom prst="roundRect">
            <a:avLst>
              <a:gd name="adj" fmla="val 27778"/>
            </a:avLst>
          </a:prstGeom>
          <a:solidFill>
            <a:srgbClr val="FFFFFF"/>
          </a:solidFill>
          <a:ln w="12700">
            <a:solidFill>
              <a:srgbClr val="DDE2EE"/>
            </a:solidFill>
            <a:prstDash val="solid"/>
          </a:ln>
        </p:spPr>
      </p:sp>
      <p:pic>
        <p:nvPicPr>
          <p:cNvPr id="39" name="Image 2" descr="Akamai mPulse logo">    </p:cNvPr>
          <p:cNvPicPr>
            <a:picLocks noChangeAspect="1"/>
          </p:cNvPicPr>
          <p:nvPr/>
        </p:nvPicPr>
        <p:blipFill>
          <a:blip r:embed="rId3"/>
          <a:stretch>
            <a:fillRect/>
          </a:stretch>
        </p:blipFill>
        <p:spPr>
          <a:xfrm>
            <a:off x="2834640" y="4498848"/>
            <a:ext cx="201168" cy="201168"/>
          </a:xfrm>
          <a:prstGeom prst="rect">
            <a:avLst/>
          </a:prstGeom>
        </p:spPr>
      </p:pic>
      <p:sp>
        <p:nvSpPr>
          <p:cNvPr id="40" name="Text 34"/>
          <p:cNvSpPr/>
          <p:nvPr/>
        </p:nvSpPr>
        <p:spPr>
          <a:xfrm>
            <a:off x="3054096" y="4434840"/>
            <a:ext cx="1376172"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 mPulse</a:t>
            </a:r>
            <a:endParaRPr lang="en-US" sz="1000" dirty="0"/>
          </a:p>
        </p:txBody>
      </p:sp>
      <p:sp>
        <p:nvSpPr>
          <p:cNvPr id="41" name="Text 35"/>
          <p:cNvSpPr/>
          <p:nvPr/>
        </p:nvSpPr>
        <p:spPr>
          <a:xfrm>
            <a:off x="548640" y="489204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CDN &amp; HOSTING</a:t>
            </a:r>
            <a:endParaRPr lang="en-US" sz="950" dirty="0"/>
          </a:p>
        </p:txBody>
      </p:sp>
      <p:sp>
        <p:nvSpPr>
          <p:cNvPr id="42" name="Shape 36"/>
          <p:cNvSpPr/>
          <p:nvPr/>
        </p:nvSpPr>
        <p:spPr>
          <a:xfrm>
            <a:off x="2743200" y="4846320"/>
            <a:ext cx="1143000" cy="329184"/>
          </a:xfrm>
          <a:prstGeom prst="roundRect">
            <a:avLst>
              <a:gd name="adj" fmla="val 27778"/>
            </a:avLst>
          </a:prstGeom>
          <a:solidFill>
            <a:srgbClr val="FFFFFF"/>
          </a:solidFill>
          <a:ln w="25400">
            <a:solidFill>
              <a:srgbClr val="0F9D6B"/>
            </a:solidFill>
            <a:prstDash val="solid"/>
          </a:ln>
        </p:spPr>
      </p:sp>
      <p:pic>
        <p:nvPicPr>
          <p:cNvPr id="43" name="Image 3" descr="Akamai logo">    </p:cNvPr>
          <p:cNvPicPr>
            <a:picLocks noChangeAspect="1"/>
          </p:cNvPicPr>
          <p:nvPr/>
        </p:nvPicPr>
        <p:blipFill>
          <a:blip r:embed="rId4"/>
          <a:stretch>
            <a:fillRect/>
          </a:stretch>
        </p:blipFill>
        <p:spPr>
          <a:xfrm>
            <a:off x="2834640" y="4910328"/>
            <a:ext cx="201168" cy="201168"/>
          </a:xfrm>
          <a:prstGeom prst="rect">
            <a:avLst/>
          </a:prstGeom>
        </p:spPr>
      </p:pic>
      <p:sp>
        <p:nvSpPr>
          <p:cNvPr id="44" name="Text 37"/>
          <p:cNvSpPr/>
          <p:nvPr/>
        </p:nvSpPr>
        <p:spPr>
          <a:xfrm>
            <a:off x="3054096" y="4846320"/>
            <a:ext cx="83210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Akamai</a:t>
            </a:r>
            <a:endParaRPr lang="en-US" sz="1000" dirty="0"/>
          </a:p>
        </p:txBody>
      </p:sp>
      <p:sp>
        <p:nvSpPr>
          <p:cNvPr id="45" name="Text 38"/>
          <p:cNvSpPr/>
          <p:nvPr/>
        </p:nvSpPr>
        <p:spPr>
          <a:xfrm>
            <a:off x="548640" y="530352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SERVER &amp; LANGUAGE</a:t>
            </a:r>
            <a:endParaRPr lang="en-US" sz="950" dirty="0"/>
          </a:p>
        </p:txBody>
      </p:sp>
      <p:sp>
        <p:nvSpPr>
          <p:cNvPr id="46" name="Shape 39"/>
          <p:cNvSpPr/>
          <p:nvPr/>
        </p:nvSpPr>
        <p:spPr>
          <a:xfrm>
            <a:off x="2743200" y="5257800"/>
            <a:ext cx="1920240" cy="329184"/>
          </a:xfrm>
          <a:prstGeom prst="roundRect">
            <a:avLst>
              <a:gd name="adj" fmla="val 27778"/>
            </a:avLst>
          </a:prstGeom>
          <a:solidFill>
            <a:srgbClr val="FFFFFF"/>
          </a:solidFill>
          <a:ln w="12700">
            <a:solidFill>
              <a:srgbClr val="0F9D6B"/>
            </a:solidFill>
            <a:prstDash val="solid"/>
          </a:ln>
        </p:spPr>
      </p:sp>
      <p:sp>
        <p:nvSpPr>
          <p:cNvPr id="47" name="Text 40"/>
          <p:cNvSpPr/>
          <p:nvPr/>
        </p:nvSpPr>
        <p:spPr>
          <a:xfrm>
            <a:off x="2743200" y="5257800"/>
            <a:ext cx="1920240"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Java (servlet / JSP)</a:t>
            </a:r>
            <a:endParaRPr lang="en-US" sz="1000" dirty="0"/>
          </a:p>
        </p:txBody>
      </p:sp>
      <p:sp>
        <p:nvSpPr>
          <p:cNvPr id="48" name="Text 41"/>
          <p:cNvSpPr/>
          <p:nvPr/>
        </p:nvSpPr>
        <p:spPr>
          <a:xfrm>
            <a:off x="548640" y="5715000"/>
            <a:ext cx="2103120" cy="27432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REVIEWS &amp; FEEDBACK</a:t>
            </a:r>
            <a:endParaRPr lang="en-US" sz="950" dirty="0"/>
          </a:p>
        </p:txBody>
      </p:sp>
      <p:sp>
        <p:nvSpPr>
          <p:cNvPr id="49" name="Shape 42"/>
          <p:cNvSpPr/>
          <p:nvPr/>
        </p:nvSpPr>
        <p:spPr>
          <a:xfrm>
            <a:off x="2743200" y="5669280"/>
            <a:ext cx="1220724" cy="329184"/>
          </a:xfrm>
          <a:prstGeom prst="roundRect">
            <a:avLst>
              <a:gd name="adj" fmla="val 27778"/>
            </a:avLst>
          </a:prstGeom>
          <a:solidFill>
            <a:srgbClr val="FFFFFF"/>
          </a:solidFill>
          <a:ln w="25400">
            <a:solidFill>
              <a:srgbClr val="DDE2EE"/>
            </a:solidFill>
            <a:prstDash val="solid"/>
          </a:ln>
        </p:spPr>
      </p:sp>
      <p:sp>
        <p:nvSpPr>
          <p:cNvPr id="50" name="Text 43"/>
          <p:cNvSpPr/>
          <p:nvPr/>
        </p:nvSpPr>
        <p:spPr>
          <a:xfrm>
            <a:off x="2743200" y="5669280"/>
            <a:ext cx="1220724" cy="329184"/>
          </a:xfrm>
          <a:prstGeom prst="rect">
            <a:avLst/>
          </a:prstGeom>
          <a:noFill/>
          <a:ln/>
        </p:spPr>
        <p:txBody>
          <a:bodyPr wrap="square" lIns="0" tIns="0" rIns="0" bIns="0" rtlCol="0" anchor="ctr"/>
          <a:lstStyle/>
          <a:p>
            <a:pPr algn="ctr" indent="0" marL="0">
              <a:buNone/>
            </a:pPr>
            <a:r>
              <a:rPr lang="en-US" sz="1000" b="1" dirty="0">
                <a:solidFill>
                  <a:srgbClr val="111827"/>
                </a:solidFill>
                <a:latin typeface="Calibri" pitchFamily="34" charset="0"/>
                <a:ea typeface="Calibri" pitchFamily="34" charset="-122"/>
                <a:cs typeface="Calibri" pitchFamily="34" charset="-120"/>
              </a:rPr>
              <a:t>Bazaarvoice</a:t>
            </a:r>
            <a:endParaRPr lang="en-US" sz="1000" dirty="0"/>
          </a:p>
        </p:txBody>
      </p:sp>
      <p:sp>
        <p:nvSpPr>
          <p:cNvPr id="51" name="Text 44"/>
          <p:cNvSpPr/>
          <p:nvPr/>
        </p:nvSpPr>
        <p:spPr>
          <a:xfrm>
            <a:off x="548640" y="5989320"/>
            <a:ext cx="8686800" cy="27432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Border colour: our coverage (green strong, amber partial, red gap). Thin border: a single signal, so likely rather than confirmed.</a:t>
            </a:r>
            <a:endParaRPr lang="en-US" sz="1000" dirty="0"/>
          </a:p>
        </p:txBody>
      </p:sp>
      <p:sp>
        <p:nvSpPr>
          <p:cNvPr id="52" name="Shape 45"/>
          <p:cNvSpPr/>
          <p:nvPr/>
        </p:nvSpPr>
        <p:spPr>
          <a:xfrm>
            <a:off x="9418320" y="2788920"/>
            <a:ext cx="2221992" cy="3063240"/>
          </a:xfrm>
          <a:prstGeom prst="roundRect">
            <a:avLst>
              <a:gd name="adj" fmla="val 4115"/>
            </a:avLst>
          </a:prstGeom>
          <a:solidFill>
            <a:srgbClr val="FFFFFF"/>
          </a:solidFill>
          <a:ln w="12700">
            <a:solidFill>
              <a:srgbClr val="DDE2EE"/>
            </a:solidFill>
            <a:prstDash val="solid"/>
          </a:ln>
        </p:spPr>
      </p:sp>
      <p:sp>
        <p:nvSpPr>
          <p:cNvPr id="53" name="Text 46"/>
          <p:cNvSpPr/>
          <p:nvPr/>
        </p:nvSpPr>
        <p:spPr>
          <a:xfrm>
            <a:off x="9555480" y="28803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BUSIEST DOMAINS</a:t>
            </a:r>
            <a:endParaRPr lang="en-US" sz="900" dirty="0"/>
          </a:p>
        </p:txBody>
      </p:sp>
      <p:sp>
        <p:nvSpPr>
          <p:cNvPr id="54" name="Text 47"/>
          <p:cNvSpPr/>
          <p:nvPr/>
        </p:nvSpPr>
        <p:spPr>
          <a:xfrm>
            <a:off x="9555480" y="3200400"/>
            <a:ext cx="2011680" cy="182880"/>
          </a:xfrm>
          <a:prstGeom prst="rect">
            <a:avLst/>
          </a:prstGeom>
          <a:noFill/>
          <a:ln/>
        </p:spPr>
        <p:txBody>
          <a:bodyPr wrap="square" lIns="0" tIns="0" rIns="0" bIns="0" rtlCol="0" anchor="t"/>
          <a:lstStyle/>
          <a:p>
            <a:pPr indent="0" marL="0">
              <a:buNone/>
            </a:pPr>
            <a:r>
              <a:rPr lang="en-US" sz="900" dirty="0">
                <a:solidFill>
                  <a:srgbClr val="111827"/>
                </a:solidFill>
                <a:latin typeface="Calibri" pitchFamily="34" charset="0"/>
                <a:ea typeface="Calibri" pitchFamily="34" charset="-122"/>
                <a:cs typeface="Calibri" pitchFamily="34" charset="-120"/>
              </a:rPr>
              <a:t>samsung.com</a:t>
            </a:r>
            <a:endParaRPr lang="en-US" sz="900" dirty="0"/>
          </a:p>
        </p:txBody>
      </p:sp>
      <p:sp>
        <p:nvSpPr>
          <p:cNvPr id="55" name="Shape 48"/>
          <p:cNvSpPr/>
          <p:nvPr/>
        </p:nvSpPr>
        <p:spPr>
          <a:xfrm>
            <a:off x="9555480" y="3401568"/>
            <a:ext cx="1920240" cy="91440"/>
          </a:xfrm>
          <a:prstGeom prst="roundRect">
            <a:avLst>
              <a:gd name="adj" fmla="val 100000"/>
            </a:avLst>
          </a:prstGeom>
          <a:solidFill>
            <a:srgbClr val="E6E9F3"/>
          </a:solidFill>
          <a:ln w="12700">
            <a:solidFill>
              <a:srgbClr val="E6E9F3"/>
            </a:solidFill>
            <a:prstDash val="solid"/>
          </a:ln>
        </p:spPr>
      </p:sp>
      <p:sp>
        <p:nvSpPr>
          <p:cNvPr id="56" name="Shape 49"/>
          <p:cNvSpPr/>
          <p:nvPr/>
        </p:nvSpPr>
        <p:spPr>
          <a:xfrm>
            <a:off x="9555480" y="3401568"/>
            <a:ext cx="1920240" cy="91440"/>
          </a:xfrm>
          <a:prstGeom prst="roundRect">
            <a:avLst>
              <a:gd name="adj" fmla="val 100000"/>
            </a:avLst>
          </a:prstGeom>
          <a:solidFill>
            <a:srgbClr val="1428A0"/>
          </a:solidFill>
          <a:ln w="12700">
            <a:solidFill>
              <a:srgbClr val="1428A0"/>
            </a:solidFill>
            <a:prstDash val="solid"/>
          </a:ln>
        </p:spPr>
      </p:sp>
      <p:sp>
        <p:nvSpPr>
          <p:cNvPr id="57" name="Text 50"/>
          <p:cNvSpPr/>
          <p:nvPr/>
        </p:nvSpPr>
        <p:spPr>
          <a:xfrm>
            <a:off x="9555480" y="3630168"/>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bazaarvoice.com</a:t>
            </a:r>
            <a:endParaRPr lang="en-US" sz="900" dirty="0"/>
          </a:p>
        </p:txBody>
      </p:sp>
      <p:sp>
        <p:nvSpPr>
          <p:cNvPr id="58" name="Shape 51"/>
          <p:cNvSpPr/>
          <p:nvPr/>
        </p:nvSpPr>
        <p:spPr>
          <a:xfrm>
            <a:off x="9555480" y="3831336"/>
            <a:ext cx="1920240" cy="91440"/>
          </a:xfrm>
          <a:prstGeom prst="roundRect">
            <a:avLst>
              <a:gd name="adj" fmla="val 100000"/>
            </a:avLst>
          </a:prstGeom>
          <a:solidFill>
            <a:srgbClr val="E6E9F3"/>
          </a:solidFill>
          <a:ln w="12700">
            <a:solidFill>
              <a:srgbClr val="E6E9F3"/>
            </a:solidFill>
            <a:prstDash val="solid"/>
          </a:ln>
        </p:spPr>
      </p:sp>
      <p:sp>
        <p:nvSpPr>
          <p:cNvPr id="59" name="Shape 52"/>
          <p:cNvSpPr/>
          <p:nvPr/>
        </p:nvSpPr>
        <p:spPr>
          <a:xfrm>
            <a:off x="9555480" y="3831336"/>
            <a:ext cx="351303" cy="91440"/>
          </a:xfrm>
          <a:prstGeom prst="roundRect">
            <a:avLst>
              <a:gd name="adj" fmla="val 100000"/>
            </a:avLst>
          </a:prstGeom>
          <a:solidFill>
            <a:srgbClr val="B7791F"/>
          </a:solidFill>
          <a:ln w="12700">
            <a:solidFill>
              <a:srgbClr val="B7791F"/>
            </a:solidFill>
            <a:prstDash val="solid"/>
          </a:ln>
        </p:spPr>
      </p:sp>
      <p:sp>
        <p:nvSpPr>
          <p:cNvPr id="60" name="Text 53"/>
          <p:cNvSpPr/>
          <p:nvPr/>
        </p:nvSpPr>
        <p:spPr>
          <a:xfrm>
            <a:off x="9555480" y="4059936"/>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audioeye-services.com</a:t>
            </a:r>
            <a:endParaRPr lang="en-US" sz="900" dirty="0"/>
          </a:p>
        </p:txBody>
      </p:sp>
      <p:sp>
        <p:nvSpPr>
          <p:cNvPr id="61" name="Shape 54"/>
          <p:cNvSpPr/>
          <p:nvPr/>
        </p:nvSpPr>
        <p:spPr>
          <a:xfrm>
            <a:off x="9555480" y="4261104"/>
            <a:ext cx="1920240" cy="91440"/>
          </a:xfrm>
          <a:prstGeom prst="roundRect">
            <a:avLst>
              <a:gd name="adj" fmla="val 100000"/>
            </a:avLst>
          </a:prstGeom>
          <a:solidFill>
            <a:srgbClr val="E6E9F3"/>
          </a:solidFill>
          <a:ln w="12700">
            <a:solidFill>
              <a:srgbClr val="E6E9F3"/>
            </a:solidFill>
            <a:prstDash val="solid"/>
          </a:ln>
        </p:spPr>
      </p:sp>
      <p:sp>
        <p:nvSpPr>
          <p:cNvPr id="62" name="Shape 55"/>
          <p:cNvSpPr/>
          <p:nvPr/>
        </p:nvSpPr>
        <p:spPr>
          <a:xfrm>
            <a:off x="9555480" y="4261104"/>
            <a:ext cx="153197" cy="91440"/>
          </a:xfrm>
          <a:prstGeom prst="roundRect">
            <a:avLst>
              <a:gd name="adj" fmla="val 100000"/>
            </a:avLst>
          </a:prstGeom>
          <a:solidFill>
            <a:srgbClr val="B7791F"/>
          </a:solidFill>
          <a:ln w="12700">
            <a:solidFill>
              <a:srgbClr val="B7791F"/>
            </a:solidFill>
            <a:prstDash val="solid"/>
          </a:ln>
        </p:spPr>
      </p:sp>
      <p:sp>
        <p:nvSpPr>
          <p:cNvPr id="63" name="Text 56"/>
          <p:cNvSpPr/>
          <p:nvPr/>
        </p:nvSpPr>
        <p:spPr>
          <a:xfrm>
            <a:off x="9555480" y="4489704"/>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adobedtm.com</a:t>
            </a:r>
            <a:endParaRPr lang="en-US" sz="900" dirty="0"/>
          </a:p>
        </p:txBody>
      </p:sp>
      <p:sp>
        <p:nvSpPr>
          <p:cNvPr id="64" name="Shape 57"/>
          <p:cNvSpPr/>
          <p:nvPr/>
        </p:nvSpPr>
        <p:spPr>
          <a:xfrm>
            <a:off x="9555480" y="4690872"/>
            <a:ext cx="1920240" cy="91440"/>
          </a:xfrm>
          <a:prstGeom prst="roundRect">
            <a:avLst>
              <a:gd name="adj" fmla="val 100000"/>
            </a:avLst>
          </a:prstGeom>
          <a:solidFill>
            <a:srgbClr val="E6E9F3"/>
          </a:solidFill>
          <a:ln w="12700">
            <a:solidFill>
              <a:srgbClr val="E6E9F3"/>
            </a:solidFill>
            <a:prstDash val="solid"/>
          </a:ln>
        </p:spPr>
      </p:sp>
      <p:sp>
        <p:nvSpPr>
          <p:cNvPr id="65" name="Shape 58"/>
          <p:cNvSpPr/>
          <p:nvPr/>
        </p:nvSpPr>
        <p:spPr>
          <a:xfrm>
            <a:off x="9555480" y="4690872"/>
            <a:ext cx="74985" cy="91440"/>
          </a:xfrm>
          <a:prstGeom prst="roundRect">
            <a:avLst>
              <a:gd name="adj" fmla="val 121944"/>
            </a:avLst>
          </a:prstGeom>
          <a:solidFill>
            <a:srgbClr val="B7791F"/>
          </a:solidFill>
          <a:ln w="12700">
            <a:solidFill>
              <a:srgbClr val="B7791F"/>
            </a:solidFill>
            <a:prstDash val="solid"/>
          </a:ln>
        </p:spPr>
      </p:sp>
      <p:sp>
        <p:nvSpPr>
          <p:cNvPr id="66" name="Text 59"/>
          <p:cNvSpPr/>
          <p:nvPr/>
        </p:nvSpPr>
        <p:spPr>
          <a:xfrm>
            <a:off x="9555480" y="4919472"/>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trustarc.com</a:t>
            </a:r>
            <a:endParaRPr lang="en-US" sz="900" dirty="0"/>
          </a:p>
        </p:txBody>
      </p:sp>
      <p:sp>
        <p:nvSpPr>
          <p:cNvPr id="67" name="Shape 60"/>
          <p:cNvSpPr/>
          <p:nvPr/>
        </p:nvSpPr>
        <p:spPr>
          <a:xfrm>
            <a:off x="9555480" y="5120640"/>
            <a:ext cx="1920240" cy="91440"/>
          </a:xfrm>
          <a:prstGeom prst="roundRect">
            <a:avLst>
              <a:gd name="adj" fmla="val 100000"/>
            </a:avLst>
          </a:prstGeom>
          <a:solidFill>
            <a:srgbClr val="E6E9F3"/>
          </a:solidFill>
          <a:ln w="12700">
            <a:solidFill>
              <a:srgbClr val="E6E9F3"/>
            </a:solidFill>
            <a:prstDash val="solid"/>
          </a:ln>
        </p:spPr>
      </p:sp>
      <p:sp>
        <p:nvSpPr>
          <p:cNvPr id="68" name="Shape 61"/>
          <p:cNvSpPr/>
          <p:nvPr/>
        </p:nvSpPr>
        <p:spPr>
          <a:xfrm>
            <a:off x="9555480" y="5120640"/>
            <a:ext cx="73152" cy="91440"/>
          </a:xfrm>
          <a:prstGeom prst="roundRect">
            <a:avLst>
              <a:gd name="adj" fmla="val 125000"/>
            </a:avLst>
          </a:prstGeom>
          <a:solidFill>
            <a:srgbClr val="B7791F"/>
          </a:solidFill>
          <a:ln w="12700">
            <a:solidFill>
              <a:srgbClr val="B7791F"/>
            </a:solidFill>
            <a:prstDash val="solid"/>
          </a:ln>
        </p:spPr>
      </p:sp>
      <p:sp>
        <p:nvSpPr>
          <p:cNvPr id="69" name="Text 62"/>
          <p:cNvSpPr/>
          <p:nvPr/>
        </p:nvSpPr>
        <p:spPr>
          <a:xfrm>
            <a:off x="9555480" y="5349240"/>
            <a:ext cx="2011680" cy="182880"/>
          </a:xfrm>
          <a:prstGeom prst="rect">
            <a:avLst/>
          </a:prstGeom>
          <a:noFill/>
          <a:ln/>
        </p:spPr>
        <p:txBody>
          <a:bodyPr wrap="square" lIns="0" tIns="0" rIns="0" bIns="0" rtlCol="0" anchor="t"/>
          <a:lstStyle/>
          <a:p>
            <a:pPr indent="0" marL="0">
              <a:buNone/>
            </a:pPr>
            <a:r>
              <a:rPr lang="en-US" sz="900" dirty="0">
                <a:solidFill>
                  <a:srgbClr val="B7791F"/>
                </a:solidFill>
                <a:latin typeface="Calibri" pitchFamily="34" charset="0"/>
                <a:ea typeface="Calibri" pitchFamily="34" charset="-122"/>
                <a:cs typeface="Calibri" pitchFamily="34" charset="-120"/>
              </a:rPr>
              <a:t>go-mpulse.net</a:t>
            </a:r>
            <a:endParaRPr lang="en-US" sz="900" dirty="0"/>
          </a:p>
        </p:txBody>
      </p:sp>
      <p:sp>
        <p:nvSpPr>
          <p:cNvPr id="70" name="Shape 63"/>
          <p:cNvSpPr/>
          <p:nvPr/>
        </p:nvSpPr>
        <p:spPr>
          <a:xfrm>
            <a:off x="9555480" y="5550408"/>
            <a:ext cx="1920240" cy="91440"/>
          </a:xfrm>
          <a:prstGeom prst="roundRect">
            <a:avLst>
              <a:gd name="adj" fmla="val 100000"/>
            </a:avLst>
          </a:prstGeom>
          <a:solidFill>
            <a:srgbClr val="E6E9F3"/>
          </a:solidFill>
          <a:ln w="12700">
            <a:solidFill>
              <a:srgbClr val="E6E9F3"/>
            </a:solidFill>
            <a:prstDash val="solid"/>
          </a:ln>
        </p:spPr>
      </p:sp>
      <p:sp>
        <p:nvSpPr>
          <p:cNvPr id="71" name="Shape 64"/>
          <p:cNvSpPr/>
          <p:nvPr/>
        </p:nvSpPr>
        <p:spPr>
          <a:xfrm>
            <a:off x="9555480" y="5550408"/>
            <a:ext cx="73152" cy="91440"/>
          </a:xfrm>
          <a:prstGeom prst="roundRect">
            <a:avLst>
              <a:gd name="adj" fmla="val 125000"/>
            </a:avLst>
          </a:prstGeom>
          <a:solidFill>
            <a:srgbClr val="B7791F"/>
          </a:solidFill>
          <a:ln w="12700">
            <a:solidFill>
              <a:srgbClr val="B7791F"/>
            </a:solidFill>
            <a:prstDash val="solid"/>
          </a:ln>
        </p:spPr>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TECHNOLOGY REVIEW · OUR COVERAGE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Samsung SDS supports your stack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7</a:t>
            </a:r>
            <a:endParaRPr lang="en-US" sz="1000" dirty="0"/>
          </a:p>
        </p:txBody>
      </p:sp>
      <p:sp>
        <p:nvSpPr>
          <p:cNvPr id="11" name="Text 8"/>
          <p:cNvSpPr/>
          <p:nvPr/>
        </p:nvSpPr>
        <p:spPr>
          <a:xfrm>
            <a:off x="1051560" y="1508760"/>
            <a:ext cx="25603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TECHNOLOGY</a:t>
            </a:r>
            <a:endParaRPr lang="en-US" sz="950" dirty="0"/>
          </a:p>
        </p:txBody>
      </p:sp>
      <p:sp>
        <p:nvSpPr>
          <p:cNvPr id="12" name="Text 9"/>
          <p:cNvSpPr/>
          <p:nvPr/>
        </p:nvSpPr>
        <p:spPr>
          <a:xfrm>
            <a:off x="3657600" y="1508760"/>
            <a:ext cx="219456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CATEGORY</a:t>
            </a:r>
            <a:endParaRPr lang="en-US" sz="950" dirty="0"/>
          </a:p>
        </p:txBody>
      </p:sp>
      <p:sp>
        <p:nvSpPr>
          <p:cNvPr id="13" name="Text 10"/>
          <p:cNvSpPr/>
          <p:nvPr/>
        </p:nvSpPr>
        <p:spPr>
          <a:xfrm>
            <a:off x="5943600" y="1508760"/>
            <a:ext cx="292608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OUR SKILL</a:t>
            </a:r>
            <a:endParaRPr lang="en-US" sz="950" dirty="0"/>
          </a:p>
        </p:txBody>
      </p:sp>
      <p:sp>
        <p:nvSpPr>
          <p:cNvPr id="14" name="Text 11"/>
          <p:cNvSpPr/>
          <p:nvPr/>
        </p:nvSpPr>
        <p:spPr>
          <a:xfrm>
            <a:off x="8961120" y="1508760"/>
            <a:ext cx="164592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PEOPLE FREE</a:t>
            </a:r>
            <a:endParaRPr lang="en-US" sz="950" dirty="0"/>
          </a:p>
        </p:txBody>
      </p:sp>
      <p:sp>
        <p:nvSpPr>
          <p:cNvPr id="15" name="Text 12"/>
          <p:cNvSpPr/>
          <p:nvPr/>
        </p:nvSpPr>
        <p:spPr>
          <a:xfrm>
            <a:off x="10607040" y="1508760"/>
            <a:ext cx="914400" cy="228600"/>
          </a:xfrm>
          <a:prstGeom prst="rect">
            <a:avLst/>
          </a:prstGeom>
          <a:noFill/>
          <a:ln/>
        </p:spPr>
        <p:txBody>
          <a:bodyPr wrap="square" lIns="0" tIns="0" rIns="0" bIns="0" rtlCol="0" anchor="t"/>
          <a:lstStyle/>
          <a:p>
            <a:pPr indent="0" marL="0">
              <a:buNone/>
            </a:pPr>
            <a:r>
              <a:rPr lang="en-US" sz="950" b="1" spc="100" kern="0" dirty="0">
                <a:solidFill>
                  <a:srgbClr val="5B6477"/>
                </a:solidFill>
                <a:latin typeface="Calibri" pitchFamily="34" charset="0"/>
                <a:ea typeface="Calibri" pitchFamily="34" charset="-122"/>
                <a:cs typeface="Calibri" pitchFamily="34" charset="-120"/>
              </a:rPr>
              <a:t>STATUS</a:t>
            </a:r>
            <a:endParaRPr lang="en-US" sz="950" dirty="0"/>
          </a:p>
        </p:txBody>
      </p:sp>
      <p:sp>
        <p:nvSpPr>
          <p:cNvPr id="16" name="Shape 13"/>
          <p:cNvSpPr/>
          <p:nvPr/>
        </p:nvSpPr>
        <p:spPr>
          <a:xfrm>
            <a:off x="548640" y="2231136"/>
            <a:ext cx="11094415" cy="9144"/>
          </a:xfrm>
          <a:prstGeom prst="rect">
            <a:avLst/>
          </a:prstGeom>
          <a:solidFill>
            <a:srgbClr val="DDE2EE"/>
          </a:solidFill>
          <a:ln w="12700">
            <a:solidFill>
              <a:srgbClr val="DDE2EE"/>
            </a:solidFill>
            <a:prstDash val="solid"/>
          </a:ln>
        </p:spPr>
      </p:sp>
      <p:pic>
        <p:nvPicPr>
          <p:cNvPr id="17" name="Image 0" descr="SAP Commerce Cloud (Hybris) logo">    </p:cNvPr>
          <p:cNvPicPr>
            <a:picLocks noChangeAspect="1"/>
          </p:cNvPicPr>
          <p:nvPr/>
        </p:nvPicPr>
        <p:blipFill>
          <a:blip r:embed="rId1"/>
          <a:stretch>
            <a:fillRect/>
          </a:stretch>
        </p:blipFill>
        <p:spPr>
          <a:xfrm>
            <a:off x="585216" y="1901952"/>
            <a:ext cx="256032" cy="256032"/>
          </a:xfrm>
          <a:prstGeom prst="rect">
            <a:avLst/>
          </a:prstGeom>
        </p:spPr>
      </p:pic>
      <p:sp>
        <p:nvSpPr>
          <p:cNvPr id="18" name="Text 14"/>
          <p:cNvSpPr/>
          <p:nvPr/>
        </p:nvSpPr>
        <p:spPr>
          <a:xfrm>
            <a:off x="1051560" y="182880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SAP Commerce Cloud (Hybri…</a:t>
            </a:r>
            <a:endParaRPr lang="en-US" sz="1300" dirty="0"/>
          </a:p>
        </p:txBody>
      </p:sp>
      <p:sp>
        <p:nvSpPr>
          <p:cNvPr id="19" name="Text 15"/>
          <p:cNvSpPr/>
          <p:nvPr/>
        </p:nvSpPr>
        <p:spPr>
          <a:xfrm>
            <a:off x="3657600" y="182880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Commerce platform</a:t>
            </a:r>
            <a:endParaRPr lang="en-US" sz="1100" dirty="0"/>
          </a:p>
        </p:txBody>
      </p:sp>
      <p:sp>
        <p:nvSpPr>
          <p:cNvPr id="20" name="Text 16"/>
          <p:cNvSpPr/>
          <p:nvPr/>
        </p:nvSpPr>
        <p:spPr>
          <a:xfrm>
            <a:off x="5943600" y="182880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SAP Commerce Cloud (Hybris)</a:t>
            </a:r>
            <a:endParaRPr lang="en-US" sz="1200" dirty="0"/>
          </a:p>
        </p:txBody>
      </p:sp>
      <p:sp>
        <p:nvSpPr>
          <p:cNvPr id="21" name="Text 17"/>
          <p:cNvSpPr/>
          <p:nvPr/>
        </p:nvSpPr>
        <p:spPr>
          <a:xfrm>
            <a:off x="8961120" y="182880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2026-11-09</a:t>
            </a:r>
            <a:endParaRPr lang="en-US" sz="1100" dirty="0"/>
          </a:p>
        </p:txBody>
      </p:sp>
      <p:sp>
        <p:nvSpPr>
          <p:cNvPr id="22" name="Shape 18"/>
          <p:cNvSpPr/>
          <p:nvPr/>
        </p:nvSpPr>
        <p:spPr>
          <a:xfrm>
            <a:off x="10607040" y="1911096"/>
            <a:ext cx="868680" cy="246888"/>
          </a:xfrm>
          <a:prstGeom prst="roundRect">
            <a:avLst>
              <a:gd name="adj" fmla="val 37037"/>
            </a:avLst>
          </a:prstGeom>
          <a:solidFill>
            <a:srgbClr val="DFF5EA"/>
          </a:solidFill>
          <a:ln w="12700">
            <a:solidFill>
              <a:srgbClr val="DFF5EA"/>
            </a:solidFill>
            <a:prstDash val="solid"/>
          </a:ln>
        </p:spPr>
      </p:sp>
      <p:sp>
        <p:nvSpPr>
          <p:cNvPr id="23" name="Text 19"/>
          <p:cNvSpPr/>
          <p:nvPr/>
        </p:nvSpPr>
        <p:spPr>
          <a:xfrm>
            <a:off x="10607040" y="1911096"/>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24" name="Shape 20"/>
          <p:cNvSpPr/>
          <p:nvPr/>
        </p:nvSpPr>
        <p:spPr>
          <a:xfrm>
            <a:off x="548640" y="2651760"/>
            <a:ext cx="11094415" cy="9144"/>
          </a:xfrm>
          <a:prstGeom prst="rect">
            <a:avLst/>
          </a:prstGeom>
          <a:solidFill>
            <a:srgbClr val="DDE2EE"/>
          </a:solidFill>
          <a:ln w="12700">
            <a:solidFill>
              <a:srgbClr val="DDE2EE"/>
            </a:solidFill>
            <a:prstDash val="solid"/>
          </a:ln>
        </p:spPr>
      </p:sp>
      <p:sp>
        <p:nvSpPr>
          <p:cNvPr id="25" name="Shape 21"/>
          <p:cNvSpPr/>
          <p:nvPr/>
        </p:nvSpPr>
        <p:spPr>
          <a:xfrm>
            <a:off x="585216" y="2322576"/>
            <a:ext cx="256032" cy="256032"/>
          </a:xfrm>
          <a:prstGeom prst="roundRect">
            <a:avLst>
              <a:gd name="adj" fmla="val 35714"/>
            </a:avLst>
          </a:prstGeom>
          <a:solidFill>
            <a:srgbClr val="E8ECFF"/>
          </a:solidFill>
          <a:ln w="12700">
            <a:solidFill>
              <a:srgbClr val="E8ECFF"/>
            </a:solidFill>
            <a:prstDash val="solid"/>
          </a:ln>
        </p:spPr>
      </p:sp>
      <p:sp>
        <p:nvSpPr>
          <p:cNvPr id="26" name="Text 22"/>
          <p:cNvSpPr/>
          <p:nvPr/>
        </p:nvSpPr>
        <p:spPr>
          <a:xfrm>
            <a:off x="585216" y="2322576"/>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27" name="Text 23"/>
          <p:cNvSpPr/>
          <p:nvPr/>
        </p:nvSpPr>
        <p:spPr>
          <a:xfrm>
            <a:off x="1051560" y="2249424"/>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Manager</a:t>
            </a:r>
            <a:endParaRPr lang="en-US" sz="1300" dirty="0"/>
          </a:p>
        </p:txBody>
      </p:sp>
      <p:sp>
        <p:nvSpPr>
          <p:cNvPr id="28" name="Text 24"/>
          <p:cNvSpPr/>
          <p:nvPr/>
        </p:nvSpPr>
        <p:spPr>
          <a:xfrm>
            <a:off x="3657600" y="2249424"/>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CMS &amp; experience</a:t>
            </a:r>
            <a:endParaRPr lang="en-US" sz="1100" dirty="0"/>
          </a:p>
        </p:txBody>
      </p:sp>
      <p:sp>
        <p:nvSpPr>
          <p:cNvPr id="29" name="Text 25"/>
          <p:cNvSpPr/>
          <p:nvPr/>
        </p:nvSpPr>
        <p:spPr>
          <a:xfrm>
            <a:off x="5943600" y="2249424"/>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30" name="Text 26"/>
          <p:cNvSpPr/>
          <p:nvPr/>
        </p:nvSpPr>
        <p:spPr>
          <a:xfrm>
            <a:off x="8961120" y="2249424"/>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 · 2026-11-02</a:t>
            </a:r>
            <a:endParaRPr lang="en-US" sz="1100" dirty="0"/>
          </a:p>
        </p:txBody>
      </p:sp>
      <p:sp>
        <p:nvSpPr>
          <p:cNvPr id="31" name="Shape 27"/>
          <p:cNvSpPr/>
          <p:nvPr/>
        </p:nvSpPr>
        <p:spPr>
          <a:xfrm>
            <a:off x="10607040" y="2331720"/>
            <a:ext cx="868680" cy="246888"/>
          </a:xfrm>
          <a:prstGeom prst="roundRect">
            <a:avLst>
              <a:gd name="adj" fmla="val 37037"/>
            </a:avLst>
          </a:prstGeom>
          <a:solidFill>
            <a:srgbClr val="DFF5EA"/>
          </a:solidFill>
          <a:ln w="12700">
            <a:solidFill>
              <a:srgbClr val="DFF5EA"/>
            </a:solidFill>
            <a:prstDash val="solid"/>
          </a:ln>
        </p:spPr>
      </p:sp>
      <p:sp>
        <p:nvSpPr>
          <p:cNvPr id="32" name="Text 28"/>
          <p:cNvSpPr/>
          <p:nvPr/>
        </p:nvSpPr>
        <p:spPr>
          <a:xfrm>
            <a:off x="10607040" y="2331720"/>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33" name="Shape 29"/>
          <p:cNvSpPr/>
          <p:nvPr/>
        </p:nvSpPr>
        <p:spPr>
          <a:xfrm>
            <a:off x="548640" y="3072384"/>
            <a:ext cx="11094415" cy="9144"/>
          </a:xfrm>
          <a:prstGeom prst="rect">
            <a:avLst/>
          </a:prstGeom>
          <a:solidFill>
            <a:srgbClr val="DDE2EE"/>
          </a:solidFill>
          <a:ln w="12700">
            <a:solidFill>
              <a:srgbClr val="DDE2EE"/>
            </a:solidFill>
            <a:prstDash val="solid"/>
          </a:ln>
        </p:spPr>
      </p:sp>
      <p:sp>
        <p:nvSpPr>
          <p:cNvPr id="34" name="Shape 30"/>
          <p:cNvSpPr/>
          <p:nvPr/>
        </p:nvSpPr>
        <p:spPr>
          <a:xfrm>
            <a:off x="585216" y="2743200"/>
            <a:ext cx="256032" cy="256032"/>
          </a:xfrm>
          <a:prstGeom prst="roundRect">
            <a:avLst>
              <a:gd name="adj" fmla="val 35714"/>
            </a:avLst>
          </a:prstGeom>
          <a:solidFill>
            <a:srgbClr val="E8ECFF"/>
          </a:solidFill>
          <a:ln w="12700">
            <a:solidFill>
              <a:srgbClr val="E8ECFF"/>
            </a:solidFill>
            <a:prstDash val="solid"/>
          </a:ln>
        </p:spPr>
      </p:sp>
      <p:sp>
        <p:nvSpPr>
          <p:cNvPr id="35" name="Text 31"/>
          <p:cNvSpPr/>
          <p:nvPr/>
        </p:nvSpPr>
        <p:spPr>
          <a:xfrm>
            <a:off x="585216" y="2743200"/>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36" name="Text 32"/>
          <p:cNvSpPr/>
          <p:nvPr/>
        </p:nvSpPr>
        <p:spPr>
          <a:xfrm>
            <a:off x="1051560" y="2670048"/>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37" name="Text 33"/>
          <p:cNvSpPr/>
          <p:nvPr/>
        </p:nvSpPr>
        <p:spPr>
          <a:xfrm>
            <a:off x="3657600" y="2670048"/>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Tag manager</a:t>
            </a:r>
            <a:endParaRPr lang="en-US" sz="1100" dirty="0"/>
          </a:p>
        </p:txBody>
      </p:sp>
      <p:sp>
        <p:nvSpPr>
          <p:cNvPr id="38" name="Text 34"/>
          <p:cNvSpPr/>
          <p:nvPr/>
        </p:nvSpPr>
        <p:spPr>
          <a:xfrm>
            <a:off x="5943600" y="2670048"/>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39" name="Text 35"/>
          <p:cNvSpPr/>
          <p:nvPr/>
        </p:nvSpPr>
        <p:spPr>
          <a:xfrm>
            <a:off x="8961120" y="2670048"/>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40" name="Shape 36"/>
          <p:cNvSpPr/>
          <p:nvPr/>
        </p:nvSpPr>
        <p:spPr>
          <a:xfrm>
            <a:off x="10607040" y="2752344"/>
            <a:ext cx="868680" cy="246888"/>
          </a:xfrm>
          <a:prstGeom prst="roundRect">
            <a:avLst>
              <a:gd name="adj" fmla="val 37037"/>
            </a:avLst>
          </a:prstGeom>
          <a:solidFill>
            <a:srgbClr val="FDF0D5"/>
          </a:solidFill>
          <a:ln w="12700">
            <a:solidFill>
              <a:srgbClr val="FDF0D5"/>
            </a:solidFill>
            <a:prstDash val="solid"/>
          </a:ln>
        </p:spPr>
      </p:sp>
      <p:sp>
        <p:nvSpPr>
          <p:cNvPr id="41" name="Text 37"/>
          <p:cNvSpPr/>
          <p:nvPr/>
        </p:nvSpPr>
        <p:spPr>
          <a:xfrm>
            <a:off x="10607040" y="2752344"/>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42" name="Shape 38"/>
          <p:cNvSpPr/>
          <p:nvPr/>
        </p:nvSpPr>
        <p:spPr>
          <a:xfrm>
            <a:off x="548640" y="3493008"/>
            <a:ext cx="11094415" cy="9144"/>
          </a:xfrm>
          <a:prstGeom prst="rect">
            <a:avLst/>
          </a:prstGeom>
          <a:solidFill>
            <a:srgbClr val="DDE2EE"/>
          </a:solidFill>
          <a:ln w="12700">
            <a:solidFill>
              <a:srgbClr val="DDE2EE"/>
            </a:solidFill>
            <a:prstDash val="solid"/>
          </a:ln>
        </p:spPr>
      </p:sp>
      <p:pic>
        <p:nvPicPr>
          <p:cNvPr id="43" name="Image 1" descr="Akamai logo">    </p:cNvPr>
          <p:cNvPicPr>
            <a:picLocks noChangeAspect="1"/>
          </p:cNvPicPr>
          <p:nvPr/>
        </p:nvPicPr>
        <p:blipFill>
          <a:blip r:embed="rId2"/>
          <a:stretch>
            <a:fillRect/>
          </a:stretch>
        </p:blipFill>
        <p:spPr>
          <a:xfrm>
            <a:off x="585216" y="3163824"/>
            <a:ext cx="256032" cy="256032"/>
          </a:xfrm>
          <a:prstGeom prst="rect">
            <a:avLst/>
          </a:prstGeom>
        </p:spPr>
      </p:pic>
      <p:sp>
        <p:nvSpPr>
          <p:cNvPr id="44" name="Text 39"/>
          <p:cNvSpPr/>
          <p:nvPr/>
        </p:nvSpPr>
        <p:spPr>
          <a:xfrm>
            <a:off x="1051560" y="3090672"/>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Akamai</a:t>
            </a:r>
            <a:endParaRPr lang="en-US" sz="1300" dirty="0"/>
          </a:p>
        </p:txBody>
      </p:sp>
      <p:sp>
        <p:nvSpPr>
          <p:cNvPr id="45" name="Text 40"/>
          <p:cNvSpPr/>
          <p:nvPr/>
        </p:nvSpPr>
        <p:spPr>
          <a:xfrm>
            <a:off x="3657600" y="3090672"/>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CDN &amp; hosting</a:t>
            </a:r>
            <a:endParaRPr lang="en-US" sz="1100" dirty="0"/>
          </a:p>
        </p:txBody>
      </p:sp>
      <p:sp>
        <p:nvSpPr>
          <p:cNvPr id="46" name="Text 41"/>
          <p:cNvSpPr/>
          <p:nvPr/>
        </p:nvSpPr>
        <p:spPr>
          <a:xfrm>
            <a:off x="5943600" y="3090672"/>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DevOps / CDN / cloud</a:t>
            </a:r>
            <a:endParaRPr lang="en-US" sz="1200" dirty="0"/>
          </a:p>
        </p:txBody>
      </p:sp>
      <p:sp>
        <p:nvSpPr>
          <p:cNvPr id="47" name="Text 42"/>
          <p:cNvSpPr/>
          <p:nvPr/>
        </p:nvSpPr>
        <p:spPr>
          <a:xfrm>
            <a:off x="8961120" y="3090672"/>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 · 2026-11-02</a:t>
            </a:r>
            <a:endParaRPr lang="en-US" sz="1100" dirty="0"/>
          </a:p>
        </p:txBody>
      </p:sp>
      <p:sp>
        <p:nvSpPr>
          <p:cNvPr id="48" name="Shape 43"/>
          <p:cNvSpPr/>
          <p:nvPr/>
        </p:nvSpPr>
        <p:spPr>
          <a:xfrm>
            <a:off x="10607040" y="3172968"/>
            <a:ext cx="868680" cy="246888"/>
          </a:xfrm>
          <a:prstGeom prst="roundRect">
            <a:avLst>
              <a:gd name="adj" fmla="val 37037"/>
            </a:avLst>
          </a:prstGeom>
          <a:solidFill>
            <a:srgbClr val="DFF5EA"/>
          </a:solidFill>
          <a:ln w="12700">
            <a:solidFill>
              <a:srgbClr val="DFF5EA"/>
            </a:solidFill>
            <a:prstDash val="solid"/>
          </a:ln>
        </p:spPr>
      </p:sp>
      <p:sp>
        <p:nvSpPr>
          <p:cNvPr id="49" name="Text 44"/>
          <p:cNvSpPr/>
          <p:nvPr/>
        </p:nvSpPr>
        <p:spPr>
          <a:xfrm>
            <a:off x="10607040" y="3172968"/>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0" name="Shape 45"/>
          <p:cNvSpPr/>
          <p:nvPr/>
        </p:nvSpPr>
        <p:spPr>
          <a:xfrm>
            <a:off x="548640" y="3913632"/>
            <a:ext cx="11094415" cy="9144"/>
          </a:xfrm>
          <a:prstGeom prst="rect">
            <a:avLst/>
          </a:prstGeom>
          <a:solidFill>
            <a:srgbClr val="DDE2EE"/>
          </a:solidFill>
          <a:ln w="12700">
            <a:solidFill>
              <a:srgbClr val="DDE2EE"/>
            </a:solidFill>
            <a:prstDash val="solid"/>
          </a:ln>
        </p:spPr>
      </p:sp>
      <p:sp>
        <p:nvSpPr>
          <p:cNvPr id="51" name="Shape 46"/>
          <p:cNvSpPr/>
          <p:nvPr/>
        </p:nvSpPr>
        <p:spPr>
          <a:xfrm>
            <a:off x="585216" y="3584448"/>
            <a:ext cx="256032" cy="256032"/>
          </a:xfrm>
          <a:prstGeom prst="roundRect">
            <a:avLst>
              <a:gd name="adj" fmla="val 35714"/>
            </a:avLst>
          </a:prstGeom>
          <a:solidFill>
            <a:srgbClr val="E8ECFF"/>
          </a:solidFill>
          <a:ln w="12700">
            <a:solidFill>
              <a:srgbClr val="E8ECFF"/>
            </a:solidFill>
            <a:prstDash val="solid"/>
          </a:ln>
        </p:spPr>
      </p:sp>
      <p:sp>
        <p:nvSpPr>
          <p:cNvPr id="52" name="Text 47"/>
          <p:cNvSpPr/>
          <p:nvPr/>
        </p:nvSpPr>
        <p:spPr>
          <a:xfrm>
            <a:off x="585216" y="3584448"/>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J(</a:t>
            </a:r>
            <a:endParaRPr lang="en-US" sz="800" dirty="0"/>
          </a:p>
        </p:txBody>
      </p:sp>
      <p:sp>
        <p:nvSpPr>
          <p:cNvPr id="53" name="Text 48"/>
          <p:cNvSpPr/>
          <p:nvPr/>
        </p:nvSpPr>
        <p:spPr>
          <a:xfrm>
            <a:off x="1051560" y="3511296"/>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Java (servlet / JSP)</a:t>
            </a:r>
            <a:endParaRPr lang="en-US" sz="1300" dirty="0"/>
          </a:p>
        </p:txBody>
      </p:sp>
      <p:sp>
        <p:nvSpPr>
          <p:cNvPr id="54" name="Text 49"/>
          <p:cNvSpPr/>
          <p:nvPr/>
        </p:nvSpPr>
        <p:spPr>
          <a:xfrm>
            <a:off x="3657600" y="3511296"/>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Server &amp; language</a:t>
            </a:r>
            <a:endParaRPr lang="en-US" sz="1100" dirty="0"/>
          </a:p>
        </p:txBody>
      </p:sp>
      <p:sp>
        <p:nvSpPr>
          <p:cNvPr id="55" name="Text 50"/>
          <p:cNvSpPr/>
          <p:nvPr/>
        </p:nvSpPr>
        <p:spPr>
          <a:xfrm>
            <a:off x="5943600" y="3511296"/>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Java / Spring</a:t>
            </a:r>
            <a:endParaRPr lang="en-US" sz="1200" dirty="0"/>
          </a:p>
        </p:txBody>
      </p:sp>
      <p:sp>
        <p:nvSpPr>
          <p:cNvPr id="56" name="Text 51"/>
          <p:cNvSpPr/>
          <p:nvPr/>
        </p:nvSpPr>
        <p:spPr>
          <a:xfrm>
            <a:off x="8961120" y="3511296"/>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7 of 20 · 2026-11-02</a:t>
            </a:r>
            <a:endParaRPr lang="en-US" sz="1100" dirty="0"/>
          </a:p>
        </p:txBody>
      </p:sp>
      <p:sp>
        <p:nvSpPr>
          <p:cNvPr id="57" name="Shape 52"/>
          <p:cNvSpPr/>
          <p:nvPr/>
        </p:nvSpPr>
        <p:spPr>
          <a:xfrm>
            <a:off x="10607040" y="3593592"/>
            <a:ext cx="868680" cy="246888"/>
          </a:xfrm>
          <a:prstGeom prst="roundRect">
            <a:avLst>
              <a:gd name="adj" fmla="val 37037"/>
            </a:avLst>
          </a:prstGeom>
          <a:solidFill>
            <a:srgbClr val="DFF5EA"/>
          </a:solidFill>
          <a:ln w="12700">
            <a:solidFill>
              <a:srgbClr val="DFF5EA"/>
            </a:solidFill>
            <a:prstDash val="solid"/>
          </a:ln>
        </p:spPr>
      </p:sp>
      <p:sp>
        <p:nvSpPr>
          <p:cNvPr id="58" name="Text 53"/>
          <p:cNvSpPr/>
          <p:nvPr/>
        </p:nvSpPr>
        <p:spPr>
          <a:xfrm>
            <a:off x="10607040" y="3593592"/>
            <a:ext cx="868680" cy="246888"/>
          </a:xfrm>
          <a:prstGeom prst="rect">
            <a:avLst/>
          </a:prstGeom>
          <a:noFill/>
          <a:ln/>
        </p:spPr>
        <p:txBody>
          <a:bodyPr wrap="square" lIns="0" tIns="0" rIns="0" bIns="0" rtlCol="0" anchor="ctr"/>
          <a:lstStyle/>
          <a:p>
            <a:pPr algn="ctr" indent="0" marL="0">
              <a:buNone/>
            </a:pPr>
            <a:r>
              <a:rPr lang="en-US" sz="1000" b="1" dirty="0">
                <a:solidFill>
                  <a:srgbClr val="0F9D6B"/>
                </a:solidFill>
                <a:latin typeface="Calibri" pitchFamily="34" charset="0"/>
                <a:ea typeface="Calibri" pitchFamily="34" charset="-122"/>
                <a:cs typeface="Calibri" pitchFamily="34" charset="-120"/>
              </a:rPr>
              <a:t>Strong</a:t>
            </a:r>
            <a:endParaRPr lang="en-US" sz="1000" dirty="0"/>
          </a:p>
        </p:txBody>
      </p:sp>
      <p:sp>
        <p:nvSpPr>
          <p:cNvPr id="59" name="Shape 54"/>
          <p:cNvSpPr/>
          <p:nvPr/>
        </p:nvSpPr>
        <p:spPr>
          <a:xfrm>
            <a:off x="548640" y="4334256"/>
            <a:ext cx="11094415" cy="9144"/>
          </a:xfrm>
          <a:prstGeom prst="rect">
            <a:avLst/>
          </a:prstGeom>
          <a:solidFill>
            <a:srgbClr val="DDE2EE"/>
          </a:solidFill>
          <a:ln w="12700">
            <a:solidFill>
              <a:srgbClr val="DDE2EE"/>
            </a:solidFill>
            <a:prstDash val="solid"/>
          </a:ln>
        </p:spPr>
      </p:sp>
      <p:sp>
        <p:nvSpPr>
          <p:cNvPr id="60" name="Shape 55"/>
          <p:cNvSpPr/>
          <p:nvPr/>
        </p:nvSpPr>
        <p:spPr>
          <a:xfrm>
            <a:off x="585216" y="4005072"/>
            <a:ext cx="256032" cy="256032"/>
          </a:xfrm>
          <a:prstGeom prst="roundRect">
            <a:avLst>
              <a:gd name="adj" fmla="val 35714"/>
            </a:avLst>
          </a:prstGeom>
          <a:solidFill>
            <a:srgbClr val="E8ECFF"/>
          </a:solidFill>
          <a:ln w="12700">
            <a:solidFill>
              <a:srgbClr val="E8ECFF"/>
            </a:solidFill>
            <a:prstDash val="solid"/>
          </a:ln>
        </p:spPr>
      </p:sp>
      <p:sp>
        <p:nvSpPr>
          <p:cNvPr id="61" name="Text 56"/>
          <p:cNvSpPr/>
          <p:nvPr/>
        </p:nvSpPr>
        <p:spPr>
          <a:xfrm>
            <a:off x="585216" y="4005072"/>
            <a:ext cx="256032" cy="256032"/>
          </a:xfrm>
          <a:prstGeom prst="rect">
            <a:avLst/>
          </a:prstGeom>
          <a:noFill/>
          <a:ln/>
        </p:spPr>
        <p:txBody>
          <a:bodyPr wrap="square" lIns="0" tIns="0" rIns="0" bIns="0" rtlCol="0" anchor="ctr"/>
          <a:lstStyle/>
          <a:p>
            <a:pPr algn="ctr" indent="0" marL="0">
              <a:buNone/>
            </a:pPr>
            <a:r>
              <a:rPr lang="en-US" sz="800" b="1" dirty="0">
                <a:solidFill>
                  <a:srgbClr val="1428A0"/>
                </a:solidFill>
                <a:latin typeface="Calibri" pitchFamily="34" charset="0"/>
                <a:ea typeface="Calibri" pitchFamily="34" charset="-122"/>
                <a:cs typeface="Calibri" pitchFamily="34" charset="-120"/>
              </a:rPr>
              <a:t>AE</a:t>
            </a:r>
            <a:endParaRPr lang="en-US" sz="800" dirty="0"/>
          </a:p>
        </p:txBody>
      </p:sp>
      <p:sp>
        <p:nvSpPr>
          <p:cNvPr id="62" name="Text 57"/>
          <p:cNvSpPr/>
          <p:nvPr/>
        </p:nvSpPr>
        <p:spPr>
          <a:xfrm>
            <a:off x="1051560" y="3931920"/>
            <a:ext cx="2560320" cy="384048"/>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Adobe Experience Platform…</a:t>
            </a:r>
            <a:endParaRPr lang="en-US" sz="1300" dirty="0"/>
          </a:p>
        </p:txBody>
      </p:sp>
      <p:sp>
        <p:nvSpPr>
          <p:cNvPr id="63" name="Text 58"/>
          <p:cNvSpPr/>
          <p:nvPr/>
        </p:nvSpPr>
        <p:spPr>
          <a:xfrm>
            <a:off x="3657600" y="3931920"/>
            <a:ext cx="2194560" cy="384048"/>
          </a:xfrm>
          <a:prstGeom prst="rect">
            <a:avLst/>
          </a:prstGeom>
          <a:noFill/>
          <a:ln/>
        </p:spPr>
        <p:txBody>
          <a:bodyPr wrap="square" lIns="0" tIns="0" rIns="0" bIns="0" rtlCol="0" anchor="ctr"/>
          <a:lstStyle/>
          <a:p>
            <a:pPr indent="0" marL="0">
              <a:buNone/>
            </a:pPr>
            <a:r>
              <a:rPr lang="en-US" sz="1100" dirty="0">
                <a:solidFill>
                  <a:srgbClr val="5B6477"/>
                </a:solidFill>
                <a:latin typeface="Calibri" pitchFamily="34" charset="0"/>
                <a:ea typeface="Calibri" pitchFamily="34" charset="-122"/>
                <a:cs typeface="Calibri" pitchFamily="34" charset="-120"/>
              </a:rPr>
              <a:t>Analytics</a:t>
            </a:r>
            <a:endParaRPr lang="en-US" sz="1100" dirty="0"/>
          </a:p>
        </p:txBody>
      </p:sp>
      <p:sp>
        <p:nvSpPr>
          <p:cNvPr id="64" name="Text 59"/>
          <p:cNvSpPr/>
          <p:nvPr/>
        </p:nvSpPr>
        <p:spPr>
          <a:xfrm>
            <a:off x="5943600" y="3931920"/>
            <a:ext cx="2926080" cy="384048"/>
          </a:xfrm>
          <a:prstGeom prst="rect">
            <a:avLst/>
          </a:prstGeom>
          <a:noFill/>
          <a:ln/>
        </p:spPr>
        <p:txBody>
          <a:bodyPr wrap="square" lIns="0" tIns="0" rIns="0" bIns="0" rtlCol="0" anchor="ctr"/>
          <a:lstStyle/>
          <a:p>
            <a:pPr indent="0" marL="0">
              <a:buNone/>
            </a:pPr>
            <a:r>
              <a:rPr lang="en-US" sz="1200" dirty="0">
                <a:solidFill>
                  <a:srgbClr val="111827"/>
                </a:solidFill>
                <a:latin typeface="Calibri" pitchFamily="34" charset="0"/>
                <a:ea typeface="Calibri" pitchFamily="34" charset="-122"/>
                <a:cs typeface="Calibri" pitchFamily="34" charset="-120"/>
              </a:rPr>
              <a:t>Adobe Analytics / Launch</a:t>
            </a:r>
            <a:endParaRPr lang="en-US" sz="1200" dirty="0"/>
          </a:p>
        </p:txBody>
      </p:sp>
      <p:sp>
        <p:nvSpPr>
          <p:cNvPr id="65" name="Text 60"/>
          <p:cNvSpPr/>
          <p:nvPr/>
        </p:nvSpPr>
        <p:spPr>
          <a:xfrm>
            <a:off x="8961120" y="3931920"/>
            <a:ext cx="1645920" cy="384048"/>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 · 2026-11-16</a:t>
            </a:r>
            <a:endParaRPr lang="en-US" sz="1100" dirty="0"/>
          </a:p>
        </p:txBody>
      </p:sp>
      <p:sp>
        <p:nvSpPr>
          <p:cNvPr id="66" name="Shape 61"/>
          <p:cNvSpPr/>
          <p:nvPr/>
        </p:nvSpPr>
        <p:spPr>
          <a:xfrm>
            <a:off x="10607040" y="4014216"/>
            <a:ext cx="868680" cy="246888"/>
          </a:xfrm>
          <a:prstGeom prst="roundRect">
            <a:avLst>
              <a:gd name="adj" fmla="val 37037"/>
            </a:avLst>
          </a:prstGeom>
          <a:solidFill>
            <a:srgbClr val="FDF0D5"/>
          </a:solidFill>
          <a:ln w="12700">
            <a:solidFill>
              <a:srgbClr val="FDF0D5"/>
            </a:solidFill>
            <a:prstDash val="solid"/>
          </a:ln>
        </p:spPr>
      </p:sp>
      <p:sp>
        <p:nvSpPr>
          <p:cNvPr id="67" name="Text 62"/>
          <p:cNvSpPr/>
          <p:nvPr/>
        </p:nvSpPr>
        <p:spPr>
          <a:xfrm>
            <a:off x="10607040" y="4014216"/>
            <a:ext cx="868680" cy="246888"/>
          </a:xfrm>
          <a:prstGeom prst="rect">
            <a:avLst/>
          </a:prstGeom>
          <a:noFill/>
          <a:ln/>
        </p:spPr>
        <p:txBody>
          <a:bodyPr wrap="square" lIns="0" tIns="0" rIns="0" bIns="0" rtlCol="0" anchor="ctr"/>
          <a:lstStyle/>
          <a:p>
            <a:pPr algn="ctr" indent="0" marL="0">
              <a:buNone/>
            </a:pPr>
            <a:r>
              <a:rPr lang="en-US" sz="1000" b="1" dirty="0">
                <a:solidFill>
                  <a:srgbClr val="B7791F"/>
                </a:solidFill>
                <a:latin typeface="Calibri" pitchFamily="34" charset="0"/>
                <a:ea typeface="Calibri" pitchFamily="34" charset="-122"/>
                <a:cs typeface="Calibri" pitchFamily="34" charset="-120"/>
              </a:rPr>
              <a:t>Partial</a:t>
            </a:r>
            <a:endParaRPr lang="en-US" sz="1000" dirty="0"/>
          </a:p>
        </p:txBody>
      </p:sp>
      <p:sp>
        <p:nvSpPr>
          <p:cNvPr id="68" name="Shape 63"/>
          <p:cNvSpPr/>
          <p:nvPr/>
        </p:nvSpPr>
        <p:spPr>
          <a:xfrm>
            <a:off x="548640" y="5440680"/>
            <a:ext cx="3566160" cy="914400"/>
          </a:xfrm>
          <a:prstGeom prst="roundRect">
            <a:avLst>
              <a:gd name="adj" fmla="val 10000"/>
            </a:avLst>
          </a:prstGeom>
          <a:solidFill>
            <a:srgbClr val="FFFFFF"/>
          </a:solidFill>
          <a:ln w="12700">
            <a:solidFill>
              <a:srgbClr val="DDE2EE"/>
            </a:solidFill>
            <a:prstDash val="solid"/>
          </a:ln>
        </p:spPr>
      </p:sp>
      <p:sp>
        <p:nvSpPr>
          <p:cNvPr id="69" name="Text 64"/>
          <p:cNvSpPr/>
          <p:nvPr/>
        </p:nvSpPr>
        <p:spPr>
          <a:xfrm>
            <a:off x="731520" y="5550408"/>
            <a:ext cx="3200400" cy="502920"/>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87%</a:t>
            </a:r>
            <a:endParaRPr lang="en-US" sz="2800" dirty="0"/>
          </a:p>
        </p:txBody>
      </p:sp>
      <p:sp>
        <p:nvSpPr>
          <p:cNvPr id="70" name="Text 65"/>
          <p:cNvSpPr/>
          <p:nvPr/>
        </p:nvSpPr>
        <p:spPr>
          <a:xfrm>
            <a:off x="731520" y="6035040"/>
            <a:ext cx="3200400"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of your platform stack we can staff now</a:t>
            </a:r>
            <a:endParaRPr lang="en-US" sz="1100" dirty="0"/>
          </a:p>
        </p:txBody>
      </p:sp>
      <p:sp>
        <p:nvSpPr>
          <p:cNvPr id="71" name="Text 66"/>
          <p:cNvSpPr/>
          <p:nvPr/>
        </p:nvSpPr>
        <p:spPr>
          <a:xfrm>
            <a:off x="4389120" y="5577840"/>
            <a:ext cx="7223760" cy="6400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Strong: skilled and two or more people free. Partial: some capacity. Gap: nobody free, so we plan a partner or a hire.</a:t>
            </a:r>
            <a:endParaRPr lang="en-US" sz="11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Your own homepage, improved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8</a:t>
            </a:r>
            <a:endParaRPr lang="en-US" sz="1000" dirty="0"/>
          </a:p>
        </p:txBody>
      </p:sp>
      <p:sp>
        <p:nvSpPr>
          <p:cNvPr id="11" name="Shape 8"/>
          <p:cNvSpPr/>
          <p:nvPr/>
        </p:nvSpPr>
        <p:spPr>
          <a:xfrm>
            <a:off x="548640" y="1508760"/>
            <a:ext cx="5394960" cy="3246120"/>
          </a:xfrm>
          <a:prstGeom prst="roundRect">
            <a:avLst>
              <a:gd name="adj" fmla="val 2817"/>
            </a:avLst>
          </a:prstGeom>
          <a:solidFill>
            <a:srgbClr val="FFFFFF"/>
          </a:solidFill>
          <a:ln w="12700">
            <a:solidFill>
              <a:srgbClr val="5B6477"/>
            </a:solidFill>
            <a:prstDash val="solid"/>
          </a:ln>
        </p:spPr>
      </p:sp>
      <p:pic>
        <p:nvPicPr>
          <p:cNvPr id="12" name="Image 0" descr="/Users/manish/Development/Workspace/samsung/digithon-2026/.worktrees/ppt-eval/runs/mvpimwddfpjt/shot-desktop.png">    </p:cNvPr>
          <p:cNvPicPr>
            <a:picLocks noChangeAspect="1"/>
          </p:cNvPicPr>
          <p:nvPr/>
        </p:nvPicPr>
        <p:blipFill>
          <a:blip r:embed="rId1"/>
          <a:srcRect l="0" r="0" t="0" b="0"/>
          <a:stretch/>
        </p:blipFill>
        <p:spPr>
          <a:xfrm>
            <a:off x="594360" y="1554480"/>
            <a:ext cx="5303520" cy="315468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6245352" y="1508760"/>
            <a:ext cx="5394960" cy="3246120"/>
          </a:xfrm>
          <a:prstGeom prst="roundRect">
            <a:avLst>
              <a:gd name="adj" fmla="val 2817"/>
            </a:avLst>
          </a:prstGeom>
          <a:solidFill>
            <a:srgbClr val="FFFFFF"/>
          </a:solidFill>
          <a:ln w="12700">
            <a:solidFill>
              <a:srgbClr val="1428A0"/>
            </a:solidFill>
            <a:prstDash val="solid"/>
          </a:ln>
        </p:spPr>
      </p:sp>
      <p:pic>
        <p:nvPicPr>
          <p:cNvPr id="16" name="Image 1" descr="/Users/manish/Development/Workspace/samsung/digithon-2026/.worktrees/ppt-eval/runs/mvpimwddfpjt/shot-after.png">    </p:cNvPr>
          <p:cNvPicPr>
            <a:picLocks noChangeAspect="1"/>
          </p:cNvPicPr>
          <p:nvPr/>
        </p:nvPicPr>
        <p:blipFill>
          <a:blip r:embed="rId2"/>
          <a:srcRect l="0" r="0" t="0" b="0"/>
          <a:stretch/>
        </p:blipFill>
        <p:spPr>
          <a:xfrm>
            <a:off x="6291072" y="1554480"/>
            <a:ext cx="5303520" cy="3154680"/>
          </a:xfrm>
          <a:prstGeom prst="rect">
            <a:avLst/>
          </a:prstGeom>
        </p:spPr>
      </p:pic>
      <p:sp>
        <p:nvSpPr>
          <p:cNvPr id="17" name="Shape 12"/>
          <p:cNvSpPr/>
          <p:nvPr/>
        </p:nvSpPr>
        <p:spPr>
          <a:xfrm>
            <a:off x="6382512"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6382512"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548640" y="4937760"/>
            <a:ext cx="2636444" cy="1188720"/>
          </a:xfrm>
          <a:prstGeom prst="roundRect">
            <a:avLst>
              <a:gd name="adj" fmla="val 7692"/>
            </a:avLst>
          </a:prstGeom>
          <a:solidFill>
            <a:srgbClr val="FFFFFF"/>
          </a:solidFill>
          <a:ln w="12700">
            <a:solidFill>
              <a:srgbClr val="DDE2EE"/>
            </a:solidFill>
            <a:prstDash val="solid"/>
          </a:ln>
        </p:spPr>
      </p:sp>
      <p:sp>
        <p:nvSpPr>
          <p:cNvPr id="20" name="Text 15"/>
          <p:cNvSpPr/>
          <p:nvPr/>
        </p:nvSpPr>
        <p:spPr>
          <a:xfrm>
            <a:off x="731520"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0 → 98</a:t>
            </a:r>
            <a:endParaRPr lang="en-US" sz="2800" dirty="0"/>
          </a:p>
        </p:txBody>
      </p:sp>
      <p:sp>
        <p:nvSpPr>
          <p:cNvPr id="21" name="Text 16"/>
          <p:cNvSpPr/>
          <p:nvPr/>
        </p:nvSpPr>
        <p:spPr>
          <a:xfrm>
            <a:off x="731520"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Accessibility score, re-checked on the concept</a:t>
            </a:r>
            <a:endParaRPr lang="en-US" sz="1100" dirty="0"/>
          </a:p>
        </p:txBody>
      </p:sp>
      <p:sp>
        <p:nvSpPr>
          <p:cNvPr id="22" name="Shape 17"/>
          <p:cNvSpPr/>
          <p:nvPr/>
        </p:nvSpPr>
        <p:spPr>
          <a:xfrm>
            <a:off x="3367964" y="4937760"/>
            <a:ext cx="2636444" cy="1188720"/>
          </a:xfrm>
          <a:prstGeom prst="roundRect">
            <a:avLst>
              <a:gd name="adj" fmla="val 7692"/>
            </a:avLst>
          </a:prstGeom>
          <a:solidFill>
            <a:srgbClr val="FFFFFF"/>
          </a:solidFill>
          <a:ln w="12700">
            <a:solidFill>
              <a:srgbClr val="DDE2EE"/>
            </a:solidFill>
            <a:prstDash val="solid"/>
          </a:ln>
        </p:spPr>
      </p:sp>
      <p:sp>
        <p:nvSpPr>
          <p:cNvPr id="23" name="Text 18"/>
          <p:cNvSpPr/>
          <p:nvPr/>
        </p:nvSpPr>
        <p:spPr>
          <a:xfrm>
            <a:off x="3550844"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58 → 100</a:t>
            </a:r>
            <a:endParaRPr lang="en-US" sz="2800" dirty="0"/>
          </a:p>
        </p:txBody>
      </p:sp>
      <p:sp>
        <p:nvSpPr>
          <p:cNvPr id="24" name="Text 19"/>
          <p:cNvSpPr/>
          <p:nvPr/>
        </p:nvSpPr>
        <p:spPr>
          <a:xfrm>
            <a:off x="3550844"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Mobile score, re-checked on the concept</a:t>
            </a:r>
            <a:endParaRPr lang="en-US" sz="1100" dirty="0"/>
          </a:p>
        </p:txBody>
      </p:sp>
      <p:sp>
        <p:nvSpPr>
          <p:cNvPr id="25" name="Shape 20"/>
          <p:cNvSpPr/>
          <p:nvPr/>
        </p:nvSpPr>
        <p:spPr>
          <a:xfrm>
            <a:off x="6187288" y="4937760"/>
            <a:ext cx="2636444" cy="1188720"/>
          </a:xfrm>
          <a:prstGeom prst="roundRect">
            <a:avLst>
              <a:gd name="adj" fmla="val 7692"/>
            </a:avLst>
          </a:prstGeom>
          <a:solidFill>
            <a:srgbClr val="FFFFFF"/>
          </a:solidFill>
          <a:ln w="12700">
            <a:solidFill>
              <a:srgbClr val="DDE2EE"/>
            </a:solidFill>
            <a:prstDash val="solid"/>
          </a:ln>
        </p:spPr>
      </p:sp>
      <p:sp>
        <p:nvSpPr>
          <p:cNvPr id="26" name="Text 21"/>
          <p:cNvSpPr/>
          <p:nvPr/>
        </p:nvSpPr>
        <p:spPr>
          <a:xfrm>
            <a:off x="6370168" y="5047488"/>
            <a:ext cx="2270684" cy="653796"/>
          </a:xfrm>
          <a:prstGeom prst="rect">
            <a:avLst/>
          </a:prstGeom>
          <a:noFill/>
          <a:ln/>
        </p:spPr>
        <p:txBody>
          <a:bodyPr wrap="square" lIns="0" tIns="0" rIns="0" bIns="0" rtlCol="0" anchor="ctr"/>
          <a:lstStyle/>
          <a:p>
            <a:pPr indent="0" marL="0">
              <a:buNone/>
            </a:pPr>
            <a:r>
              <a:rPr lang="en-US" sz="2800" b="1" dirty="0">
                <a:solidFill>
                  <a:srgbClr val="0F9D6B"/>
                </a:solidFill>
                <a:latin typeface="Calibri" pitchFamily="34" charset="0"/>
                <a:ea typeface="Calibri" pitchFamily="34" charset="-122"/>
                <a:cs typeface="Calibri" pitchFamily="34" charset="-120"/>
              </a:rPr>
              <a:t>60 → 72</a:t>
            </a:r>
            <a:endParaRPr lang="en-US" sz="2800" dirty="0"/>
          </a:p>
        </p:txBody>
      </p:sp>
      <p:sp>
        <p:nvSpPr>
          <p:cNvPr id="27" name="Text 22"/>
          <p:cNvSpPr/>
          <p:nvPr/>
        </p:nvSpPr>
        <p:spPr>
          <a:xfrm>
            <a:off x="6370168" y="5710428"/>
            <a:ext cx="2270684" cy="35661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score, re-checked on the concept</a:t>
            </a:r>
            <a:endParaRPr lang="en-US" sz="1100" dirty="0"/>
          </a:p>
        </p:txBody>
      </p:sp>
      <p:sp>
        <p:nvSpPr>
          <p:cNvPr id="28" name="Text 23"/>
          <p:cNvSpPr/>
          <p:nvPr/>
        </p:nvSpPr>
        <p:spPr>
          <a:xfrm>
            <a:off x="9006611" y="4983480"/>
            <a:ext cx="2636444" cy="109728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Same inspectors, run on the concept page. Speed and AI search are not re-measured on a local concept.</a:t>
            </a:r>
            <a:endParaRPr lang="en-US" sz="11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MOBILE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On a phone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9</a:t>
            </a:r>
            <a:endParaRPr lang="en-US" sz="1000" dirty="0"/>
          </a:p>
        </p:txBody>
      </p:sp>
      <p:sp>
        <p:nvSpPr>
          <p:cNvPr id="11" name="Shape 8"/>
          <p:cNvSpPr/>
          <p:nvPr/>
        </p:nvSpPr>
        <p:spPr>
          <a:xfrm>
            <a:off x="548640" y="1508760"/>
            <a:ext cx="2377440" cy="4480560"/>
          </a:xfrm>
          <a:prstGeom prst="roundRect">
            <a:avLst>
              <a:gd name="adj" fmla="val 3846"/>
            </a:avLst>
          </a:prstGeom>
          <a:solidFill>
            <a:srgbClr val="FFFFFF"/>
          </a:solidFill>
          <a:ln w="12700">
            <a:solidFill>
              <a:srgbClr val="5B6477"/>
            </a:solidFill>
            <a:prstDash val="solid"/>
          </a:ln>
        </p:spPr>
      </p:sp>
      <p:pic>
        <p:nvPicPr>
          <p:cNvPr id="12" name="Image 0" descr="/Users/manish/Development/Workspace/samsung/digithon-2026/.worktrees/ppt-eval/runs/mvpimwddfpjt/shot-mobile.png">    </p:cNvPr>
          <p:cNvPicPr>
            <a:picLocks noChangeAspect="1"/>
          </p:cNvPicPr>
          <p:nvPr/>
        </p:nvPicPr>
        <p:blipFill>
          <a:blip r:embed="rId1"/>
          <a:srcRect l="0" r="0" t="0" b="0"/>
          <a:stretch/>
        </p:blipFill>
        <p:spPr>
          <a:xfrm>
            <a:off x="594360" y="1554480"/>
            <a:ext cx="2286000" cy="4389120"/>
          </a:xfrm>
          <a:prstGeom prst="rect">
            <a:avLst/>
          </a:prstGeom>
        </p:spPr>
      </p:pic>
      <p:sp>
        <p:nvSpPr>
          <p:cNvPr id="13" name="Shape 9"/>
          <p:cNvSpPr/>
          <p:nvPr/>
        </p:nvSpPr>
        <p:spPr>
          <a:xfrm>
            <a:off x="685800" y="1664208"/>
            <a:ext cx="868680" cy="246888"/>
          </a:xfrm>
          <a:prstGeom prst="roundRect">
            <a:avLst>
              <a:gd name="adj" fmla="val 37037"/>
            </a:avLst>
          </a:prstGeom>
          <a:solidFill>
            <a:srgbClr val="5B6477"/>
          </a:solidFill>
          <a:ln w="12700">
            <a:solidFill>
              <a:srgbClr val="5B6477"/>
            </a:solidFill>
            <a:prstDash val="solid"/>
          </a:ln>
        </p:spPr>
      </p:sp>
      <p:sp>
        <p:nvSpPr>
          <p:cNvPr id="14" name="Text 10"/>
          <p:cNvSpPr/>
          <p:nvPr/>
        </p:nvSpPr>
        <p:spPr>
          <a:xfrm>
            <a:off x="68580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TODAY</a:t>
            </a:r>
            <a:endParaRPr lang="en-US" sz="1000" dirty="0"/>
          </a:p>
        </p:txBody>
      </p:sp>
      <p:sp>
        <p:nvSpPr>
          <p:cNvPr id="15" name="Shape 11"/>
          <p:cNvSpPr/>
          <p:nvPr/>
        </p:nvSpPr>
        <p:spPr>
          <a:xfrm>
            <a:off x="3383280" y="1508760"/>
            <a:ext cx="2377440" cy="4480560"/>
          </a:xfrm>
          <a:prstGeom prst="roundRect">
            <a:avLst>
              <a:gd name="adj" fmla="val 3846"/>
            </a:avLst>
          </a:prstGeom>
          <a:solidFill>
            <a:srgbClr val="FFFFFF"/>
          </a:solidFill>
          <a:ln w="12700">
            <a:solidFill>
              <a:srgbClr val="1428A0"/>
            </a:solidFill>
            <a:prstDash val="solid"/>
          </a:ln>
        </p:spPr>
      </p:sp>
      <p:pic>
        <p:nvPicPr>
          <p:cNvPr id="16" name="Image 1" descr="/Users/manish/Development/Workspace/samsung/digithon-2026/.worktrees/ppt-eval/runs/mvpimwddfpjt/shot-mobile-after.png">    </p:cNvPr>
          <p:cNvPicPr>
            <a:picLocks noChangeAspect="1"/>
          </p:cNvPicPr>
          <p:nvPr/>
        </p:nvPicPr>
        <p:blipFill>
          <a:blip r:embed="rId2"/>
          <a:srcRect l="0" r="0" t="0" b="0"/>
          <a:stretch/>
        </p:blipFill>
        <p:spPr>
          <a:xfrm>
            <a:off x="3429000" y="1554480"/>
            <a:ext cx="2286000" cy="4389120"/>
          </a:xfrm>
          <a:prstGeom prst="rect">
            <a:avLst/>
          </a:prstGeom>
        </p:spPr>
      </p:pic>
      <p:sp>
        <p:nvSpPr>
          <p:cNvPr id="17" name="Shape 12"/>
          <p:cNvSpPr/>
          <p:nvPr/>
        </p:nvSpPr>
        <p:spPr>
          <a:xfrm>
            <a:off x="3520440" y="1664208"/>
            <a:ext cx="868680" cy="246888"/>
          </a:xfrm>
          <a:prstGeom prst="roundRect">
            <a:avLst>
              <a:gd name="adj" fmla="val 37037"/>
            </a:avLst>
          </a:prstGeom>
          <a:solidFill>
            <a:srgbClr val="1428A0"/>
          </a:solidFill>
          <a:ln w="12700">
            <a:solidFill>
              <a:srgbClr val="1428A0"/>
            </a:solidFill>
            <a:prstDash val="solid"/>
          </a:ln>
        </p:spPr>
      </p:sp>
      <p:sp>
        <p:nvSpPr>
          <p:cNvPr id="18" name="Text 13"/>
          <p:cNvSpPr/>
          <p:nvPr/>
        </p:nvSpPr>
        <p:spPr>
          <a:xfrm>
            <a:off x="3520440" y="1664208"/>
            <a:ext cx="868680" cy="24688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ea typeface="Calibri" pitchFamily="34" charset="-122"/>
                <a:cs typeface="Calibri" pitchFamily="34" charset="-120"/>
              </a:rPr>
              <a:t>CONCEPT</a:t>
            </a:r>
            <a:endParaRPr lang="en-US" sz="1000" dirty="0"/>
          </a:p>
        </p:txBody>
      </p:sp>
      <p:sp>
        <p:nvSpPr>
          <p:cNvPr id="19" name="Shape 14"/>
          <p:cNvSpPr/>
          <p:nvPr/>
        </p:nvSpPr>
        <p:spPr>
          <a:xfrm>
            <a:off x="6400800" y="1508760"/>
            <a:ext cx="4572000" cy="4480560"/>
          </a:xfrm>
          <a:prstGeom prst="roundRect">
            <a:avLst>
              <a:gd name="adj" fmla="val 2041"/>
            </a:avLst>
          </a:prstGeom>
          <a:solidFill>
            <a:srgbClr val="FFFFFF"/>
          </a:solidFill>
          <a:ln w="12700">
            <a:solidFill>
              <a:srgbClr val="DDE2EE"/>
            </a:solidFill>
            <a:prstDash val="solid"/>
          </a:ln>
        </p:spPr>
      </p:sp>
      <p:sp>
        <p:nvSpPr>
          <p:cNvPr id="20" name="Text 15"/>
          <p:cNvSpPr/>
          <p:nvPr/>
        </p:nvSpPr>
        <p:spPr>
          <a:xfrm>
            <a:off x="6629400" y="1691640"/>
            <a:ext cx="4114800" cy="320040"/>
          </a:xfrm>
          <a:prstGeom prst="rect">
            <a:avLst/>
          </a:prstGeom>
          <a:noFill/>
          <a:ln/>
        </p:spPr>
        <p:txBody>
          <a:bodyPr wrap="square" lIns="0" tIns="0" rIns="0" bIns="0" rtlCol="0" anchor="t"/>
          <a:lstStyle/>
          <a:p>
            <a:pPr indent="0" marL="0">
              <a:buNone/>
            </a:pPr>
            <a:r>
              <a:rPr lang="en-US" sz="1600" b="1" dirty="0">
                <a:solidFill>
                  <a:srgbClr val="111827"/>
                </a:solidFill>
                <a:latin typeface="Calibri" pitchFamily="34" charset="0"/>
                <a:ea typeface="Calibri" pitchFamily="34" charset="-122"/>
                <a:cs typeface="Calibri" pitchFamily="34" charset="-120"/>
              </a:rPr>
              <a:t>Mobile today</a:t>
            </a:r>
            <a:endParaRPr lang="en-US" sz="1600" dirty="0"/>
          </a:p>
        </p:txBody>
      </p:sp>
      <p:sp>
        <p:nvSpPr>
          <p:cNvPr id="21" name="Text 16"/>
          <p:cNvSpPr/>
          <p:nvPr/>
        </p:nvSpPr>
        <p:spPr>
          <a:xfrm>
            <a:off x="6629400" y="2057400"/>
            <a:ext cx="4114800" cy="457200"/>
          </a:xfrm>
          <a:prstGeom prst="rect">
            <a:avLst/>
          </a:prstGeom>
          <a:noFill/>
          <a:ln/>
        </p:spPr>
        <p:txBody>
          <a:bodyPr wrap="square" lIns="0" tIns="0" rIns="0" bIns="0" rtlCol="0" anchor="t"/>
          <a:lstStyle/>
          <a:p>
            <a:pPr indent="0" marL="0">
              <a:buNone/>
            </a:pPr>
            <a:r>
              <a:rPr lang="en-US" sz="2600" b="1" dirty="0">
                <a:solidFill>
                  <a:srgbClr val="D64545"/>
                </a:solidFill>
                <a:latin typeface="Calibri" pitchFamily="34" charset="0"/>
                <a:ea typeface="Calibri" pitchFamily="34" charset="-122"/>
                <a:cs typeface="Calibri" pitchFamily="34" charset="-120"/>
              </a:rPr>
              <a:t>58/100 · grade D</a:t>
            </a:r>
            <a:endParaRPr lang="en-US" sz="2600" dirty="0"/>
          </a:p>
        </p:txBody>
      </p:sp>
      <p:sp>
        <p:nvSpPr>
          <p:cNvPr id="22" name="Text 17"/>
          <p:cNvSpPr/>
          <p:nvPr/>
        </p:nvSpPr>
        <p:spPr>
          <a:xfrm>
            <a:off x="6629400" y="2651760"/>
            <a:ext cx="4114800" cy="8229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302 of 664 tap targets are too small on mobile.</a:t>
            </a:r>
            <a:endParaRPr lang="en-US" sz="1200" dirty="0"/>
          </a:p>
        </p:txBody>
      </p:sp>
      <p:sp>
        <p:nvSpPr>
          <p:cNvPr id="23" name="Text 18"/>
          <p:cNvSpPr/>
          <p:nvPr/>
        </p:nvSpPr>
        <p:spPr>
          <a:xfrm>
            <a:off x="6629400" y="356616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Horizontal overflow</a:t>
            </a:r>
            <a:endParaRPr lang="en-US" sz="1000" dirty="0"/>
          </a:p>
        </p:txBody>
      </p:sp>
      <p:sp>
        <p:nvSpPr>
          <p:cNvPr id="24" name="Text 19"/>
          <p:cNvSpPr/>
          <p:nvPr/>
        </p:nvSpPr>
        <p:spPr>
          <a:xfrm>
            <a:off x="6629400" y="379476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0px</a:t>
            </a:r>
            <a:endParaRPr lang="en-US" sz="1400" dirty="0"/>
          </a:p>
        </p:txBody>
      </p:sp>
      <p:sp>
        <p:nvSpPr>
          <p:cNvPr id="25" name="Text 20"/>
          <p:cNvSpPr/>
          <p:nvPr/>
        </p:nvSpPr>
        <p:spPr>
          <a:xfrm>
            <a:off x="6629400" y="411480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Small tap targets</a:t>
            </a:r>
            <a:endParaRPr lang="en-US" sz="1000" dirty="0"/>
          </a:p>
        </p:txBody>
      </p:sp>
      <p:sp>
        <p:nvSpPr>
          <p:cNvPr id="26" name="Text 21"/>
          <p:cNvSpPr/>
          <p:nvPr/>
        </p:nvSpPr>
        <p:spPr>
          <a:xfrm>
            <a:off x="6629400" y="434340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302/664</a:t>
            </a:r>
            <a:endParaRPr lang="en-US" sz="1400" dirty="0"/>
          </a:p>
        </p:txBody>
      </p:sp>
      <p:sp>
        <p:nvSpPr>
          <p:cNvPr id="27" name="Text 22"/>
          <p:cNvSpPr/>
          <p:nvPr/>
        </p:nvSpPr>
        <p:spPr>
          <a:xfrm>
            <a:off x="6629400" y="466344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Tiny text blocks</a:t>
            </a:r>
            <a:endParaRPr lang="en-US" sz="1000" dirty="0"/>
          </a:p>
        </p:txBody>
      </p:sp>
      <p:sp>
        <p:nvSpPr>
          <p:cNvPr id="28" name="Text 23"/>
          <p:cNvSpPr/>
          <p:nvPr/>
        </p:nvSpPr>
        <p:spPr>
          <a:xfrm>
            <a:off x="6629400" y="489204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61</a:t>
            </a:r>
            <a:endParaRPr lang="en-US" sz="1400" dirty="0"/>
          </a:p>
        </p:txBody>
      </p:sp>
      <p:sp>
        <p:nvSpPr>
          <p:cNvPr id="29" name="Text 24"/>
          <p:cNvSpPr/>
          <p:nvPr/>
        </p:nvSpPr>
        <p:spPr>
          <a:xfrm>
            <a:off x="6629400" y="5212080"/>
            <a:ext cx="2103120" cy="228600"/>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Viewport meta</a:t>
            </a:r>
            <a:endParaRPr lang="en-US" sz="1000" dirty="0"/>
          </a:p>
        </p:txBody>
      </p:sp>
      <p:sp>
        <p:nvSpPr>
          <p:cNvPr id="30" name="Text 25"/>
          <p:cNvSpPr/>
          <p:nvPr/>
        </p:nvSpPr>
        <p:spPr>
          <a:xfrm>
            <a:off x="6629400" y="5440680"/>
            <a:ext cx="3840480" cy="274320"/>
          </a:xfrm>
          <a:prstGeom prst="rect">
            <a:avLst/>
          </a:prstGeom>
          <a:noFill/>
          <a:ln/>
        </p:spPr>
        <p:txBody>
          <a:bodyPr wrap="square" lIns="0" tIns="0" rIns="0" bIns="0" rtlCol="0" anchor="t"/>
          <a:lstStyle/>
          <a:p>
            <a:pPr indent="0" marL="0">
              <a:buNone/>
            </a:pPr>
            <a:r>
              <a:rPr lang="en-US" sz="1400" b="1" dirty="0">
                <a:solidFill>
                  <a:srgbClr val="111827"/>
                </a:solidFill>
                <a:latin typeface="Calibri" pitchFamily="34" charset="0"/>
                <a:ea typeface="Calibri" pitchFamily="34" charset="-122"/>
                <a:cs typeface="Calibri" pitchFamily="34" charset="-120"/>
              </a:rPr>
              <a:t>yes</a:t>
            </a:r>
            <a:endParaRPr lang="en-US" sz="14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CONCEPT REDESIGN · CHANGES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What changed, and why</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10</a:t>
            </a:r>
            <a:endParaRPr lang="en-US" sz="1000" dirty="0"/>
          </a:p>
        </p:txBody>
      </p:sp>
      <p:sp>
        <p:nvSpPr>
          <p:cNvPr id="11" name="Shape 8"/>
          <p:cNvSpPr/>
          <p:nvPr/>
        </p:nvSpPr>
        <p:spPr>
          <a:xfrm>
            <a:off x="548640" y="1508760"/>
            <a:ext cx="11094415" cy="694944"/>
          </a:xfrm>
          <a:prstGeom prst="roundRect">
            <a:avLst>
              <a:gd name="adj" fmla="val 13158"/>
            </a:avLst>
          </a:prstGeom>
          <a:solidFill>
            <a:srgbClr val="FFFFFF"/>
          </a:solidFill>
          <a:ln w="12700">
            <a:solidFill>
              <a:srgbClr val="DDE2EE"/>
            </a:solidFill>
            <a:prstDash val="solid"/>
          </a:ln>
        </p:spPr>
      </p:sp>
      <p:sp>
        <p:nvSpPr>
          <p:cNvPr id="12" name="Shape 9"/>
          <p:cNvSpPr/>
          <p:nvPr/>
        </p:nvSpPr>
        <p:spPr>
          <a:xfrm>
            <a:off x="548640" y="1508760"/>
            <a:ext cx="73152" cy="694944"/>
          </a:xfrm>
          <a:prstGeom prst="rect">
            <a:avLst/>
          </a:prstGeom>
          <a:solidFill>
            <a:srgbClr val="1428A0"/>
          </a:solidFill>
          <a:ln w="12700">
            <a:solidFill>
              <a:srgbClr val="1428A0"/>
            </a:solidFill>
            <a:prstDash val="solid"/>
          </a:ln>
        </p:spPr>
      </p:sp>
      <p:sp>
        <p:nvSpPr>
          <p:cNvPr id="13" name="Text 10"/>
          <p:cNvSpPr/>
          <p:nvPr/>
        </p:nvSpPr>
        <p:spPr>
          <a:xfrm>
            <a:off x="822960" y="1581912"/>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Main content takes 19.7s to appear on mobile</a:t>
            </a:r>
            <a:endParaRPr lang="en-US" sz="1300" dirty="0"/>
          </a:p>
        </p:txBody>
      </p:sp>
      <p:sp>
        <p:nvSpPr>
          <p:cNvPr id="14" name="Text 11"/>
          <p:cNvSpPr/>
          <p:nvPr/>
        </p:nvSpPr>
        <p:spPr>
          <a:xfrm>
            <a:off x="5349240" y="1581912"/>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15" name="Text 12"/>
          <p:cNvSpPr/>
          <p:nvPr/>
        </p:nvSpPr>
        <p:spPr>
          <a:xfrm>
            <a:off x="5806440" y="1581912"/>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Compress and preload the hero image, defer non-critical scripts, serve via a CDN.</a:t>
            </a:r>
            <a:endParaRPr lang="en-US" sz="1200" dirty="0"/>
          </a:p>
        </p:txBody>
      </p:sp>
      <p:sp>
        <p:nvSpPr>
          <p:cNvPr id="16" name="Shape 13"/>
          <p:cNvSpPr/>
          <p:nvPr/>
        </p:nvSpPr>
        <p:spPr>
          <a:xfrm>
            <a:off x="548640" y="2313432"/>
            <a:ext cx="11094415" cy="694944"/>
          </a:xfrm>
          <a:prstGeom prst="roundRect">
            <a:avLst>
              <a:gd name="adj" fmla="val 13158"/>
            </a:avLst>
          </a:prstGeom>
          <a:solidFill>
            <a:srgbClr val="FFFFFF"/>
          </a:solidFill>
          <a:ln w="12700">
            <a:solidFill>
              <a:srgbClr val="DDE2EE"/>
            </a:solidFill>
            <a:prstDash val="solid"/>
          </a:ln>
        </p:spPr>
      </p:sp>
      <p:sp>
        <p:nvSpPr>
          <p:cNvPr id="17" name="Shape 14"/>
          <p:cNvSpPr/>
          <p:nvPr/>
        </p:nvSpPr>
        <p:spPr>
          <a:xfrm>
            <a:off x="548640" y="2313432"/>
            <a:ext cx="73152" cy="694944"/>
          </a:xfrm>
          <a:prstGeom prst="rect">
            <a:avLst/>
          </a:prstGeom>
          <a:solidFill>
            <a:srgbClr val="1428A0"/>
          </a:solidFill>
          <a:ln w="12700">
            <a:solidFill>
              <a:srgbClr val="1428A0"/>
            </a:solidFill>
            <a:prstDash val="solid"/>
          </a:ln>
        </p:spPr>
      </p:sp>
      <p:sp>
        <p:nvSpPr>
          <p:cNvPr id="18" name="Text 15"/>
          <p:cNvSpPr/>
          <p:nvPr/>
        </p:nvSpPr>
        <p:spPr>
          <a:xfrm>
            <a:off x="822960" y="2386584"/>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Page is unresponsive for 2.6s while loading</a:t>
            </a:r>
            <a:endParaRPr lang="en-US" sz="1300" dirty="0"/>
          </a:p>
        </p:txBody>
      </p:sp>
      <p:sp>
        <p:nvSpPr>
          <p:cNvPr id="19" name="Text 16"/>
          <p:cNvSpPr/>
          <p:nvPr/>
        </p:nvSpPr>
        <p:spPr>
          <a:xfrm>
            <a:off x="5349240" y="2386584"/>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0" name="Text 17"/>
          <p:cNvSpPr/>
          <p:nvPr/>
        </p:nvSpPr>
        <p:spPr>
          <a:xfrm>
            <a:off x="5806440" y="2386584"/>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Split and defer JavaScript, remove unused third-party scripts.</a:t>
            </a:r>
            <a:endParaRPr lang="en-US" sz="1200" dirty="0"/>
          </a:p>
        </p:txBody>
      </p:sp>
      <p:sp>
        <p:nvSpPr>
          <p:cNvPr id="21" name="Shape 18"/>
          <p:cNvSpPr/>
          <p:nvPr/>
        </p:nvSpPr>
        <p:spPr>
          <a:xfrm>
            <a:off x="548640" y="3118104"/>
            <a:ext cx="11094415" cy="694944"/>
          </a:xfrm>
          <a:prstGeom prst="roundRect">
            <a:avLst>
              <a:gd name="adj" fmla="val 13158"/>
            </a:avLst>
          </a:prstGeom>
          <a:solidFill>
            <a:srgbClr val="FFFFFF"/>
          </a:solidFill>
          <a:ln w="12700">
            <a:solidFill>
              <a:srgbClr val="DDE2EE"/>
            </a:solidFill>
            <a:prstDash val="solid"/>
          </a:ln>
        </p:spPr>
      </p:sp>
      <p:sp>
        <p:nvSpPr>
          <p:cNvPr id="22" name="Shape 19"/>
          <p:cNvSpPr/>
          <p:nvPr/>
        </p:nvSpPr>
        <p:spPr>
          <a:xfrm>
            <a:off x="548640" y="3118104"/>
            <a:ext cx="73152" cy="694944"/>
          </a:xfrm>
          <a:prstGeom prst="rect">
            <a:avLst/>
          </a:prstGeom>
          <a:solidFill>
            <a:srgbClr val="1428A0"/>
          </a:solidFill>
          <a:ln w="12700">
            <a:solidFill>
              <a:srgbClr val="1428A0"/>
            </a:solidFill>
            <a:prstDash val="solid"/>
          </a:ln>
        </p:spPr>
      </p:sp>
      <p:sp>
        <p:nvSpPr>
          <p:cNvPr id="23" name="Text 20"/>
          <p:cNvSpPr/>
          <p:nvPr/>
        </p:nvSpPr>
        <p:spPr>
          <a:xfrm>
            <a:off x="822960" y="3191256"/>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302 tap targets are too small</a:t>
            </a:r>
            <a:endParaRPr lang="en-US" sz="1300" dirty="0"/>
          </a:p>
        </p:txBody>
      </p:sp>
      <p:sp>
        <p:nvSpPr>
          <p:cNvPr id="24" name="Text 21"/>
          <p:cNvSpPr/>
          <p:nvPr/>
        </p:nvSpPr>
        <p:spPr>
          <a:xfrm>
            <a:off x="5349240" y="3191256"/>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25" name="Text 22"/>
          <p:cNvSpPr/>
          <p:nvPr/>
        </p:nvSpPr>
        <p:spPr>
          <a:xfrm>
            <a:off x="5806440" y="3191256"/>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Make interactive elements at least 44x44px with spacing between them.</a:t>
            </a:r>
            <a:endParaRPr lang="en-US" sz="1200" dirty="0"/>
          </a:p>
        </p:txBody>
      </p:sp>
      <p:sp>
        <p:nvSpPr>
          <p:cNvPr id="26" name="Shape 23"/>
          <p:cNvSpPr/>
          <p:nvPr/>
        </p:nvSpPr>
        <p:spPr>
          <a:xfrm>
            <a:off x="548640" y="3922776"/>
            <a:ext cx="11094415" cy="694944"/>
          </a:xfrm>
          <a:prstGeom prst="roundRect">
            <a:avLst>
              <a:gd name="adj" fmla="val 13158"/>
            </a:avLst>
          </a:prstGeom>
          <a:solidFill>
            <a:srgbClr val="FFFFFF"/>
          </a:solidFill>
          <a:ln w="12700">
            <a:solidFill>
              <a:srgbClr val="DDE2EE"/>
            </a:solidFill>
            <a:prstDash val="solid"/>
          </a:ln>
        </p:spPr>
      </p:sp>
      <p:sp>
        <p:nvSpPr>
          <p:cNvPr id="27" name="Shape 24"/>
          <p:cNvSpPr/>
          <p:nvPr/>
        </p:nvSpPr>
        <p:spPr>
          <a:xfrm>
            <a:off x="548640" y="3922776"/>
            <a:ext cx="73152" cy="694944"/>
          </a:xfrm>
          <a:prstGeom prst="rect">
            <a:avLst/>
          </a:prstGeom>
          <a:solidFill>
            <a:srgbClr val="1428A0"/>
          </a:solidFill>
          <a:ln w="12700">
            <a:solidFill>
              <a:srgbClr val="1428A0"/>
            </a:solidFill>
            <a:prstDash val="solid"/>
          </a:ln>
        </p:spPr>
      </p:sp>
      <p:sp>
        <p:nvSpPr>
          <p:cNvPr id="28" name="Text 25"/>
          <p:cNvSpPr/>
          <p:nvPr/>
        </p:nvSpPr>
        <p:spPr>
          <a:xfrm>
            <a:off x="822960" y="3995928"/>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contain particular children</a:t>
            </a:r>
            <a:endParaRPr lang="en-US" sz="1300" dirty="0"/>
          </a:p>
        </p:txBody>
      </p:sp>
      <p:sp>
        <p:nvSpPr>
          <p:cNvPr id="29" name="Text 26"/>
          <p:cNvSpPr/>
          <p:nvPr/>
        </p:nvSpPr>
        <p:spPr>
          <a:xfrm>
            <a:off x="5349240" y="3995928"/>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0" name="Text 27"/>
          <p:cNvSpPr/>
          <p:nvPr/>
        </p:nvSpPr>
        <p:spPr>
          <a:xfrm>
            <a:off x="5806440" y="3995928"/>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
        <p:nvSpPr>
          <p:cNvPr id="31" name="Shape 28"/>
          <p:cNvSpPr/>
          <p:nvPr/>
        </p:nvSpPr>
        <p:spPr>
          <a:xfrm>
            <a:off x="548640" y="4727448"/>
            <a:ext cx="11094415" cy="694944"/>
          </a:xfrm>
          <a:prstGeom prst="roundRect">
            <a:avLst>
              <a:gd name="adj" fmla="val 13158"/>
            </a:avLst>
          </a:prstGeom>
          <a:solidFill>
            <a:srgbClr val="FFFFFF"/>
          </a:solidFill>
          <a:ln w="12700">
            <a:solidFill>
              <a:srgbClr val="DDE2EE"/>
            </a:solidFill>
            <a:prstDash val="solid"/>
          </a:ln>
        </p:spPr>
      </p:sp>
      <p:sp>
        <p:nvSpPr>
          <p:cNvPr id="32" name="Shape 29"/>
          <p:cNvSpPr/>
          <p:nvPr/>
        </p:nvSpPr>
        <p:spPr>
          <a:xfrm>
            <a:off x="548640" y="4727448"/>
            <a:ext cx="73152" cy="694944"/>
          </a:xfrm>
          <a:prstGeom prst="rect">
            <a:avLst/>
          </a:prstGeom>
          <a:solidFill>
            <a:srgbClr val="1428A0"/>
          </a:solidFill>
          <a:ln w="12700">
            <a:solidFill>
              <a:srgbClr val="1428A0"/>
            </a:solidFill>
            <a:prstDash val="solid"/>
          </a:ln>
        </p:spPr>
      </p:sp>
      <p:sp>
        <p:nvSpPr>
          <p:cNvPr id="33" name="Text 30"/>
          <p:cNvSpPr/>
          <p:nvPr/>
        </p:nvSpPr>
        <p:spPr>
          <a:xfrm>
            <a:off x="822960" y="4800600"/>
            <a:ext cx="4480560" cy="548640"/>
          </a:xfrm>
          <a:prstGeom prst="rect">
            <a:avLst/>
          </a:prstGeom>
          <a:noFill/>
          <a:ln/>
        </p:spPr>
        <p:txBody>
          <a:bodyPr wrap="square" lIns="0" tIns="0" rIns="0" bIns="0" rtlCol="0" anchor="ctr"/>
          <a:lstStyle/>
          <a:p>
            <a:pPr indent="0" marL="0">
              <a:buNone/>
            </a:pPr>
            <a:r>
              <a:rPr lang="en-US" sz="1300" b="1" dirty="0">
                <a:solidFill>
                  <a:srgbClr val="111827"/>
                </a:solidFill>
                <a:latin typeface="Calibri" pitchFamily="34" charset="0"/>
                <a:ea typeface="Calibri" pitchFamily="34" charset="-122"/>
                <a:cs typeface="Calibri" pitchFamily="34" charset="-120"/>
              </a:rPr>
              <a:t>Certain ARIA roles must be contained by particular parents</a:t>
            </a:r>
            <a:endParaRPr lang="en-US" sz="1300" dirty="0"/>
          </a:p>
        </p:txBody>
      </p:sp>
      <p:sp>
        <p:nvSpPr>
          <p:cNvPr id="34" name="Text 31"/>
          <p:cNvSpPr/>
          <p:nvPr/>
        </p:nvSpPr>
        <p:spPr>
          <a:xfrm>
            <a:off x="5349240" y="4800600"/>
            <a:ext cx="365760" cy="548640"/>
          </a:xfrm>
          <a:prstGeom prst="rect">
            <a:avLst/>
          </a:prstGeom>
          <a:noFill/>
          <a:ln/>
        </p:spPr>
        <p:txBody>
          <a:bodyPr wrap="square" lIns="0" tIns="0" rIns="0" bIns="0" rtlCol="0" anchor="ctr"/>
          <a:lstStyle/>
          <a:p>
            <a:pPr algn="ctr" indent="0" marL="0">
              <a:buNone/>
            </a:pPr>
            <a:r>
              <a:rPr lang="en-US" sz="1800" dirty="0">
                <a:solidFill>
                  <a:srgbClr val="1428A0"/>
                </a:solidFill>
                <a:latin typeface="Calibri" pitchFamily="34" charset="0"/>
                <a:ea typeface="Calibri" pitchFamily="34" charset="-122"/>
                <a:cs typeface="Calibri" pitchFamily="34" charset="-120"/>
              </a:rPr>
              <a:t>→</a:t>
            </a:r>
            <a:endParaRPr lang="en-US" sz="1800" dirty="0"/>
          </a:p>
        </p:txBody>
      </p:sp>
      <p:sp>
        <p:nvSpPr>
          <p:cNvPr id="35" name="Text 32"/>
          <p:cNvSpPr/>
          <p:nvPr/>
        </p:nvSpPr>
        <p:spPr>
          <a:xfrm>
            <a:off x="5806440" y="4800600"/>
            <a:ext cx="5608015" cy="548640"/>
          </a:xfrm>
          <a:prstGeom prst="rect">
            <a:avLst/>
          </a:prstGeom>
          <a:noFill/>
          <a:ln/>
        </p:spPr>
        <p:txBody>
          <a:bodyPr wrap="square" lIns="0" tIns="0" rIns="0" bIns="0" rtlCol="0" anchor="ctr"/>
          <a:lstStyle/>
          <a:p>
            <a:pPr indent="0" marL="0">
              <a:buNone/>
            </a:pPr>
            <a:r>
              <a:rPr lang="en-US" sz="1200" dirty="0">
                <a:solidFill>
                  <a:srgbClr val="5B6477"/>
                </a:solidFill>
                <a:latin typeface="Calibri" pitchFamily="34" charset="0"/>
                <a:ea typeface="Calibri" pitchFamily="34" charset="-122"/>
                <a:cs typeface="Calibri" pitchFamily="34" charset="-120"/>
              </a:rPr>
              <a:t>Fix the flagged elements and add automated a11y checks to CI.</a:t>
            </a:r>
            <a:endParaRPr lang="en-US" sz="12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ORGANISATION MATCH</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Why Samsung SDS fits this work</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11</a:t>
            </a:r>
            <a:endParaRPr lang="en-US" sz="1000" dirty="0"/>
          </a:p>
        </p:txBody>
      </p:sp>
      <p:sp>
        <p:nvSpPr>
          <p:cNvPr id="11" name="Shape 8"/>
          <p:cNvSpPr/>
          <p:nvPr/>
        </p:nvSpPr>
        <p:spPr>
          <a:xfrm>
            <a:off x="548640" y="1508760"/>
            <a:ext cx="2926080" cy="4480560"/>
          </a:xfrm>
          <a:prstGeom prst="roundRect">
            <a:avLst>
              <a:gd name="adj" fmla="val 3125"/>
            </a:avLst>
          </a:prstGeom>
          <a:solidFill>
            <a:srgbClr val="FFFFFF"/>
          </a:solidFill>
          <a:ln w="12700">
            <a:solidFill>
              <a:srgbClr val="DDE2EE"/>
            </a:solidFill>
            <a:prstDash val="solid"/>
          </a:ln>
        </p:spPr>
      </p:sp>
      <p:graphicFrame>
        <p:nvGraphicFramePr>
          <p:cNvPr id="12" name="Chart 0" descr=""/>
          <p:cNvGraphicFramePr/>
          <p:nvPr/>
        </p:nvGraphicFramePr>
        <p:xfrm>
          <a:off x="822960" y="1691640"/>
          <a:ext cx="2377440" cy="2377440"/>
        </p:xfrm>
        <a:graphic xmlns:a="http://schemas.openxmlformats.org/drawingml/2006/main">
          <a:graphicData uri="http://schemas.openxmlformats.org/drawingml/2006/chart">
            <c:chart xmlns:c="http://schemas.openxmlformats.org/drawingml/2006/chart" r:id="rId1"/>
          </a:graphicData>
        </a:graphic>
      </p:graphicFrame>
      <p:sp>
        <p:nvSpPr>
          <p:cNvPr id="13" name="Text 9"/>
          <p:cNvSpPr/>
          <p:nvPr/>
        </p:nvSpPr>
        <p:spPr>
          <a:xfrm>
            <a:off x="548640" y="2423160"/>
            <a:ext cx="2926080" cy="822960"/>
          </a:xfrm>
          <a:prstGeom prst="rect">
            <a:avLst/>
          </a:prstGeom>
          <a:noFill/>
          <a:ln/>
        </p:spPr>
        <p:txBody>
          <a:bodyPr wrap="square" lIns="0" tIns="0" rIns="0" bIns="0" rtlCol="0" anchor="ctr"/>
          <a:lstStyle/>
          <a:p>
            <a:pPr algn="ctr" indent="0" marL="0">
              <a:buNone/>
            </a:pPr>
            <a:r>
              <a:rPr lang="en-US" sz="4400" b="1" dirty="0">
                <a:solidFill>
                  <a:srgbClr val="0F9D6B"/>
                </a:solidFill>
                <a:latin typeface="Calibri" pitchFamily="34" charset="0"/>
                <a:ea typeface="Calibri" pitchFamily="34" charset="-122"/>
                <a:cs typeface="Calibri" pitchFamily="34" charset="-120"/>
              </a:rPr>
              <a:t>94</a:t>
            </a:r>
            <a:endParaRPr lang="en-US" sz="4400" dirty="0"/>
          </a:p>
        </p:txBody>
      </p:sp>
      <p:sp>
        <p:nvSpPr>
          <p:cNvPr id="14" name="Text 10"/>
          <p:cNvSpPr/>
          <p:nvPr/>
        </p:nvSpPr>
        <p:spPr>
          <a:xfrm>
            <a:off x="548640" y="4114800"/>
            <a:ext cx="2926080" cy="274320"/>
          </a:xfrm>
          <a:prstGeom prst="rect">
            <a:avLst/>
          </a:prstGeom>
          <a:noFill/>
          <a:ln/>
        </p:spPr>
        <p:txBody>
          <a:bodyPr wrap="square" lIns="0" tIns="0" rIns="0" bIns="0" rtlCol="0" anchor="t"/>
          <a:lstStyle/>
          <a:p>
            <a:pPr algn="ctr" indent="0" marL="0">
              <a:buNone/>
            </a:pPr>
            <a:r>
              <a:rPr lang="en-US" sz="1200" dirty="0">
                <a:solidFill>
                  <a:srgbClr val="5B6477"/>
                </a:solidFill>
                <a:latin typeface="Calibri" pitchFamily="34" charset="0"/>
                <a:ea typeface="Calibri" pitchFamily="34" charset="-122"/>
                <a:cs typeface="Calibri" pitchFamily="34" charset="-120"/>
              </a:rPr>
              <a:t>organisation match</a:t>
            </a:r>
            <a:endParaRPr lang="en-US" sz="1200" dirty="0"/>
          </a:p>
        </p:txBody>
      </p:sp>
      <p:sp>
        <p:nvSpPr>
          <p:cNvPr id="15" name="Text 11"/>
          <p:cNvSpPr/>
          <p:nvPr/>
        </p:nvSpPr>
        <p:spPr>
          <a:xfrm>
            <a:off x="777240" y="4434840"/>
            <a:ext cx="2560320" cy="1463040"/>
          </a:xfrm>
          <a:prstGeom prst="rect">
            <a:avLst/>
          </a:prstGeom>
          <a:noFill/>
          <a:ln/>
        </p:spPr>
        <p:txBody>
          <a:bodyPr wrap="square" lIns="0" tIns="0" rIns="0" bIns="0" rtlCol="0" anchor="t"/>
          <a:lstStyle/>
          <a:p>
            <a:pPr indent="0" marL="0">
              <a:buNone/>
            </a:pPr>
            <a:r>
              <a:rPr lang="en-US" sz="1100" b="1" dirty="0">
                <a:solidFill>
                  <a:srgbClr val="0F9D6B"/>
                </a:solidFill>
                <a:latin typeface="Calibri" pitchFamily="34" charset="0"/>
                <a:ea typeface="Calibri" pitchFamily="34" charset="-122"/>
                <a:cs typeface="Calibri" pitchFamily="34" charset="-120"/>
              </a:rPr>
              <a:t>Strengths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Next.js / React, Responsive / mobile UI, UX / UI design, QA / test automation</a:t>
            </a:r>
            <a:endParaRPr lang="en-US" sz="1100" dirty="0"/>
          </a:p>
          <a:p>
            <a:pPr indent="0" marL="0">
              <a:buNone/>
            </a:pPr>
            <a:r>
              <a:rPr lang="en-US" sz="1100" dirty="0">
                <a:solidFill>
                  <a:srgbClr val="111827"/>
                </a:solidFill>
                <a:latin typeface="Calibri" pitchFamily="34" charset="0"/>
                <a:ea typeface="Calibri" pitchFamily="34" charset="-122"/>
                <a:cs typeface="Calibri" pitchFamily="34" charset="-120"/>
              </a:rPr>
              <a:t> </a:t>
            </a:r>
            <a:endParaRPr lang="en-US" sz="1100" dirty="0"/>
          </a:p>
          <a:p>
            <a:pPr indent="0" marL="0">
              <a:buNone/>
            </a:pPr>
            <a:r>
              <a:rPr lang="en-US" sz="1100" b="1" dirty="0">
                <a:solidFill>
                  <a:srgbClr val="0F9D6B"/>
                </a:solidFill>
                <a:latin typeface="Calibri" pitchFamily="34" charset="0"/>
                <a:ea typeface="Calibri" pitchFamily="34" charset="-122"/>
                <a:cs typeface="Calibri" pitchFamily="34" charset="-120"/>
              </a:rPr>
              <a:t>Gaps</a:t>
            </a:r>
            <a:endParaRPr lang="en-US" sz="1100" dirty="0"/>
          </a:p>
          <a:p>
            <a:pPr indent="0" marL="0">
              <a:buNone/>
            </a:pPr>
            <a:r>
              <a:rPr lang="en-US" sz="1100" dirty="0">
                <a:solidFill>
                  <a:srgbClr val="5B6477"/>
                </a:solidFill>
                <a:latin typeface="Calibri" pitchFamily="34" charset="0"/>
                <a:ea typeface="Calibri" pitchFamily="34" charset="-122"/>
                <a:cs typeface="Calibri" pitchFamily="34" charset="-120"/>
              </a:rPr>
              <a:t>None</a:t>
            </a:r>
            <a:endParaRPr lang="en-US" sz="1100" dirty="0"/>
          </a:p>
        </p:txBody>
      </p:sp>
      <p:sp>
        <p:nvSpPr>
          <p:cNvPr id="16" name="Text 12"/>
          <p:cNvSpPr/>
          <p:nvPr/>
        </p:nvSpPr>
        <p:spPr>
          <a:xfrm>
            <a:off x="3749040" y="1508760"/>
            <a:ext cx="27432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SKILL</a:t>
            </a:r>
            <a:endParaRPr lang="en-US" sz="900" dirty="0"/>
          </a:p>
        </p:txBody>
      </p:sp>
      <p:sp>
        <p:nvSpPr>
          <p:cNvPr id="17" name="Text 13"/>
          <p:cNvSpPr/>
          <p:nvPr/>
        </p:nvSpPr>
        <p:spPr>
          <a:xfrm>
            <a:off x="6675120" y="1508760"/>
            <a:ext cx="201168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FIT</a:t>
            </a:r>
            <a:endParaRPr lang="en-US" sz="900" dirty="0"/>
          </a:p>
        </p:txBody>
      </p:sp>
      <p:sp>
        <p:nvSpPr>
          <p:cNvPr id="18" name="Text 14"/>
          <p:cNvSpPr/>
          <p:nvPr/>
        </p:nvSpPr>
        <p:spPr>
          <a:xfrm>
            <a:off x="8869680" y="1508760"/>
            <a:ext cx="1371600" cy="228600"/>
          </a:xfrm>
          <a:prstGeom prst="rect">
            <a:avLst/>
          </a:prstGeom>
          <a:noFill/>
          <a:ln/>
        </p:spPr>
        <p:txBody>
          <a:bodyPr wrap="square" lIns="0" tIns="0" rIns="0" bIns="0" rtlCol="0" anchor="t"/>
          <a:lstStyle/>
          <a:p>
            <a:pPr indent="0" marL="0">
              <a:buNone/>
            </a:pPr>
            <a:r>
              <a:rPr lang="en-US" sz="900" b="1" spc="100" kern="0" dirty="0">
                <a:solidFill>
                  <a:srgbClr val="5B6477"/>
                </a:solidFill>
                <a:latin typeface="Calibri" pitchFamily="34" charset="0"/>
                <a:ea typeface="Calibri" pitchFamily="34" charset="-122"/>
                <a:cs typeface="Calibri" pitchFamily="34" charset="-120"/>
              </a:rPr>
              <a:t>PEOPLE FREE</a:t>
            </a:r>
            <a:endParaRPr lang="en-US" sz="900" dirty="0"/>
          </a:p>
        </p:txBody>
      </p:sp>
      <p:sp>
        <p:nvSpPr>
          <p:cNvPr id="19" name="Text 15"/>
          <p:cNvSpPr/>
          <p:nvPr/>
        </p:nvSpPr>
        <p:spPr>
          <a:xfrm>
            <a:off x="3749040" y="1828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Next.js / React</a:t>
            </a:r>
            <a:endParaRPr lang="en-US" sz="1200" dirty="0"/>
          </a:p>
        </p:txBody>
      </p:sp>
      <p:sp>
        <p:nvSpPr>
          <p:cNvPr id="20" name="Shape 16"/>
          <p:cNvSpPr/>
          <p:nvPr/>
        </p:nvSpPr>
        <p:spPr>
          <a:xfrm>
            <a:off x="6675120" y="1956816"/>
            <a:ext cx="2011680" cy="109728"/>
          </a:xfrm>
          <a:prstGeom prst="roundRect">
            <a:avLst>
              <a:gd name="adj" fmla="val 83333"/>
            </a:avLst>
          </a:prstGeom>
          <a:solidFill>
            <a:srgbClr val="E6E9F3"/>
          </a:solidFill>
          <a:ln w="12700">
            <a:solidFill>
              <a:srgbClr val="E6E9F3"/>
            </a:solidFill>
            <a:prstDash val="solid"/>
          </a:ln>
        </p:spPr>
      </p:sp>
      <p:sp>
        <p:nvSpPr>
          <p:cNvPr id="21" name="Shape 17"/>
          <p:cNvSpPr/>
          <p:nvPr/>
        </p:nvSpPr>
        <p:spPr>
          <a:xfrm>
            <a:off x="6675120" y="1956816"/>
            <a:ext cx="2011680" cy="109728"/>
          </a:xfrm>
          <a:prstGeom prst="roundRect">
            <a:avLst>
              <a:gd name="adj" fmla="val 83333"/>
            </a:avLst>
          </a:prstGeom>
          <a:solidFill>
            <a:srgbClr val="0F9D6B"/>
          </a:solidFill>
          <a:ln w="12700">
            <a:solidFill>
              <a:srgbClr val="0F9D6B"/>
            </a:solidFill>
            <a:prstDash val="solid"/>
          </a:ln>
        </p:spPr>
      </p:sp>
      <p:sp>
        <p:nvSpPr>
          <p:cNvPr id="22" name="Text 18"/>
          <p:cNvSpPr/>
          <p:nvPr/>
        </p:nvSpPr>
        <p:spPr>
          <a:xfrm>
            <a:off x="8869680" y="1828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5 of 12</a:t>
            </a:r>
            <a:endParaRPr lang="en-US" sz="1100" dirty="0"/>
          </a:p>
        </p:txBody>
      </p:sp>
      <p:sp>
        <p:nvSpPr>
          <p:cNvPr id="23" name="Shape 19"/>
          <p:cNvSpPr/>
          <p:nvPr/>
        </p:nvSpPr>
        <p:spPr>
          <a:xfrm>
            <a:off x="9921240" y="1892808"/>
            <a:ext cx="777240" cy="246888"/>
          </a:xfrm>
          <a:prstGeom prst="roundRect">
            <a:avLst>
              <a:gd name="adj" fmla="val 37037"/>
            </a:avLst>
          </a:prstGeom>
          <a:solidFill>
            <a:srgbClr val="DFF5EA"/>
          </a:solidFill>
          <a:ln w="12700">
            <a:solidFill>
              <a:srgbClr val="DFF5EA"/>
            </a:solidFill>
            <a:prstDash val="solid"/>
          </a:ln>
        </p:spPr>
      </p:sp>
      <p:sp>
        <p:nvSpPr>
          <p:cNvPr id="24" name="Text 20"/>
          <p:cNvSpPr/>
          <p:nvPr/>
        </p:nvSpPr>
        <p:spPr>
          <a:xfrm>
            <a:off x="9921240" y="18928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25" name="Text 21"/>
          <p:cNvSpPr/>
          <p:nvPr/>
        </p:nvSpPr>
        <p:spPr>
          <a:xfrm>
            <a:off x="3749040" y="2286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Responsive / mobile UI</a:t>
            </a:r>
            <a:endParaRPr lang="en-US" sz="1200" dirty="0"/>
          </a:p>
        </p:txBody>
      </p:sp>
      <p:sp>
        <p:nvSpPr>
          <p:cNvPr id="26" name="Shape 22"/>
          <p:cNvSpPr/>
          <p:nvPr/>
        </p:nvSpPr>
        <p:spPr>
          <a:xfrm>
            <a:off x="6675120" y="2414016"/>
            <a:ext cx="2011680" cy="109728"/>
          </a:xfrm>
          <a:prstGeom prst="roundRect">
            <a:avLst>
              <a:gd name="adj" fmla="val 83333"/>
            </a:avLst>
          </a:prstGeom>
          <a:solidFill>
            <a:srgbClr val="E6E9F3"/>
          </a:solidFill>
          <a:ln w="12700">
            <a:solidFill>
              <a:srgbClr val="E6E9F3"/>
            </a:solidFill>
            <a:prstDash val="solid"/>
          </a:ln>
        </p:spPr>
      </p:sp>
      <p:sp>
        <p:nvSpPr>
          <p:cNvPr id="27" name="Shape 23"/>
          <p:cNvSpPr/>
          <p:nvPr/>
        </p:nvSpPr>
        <p:spPr>
          <a:xfrm>
            <a:off x="6675120" y="2414016"/>
            <a:ext cx="2011680" cy="109728"/>
          </a:xfrm>
          <a:prstGeom prst="roundRect">
            <a:avLst>
              <a:gd name="adj" fmla="val 83333"/>
            </a:avLst>
          </a:prstGeom>
          <a:solidFill>
            <a:srgbClr val="0F9D6B"/>
          </a:solidFill>
          <a:ln w="12700">
            <a:solidFill>
              <a:srgbClr val="0F9D6B"/>
            </a:solidFill>
            <a:prstDash val="solid"/>
          </a:ln>
        </p:spPr>
      </p:sp>
      <p:sp>
        <p:nvSpPr>
          <p:cNvPr id="28" name="Text 24"/>
          <p:cNvSpPr/>
          <p:nvPr/>
        </p:nvSpPr>
        <p:spPr>
          <a:xfrm>
            <a:off x="8869680" y="2286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4 of 9</a:t>
            </a:r>
            <a:endParaRPr lang="en-US" sz="1100" dirty="0"/>
          </a:p>
        </p:txBody>
      </p:sp>
      <p:sp>
        <p:nvSpPr>
          <p:cNvPr id="29" name="Shape 25"/>
          <p:cNvSpPr/>
          <p:nvPr/>
        </p:nvSpPr>
        <p:spPr>
          <a:xfrm>
            <a:off x="9921240" y="2350008"/>
            <a:ext cx="777240" cy="246888"/>
          </a:xfrm>
          <a:prstGeom prst="roundRect">
            <a:avLst>
              <a:gd name="adj" fmla="val 37037"/>
            </a:avLst>
          </a:prstGeom>
          <a:solidFill>
            <a:srgbClr val="DFF5EA"/>
          </a:solidFill>
          <a:ln w="12700">
            <a:solidFill>
              <a:srgbClr val="DFF5EA"/>
            </a:solidFill>
            <a:prstDash val="solid"/>
          </a:ln>
        </p:spPr>
      </p:sp>
      <p:sp>
        <p:nvSpPr>
          <p:cNvPr id="30" name="Text 26"/>
          <p:cNvSpPr/>
          <p:nvPr/>
        </p:nvSpPr>
        <p:spPr>
          <a:xfrm>
            <a:off x="9921240" y="23500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1" name="Text 27"/>
          <p:cNvSpPr/>
          <p:nvPr/>
        </p:nvSpPr>
        <p:spPr>
          <a:xfrm>
            <a:off x="3749040" y="2743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UX / UI design</a:t>
            </a:r>
            <a:endParaRPr lang="en-US" sz="1200" dirty="0"/>
          </a:p>
        </p:txBody>
      </p:sp>
      <p:sp>
        <p:nvSpPr>
          <p:cNvPr id="32" name="Shape 28"/>
          <p:cNvSpPr/>
          <p:nvPr/>
        </p:nvSpPr>
        <p:spPr>
          <a:xfrm>
            <a:off x="6675120" y="2871216"/>
            <a:ext cx="2011680" cy="109728"/>
          </a:xfrm>
          <a:prstGeom prst="roundRect">
            <a:avLst>
              <a:gd name="adj" fmla="val 83333"/>
            </a:avLst>
          </a:prstGeom>
          <a:solidFill>
            <a:srgbClr val="E6E9F3"/>
          </a:solidFill>
          <a:ln w="12700">
            <a:solidFill>
              <a:srgbClr val="E6E9F3"/>
            </a:solidFill>
            <a:prstDash val="solid"/>
          </a:ln>
        </p:spPr>
      </p:sp>
      <p:sp>
        <p:nvSpPr>
          <p:cNvPr id="33" name="Shape 29"/>
          <p:cNvSpPr/>
          <p:nvPr/>
        </p:nvSpPr>
        <p:spPr>
          <a:xfrm>
            <a:off x="6675120" y="2871216"/>
            <a:ext cx="2011680" cy="109728"/>
          </a:xfrm>
          <a:prstGeom prst="roundRect">
            <a:avLst>
              <a:gd name="adj" fmla="val 83333"/>
            </a:avLst>
          </a:prstGeom>
          <a:solidFill>
            <a:srgbClr val="0F9D6B"/>
          </a:solidFill>
          <a:ln w="12700">
            <a:solidFill>
              <a:srgbClr val="0F9D6B"/>
            </a:solidFill>
            <a:prstDash val="solid"/>
          </a:ln>
        </p:spPr>
      </p:sp>
      <p:sp>
        <p:nvSpPr>
          <p:cNvPr id="34" name="Text 30"/>
          <p:cNvSpPr/>
          <p:nvPr/>
        </p:nvSpPr>
        <p:spPr>
          <a:xfrm>
            <a:off x="8869680" y="2743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35" name="Shape 31"/>
          <p:cNvSpPr/>
          <p:nvPr/>
        </p:nvSpPr>
        <p:spPr>
          <a:xfrm>
            <a:off x="9921240" y="2807208"/>
            <a:ext cx="777240" cy="246888"/>
          </a:xfrm>
          <a:prstGeom prst="roundRect">
            <a:avLst>
              <a:gd name="adj" fmla="val 37037"/>
            </a:avLst>
          </a:prstGeom>
          <a:solidFill>
            <a:srgbClr val="DFF5EA"/>
          </a:solidFill>
          <a:ln w="12700">
            <a:solidFill>
              <a:srgbClr val="DFF5EA"/>
            </a:solidFill>
            <a:prstDash val="solid"/>
          </a:ln>
        </p:spPr>
      </p:sp>
      <p:sp>
        <p:nvSpPr>
          <p:cNvPr id="36" name="Text 32"/>
          <p:cNvSpPr/>
          <p:nvPr/>
        </p:nvSpPr>
        <p:spPr>
          <a:xfrm>
            <a:off x="9921240" y="2807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37" name="Text 33"/>
          <p:cNvSpPr/>
          <p:nvPr/>
        </p:nvSpPr>
        <p:spPr>
          <a:xfrm>
            <a:off x="3749040" y="3200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QA / test automation</a:t>
            </a:r>
            <a:endParaRPr lang="en-US" sz="1200" dirty="0"/>
          </a:p>
        </p:txBody>
      </p:sp>
      <p:sp>
        <p:nvSpPr>
          <p:cNvPr id="38" name="Shape 34"/>
          <p:cNvSpPr/>
          <p:nvPr/>
        </p:nvSpPr>
        <p:spPr>
          <a:xfrm>
            <a:off x="6675120" y="3328416"/>
            <a:ext cx="2011680" cy="109728"/>
          </a:xfrm>
          <a:prstGeom prst="roundRect">
            <a:avLst>
              <a:gd name="adj" fmla="val 83333"/>
            </a:avLst>
          </a:prstGeom>
          <a:solidFill>
            <a:srgbClr val="E6E9F3"/>
          </a:solidFill>
          <a:ln w="12700">
            <a:solidFill>
              <a:srgbClr val="E6E9F3"/>
            </a:solidFill>
            <a:prstDash val="solid"/>
          </a:ln>
        </p:spPr>
      </p:sp>
      <p:sp>
        <p:nvSpPr>
          <p:cNvPr id="39" name="Shape 35"/>
          <p:cNvSpPr/>
          <p:nvPr/>
        </p:nvSpPr>
        <p:spPr>
          <a:xfrm>
            <a:off x="6675120" y="3328416"/>
            <a:ext cx="2011680" cy="109728"/>
          </a:xfrm>
          <a:prstGeom prst="roundRect">
            <a:avLst>
              <a:gd name="adj" fmla="val 83333"/>
            </a:avLst>
          </a:prstGeom>
          <a:solidFill>
            <a:srgbClr val="0F9D6B"/>
          </a:solidFill>
          <a:ln w="12700">
            <a:solidFill>
              <a:srgbClr val="0F9D6B"/>
            </a:solidFill>
            <a:prstDash val="solid"/>
          </a:ln>
        </p:spPr>
      </p:sp>
      <p:sp>
        <p:nvSpPr>
          <p:cNvPr id="40" name="Text 36"/>
          <p:cNvSpPr/>
          <p:nvPr/>
        </p:nvSpPr>
        <p:spPr>
          <a:xfrm>
            <a:off x="8869680" y="3200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41" name="Shape 37"/>
          <p:cNvSpPr/>
          <p:nvPr/>
        </p:nvSpPr>
        <p:spPr>
          <a:xfrm>
            <a:off x="9921240" y="3264408"/>
            <a:ext cx="777240" cy="246888"/>
          </a:xfrm>
          <a:prstGeom prst="roundRect">
            <a:avLst>
              <a:gd name="adj" fmla="val 37037"/>
            </a:avLst>
          </a:prstGeom>
          <a:solidFill>
            <a:srgbClr val="DFF5EA"/>
          </a:solidFill>
          <a:ln w="12700">
            <a:solidFill>
              <a:srgbClr val="DFF5EA"/>
            </a:solidFill>
            <a:prstDash val="solid"/>
          </a:ln>
        </p:spPr>
      </p:sp>
      <p:sp>
        <p:nvSpPr>
          <p:cNvPr id="42" name="Text 38"/>
          <p:cNvSpPr/>
          <p:nvPr/>
        </p:nvSpPr>
        <p:spPr>
          <a:xfrm>
            <a:off x="9921240" y="3264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3" name="Text 39"/>
          <p:cNvSpPr/>
          <p:nvPr/>
        </p:nvSpPr>
        <p:spPr>
          <a:xfrm>
            <a:off x="3749040" y="36576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Web performance</a:t>
            </a:r>
            <a:endParaRPr lang="en-US" sz="1200" dirty="0"/>
          </a:p>
        </p:txBody>
      </p:sp>
      <p:sp>
        <p:nvSpPr>
          <p:cNvPr id="44" name="Shape 40"/>
          <p:cNvSpPr/>
          <p:nvPr/>
        </p:nvSpPr>
        <p:spPr>
          <a:xfrm>
            <a:off x="6675120" y="3785616"/>
            <a:ext cx="2011680" cy="109728"/>
          </a:xfrm>
          <a:prstGeom prst="roundRect">
            <a:avLst>
              <a:gd name="adj" fmla="val 83333"/>
            </a:avLst>
          </a:prstGeom>
          <a:solidFill>
            <a:srgbClr val="E6E9F3"/>
          </a:solidFill>
          <a:ln w="12700">
            <a:solidFill>
              <a:srgbClr val="E6E9F3"/>
            </a:solidFill>
            <a:prstDash val="solid"/>
          </a:ln>
        </p:spPr>
      </p:sp>
      <p:sp>
        <p:nvSpPr>
          <p:cNvPr id="45" name="Shape 41"/>
          <p:cNvSpPr/>
          <p:nvPr/>
        </p:nvSpPr>
        <p:spPr>
          <a:xfrm>
            <a:off x="6675120" y="3785616"/>
            <a:ext cx="2011680" cy="109728"/>
          </a:xfrm>
          <a:prstGeom prst="roundRect">
            <a:avLst>
              <a:gd name="adj" fmla="val 83333"/>
            </a:avLst>
          </a:prstGeom>
          <a:solidFill>
            <a:srgbClr val="0F9D6B"/>
          </a:solidFill>
          <a:ln w="12700">
            <a:solidFill>
              <a:srgbClr val="0F9D6B"/>
            </a:solidFill>
            <a:prstDash val="solid"/>
          </a:ln>
        </p:spPr>
      </p:sp>
      <p:sp>
        <p:nvSpPr>
          <p:cNvPr id="46" name="Text 42"/>
          <p:cNvSpPr/>
          <p:nvPr/>
        </p:nvSpPr>
        <p:spPr>
          <a:xfrm>
            <a:off x="8869680" y="36576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4</a:t>
            </a:r>
            <a:endParaRPr lang="en-US" sz="1100" dirty="0"/>
          </a:p>
        </p:txBody>
      </p:sp>
      <p:sp>
        <p:nvSpPr>
          <p:cNvPr id="47" name="Shape 43"/>
          <p:cNvSpPr/>
          <p:nvPr/>
        </p:nvSpPr>
        <p:spPr>
          <a:xfrm>
            <a:off x="9921240" y="3721608"/>
            <a:ext cx="777240" cy="246888"/>
          </a:xfrm>
          <a:prstGeom prst="roundRect">
            <a:avLst>
              <a:gd name="adj" fmla="val 37037"/>
            </a:avLst>
          </a:prstGeom>
          <a:solidFill>
            <a:srgbClr val="DFF5EA"/>
          </a:solidFill>
          <a:ln w="12700">
            <a:solidFill>
              <a:srgbClr val="DFF5EA"/>
            </a:solidFill>
            <a:prstDash val="solid"/>
          </a:ln>
        </p:spPr>
      </p:sp>
      <p:sp>
        <p:nvSpPr>
          <p:cNvPr id="48" name="Text 44"/>
          <p:cNvSpPr/>
          <p:nvPr/>
        </p:nvSpPr>
        <p:spPr>
          <a:xfrm>
            <a:off x="9921240" y="37216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49" name="Text 45"/>
          <p:cNvSpPr/>
          <p:nvPr/>
        </p:nvSpPr>
        <p:spPr>
          <a:xfrm>
            <a:off x="3749040" y="41148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Design systems</a:t>
            </a:r>
            <a:endParaRPr lang="en-US" sz="1200" dirty="0"/>
          </a:p>
        </p:txBody>
      </p:sp>
      <p:sp>
        <p:nvSpPr>
          <p:cNvPr id="50" name="Shape 46"/>
          <p:cNvSpPr/>
          <p:nvPr/>
        </p:nvSpPr>
        <p:spPr>
          <a:xfrm>
            <a:off x="6675120" y="4242816"/>
            <a:ext cx="2011680" cy="109728"/>
          </a:xfrm>
          <a:prstGeom prst="roundRect">
            <a:avLst>
              <a:gd name="adj" fmla="val 83333"/>
            </a:avLst>
          </a:prstGeom>
          <a:solidFill>
            <a:srgbClr val="E6E9F3"/>
          </a:solidFill>
          <a:ln w="12700">
            <a:solidFill>
              <a:srgbClr val="E6E9F3"/>
            </a:solidFill>
            <a:prstDash val="solid"/>
          </a:ln>
        </p:spPr>
      </p:sp>
      <p:sp>
        <p:nvSpPr>
          <p:cNvPr id="51" name="Shape 47"/>
          <p:cNvSpPr/>
          <p:nvPr/>
        </p:nvSpPr>
        <p:spPr>
          <a:xfrm>
            <a:off x="6675120" y="4242816"/>
            <a:ext cx="1609344" cy="109728"/>
          </a:xfrm>
          <a:prstGeom prst="roundRect">
            <a:avLst>
              <a:gd name="adj" fmla="val 83333"/>
            </a:avLst>
          </a:prstGeom>
          <a:solidFill>
            <a:srgbClr val="B7791F"/>
          </a:solidFill>
          <a:ln w="12700">
            <a:solidFill>
              <a:srgbClr val="B7791F"/>
            </a:solidFill>
            <a:prstDash val="solid"/>
          </a:ln>
        </p:spPr>
      </p:sp>
      <p:sp>
        <p:nvSpPr>
          <p:cNvPr id="52" name="Text 48"/>
          <p:cNvSpPr/>
          <p:nvPr/>
        </p:nvSpPr>
        <p:spPr>
          <a:xfrm>
            <a:off x="8869680" y="41148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4</a:t>
            </a:r>
            <a:endParaRPr lang="en-US" sz="1100" dirty="0"/>
          </a:p>
        </p:txBody>
      </p:sp>
      <p:sp>
        <p:nvSpPr>
          <p:cNvPr id="53" name="Shape 49"/>
          <p:cNvSpPr/>
          <p:nvPr/>
        </p:nvSpPr>
        <p:spPr>
          <a:xfrm>
            <a:off x="9921240" y="4178808"/>
            <a:ext cx="777240" cy="246888"/>
          </a:xfrm>
          <a:prstGeom prst="roundRect">
            <a:avLst>
              <a:gd name="adj" fmla="val 37037"/>
            </a:avLst>
          </a:prstGeom>
          <a:solidFill>
            <a:srgbClr val="FDF0D5"/>
          </a:solidFill>
          <a:ln w="12700">
            <a:solidFill>
              <a:srgbClr val="FDF0D5"/>
            </a:solidFill>
            <a:prstDash val="solid"/>
          </a:ln>
        </p:spPr>
      </p:sp>
      <p:sp>
        <p:nvSpPr>
          <p:cNvPr id="54" name="Text 50"/>
          <p:cNvSpPr/>
          <p:nvPr/>
        </p:nvSpPr>
        <p:spPr>
          <a:xfrm>
            <a:off x="9921240" y="41788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55" name="Text 51"/>
          <p:cNvSpPr/>
          <p:nvPr/>
        </p:nvSpPr>
        <p:spPr>
          <a:xfrm>
            <a:off x="3749040" y="45720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Accessibility (WCAG)</a:t>
            </a:r>
            <a:endParaRPr lang="en-US" sz="1200" dirty="0"/>
          </a:p>
        </p:txBody>
      </p:sp>
      <p:sp>
        <p:nvSpPr>
          <p:cNvPr id="56" name="Shape 52"/>
          <p:cNvSpPr/>
          <p:nvPr/>
        </p:nvSpPr>
        <p:spPr>
          <a:xfrm>
            <a:off x="6675120" y="4700016"/>
            <a:ext cx="2011680" cy="109728"/>
          </a:xfrm>
          <a:prstGeom prst="roundRect">
            <a:avLst>
              <a:gd name="adj" fmla="val 83333"/>
            </a:avLst>
          </a:prstGeom>
          <a:solidFill>
            <a:srgbClr val="E6E9F3"/>
          </a:solidFill>
          <a:ln w="12700">
            <a:solidFill>
              <a:srgbClr val="E6E9F3"/>
            </a:solidFill>
            <a:prstDash val="solid"/>
          </a:ln>
        </p:spPr>
      </p:sp>
      <p:sp>
        <p:nvSpPr>
          <p:cNvPr id="57" name="Shape 53"/>
          <p:cNvSpPr/>
          <p:nvPr/>
        </p:nvSpPr>
        <p:spPr>
          <a:xfrm>
            <a:off x="6675120" y="4700016"/>
            <a:ext cx="1307592" cy="109728"/>
          </a:xfrm>
          <a:prstGeom prst="roundRect">
            <a:avLst>
              <a:gd name="adj" fmla="val 83333"/>
            </a:avLst>
          </a:prstGeom>
          <a:solidFill>
            <a:srgbClr val="B7791F"/>
          </a:solidFill>
          <a:ln w="12700">
            <a:solidFill>
              <a:srgbClr val="B7791F"/>
            </a:solidFill>
            <a:prstDash val="solid"/>
          </a:ln>
        </p:spPr>
      </p:sp>
      <p:sp>
        <p:nvSpPr>
          <p:cNvPr id="58" name="Text 54"/>
          <p:cNvSpPr/>
          <p:nvPr/>
        </p:nvSpPr>
        <p:spPr>
          <a:xfrm>
            <a:off x="8869680" y="45720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1 of 3</a:t>
            </a:r>
            <a:endParaRPr lang="en-US" sz="1100" dirty="0"/>
          </a:p>
        </p:txBody>
      </p:sp>
      <p:sp>
        <p:nvSpPr>
          <p:cNvPr id="59" name="Shape 55"/>
          <p:cNvSpPr/>
          <p:nvPr/>
        </p:nvSpPr>
        <p:spPr>
          <a:xfrm>
            <a:off x="9921240" y="4636008"/>
            <a:ext cx="777240" cy="246888"/>
          </a:xfrm>
          <a:prstGeom prst="roundRect">
            <a:avLst>
              <a:gd name="adj" fmla="val 37037"/>
            </a:avLst>
          </a:prstGeom>
          <a:solidFill>
            <a:srgbClr val="FDF0D5"/>
          </a:solidFill>
          <a:ln w="12700">
            <a:solidFill>
              <a:srgbClr val="FDF0D5"/>
            </a:solidFill>
            <a:prstDash val="solid"/>
          </a:ln>
        </p:spPr>
      </p:sp>
      <p:sp>
        <p:nvSpPr>
          <p:cNvPr id="60" name="Text 56"/>
          <p:cNvSpPr/>
          <p:nvPr/>
        </p:nvSpPr>
        <p:spPr>
          <a:xfrm>
            <a:off x="9921240" y="4636008"/>
            <a:ext cx="777240" cy="246888"/>
          </a:xfrm>
          <a:prstGeom prst="rect">
            <a:avLst/>
          </a:prstGeom>
          <a:noFill/>
          <a:ln/>
        </p:spPr>
        <p:txBody>
          <a:bodyPr wrap="square" lIns="0" tIns="0" rIns="0" bIns="0" rtlCol="0" anchor="ctr"/>
          <a:lstStyle/>
          <a:p>
            <a:pPr algn="ctr" indent="0" marL="0">
              <a:buNone/>
            </a:pPr>
            <a:r>
              <a:rPr lang="en-US" sz="950" b="1" dirty="0">
                <a:solidFill>
                  <a:srgbClr val="B7791F"/>
                </a:solidFill>
                <a:latin typeface="Calibri" pitchFamily="34" charset="0"/>
                <a:ea typeface="Calibri" pitchFamily="34" charset="-122"/>
                <a:cs typeface="Calibri" pitchFamily="34" charset="-120"/>
              </a:rPr>
              <a:t>Partial</a:t>
            </a:r>
            <a:endParaRPr lang="en-US" sz="950" dirty="0"/>
          </a:p>
        </p:txBody>
      </p:sp>
      <p:sp>
        <p:nvSpPr>
          <p:cNvPr id="61" name="Text 57"/>
          <p:cNvSpPr/>
          <p:nvPr/>
        </p:nvSpPr>
        <p:spPr>
          <a:xfrm>
            <a:off x="3749040" y="50292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SAP Commerce Cloud (Hybris)</a:t>
            </a:r>
            <a:endParaRPr lang="en-US" sz="1200" dirty="0"/>
          </a:p>
        </p:txBody>
      </p:sp>
      <p:sp>
        <p:nvSpPr>
          <p:cNvPr id="62" name="Shape 58"/>
          <p:cNvSpPr/>
          <p:nvPr/>
        </p:nvSpPr>
        <p:spPr>
          <a:xfrm>
            <a:off x="6675120" y="5157216"/>
            <a:ext cx="2011680" cy="109728"/>
          </a:xfrm>
          <a:prstGeom prst="roundRect">
            <a:avLst>
              <a:gd name="adj" fmla="val 83333"/>
            </a:avLst>
          </a:prstGeom>
          <a:solidFill>
            <a:srgbClr val="E6E9F3"/>
          </a:solidFill>
          <a:ln w="12700">
            <a:solidFill>
              <a:srgbClr val="E6E9F3"/>
            </a:solidFill>
            <a:prstDash val="solid"/>
          </a:ln>
        </p:spPr>
      </p:sp>
      <p:sp>
        <p:nvSpPr>
          <p:cNvPr id="63" name="Shape 59"/>
          <p:cNvSpPr/>
          <p:nvPr/>
        </p:nvSpPr>
        <p:spPr>
          <a:xfrm>
            <a:off x="6675120" y="5157216"/>
            <a:ext cx="2011680" cy="109728"/>
          </a:xfrm>
          <a:prstGeom prst="roundRect">
            <a:avLst>
              <a:gd name="adj" fmla="val 83333"/>
            </a:avLst>
          </a:prstGeom>
          <a:solidFill>
            <a:srgbClr val="0F9D6B"/>
          </a:solidFill>
          <a:ln w="12700">
            <a:solidFill>
              <a:srgbClr val="0F9D6B"/>
            </a:solidFill>
            <a:prstDash val="solid"/>
          </a:ln>
        </p:spPr>
      </p:sp>
      <p:sp>
        <p:nvSpPr>
          <p:cNvPr id="64" name="Text 60"/>
          <p:cNvSpPr/>
          <p:nvPr/>
        </p:nvSpPr>
        <p:spPr>
          <a:xfrm>
            <a:off x="8869680" y="50292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2 of 6</a:t>
            </a:r>
            <a:endParaRPr lang="en-US" sz="1100" dirty="0"/>
          </a:p>
        </p:txBody>
      </p:sp>
      <p:sp>
        <p:nvSpPr>
          <p:cNvPr id="65" name="Shape 61"/>
          <p:cNvSpPr/>
          <p:nvPr/>
        </p:nvSpPr>
        <p:spPr>
          <a:xfrm>
            <a:off x="9921240" y="5093208"/>
            <a:ext cx="777240" cy="246888"/>
          </a:xfrm>
          <a:prstGeom prst="roundRect">
            <a:avLst>
              <a:gd name="adj" fmla="val 37037"/>
            </a:avLst>
          </a:prstGeom>
          <a:solidFill>
            <a:srgbClr val="DFF5EA"/>
          </a:solidFill>
          <a:ln w="12700">
            <a:solidFill>
              <a:srgbClr val="DFF5EA"/>
            </a:solidFill>
            <a:prstDash val="solid"/>
          </a:ln>
        </p:spPr>
      </p:sp>
      <p:sp>
        <p:nvSpPr>
          <p:cNvPr id="66" name="Text 62"/>
          <p:cNvSpPr/>
          <p:nvPr/>
        </p:nvSpPr>
        <p:spPr>
          <a:xfrm>
            <a:off x="9921240" y="50932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
        <p:nvSpPr>
          <p:cNvPr id="67" name="Text 63"/>
          <p:cNvSpPr/>
          <p:nvPr/>
        </p:nvSpPr>
        <p:spPr>
          <a:xfrm>
            <a:off x="3749040" y="5486400"/>
            <a:ext cx="2834640" cy="365760"/>
          </a:xfrm>
          <a:prstGeom prst="rect">
            <a:avLst/>
          </a:prstGeom>
          <a:noFill/>
          <a:ln/>
        </p:spPr>
        <p:txBody>
          <a:bodyPr wrap="square" lIns="0" tIns="0" rIns="0" bIns="0" rtlCol="0" anchor="ctr"/>
          <a:lstStyle/>
          <a:p>
            <a:pPr indent="0" marL="0">
              <a:buNone/>
            </a:pPr>
            <a:r>
              <a:rPr lang="en-US" sz="1200" b="1" dirty="0">
                <a:solidFill>
                  <a:srgbClr val="111827"/>
                </a:solidFill>
                <a:latin typeface="Calibri" pitchFamily="34" charset="0"/>
                <a:ea typeface="Calibri" pitchFamily="34" charset="-122"/>
                <a:cs typeface="Calibri" pitchFamily="34" charset="-120"/>
              </a:rPr>
              <a:t>Adobe Experience Manager</a:t>
            </a:r>
            <a:endParaRPr lang="en-US" sz="1200" dirty="0"/>
          </a:p>
        </p:txBody>
      </p:sp>
      <p:sp>
        <p:nvSpPr>
          <p:cNvPr id="68" name="Shape 64"/>
          <p:cNvSpPr/>
          <p:nvPr/>
        </p:nvSpPr>
        <p:spPr>
          <a:xfrm>
            <a:off x="6675120" y="5614416"/>
            <a:ext cx="2011680" cy="109728"/>
          </a:xfrm>
          <a:prstGeom prst="roundRect">
            <a:avLst>
              <a:gd name="adj" fmla="val 83333"/>
            </a:avLst>
          </a:prstGeom>
          <a:solidFill>
            <a:srgbClr val="E6E9F3"/>
          </a:solidFill>
          <a:ln w="12700">
            <a:solidFill>
              <a:srgbClr val="E6E9F3"/>
            </a:solidFill>
            <a:prstDash val="solid"/>
          </a:ln>
        </p:spPr>
      </p:sp>
      <p:sp>
        <p:nvSpPr>
          <p:cNvPr id="69" name="Shape 65"/>
          <p:cNvSpPr/>
          <p:nvPr/>
        </p:nvSpPr>
        <p:spPr>
          <a:xfrm>
            <a:off x="6675120" y="5614416"/>
            <a:ext cx="2011680" cy="109728"/>
          </a:xfrm>
          <a:prstGeom prst="roundRect">
            <a:avLst>
              <a:gd name="adj" fmla="val 83333"/>
            </a:avLst>
          </a:prstGeom>
          <a:solidFill>
            <a:srgbClr val="0F9D6B"/>
          </a:solidFill>
          <a:ln w="12700">
            <a:solidFill>
              <a:srgbClr val="0F9D6B"/>
            </a:solidFill>
            <a:prstDash val="solid"/>
          </a:ln>
        </p:spPr>
      </p:sp>
      <p:sp>
        <p:nvSpPr>
          <p:cNvPr id="70" name="Text 66"/>
          <p:cNvSpPr/>
          <p:nvPr/>
        </p:nvSpPr>
        <p:spPr>
          <a:xfrm>
            <a:off x="8869680" y="5486400"/>
            <a:ext cx="1005840" cy="365760"/>
          </a:xfrm>
          <a:prstGeom prst="rect">
            <a:avLst/>
          </a:prstGeom>
          <a:noFill/>
          <a:ln/>
        </p:spPr>
        <p:txBody>
          <a:bodyPr wrap="square" lIns="0" tIns="0" rIns="0" bIns="0" rtlCol="0" anchor="ctr"/>
          <a:lstStyle/>
          <a:p>
            <a:pPr indent="0" marL="0">
              <a:buNone/>
            </a:pPr>
            <a:r>
              <a:rPr lang="en-US" sz="1100" dirty="0">
                <a:solidFill>
                  <a:srgbClr val="111827"/>
                </a:solidFill>
                <a:latin typeface="Calibri" pitchFamily="34" charset="0"/>
                <a:ea typeface="Calibri" pitchFamily="34" charset="-122"/>
                <a:cs typeface="Calibri" pitchFamily="34" charset="-120"/>
              </a:rPr>
              <a:t>3 of 8</a:t>
            </a:r>
            <a:endParaRPr lang="en-US" sz="1100" dirty="0"/>
          </a:p>
        </p:txBody>
      </p:sp>
      <p:sp>
        <p:nvSpPr>
          <p:cNvPr id="71" name="Shape 67"/>
          <p:cNvSpPr/>
          <p:nvPr/>
        </p:nvSpPr>
        <p:spPr>
          <a:xfrm>
            <a:off x="9921240" y="5550408"/>
            <a:ext cx="777240" cy="246888"/>
          </a:xfrm>
          <a:prstGeom prst="roundRect">
            <a:avLst>
              <a:gd name="adj" fmla="val 37037"/>
            </a:avLst>
          </a:prstGeom>
          <a:solidFill>
            <a:srgbClr val="DFF5EA"/>
          </a:solidFill>
          <a:ln w="12700">
            <a:solidFill>
              <a:srgbClr val="DFF5EA"/>
            </a:solidFill>
            <a:prstDash val="solid"/>
          </a:ln>
        </p:spPr>
      </p:sp>
      <p:sp>
        <p:nvSpPr>
          <p:cNvPr id="72" name="Text 68"/>
          <p:cNvSpPr/>
          <p:nvPr/>
        </p:nvSpPr>
        <p:spPr>
          <a:xfrm>
            <a:off x="9921240" y="5550408"/>
            <a:ext cx="777240" cy="246888"/>
          </a:xfrm>
          <a:prstGeom prst="rect">
            <a:avLst/>
          </a:prstGeom>
          <a:noFill/>
          <a:ln/>
        </p:spPr>
        <p:txBody>
          <a:bodyPr wrap="square" lIns="0" tIns="0" rIns="0" bIns="0" rtlCol="0" anchor="ctr"/>
          <a:lstStyle/>
          <a:p>
            <a:pPr algn="ctr" indent="0" marL="0">
              <a:buNone/>
            </a:pPr>
            <a:r>
              <a:rPr lang="en-US" sz="950" b="1" dirty="0">
                <a:solidFill>
                  <a:srgbClr val="0F9D6B"/>
                </a:solidFill>
                <a:latin typeface="Calibri" pitchFamily="34" charset="0"/>
                <a:ea typeface="Calibri" pitchFamily="34" charset="-122"/>
                <a:cs typeface="Calibri" pitchFamily="34" charset="-120"/>
              </a:rPr>
              <a:t>Strong</a:t>
            </a:r>
            <a:endParaRPr lang="en-US" sz="9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PROPOSED TEAM</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team we would put on it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12</a:t>
            </a:r>
            <a:endParaRPr lang="en-US" sz="1000" dirty="0"/>
          </a:p>
        </p:txBody>
      </p:sp>
      <p:sp>
        <p:nvSpPr>
          <p:cNvPr id="11" name="Shape 8"/>
          <p:cNvSpPr/>
          <p:nvPr/>
        </p:nvSpPr>
        <p:spPr>
          <a:xfrm>
            <a:off x="548640" y="1508760"/>
            <a:ext cx="3545738" cy="2148840"/>
          </a:xfrm>
          <a:prstGeom prst="roundRect">
            <a:avLst>
              <a:gd name="adj" fmla="val 4255"/>
            </a:avLst>
          </a:prstGeom>
          <a:solidFill>
            <a:srgbClr val="FFFFFF"/>
          </a:solidFill>
          <a:ln w="12700">
            <a:solidFill>
              <a:srgbClr val="DDE2EE"/>
            </a:solidFill>
            <a:prstDash val="solid"/>
          </a:ln>
        </p:spPr>
      </p:sp>
      <p:sp>
        <p:nvSpPr>
          <p:cNvPr id="12" name="Shape 9"/>
          <p:cNvSpPr/>
          <p:nvPr/>
        </p:nvSpPr>
        <p:spPr>
          <a:xfrm>
            <a:off x="777240" y="1737360"/>
            <a:ext cx="640080" cy="640080"/>
          </a:xfrm>
          <a:prstGeom prst="ellipse">
            <a:avLst/>
          </a:prstGeom>
          <a:solidFill>
            <a:srgbClr val="0F8B8D"/>
          </a:solidFill>
          <a:ln w="12700">
            <a:solidFill>
              <a:srgbClr val="0F8B8D"/>
            </a:solidFill>
            <a:prstDash val="solid"/>
          </a:ln>
        </p:spPr>
      </p:sp>
      <p:sp>
        <p:nvSpPr>
          <p:cNvPr id="13" name="Text 10"/>
          <p:cNvSpPr/>
          <p:nvPr/>
        </p:nvSpPr>
        <p:spPr>
          <a:xfrm>
            <a:off x="777240"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AM</a:t>
            </a:r>
            <a:endParaRPr lang="en-US" sz="1800" dirty="0"/>
          </a:p>
        </p:txBody>
      </p:sp>
      <p:sp>
        <p:nvSpPr>
          <p:cNvPr id="14" name="Text 11"/>
          <p:cNvSpPr/>
          <p:nvPr/>
        </p:nvSpPr>
        <p:spPr>
          <a:xfrm>
            <a:off x="1554480"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Aarav Mehta</a:t>
            </a:r>
            <a:endParaRPr lang="en-US" sz="1500" dirty="0"/>
          </a:p>
        </p:txBody>
      </p:sp>
      <p:sp>
        <p:nvSpPr>
          <p:cNvPr id="15" name="Text 12"/>
          <p:cNvSpPr/>
          <p:nvPr/>
        </p:nvSpPr>
        <p:spPr>
          <a:xfrm>
            <a:off x="1554480"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16" name="Text 13"/>
          <p:cNvSpPr/>
          <p:nvPr/>
        </p:nvSpPr>
        <p:spPr>
          <a:xfrm>
            <a:off x="3225698"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94%</a:t>
            </a:r>
            <a:endParaRPr lang="en-US" sz="2000" dirty="0"/>
          </a:p>
        </p:txBody>
      </p:sp>
      <p:sp>
        <p:nvSpPr>
          <p:cNvPr id="17" name="Text 14"/>
          <p:cNvSpPr/>
          <p:nvPr/>
        </p:nvSpPr>
        <p:spPr>
          <a:xfrm>
            <a:off x="3225698"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18" name="Text 15"/>
          <p:cNvSpPr/>
          <p:nvPr/>
        </p:nvSpPr>
        <p:spPr>
          <a:xfrm>
            <a:off x="777240"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19" name="Text 16"/>
          <p:cNvSpPr/>
          <p:nvPr/>
        </p:nvSpPr>
        <p:spPr>
          <a:xfrm>
            <a:off x="777240"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2026-11-02</a:t>
            </a:r>
            <a:endParaRPr lang="en-US" sz="1050" dirty="0"/>
          </a:p>
        </p:txBody>
      </p:sp>
      <p:sp>
        <p:nvSpPr>
          <p:cNvPr id="20" name="Text 17"/>
          <p:cNvSpPr/>
          <p:nvPr/>
        </p:nvSpPr>
        <p:spPr>
          <a:xfrm>
            <a:off x="777240"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2026-11-02. Needed for nextjs (…</a:t>
            </a:r>
            <a:endParaRPr lang="en-US" sz="900" dirty="0"/>
          </a:p>
        </p:txBody>
      </p:sp>
      <p:sp>
        <p:nvSpPr>
          <p:cNvPr id="21" name="Shape 18"/>
          <p:cNvSpPr/>
          <p:nvPr/>
        </p:nvSpPr>
        <p:spPr>
          <a:xfrm>
            <a:off x="4322978" y="1508760"/>
            <a:ext cx="3545738" cy="2148840"/>
          </a:xfrm>
          <a:prstGeom prst="roundRect">
            <a:avLst>
              <a:gd name="adj" fmla="val 4255"/>
            </a:avLst>
          </a:prstGeom>
          <a:solidFill>
            <a:srgbClr val="FFFFFF"/>
          </a:solidFill>
          <a:ln w="12700">
            <a:solidFill>
              <a:srgbClr val="DDE2EE"/>
            </a:solidFill>
            <a:prstDash val="solid"/>
          </a:ln>
        </p:spPr>
      </p:sp>
      <p:sp>
        <p:nvSpPr>
          <p:cNvPr id="22" name="Shape 19"/>
          <p:cNvSpPr/>
          <p:nvPr/>
        </p:nvSpPr>
        <p:spPr>
          <a:xfrm>
            <a:off x="4551578" y="1737360"/>
            <a:ext cx="640080" cy="640080"/>
          </a:xfrm>
          <a:prstGeom prst="ellipse">
            <a:avLst/>
          </a:prstGeom>
          <a:solidFill>
            <a:srgbClr val="5B3FD0"/>
          </a:solidFill>
          <a:ln w="12700">
            <a:solidFill>
              <a:srgbClr val="5B3FD0"/>
            </a:solidFill>
            <a:prstDash val="solid"/>
          </a:ln>
        </p:spPr>
      </p:sp>
      <p:sp>
        <p:nvSpPr>
          <p:cNvPr id="23" name="Text 20"/>
          <p:cNvSpPr/>
          <p:nvPr/>
        </p:nvSpPr>
        <p:spPr>
          <a:xfrm>
            <a:off x="4551578"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DM</a:t>
            </a:r>
            <a:endParaRPr lang="en-US" sz="1800" dirty="0"/>
          </a:p>
        </p:txBody>
      </p:sp>
      <p:sp>
        <p:nvSpPr>
          <p:cNvPr id="24" name="Text 21"/>
          <p:cNvSpPr/>
          <p:nvPr/>
        </p:nvSpPr>
        <p:spPr>
          <a:xfrm>
            <a:off x="5328818"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Dev Malhotra</a:t>
            </a:r>
            <a:endParaRPr lang="en-US" sz="1500" dirty="0"/>
          </a:p>
        </p:txBody>
      </p:sp>
      <p:sp>
        <p:nvSpPr>
          <p:cNvPr id="25" name="Text 22"/>
          <p:cNvSpPr/>
          <p:nvPr/>
        </p:nvSpPr>
        <p:spPr>
          <a:xfrm>
            <a:off x="5328818"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Senior Frontend Engineer</a:t>
            </a:r>
            <a:endParaRPr lang="en-US" sz="1100" dirty="0"/>
          </a:p>
        </p:txBody>
      </p:sp>
      <p:sp>
        <p:nvSpPr>
          <p:cNvPr id="26" name="Text 23"/>
          <p:cNvSpPr/>
          <p:nvPr/>
        </p:nvSpPr>
        <p:spPr>
          <a:xfrm>
            <a:off x="7000037"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94%</a:t>
            </a:r>
            <a:endParaRPr lang="en-US" sz="2000" dirty="0"/>
          </a:p>
        </p:txBody>
      </p:sp>
      <p:sp>
        <p:nvSpPr>
          <p:cNvPr id="27" name="Text 24"/>
          <p:cNvSpPr/>
          <p:nvPr/>
        </p:nvSpPr>
        <p:spPr>
          <a:xfrm>
            <a:off x="7000037"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28" name="Text 25"/>
          <p:cNvSpPr/>
          <p:nvPr/>
        </p:nvSpPr>
        <p:spPr>
          <a:xfrm>
            <a:off x="4551578"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nextjs · responsive-ui · web-performance</a:t>
            </a:r>
            <a:endParaRPr lang="en-US" sz="1100" dirty="0"/>
          </a:p>
        </p:txBody>
      </p:sp>
      <p:sp>
        <p:nvSpPr>
          <p:cNvPr id="29" name="Text 26"/>
          <p:cNvSpPr/>
          <p:nvPr/>
        </p:nvSpPr>
        <p:spPr>
          <a:xfrm>
            <a:off x="4551578"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5/5 · available from 2026-11-09</a:t>
            </a:r>
            <a:endParaRPr lang="en-US" sz="1050" dirty="0"/>
          </a:p>
        </p:txBody>
      </p:sp>
      <p:sp>
        <p:nvSpPr>
          <p:cNvPr id="30" name="Text 27"/>
          <p:cNvSpPr/>
          <p:nvPr/>
        </p:nvSpPr>
        <p:spPr>
          <a:xfrm>
            <a:off x="4551578"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5/5 in nextjs, responsive-ui, web-performance; free from 2026-11-09. Needed for responsi…</a:t>
            </a:r>
            <a:endParaRPr lang="en-US" sz="900" dirty="0"/>
          </a:p>
        </p:txBody>
      </p:sp>
      <p:sp>
        <p:nvSpPr>
          <p:cNvPr id="31" name="Shape 28"/>
          <p:cNvSpPr/>
          <p:nvPr/>
        </p:nvSpPr>
        <p:spPr>
          <a:xfrm>
            <a:off x="8097317" y="1508760"/>
            <a:ext cx="3545738" cy="2148840"/>
          </a:xfrm>
          <a:prstGeom prst="roundRect">
            <a:avLst>
              <a:gd name="adj" fmla="val 4255"/>
            </a:avLst>
          </a:prstGeom>
          <a:solidFill>
            <a:srgbClr val="FFFFFF"/>
          </a:solidFill>
          <a:ln w="12700">
            <a:solidFill>
              <a:srgbClr val="DDE2EE"/>
            </a:solidFill>
            <a:prstDash val="solid"/>
          </a:ln>
        </p:spPr>
      </p:sp>
      <p:sp>
        <p:nvSpPr>
          <p:cNvPr id="32" name="Shape 29"/>
          <p:cNvSpPr/>
          <p:nvPr/>
        </p:nvSpPr>
        <p:spPr>
          <a:xfrm>
            <a:off x="8325917" y="1737360"/>
            <a:ext cx="640080" cy="640080"/>
          </a:xfrm>
          <a:prstGeom prst="ellipse">
            <a:avLst/>
          </a:prstGeom>
          <a:solidFill>
            <a:srgbClr val="0F8B8D"/>
          </a:solidFill>
          <a:ln w="12700">
            <a:solidFill>
              <a:srgbClr val="0F8B8D"/>
            </a:solidFill>
            <a:prstDash val="solid"/>
          </a:ln>
        </p:spPr>
      </p:sp>
      <p:sp>
        <p:nvSpPr>
          <p:cNvPr id="33" name="Text 30"/>
          <p:cNvSpPr/>
          <p:nvPr/>
        </p:nvSpPr>
        <p:spPr>
          <a:xfrm>
            <a:off x="8325917" y="173736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VD</a:t>
            </a:r>
            <a:endParaRPr lang="en-US" sz="1800" dirty="0"/>
          </a:p>
        </p:txBody>
      </p:sp>
      <p:sp>
        <p:nvSpPr>
          <p:cNvPr id="34" name="Text 31"/>
          <p:cNvSpPr/>
          <p:nvPr/>
        </p:nvSpPr>
        <p:spPr>
          <a:xfrm>
            <a:off x="9103157" y="173736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Vikram Das</a:t>
            </a:r>
            <a:endParaRPr lang="en-US" sz="1500" dirty="0"/>
          </a:p>
        </p:txBody>
      </p:sp>
      <p:sp>
        <p:nvSpPr>
          <p:cNvPr id="35" name="Text 32"/>
          <p:cNvSpPr/>
          <p:nvPr/>
        </p:nvSpPr>
        <p:spPr>
          <a:xfrm>
            <a:off x="9103157" y="205740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Design Systems Engineer</a:t>
            </a:r>
            <a:endParaRPr lang="en-US" sz="1100" dirty="0"/>
          </a:p>
        </p:txBody>
      </p:sp>
      <p:sp>
        <p:nvSpPr>
          <p:cNvPr id="36" name="Text 33"/>
          <p:cNvSpPr/>
          <p:nvPr/>
        </p:nvSpPr>
        <p:spPr>
          <a:xfrm>
            <a:off x="10774375" y="173736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83%</a:t>
            </a:r>
            <a:endParaRPr lang="en-US" sz="2000" dirty="0"/>
          </a:p>
        </p:txBody>
      </p:sp>
      <p:sp>
        <p:nvSpPr>
          <p:cNvPr id="37" name="Text 34"/>
          <p:cNvSpPr/>
          <p:nvPr/>
        </p:nvSpPr>
        <p:spPr>
          <a:xfrm>
            <a:off x="10774375" y="210312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38" name="Text 35"/>
          <p:cNvSpPr/>
          <p:nvPr/>
        </p:nvSpPr>
        <p:spPr>
          <a:xfrm>
            <a:off x="8325917" y="260604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design-systems · nextjs · responsive-ui</a:t>
            </a:r>
            <a:endParaRPr lang="en-US" sz="1100" dirty="0"/>
          </a:p>
        </p:txBody>
      </p:sp>
      <p:sp>
        <p:nvSpPr>
          <p:cNvPr id="39" name="Text 36"/>
          <p:cNvSpPr/>
          <p:nvPr/>
        </p:nvSpPr>
        <p:spPr>
          <a:xfrm>
            <a:off x="8325917" y="297180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40" name="Text 37"/>
          <p:cNvSpPr/>
          <p:nvPr/>
        </p:nvSpPr>
        <p:spPr>
          <a:xfrm>
            <a:off x="8325917" y="322783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design-systems, nextjs, responsive-ui; free from 2026-11-02. Needed for design-sy…</a:t>
            </a:r>
            <a:endParaRPr lang="en-US" sz="900" dirty="0"/>
          </a:p>
        </p:txBody>
      </p:sp>
      <p:sp>
        <p:nvSpPr>
          <p:cNvPr id="41" name="Shape 38"/>
          <p:cNvSpPr/>
          <p:nvPr/>
        </p:nvSpPr>
        <p:spPr>
          <a:xfrm>
            <a:off x="548640" y="3886200"/>
            <a:ext cx="3545738" cy="2148840"/>
          </a:xfrm>
          <a:prstGeom prst="roundRect">
            <a:avLst>
              <a:gd name="adj" fmla="val 4255"/>
            </a:avLst>
          </a:prstGeom>
          <a:solidFill>
            <a:srgbClr val="FFFFFF"/>
          </a:solidFill>
          <a:ln w="12700">
            <a:solidFill>
              <a:srgbClr val="DDE2EE"/>
            </a:solidFill>
            <a:prstDash val="solid"/>
          </a:ln>
        </p:spPr>
      </p:sp>
      <p:sp>
        <p:nvSpPr>
          <p:cNvPr id="42" name="Shape 39"/>
          <p:cNvSpPr/>
          <p:nvPr/>
        </p:nvSpPr>
        <p:spPr>
          <a:xfrm>
            <a:off x="777240" y="4114800"/>
            <a:ext cx="640080" cy="640080"/>
          </a:xfrm>
          <a:prstGeom prst="ellipse">
            <a:avLst/>
          </a:prstGeom>
          <a:solidFill>
            <a:srgbClr val="2A6CF0"/>
          </a:solidFill>
          <a:ln w="12700">
            <a:solidFill>
              <a:srgbClr val="2A6CF0"/>
            </a:solidFill>
            <a:prstDash val="solid"/>
          </a:ln>
        </p:spPr>
      </p:sp>
      <p:sp>
        <p:nvSpPr>
          <p:cNvPr id="43" name="Text 40"/>
          <p:cNvSpPr/>
          <p:nvPr/>
        </p:nvSpPr>
        <p:spPr>
          <a:xfrm>
            <a:off x="777240"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KS</a:t>
            </a:r>
            <a:endParaRPr lang="en-US" sz="1800" dirty="0"/>
          </a:p>
        </p:txBody>
      </p:sp>
      <p:sp>
        <p:nvSpPr>
          <p:cNvPr id="44" name="Text 41"/>
          <p:cNvSpPr/>
          <p:nvPr/>
        </p:nvSpPr>
        <p:spPr>
          <a:xfrm>
            <a:off x="1554480"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Karan Shah</a:t>
            </a:r>
            <a:endParaRPr lang="en-US" sz="1500" dirty="0"/>
          </a:p>
        </p:txBody>
      </p:sp>
      <p:sp>
        <p:nvSpPr>
          <p:cNvPr id="45" name="Text 42"/>
          <p:cNvSpPr/>
          <p:nvPr/>
        </p:nvSpPr>
        <p:spPr>
          <a:xfrm>
            <a:off x="1554480"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Performance Engineer</a:t>
            </a:r>
            <a:endParaRPr lang="en-US" sz="1100" dirty="0"/>
          </a:p>
        </p:txBody>
      </p:sp>
      <p:sp>
        <p:nvSpPr>
          <p:cNvPr id="46" name="Text 43"/>
          <p:cNvSpPr/>
          <p:nvPr/>
        </p:nvSpPr>
        <p:spPr>
          <a:xfrm>
            <a:off x="3225698"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75%</a:t>
            </a:r>
            <a:endParaRPr lang="en-US" sz="2000" dirty="0"/>
          </a:p>
        </p:txBody>
      </p:sp>
      <p:sp>
        <p:nvSpPr>
          <p:cNvPr id="47" name="Text 44"/>
          <p:cNvSpPr/>
          <p:nvPr/>
        </p:nvSpPr>
        <p:spPr>
          <a:xfrm>
            <a:off x="3225698"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48" name="Text 45"/>
          <p:cNvSpPr/>
          <p:nvPr/>
        </p:nvSpPr>
        <p:spPr>
          <a:xfrm>
            <a:off x="777240"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web-performance · devops-cdn · nextjs</a:t>
            </a:r>
            <a:endParaRPr lang="en-US" sz="1100" dirty="0"/>
          </a:p>
        </p:txBody>
      </p:sp>
      <p:sp>
        <p:nvSpPr>
          <p:cNvPr id="49" name="Text 46"/>
          <p:cNvSpPr/>
          <p:nvPr/>
        </p:nvSpPr>
        <p:spPr>
          <a:xfrm>
            <a:off x="777240"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50" name="Text 47"/>
          <p:cNvSpPr/>
          <p:nvPr/>
        </p:nvSpPr>
        <p:spPr>
          <a:xfrm>
            <a:off x="777240"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web-performance, devops-cdn, nextjs; free from 2026-11-02. Needed for web-perform…</a:t>
            </a:r>
            <a:endParaRPr lang="en-US" sz="900" dirty="0"/>
          </a:p>
        </p:txBody>
      </p:sp>
      <p:sp>
        <p:nvSpPr>
          <p:cNvPr id="51" name="Shape 48"/>
          <p:cNvSpPr/>
          <p:nvPr/>
        </p:nvSpPr>
        <p:spPr>
          <a:xfrm>
            <a:off x="4322978" y="3886200"/>
            <a:ext cx="3545738" cy="2148840"/>
          </a:xfrm>
          <a:prstGeom prst="roundRect">
            <a:avLst>
              <a:gd name="adj" fmla="val 4255"/>
            </a:avLst>
          </a:prstGeom>
          <a:solidFill>
            <a:srgbClr val="FFFFFF"/>
          </a:solidFill>
          <a:ln w="12700">
            <a:solidFill>
              <a:srgbClr val="DDE2EE"/>
            </a:solidFill>
            <a:prstDash val="solid"/>
          </a:ln>
        </p:spPr>
      </p:sp>
      <p:sp>
        <p:nvSpPr>
          <p:cNvPr id="52" name="Shape 49"/>
          <p:cNvSpPr/>
          <p:nvPr/>
        </p:nvSpPr>
        <p:spPr>
          <a:xfrm>
            <a:off x="4551578" y="4114800"/>
            <a:ext cx="640080" cy="640080"/>
          </a:xfrm>
          <a:prstGeom prst="ellipse">
            <a:avLst/>
          </a:prstGeom>
          <a:solidFill>
            <a:srgbClr val="0F8B8D"/>
          </a:solidFill>
          <a:ln w="12700">
            <a:solidFill>
              <a:srgbClr val="0F8B8D"/>
            </a:solidFill>
            <a:prstDash val="solid"/>
          </a:ln>
        </p:spPr>
      </p:sp>
      <p:sp>
        <p:nvSpPr>
          <p:cNvPr id="53" name="Text 50"/>
          <p:cNvSpPr/>
          <p:nvPr/>
        </p:nvSpPr>
        <p:spPr>
          <a:xfrm>
            <a:off x="4551578"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AR</a:t>
            </a:r>
            <a:endParaRPr lang="en-US" sz="1800" dirty="0"/>
          </a:p>
        </p:txBody>
      </p:sp>
      <p:sp>
        <p:nvSpPr>
          <p:cNvPr id="54" name="Text 51"/>
          <p:cNvSpPr/>
          <p:nvPr/>
        </p:nvSpPr>
        <p:spPr>
          <a:xfrm>
            <a:off x="5328818"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Ananya Rao</a:t>
            </a:r>
            <a:endParaRPr lang="en-US" sz="1500" dirty="0"/>
          </a:p>
        </p:txBody>
      </p:sp>
      <p:sp>
        <p:nvSpPr>
          <p:cNvPr id="55" name="Text 52"/>
          <p:cNvSpPr/>
          <p:nvPr/>
        </p:nvSpPr>
        <p:spPr>
          <a:xfrm>
            <a:off x="5328818"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UX Designer</a:t>
            </a:r>
            <a:endParaRPr lang="en-US" sz="1100" dirty="0"/>
          </a:p>
        </p:txBody>
      </p:sp>
      <p:sp>
        <p:nvSpPr>
          <p:cNvPr id="56" name="Text 53"/>
          <p:cNvSpPr/>
          <p:nvPr/>
        </p:nvSpPr>
        <p:spPr>
          <a:xfrm>
            <a:off x="7000037"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70%</a:t>
            </a:r>
            <a:endParaRPr lang="en-US" sz="2000" dirty="0"/>
          </a:p>
        </p:txBody>
      </p:sp>
      <p:sp>
        <p:nvSpPr>
          <p:cNvPr id="57" name="Text 54"/>
          <p:cNvSpPr/>
          <p:nvPr/>
        </p:nvSpPr>
        <p:spPr>
          <a:xfrm>
            <a:off x="7000037"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58" name="Text 55"/>
          <p:cNvSpPr/>
          <p:nvPr/>
        </p:nvSpPr>
        <p:spPr>
          <a:xfrm>
            <a:off x="4551578"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ux-design · design-systems</a:t>
            </a:r>
            <a:endParaRPr lang="en-US" sz="1100" dirty="0"/>
          </a:p>
        </p:txBody>
      </p:sp>
      <p:sp>
        <p:nvSpPr>
          <p:cNvPr id="59" name="Text 56"/>
          <p:cNvSpPr/>
          <p:nvPr/>
        </p:nvSpPr>
        <p:spPr>
          <a:xfrm>
            <a:off x="4551578"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2026-11-02</a:t>
            </a:r>
            <a:endParaRPr lang="en-US" sz="1050" dirty="0"/>
          </a:p>
        </p:txBody>
      </p:sp>
      <p:sp>
        <p:nvSpPr>
          <p:cNvPr id="60" name="Text 57"/>
          <p:cNvSpPr/>
          <p:nvPr/>
        </p:nvSpPr>
        <p:spPr>
          <a:xfrm>
            <a:off x="4551578"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ux-design, design-systems; free from 2026-11-02. Needed for ux-design (weight 1.0…</a:t>
            </a:r>
            <a:endParaRPr lang="en-US" sz="900" dirty="0"/>
          </a:p>
        </p:txBody>
      </p:sp>
      <p:sp>
        <p:nvSpPr>
          <p:cNvPr id="61" name="Shape 58"/>
          <p:cNvSpPr/>
          <p:nvPr/>
        </p:nvSpPr>
        <p:spPr>
          <a:xfrm>
            <a:off x="8097317" y="3886200"/>
            <a:ext cx="3545738" cy="2148840"/>
          </a:xfrm>
          <a:prstGeom prst="roundRect">
            <a:avLst>
              <a:gd name="adj" fmla="val 4255"/>
            </a:avLst>
          </a:prstGeom>
          <a:solidFill>
            <a:srgbClr val="FFFFFF"/>
          </a:solidFill>
          <a:ln w="12700">
            <a:solidFill>
              <a:srgbClr val="DDE2EE"/>
            </a:solidFill>
            <a:prstDash val="solid"/>
          </a:ln>
        </p:spPr>
      </p:sp>
      <p:sp>
        <p:nvSpPr>
          <p:cNvPr id="62" name="Shape 59"/>
          <p:cNvSpPr/>
          <p:nvPr/>
        </p:nvSpPr>
        <p:spPr>
          <a:xfrm>
            <a:off x="8325917" y="4114800"/>
            <a:ext cx="640080" cy="640080"/>
          </a:xfrm>
          <a:prstGeom prst="ellipse">
            <a:avLst/>
          </a:prstGeom>
          <a:solidFill>
            <a:srgbClr val="5B3FD0"/>
          </a:solidFill>
          <a:ln w="12700">
            <a:solidFill>
              <a:srgbClr val="5B3FD0"/>
            </a:solidFill>
            <a:prstDash val="solid"/>
          </a:ln>
        </p:spPr>
      </p:sp>
      <p:sp>
        <p:nvSpPr>
          <p:cNvPr id="63" name="Text 60"/>
          <p:cNvSpPr/>
          <p:nvPr/>
        </p:nvSpPr>
        <p:spPr>
          <a:xfrm>
            <a:off x="8325917" y="4114800"/>
            <a:ext cx="640080" cy="640080"/>
          </a:xfrm>
          <a:prstGeom prst="rect">
            <a:avLst/>
          </a:prstGeom>
          <a:noFill/>
          <a:ln/>
        </p:spPr>
        <p:txBody>
          <a:bodyPr wrap="square" lIns="0" tIns="0" rIns="0" bIns="0" rtlCol="0" anchor="ctr"/>
          <a:lstStyle/>
          <a:p>
            <a:pPr algn="ctr" indent="0" marL="0">
              <a:buNone/>
            </a:pPr>
            <a:r>
              <a:rPr lang="en-US" sz="1800" b="1" dirty="0">
                <a:solidFill>
                  <a:srgbClr val="FFFFFF"/>
                </a:solidFill>
                <a:latin typeface="Calibri" pitchFamily="34" charset="0"/>
                <a:ea typeface="Calibri" pitchFamily="34" charset="-122"/>
                <a:cs typeface="Calibri" pitchFamily="34" charset="-120"/>
              </a:rPr>
              <a:t>IP</a:t>
            </a:r>
            <a:endParaRPr lang="en-US" sz="1800" dirty="0"/>
          </a:p>
        </p:txBody>
      </p:sp>
      <p:sp>
        <p:nvSpPr>
          <p:cNvPr id="64" name="Text 61"/>
          <p:cNvSpPr/>
          <p:nvPr/>
        </p:nvSpPr>
        <p:spPr>
          <a:xfrm>
            <a:off x="9103157" y="4114800"/>
            <a:ext cx="1716938" cy="320040"/>
          </a:xfrm>
          <a:prstGeom prst="rect">
            <a:avLst/>
          </a:prstGeom>
          <a:noFill/>
          <a:ln/>
        </p:spPr>
        <p:txBody>
          <a:bodyPr wrap="square" lIns="0" tIns="0" rIns="0" bIns="0" rtlCol="0" anchor="t"/>
          <a:lstStyle/>
          <a:p>
            <a:pPr indent="0" marL="0">
              <a:buNone/>
            </a:pPr>
            <a:r>
              <a:rPr lang="en-US" sz="1500" b="1" dirty="0">
                <a:solidFill>
                  <a:srgbClr val="111827"/>
                </a:solidFill>
                <a:latin typeface="Calibri" pitchFamily="34" charset="0"/>
                <a:ea typeface="Calibri" pitchFamily="34" charset="-122"/>
                <a:cs typeface="Calibri" pitchFamily="34" charset="-120"/>
              </a:rPr>
              <a:t>Isha Patel</a:t>
            </a:r>
            <a:endParaRPr lang="en-US" sz="1500" dirty="0"/>
          </a:p>
        </p:txBody>
      </p:sp>
      <p:sp>
        <p:nvSpPr>
          <p:cNvPr id="65" name="Text 62"/>
          <p:cNvSpPr/>
          <p:nvPr/>
        </p:nvSpPr>
        <p:spPr>
          <a:xfrm>
            <a:off x="9103157" y="4434840"/>
            <a:ext cx="1716938" cy="27432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QA Automation Engineer</a:t>
            </a:r>
            <a:endParaRPr lang="en-US" sz="1100" dirty="0"/>
          </a:p>
        </p:txBody>
      </p:sp>
      <p:sp>
        <p:nvSpPr>
          <p:cNvPr id="66" name="Text 63"/>
          <p:cNvSpPr/>
          <p:nvPr/>
        </p:nvSpPr>
        <p:spPr>
          <a:xfrm>
            <a:off x="10774375" y="4114800"/>
            <a:ext cx="685800" cy="365760"/>
          </a:xfrm>
          <a:prstGeom prst="rect">
            <a:avLst/>
          </a:prstGeom>
          <a:noFill/>
          <a:ln/>
        </p:spPr>
        <p:txBody>
          <a:bodyPr wrap="square" lIns="0" tIns="0" rIns="0" bIns="0" rtlCol="0" anchor="t"/>
          <a:lstStyle/>
          <a:p>
            <a:pPr algn="r" indent="0" marL="0">
              <a:buNone/>
            </a:pPr>
            <a:r>
              <a:rPr lang="en-US" sz="2000" b="1" dirty="0">
                <a:solidFill>
                  <a:srgbClr val="1428A0"/>
                </a:solidFill>
                <a:latin typeface="Calibri" pitchFamily="34" charset="0"/>
                <a:ea typeface="Calibri" pitchFamily="34" charset="-122"/>
                <a:cs typeface="Calibri" pitchFamily="34" charset="-120"/>
              </a:rPr>
              <a:t>70%</a:t>
            </a:r>
            <a:endParaRPr lang="en-US" sz="2000" dirty="0"/>
          </a:p>
        </p:txBody>
      </p:sp>
      <p:sp>
        <p:nvSpPr>
          <p:cNvPr id="67" name="Text 64"/>
          <p:cNvSpPr/>
          <p:nvPr/>
        </p:nvSpPr>
        <p:spPr>
          <a:xfrm>
            <a:off x="10774375" y="4480560"/>
            <a:ext cx="685800" cy="228600"/>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fit</a:t>
            </a:r>
            <a:endParaRPr lang="en-US" sz="1000" dirty="0"/>
          </a:p>
        </p:txBody>
      </p:sp>
      <p:sp>
        <p:nvSpPr>
          <p:cNvPr id="68" name="Text 65"/>
          <p:cNvSpPr/>
          <p:nvPr/>
        </p:nvSpPr>
        <p:spPr>
          <a:xfrm>
            <a:off x="8325917" y="4983480"/>
            <a:ext cx="3088538" cy="320040"/>
          </a:xfrm>
          <a:prstGeom prst="rect">
            <a:avLst/>
          </a:prstGeom>
          <a:noFill/>
          <a:ln/>
        </p:spPr>
        <p:txBody>
          <a:bodyPr wrap="square" lIns="0" tIns="0" rIns="0" bIns="0" rtlCol="0" anchor="t"/>
          <a:lstStyle/>
          <a:p>
            <a:pPr indent="0" marL="0">
              <a:buNone/>
            </a:pPr>
            <a:r>
              <a:rPr lang="en-US" sz="1100" dirty="0">
                <a:solidFill>
                  <a:srgbClr val="111827"/>
                </a:solidFill>
                <a:latin typeface="Calibri" pitchFamily="34" charset="0"/>
                <a:ea typeface="Calibri" pitchFamily="34" charset="-122"/>
                <a:cs typeface="Calibri" pitchFamily="34" charset="-120"/>
              </a:rPr>
              <a:t>qa-testing · a11y</a:t>
            </a:r>
            <a:endParaRPr lang="en-US" sz="1100" dirty="0"/>
          </a:p>
        </p:txBody>
      </p:sp>
      <p:sp>
        <p:nvSpPr>
          <p:cNvPr id="69" name="Text 66"/>
          <p:cNvSpPr/>
          <p:nvPr/>
        </p:nvSpPr>
        <p:spPr>
          <a:xfrm>
            <a:off x="8325917" y="5349240"/>
            <a:ext cx="3088538" cy="274320"/>
          </a:xfrm>
          <a:prstGeom prst="rect">
            <a:avLst/>
          </a:prstGeom>
          <a:noFill/>
          <a:ln/>
        </p:spPr>
        <p:txBody>
          <a:bodyPr wrap="square" lIns="0" tIns="0" rIns="0" bIns="0" rtlCol="0" anchor="t"/>
          <a:lstStyle/>
          <a:p>
            <a:pPr indent="0" marL="0">
              <a:buNone/>
            </a:pPr>
            <a:r>
              <a:rPr lang="en-US" sz="1050" dirty="0">
                <a:solidFill>
                  <a:srgbClr val="5B6477"/>
                </a:solidFill>
                <a:latin typeface="Calibri" pitchFamily="34" charset="0"/>
                <a:ea typeface="Calibri" pitchFamily="34" charset="-122"/>
                <a:cs typeface="Calibri" pitchFamily="34" charset="-120"/>
              </a:rPr>
              <a:t>Level 4/5 · available from 2026-11-09</a:t>
            </a:r>
            <a:endParaRPr lang="en-US" sz="1050" dirty="0"/>
          </a:p>
        </p:txBody>
      </p:sp>
      <p:sp>
        <p:nvSpPr>
          <p:cNvPr id="70" name="Text 67"/>
          <p:cNvSpPr/>
          <p:nvPr/>
        </p:nvSpPr>
        <p:spPr>
          <a:xfrm>
            <a:off x="8325917" y="5605272"/>
            <a:ext cx="3088538" cy="365760"/>
          </a:xfrm>
          <a:prstGeom prst="rect">
            <a:avLst/>
          </a:prstGeom>
          <a:noFill/>
          <a:ln/>
        </p:spPr>
        <p:txBody>
          <a:bodyPr wrap="square" lIns="0" tIns="0" rIns="0" bIns="0" rtlCol="0" anchor="t"/>
          <a:lstStyle/>
          <a:p>
            <a:pPr indent="0" marL="0">
              <a:buNone/>
            </a:pPr>
            <a:r>
              <a:rPr lang="en-US" sz="900" dirty="0">
                <a:solidFill>
                  <a:srgbClr val="5B6477"/>
                </a:solidFill>
                <a:latin typeface="Calibri" pitchFamily="34" charset="0"/>
                <a:ea typeface="Calibri" pitchFamily="34" charset="-122"/>
                <a:cs typeface="Calibri" pitchFamily="34" charset="-120"/>
              </a:rPr>
              <a:t>Level 4/5 in qa-testing, a11y; free from 2026-11-09. Needed for qa-testing (weight 1.0).</a:t>
            </a:r>
            <a:endParaRPr lang="en-US" sz="9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The plan: effort and timeline</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13</a:t>
            </a:r>
            <a:endParaRPr lang="en-US" sz="1000" dirty="0"/>
          </a:p>
        </p:txBody>
      </p:sp>
      <p:sp>
        <p:nvSpPr>
          <p:cNvPr id="11" name="Text 8"/>
          <p:cNvSpPr/>
          <p:nvPr/>
        </p:nvSpPr>
        <p:spPr>
          <a:xfrm>
            <a:off x="548640" y="146304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EFFORT BY WORKSTREAM (PERSON-DAYS)</a:t>
            </a:r>
            <a:endParaRPr lang="en-US" sz="1000" dirty="0"/>
          </a:p>
        </p:txBody>
      </p:sp>
      <p:sp>
        <p:nvSpPr>
          <p:cNvPr id="12" name="Shape 9"/>
          <p:cNvSpPr/>
          <p:nvPr/>
        </p:nvSpPr>
        <p:spPr>
          <a:xfrm>
            <a:off x="548640" y="1783080"/>
            <a:ext cx="1325545" cy="365760"/>
          </a:xfrm>
          <a:prstGeom prst="rect">
            <a:avLst/>
          </a:prstGeom>
          <a:solidFill>
            <a:srgbClr val="1428A0"/>
          </a:solidFill>
          <a:ln w="12700">
            <a:solidFill>
              <a:srgbClr val="1428A0"/>
            </a:solidFill>
            <a:prstDash val="solid"/>
          </a:ln>
        </p:spPr>
      </p:sp>
      <p:sp>
        <p:nvSpPr>
          <p:cNvPr id="13" name="Shape 10"/>
          <p:cNvSpPr/>
          <p:nvPr/>
        </p:nvSpPr>
        <p:spPr>
          <a:xfrm>
            <a:off x="1901617" y="1783080"/>
            <a:ext cx="2858920" cy="365760"/>
          </a:xfrm>
          <a:prstGeom prst="rect">
            <a:avLst/>
          </a:prstGeom>
          <a:solidFill>
            <a:srgbClr val="2A6CF0"/>
          </a:solidFill>
          <a:ln w="12700">
            <a:solidFill>
              <a:srgbClr val="2A6CF0"/>
            </a:solidFill>
            <a:prstDash val="solid"/>
          </a:ln>
        </p:spPr>
      </p:sp>
      <p:sp>
        <p:nvSpPr>
          <p:cNvPr id="14" name="Shape 11"/>
          <p:cNvSpPr/>
          <p:nvPr/>
        </p:nvSpPr>
        <p:spPr>
          <a:xfrm>
            <a:off x="4787969" y="1783080"/>
            <a:ext cx="964751" cy="365760"/>
          </a:xfrm>
          <a:prstGeom prst="rect">
            <a:avLst/>
          </a:prstGeom>
          <a:solidFill>
            <a:srgbClr val="0F8B8D"/>
          </a:solidFill>
          <a:ln w="12700">
            <a:solidFill>
              <a:srgbClr val="0F8B8D"/>
            </a:solidFill>
            <a:prstDash val="solid"/>
          </a:ln>
        </p:spPr>
      </p:sp>
      <p:sp>
        <p:nvSpPr>
          <p:cNvPr id="15" name="Shape 12"/>
          <p:cNvSpPr/>
          <p:nvPr/>
        </p:nvSpPr>
        <p:spPr>
          <a:xfrm>
            <a:off x="5780153" y="1783080"/>
            <a:ext cx="2498126" cy="365760"/>
          </a:xfrm>
          <a:prstGeom prst="rect">
            <a:avLst/>
          </a:prstGeom>
          <a:solidFill>
            <a:srgbClr val="5B3FD0"/>
          </a:solidFill>
          <a:ln w="12700">
            <a:solidFill>
              <a:srgbClr val="5B3FD0"/>
            </a:solidFill>
            <a:prstDash val="solid"/>
          </a:ln>
        </p:spPr>
      </p:sp>
      <p:sp>
        <p:nvSpPr>
          <p:cNvPr id="16" name="Shape 13"/>
          <p:cNvSpPr/>
          <p:nvPr/>
        </p:nvSpPr>
        <p:spPr>
          <a:xfrm>
            <a:off x="8305711" y="1783080"/>
            <a:ext cx="1054950" cy="365760"/>
          </a:xfrm>
          <a:prstGeom prst="rect">
            <a:avLst/>
          </a:prstGeom>
          <a:solidFill>
            <a:srgbClr val="D99A1B"/>
          </a:solidFill>
          <a:ln w="12700">
            <a:solidFill>
              <a:srgbClr val="D99A1B"/>
            </a:solidFill>
            <a:prstDash val="solid"/>
          </a:ln>
        </p:spPr>
      </p:sp>
      <p:sp>
        <p:nvSpPr>
          <p:cNvPr id="17" name="Shape 14"/>
          <p:cNvSpPr/>
          <p:nvPr/>
        </p:nvSpPr>
        <p:spPr>
          <a:xfrm>
            <a:off x="9388093" y="1783080"/>
            <a:ext cx="1325545" cy="365760"/>
          </a:xfrm>
          <a:prstGeom prst="rect">
            <a:avLst/>
          </a:prstGeom>
          <a:solidFill>
            <a:srgbClr val="E0457B"/>
          </a:solidFill>
          <a:ln w="12700">
            <a:solidFill>
              <a:srgbClr val="E0457B"/>
            </a:solidFill>
            <a:prstDash val="solid"/>
          </a:ln>
        </p:spPr>
      </p:sp>
      <p:sp>
        <p:nvSpPr>
          <p:cNvPr id="18" name="Shape 15"/>
          <p:cNvSpPr/>
          <p:nvPr/>
        </p:nvSpPr>
        <p:spPr>
          <a:xfrm>
            <a:off x="10741070" y="1783080"/>
            <a:ext cx="874553" cy="365760"/>
          </a:xfrm>
          <a:prstGeom prst="rect">
            <a:avLst/>
          </a:prstGeom>
          <a:solidFill>
            <a:srgbClr val="8892B0"/>
          </a:solidFill>
          <a:ln w="12700">
            <a:solidFill>
              <a:srgbClr val="8892B0"/>
            </a:solidFill>
            <a:prstDash val="solid"/>
          </a:ln>
        </p:spPr>
      </p:sp>
      <p:sp>
        <p:nvSpPr>
          <p:cNvPr id="19" name="Shape 16"/>
          <p:cNvSpPr/>
          <p:nvPr/>
        </p:nvSpPr>
        <p:spPr>
          <a:xfrm>
            <a:off x="548640" y="2350008"/>
            <a:ext cx="128016" cy="128016"/>
          </a:xfrm>
          <a:prstGeom prst="rect">
            <a:avLst/>
          </a:prstGeom>
          <a:solidFill>
            <a:srgbClr val="1428A0"/>
          </a:solidFill>
          <a:ln w="12700">
            <a:solidFill>
              <a:srgbClr val="1428A0"/>
            </a:solidFill>
            <a:prstDash val="solid"/>
          </a:ln>
        </p:spPr>
      </p:sp>
      <p:sp>
        <p:nvSpPr>
          <p:cNvPr id="20" name="Text 17"/>
          <p:cNvSpPr/>
          <p:nvPr/>
        </p:nvSpPr>
        <p:spPr>
          <a:xfrm>
            <a:off x="77724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Homepage rebuild (design + front end)  ·  15 d (12%)</a:t>
            </a:r>
            <a:endParaRPr lang="en-US" sz="1050" dirty="0"/>
          </a:p>
        </p:txBody>
      </p:sp>
      <p:sp>
        <p:nvSpPr>
          <p:cNvPr id="21" name="Shape 18"/>
          <p:cNvSpPr/>
          <p:nvPr/>
        </p:nvSpPr>
        <p:spPr>
          <a:xfrm>
            <a:off x="6126480" y="2350008"/>
            <a:ext cx="128016" cy="128016"/>
          </a:xfrm>
          <a:prstGeom prst="rect">
            <a:avLst/>
          </a:prstGeom>
          <a:solidFill>
            <a:srgbClr val="2A6CF0"/>
          </a:solidFill>
          <a:ln w="12700">
            <a:solidFill>
              <a:srgbClr val="2A6CF0"/>
            </a:solidFill>
            <a:prstDash val="solid"/>
          </a:ln>
        </p:spPr>
      </p:sp>
      <p:sp>
        <p:nvSpPr>
          <p:cNvPr id="22" name="Text 19"/>
          <p:cNvSpPr/>
          <p:nvPr/>
        </p:nvSpPr>
        <p:spPr>
          <a:xfrm>
            <a:off x="6355080" y="228600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Performance engineering  ·  32 d (26%)</a:t>
            </a:r>
            <a:endParaRPr lang="en-US" sz="1050" dirty="0"/>
          </a:p>
        </p:txBody>
      </p:sp>
      <p:sp>
        <p:nvSpPr>
          <p:cNvPr id="23" name="Shape 20"/>
          <p:cNvSpPr/>
          <p:nvPr/>
        </p:nvSpPr>
        <p:spPr>
          <a:xfrm>
            <a:off x="548640" y="2624328"/>
            <a:ext cx="128016" cy="128016"/>
          </a:xfrm>
          <a:prstGeom prst="rect">
            <a:avLst/>
          </a:prstGeom>
          <a:solidFill>
            <a:srgbClr val="0F8B8D"/>
          </a:solidFill>
          <a:ln w="12700">
            <a:solidFill>
              <a:srgbClr val="0F8B8D"/>
            </a:solidFill>
            <a:prstDash val="solid"/>
          </a:ln>
        </p:spPr>
      </p:sp>
      <p:sp>
        <p:nvSpPr>
          <p:cNvPr id="24" name="Text 21"/>
          <p:cNvSpPr/>
          <p:nvPr/>
        </p:nvSpPr>
        <p:spPr>
          <a:xfrm>
            <a:off x="77724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Responsive &amp; mobile fixes  ·  11 d (9%)</a:t>
            </a:r>
            <a:endParaRPr lang="en-US" sz="1050" dirty="0"/>
          </a:p>
        </p:txBody>
      </p:sp>
      <p:sp>
        <p:nvSpPr>
          <p:cNvPr id="25" name="Shape 22"/>
          <p:cNvSpPr/>
          <p:nvPr/>
        </p:nvSpPr>
        <p:spPr>
          <a:xfrm>
            <a:off x="6126480" y="2624328"/>
            <a:ext cx="128016" cy="128016"/>
          </a:xfrm>
          <a:prstGeom prst="rect">
            <a:avLst/>
          </a:prstGeom>
          <a:solidFill>
            <a:srgbClr val="5B3FD0"/>
          </a:solidFill>
          <a:ln w="12700">
            <a:solidFill>
              <a:srgbClr val="5B3FD0"/>
            </a:solidFill>
            <a:prstDash val="solid"/>
          </a:ln>
        </p:spPr>
      </p:sp>
      <p:sp>
        <p:nvSpPr>
          <p:cNvPr id="26" name="Text 23"/>
          <p:cNvSpPr/>
          <p:nvPr/>
        </p:nvSpPr>
        <p:spPr>
          <a:xfrm>
            <a:off x="6355080" y="256032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Accessibility remediation  ·  28 d (23%)</a:t>
            </a:r>
            <a:endParaRPr lang="en-US" sz="1050" dirty="0"/>
          </a:p>
        </p:txBody>
      </p:sp>
      <p:sp>
        <p:nvSpPr>
          <p:cNvPr id="27" name="Shape 24"/>
          <p:cNvSpPr/>
          <p:nvPr/>
        </p:nvSpPr>
        <p:spPr>
          <a:xfrm>
            <a:off x="548640" y="2898648"/>
            <a:ext cx="128016" cy="128016"/>
          </a:xfrm>
          <a:prstGeom prst="rect">
            <a:avLst/>
          </a:prstGeom>
          <a:solidFill>
            <a:srgbClr val="D99A1B"/>
          </a:solidFill>
          <a:ln w="12700">
            <a:solidFill>
              <a:srgbClr val="D99A1B"/>
            </a:solidFill>
            <a:prstDash val="solid"/>
          </a:ln>
        </p:spPr>
      </p:sp>
      <p:sp>
        <p:nvSpPr>
          <p:cNvPr id="28" name="Text 25"/>
          <p:cNvSpPr/>
          <p:nvPr/>
        </p:nvSpPr>
        <p:spPr>
          <a:xfrm>
            <a:off x="77724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UX &amp; conversion redesign  ·  12 d (10%)</a:t>
            </a:r>
            <a:endParaRPr lang="en-US" sz="1050" dirty="0"/>
          </a:p>
        </p:txBody>
      </p:sp>
      <p:sp>
        <p:nvSpPr>
          <p:cNvPr id="29" name="Shape 26"/>
          <p:cNvSpPr/>
          <p:nvPr/>
        </p:nvSpPr>
        <p:spPr>
          <a:xfrm>
            <a:off x="6126480" y="2898648"/>
            <a:ext cx="128016" cy="128016"/>
          </a:xfrm>
          <a:prstGeom prst="rect">
            <a:avLst/>
          </a:prstGeom>
          <a:solidFill>
            <a:srgbClr val="E0457B"/>
          </a:solidFill>
          <a:ln w="12700">
            <a:solidFill>
              <a:srgbClr val="E0457B"/>
            </a:solidFill>
            <a:prstDash val="solid"/>
          </a:ln>
        </p:spPr>
      </p:sp>
      <p:sp>
        <p:nvSpPr>
          <p:cNvPr id="30" name="Text 27"/>
          <p:cNvSpPr/>
          <p:nvPr/>
        </p:nvSpPr>
        <p:spPr>
          <a:xfrm>
            <a:off x="6355080" y="283464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QA &amp; launch  ·  15 d (12%)</a:t>
            </a:r>
            <a:endParaRPr lang="en-US" sz="1050" dirty="0"/>
          </a:p>
        </p:txBody>
      </p:sp>
      <p:sp>
        <p:nvSpPr>
          <p:cNvPr id="31" name="Shape 28"/>
          <p:cNvSpPr/>
          <p:nvPr/>
        </p:nvSpPr>
        <p:spPr>
          <a:xfrm>
            <a:off x="548640" y="3172968"/>
            <a:ext cx="128016" cy="128016"/>
          </a:xfrm>
          <a:prstGeom prst="rect">
            <a:avLst/>
          </a:prstGeom>
          <a:solidFill>
            <a:srgbClr val="8892B0"/>
          </a:solidFill>
          <a:ln w="12700">
            <a:solidFill>
              <a:srgbClr val="8892B0"/>
            </a:solidFill>
            <a:prstDash val="solid"/>
          </a:ln>
        </p:spPr>
      </p:sp>
      <p:sp>
        <p:nvSpPr>
          <p:cNvPr id="32" name="Text 29"/>
          <p:cNvSpPr/>
          <p:nvPr/>
        </p:nvSpPr>
        <p:spPr>
          <a:xfrm>
            <a:off x="777240" y="3108960"/>
            <a:ext cx="5212080" cy="274320"/>
          </a:xfrm>
          <a:prstGeom prst="rect">
            <a:avLst/>
          </a:prstGeom>
          <a:noFill/>
          <a:ln/>
        </p:spPr>
        <p:txBody>
          <a:bodyPr wrap="square" lIns="0" tIns="0" rIns="0" bIns="0" rtlCol="0" anchor="t"/>
          <a:lstStyle/>
          <a:p>
            <a:pPr indent="0" marL="0">
              <a:buNone/>
            </a:pPr>
            <a:r>
              <a:rPr lang="en-US" sz="1050" dirty="0">
                <a:solidFill>
                  <a:srgbClr val="111827"/>
                </a:solidFill>
                <a:latin typeface="Calibri" pitchFamily="34" charset="0"/>
                <a:ea typeface="Calibri" pitchFamily="34" charset="-122"/>
                <a:cs typeface="Calibri" pitchFamily="34" charset="-120"/>
              </a:rPr>
              <a:t>Delivery management  ·  10 d (8%)</a:t>
            </a:r>
            <a:endParaRPr lang="en-US" sz="1050" dirty="0"/>
          </a:p>
        </p:txBody>
      </p:sp>
      <p:sp>
        <p:nvSpPr>
          <p:cNvPr id="33" name="Text 30"/>
          <p:cNvSpPr/>
          <p:nvPr/>
        </p:nvSpPr>
        <p:spPr>
          <a:xfrm>
            <a:off x="548640" y="3383280"/>
            <a:ext cx="45720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INDICATIVE TIMELINE</a:t>
            </a:r>
            <a:endParaRPr lang="en-US" sz="1000" dirty="0"/>
          </a:p>
        </p:txBody>
      </p:sp>
      <p:sp>
        <p:nvSpPr>
          <p:cNvPr id="34" name="Text 31"/>
          <p:cNvSpPr/>
          <p:nvPr/>
        </p:nvSpPr>
        <p:spPr>
          <a:xfrm>
            <a:off x="3657600" y="3703320"/>
            <a:ext cx="1597091"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1</a:t>
            </a:r>
            <a:endParaRPr lang="en-US" sz="900" dirty="0"/>
          </a:p>
        </p:txBody>
      </p:sp>
      <p:sp>
        <p:nvSpPr>
          <p:cNvPr id="35" name="Text 32"/>
          <p:cNvSpPr/>
          <p:nvPr/>
        </p:nvSpPr>
        <p:spPr>
          <a:xfrm>
            <a:off x="5254691" y="3703320"/>
            <a:ext cx="1597091"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2</a:t>
            </a:r>
            <a:endParaRPr lang="en-US" sz="900" dirty="0"/>
          </a:p>
        </p:txBody>
      </p:sp>
      <p:sp>
        <p:nvSpPr>
          <p:cNvPr id="36" name="Text 33"/>
          <p:cNvSpPr/>
          <p:nvPr/>
        </p:nvSpPr>
        <p:spPr>
          <a:xfrm>
            <a:off x="6851782" y="3703320"/>
            <a:ext cx="1597091"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3</a:t>
            </a:r>
            <a:endParaRPr lang="en-US" sz="900" dirty="0"/>
          </a:p>
        </p:txBody>
      </p:sp>
      <p:sp>
        <p:nvSpPr>
          <p:cNvPr id="37" name="Text 34"/>
          <p:cNvSpPr/>
          <p:nvPr/>
        </p:nvSpPr>
        <p:spPr>
          <a:xfrm>
            <a:off x="8448873" y="3703320"/>
            <a:ext cx="1597091"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4</a:t>
            </a:r>
            <a:endParaRPr lang="en-US" sz="900" dirty="0"/>
          </a:p>
        </p:txBody>
      </p:sp>
      <p:sp>
        <p:nvSpPr>
          <p:cNvPr id="38" name="Text 35"/>
          <p:cNvSpPr/>
          <p:nvPr/>
        </p:nvSpPr>
        <p:spPr>
          <a:xfrm>
            <a:off x="10045964" y="3703320"/>
            <a:ext cx="1597091" cy="228600"/>
          </a:xfrm>
          <a:prstGeom prst="rect">
            <a:avLst/>
          </a:prstGeom>
          <a:noFill/>
          <a:ln/>
        </p:spPr>
        <p:txBody>
          <a:bodyPr wrap="square" lIns="0" tIns="0" rIns="0" bIns="0" rtlCol="0" anchor="t"/>
          <a:lstStyle/>
          <a:p>
            <a:pPr algn="ctr" indent="0" marL="0">
              <a:buNone/>
            </a:pPr>
            <a:r>
              <a:rPr lang="en-US" sz="900" dirty="0">
                <a:solidFill>
                  <a:srgbClr val="5B6477"/>
                </a:solidFill>
                <a:latin typeface="Calibri" pitchFamily="34" charset="0"/>
                <a:ea typeface="Calibri" pitchFamily="34" charset="-122"/>
                <a:cs typeface="Calibri" pitchFamily="34" charset="-120"/>
              </a:rPr>
              <a:t>Week 5</a:t>
            </a:r>
            <a:endParaRPr lang="en-US" sz="900" dirty="0"/>
          </a:p>
        </p:txBody>
      </p:sp>
      <p:sp>
        <p:nvSpPr>
          <p:cNvPr id="39" name="Text 36"/>
          <p:cNvSpPr/>
          <p:nvPr/>
        </p:nvSpPr>
        <p:spPr>
          <a:xfrm>
            <a:off x="548640" y="397764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Homepage rebuild (design + front end)</a:t>
            </a:r>
            <a:endParaRPr lang="en-US" sz="1000" dirty="0"/>
          </a:p>
        </p:txBody>
      </p:sp>
      <p:sp>
        <p:nvSpPr>
          <p:cNvPr id="40" name="Shape 37"/>
          <p:cNvSpPr/>
          <p:nvPr/>
        </p:nvSpPr>
        <p:spPr>
          <a:xfrm>
            <a:off x="3657600" y="4014216"/>
            <a:ext cx="7985455" cy="201168"/>
          </a:xfrm>
          <a:prstGeom prst="roundRect">
            <a:avLst>
              <a:gd name="adj" fmla="val 45455"/>
            </a:avLst>
          </a:prstGeom>
          <a:solidFill>
            <a:srgbClr val="EEF0F5"/>
          </a:solidFill>
          <a:ln w="12700">
            <a:solidFill>
              <a:srgbClr val="EEF0F5"/>
            </a:solidFill>
            <a:prstDash val="solid"/>
          </a:ln>
        </p:spPr>
      </p:sp>
      <p:sp>
        <p:nvSpPr>
          <p:cNvPr id="41" name="Shape 38"/>
          <p:cNvSpPr/>
          <p:nvPr/>
        </p:nvSpPr>
        <p:spPr>
          <a:xfrm>
            <a:off x="3657600" y="4014216"/>
            <a:ext cx="1558138" cy="201168"/>
          </a:xfrm>
          <a:prstGeom prst="roundRect">
            <a:avLst>
              <a:gd name="adj" fmla="val 45455"/>
            </a:avLst>
          </a:prstGeom>
          <a:solidFill>
            <a:srgbClr val="1428A0"/>
          </a:solidFill>
          <a:ln w="12700">
            <a:solidFill>
              <a:srgbClr val="1428A0"/>
            </a:solidFill>
            <a:prstDash val="solid"/>
          </a:ln>
        </p:spPr>
      </p:sp>
      <p:sp>
        <p:nvSpPr>
          <p:cNvPr id="42" name="Text 39"/>
          <p:cNvSpPr/>
          <p:nvPr/>
        </p:nvSpPr>
        <p:spPr>
          <a:xfrm>
            <a:off x="548640" y="430682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Performance engineering</a:t>
            </a:r>
            <a:endParaRPr lang="en-US" sz="1000" dirty="0"/>
          </a:p>
        </p:txBody>
      </p:sp>
      <p:sp>
        <p:nvSpPr>
          <p:cNvPr id="43" name="Shape 40"/>
          <p:cNvSpPr/>
          <p:nvPr/>
        </p:nvSpPr>
        <p:spPr>
          <a:xfrm>
            <a:off x="3657600" y="4343400"/>
            <a:ext cx="7985455" cy="201168"/>
          </a:xfrm>
          <a:prstGeom prst="roundRect">
            <a:avLst>
              <a:gd name="adj" fmla="val 45455"/>
            </a:avLst>
          </a:prstGeom>
          <a:solidFill>
            <a:srgbClr val="EEF0F5"/>
          </a:solidFill>
          <a:ln w="12700">
            <a:solidFill>
              <a:srgbClr val="EEF0F5"/>
            </a:solidFill>
            <a:prstDash val="solid"/>
          </a:ln>
        </p:spPr>
      </p:sp>
      <p:sp>
        <p:nvSpPr>
          <p:cNvPr id="44" name="Shape 41"/>
          <p:cNvSpPr/>
          <p:nvPr/>
        </p:nvSpPr>
        <p:spPr>
          <a:xfrm>
            <a:off x="3657600" y="4343400"/>
            <a:ext cx="3324027" cy="201168"/>
          </a:xfrm>
          <a:prstGeom prst="roundRect">
            <a:avLst>
              <a:gd name="adj" fmla="val 45455"/>
            </a:avLst>
          </a:prstGeom>
          <a:solidFill>
            <a:srgbClr val="2A6CF0"/>
          </a:solidFill>
          <a:ln w="12700">
            <a:solidFill>
              <a:srgbClr val="2A6CF0"/>
            </a:solidFill>
            <a:prstDash val="solid"/>
          </a:ln>
        </p:spPr>
      </p:sp>
      <p:sp>
        <p:nvSpPr>
          <p:cNvPr id="45" name="Text 42"/>
          <p:cNvSpPr/>
          <p:nvPr/>
        </p:nvSpPr>
        <p:spPr>
          <a:xfrm>
            <a:off x="548640" y="4636008"/>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Responsive &amp; mobile fixes</a:t>
            </a:r>
            <a:endParaRPr lang="en-US" sz="1000" dirty="0"/>
          </a:p>
        </p:txBody>
      </p:sp>
      <p:sp>
        <p:nvSpPr>
          <p:cNvPr id="46" name="Shape 43"/>
          <p:cNvSpPr/>
          <p:nvPr/>
        </p:nvSpPr>
        <p:spPr>
          <a:xfrm>
            <a:off x="3657600" y="4672584"/>
            <a:ext cx="7985455" cy="201168"/>
          </a:xfrm>
          <a:prstGeom prst="roundRect">
            <a:avLst>
              <a:gd name="adj" fmla="val 45455"/>
            </a:avLst>
          </a:prstGeom>
          <a:solidFill>
            <a:srgbClr val="EEF0F5"/>
          </a:solidFill>
          <a:ln w="12700">
            <a:solidFill>
              <a:srgbClr val="EEF0F5"/>
            </a:solidFill>
            <a:prstDash val="solid"/>
          </a:ln>
        </p:spPr>
      </p:sp>
      <p:sp>
        <p:nvSpPr>
          <p:cNvPr id="47" name="Shape 44"/>
          <p:cNvSpPr/>
          <p:nvPr/>
        </p:nvSpPr>
        <p:spPr>
          <a:xfrm>
            <a:off x="4356327" y="4672584"/>
            <a:ext cx="1142634" cy="201168"/>
          </a:xfrm>
          <a:prstGeom prst="roundRect">
            <a:avLst>
              <a:gd name="adj" fmla="val 45455"/>
            </a:avLst>
          </a:prstGeom>
          <a:solidFill>
            <a:srgbClr val="0F8B8D"/>
          </a:solidFill>
          <a:ln w="12700">
            <a:solidFill>
              <a:srgbClr val="0F8B8D"/>
            </a:solidFill>
            <a:prstDash val="solid"/>
          </a:ln>
        </p:spPr>
      </p:sp>
      <p:sp>
        <p:nvSpPr>
          <p:cNvPr id="48" name="Text 45"/>
          <p:cNvSpPr/>
          <p:nvPr/>
        </p:nvSpPr>
        <p:spPr>
          <a:xfrm>
            <a:off x="548640" y="4965192"/>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Accessibility remediation</a:t>
            </a:r>
            <a:endParaRPr lang="en-US" sz="1000" dirty="0"/>
          </a:p>
        </p:txBody>
      </p:sp>
      <p:sp>
        <p:nvSpPr>
          <p:cNvPr id="49" name="Shape 46"/>
          <p:cNvSpPr/>
          <p:nvPr/>
        </p:nvSpPr>
        <p:spPr>
          <a:xfrm>
            <a:off x="3657600" y="5001768"/>
            <a:ext cx="7985455" cy="201168"/>
          </a:xfrm>
          <a:prstGeom prst="roundRect">
            <a:avLst>
              <a:gd name="adj" fmla="val 45455"/>
            </a:avLst>
          </a:prstGeom>
          <a:solidFill>
            <a:srgbClr val="EEF0F5"/>
          </a:solidFill>
          <a:ln w="12700">
            <a:solidFill>
              <a:srgbClr val="EEF0F5"/>
            </a:solidFill>
            <a:prstDash val="solid"/>
          </a:ln>
        </p:spPr>
      </p:sp>
      <p:sp>
        <p:nvSpPr>
          <p:cNvPr id="50" name="Shape 47"/>
          <p:cNvSpPr/>
          <p:nvPr/>
        </p:nvSpPr>
        <p:spPr>
          <a:xfrm>
            <a:off x="5055055" y="5001768"/>
            <a:ext cx="2908524" cy="201168"/>
          </a:xfrm>
          <a:prstGeom prst="roundRect">
            <a:avLst>
              <a:gd name="adj" fmla="val 45455"/>
            </a:avLst>
          </a:prstGeom>
          <a:solidFill>
            <a:srgbClr val="5B3FD0"/>
          </a:solidFill>
          <a:ln w="12700">
            <a:solidFill>
              <a:srgbClr val="5B3FD0"/>
            </a:solidFill>
            <a:prstDash val="solid"/>
          </a:ln>
        </p:spPr>
      </p:sp>
      <p:sp>
        <p:nvSpPr>
          <p:cNvPr id="51" name="Text 48"/>
          <p:cNvSpPr/>
          <p:nvPr/>
        </p:nvSpPr>
        <p:spPr>
          <a:xfrm>
            <a:off x="548640" y="5294376"/>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UX &amp; conversion redesign</a:t>
            </a:r>
            <a:endParaRPr lang="en-US" sz="1000" dirty="0"/>
          </a:p>
        </p:txBody>
      </p:sp>
      <p:sp>
        <p:nvSpPr>
          <p:cNvPr id="52" name="Shape 49"/>
          <p:cNvSpPr/>
          <p:nvPr/>
        </p:nvSpPr>
        <p:spPr>
          <a:xfrm>
            <a:off x="3657600" y="5330952"/>
            <a:ext cx="7985455" cy="201168"/>
          </a:xfrm>
          <a:prstGeom prst="roundRect">
            <a:avLst>
              <a:gd name="adj" fmla="val 45455"/>
            </a:avLst>
          </a:prstGeom>
          <a:solidFill>
            <a:srgbClr val="EEF0F5"/>
          </a:solidFill>
          <a:ln w="12700">
            <a:solidFill>
              <a:srgbClr val="EEF0F5"/>
            </a:solidFill>
            <a:prstDash val="solid"/>
          </a:ln>
        </p:spPr>
      </p:sp>
      <p:sp>
        <p:nvSpPr>
          <p:cNvPr id="53" name="Shape 50"/>
          <p:cNvSpPr/>
          <p:nvPr/>
        </p:nvSpPr>
        <p:spPr>
          <a:xfrm>
            <a:off x="5753782" y="5330952"/>
            <a:ext cx="1246510" cy="201168"/>
          </a:xfrm>
          <a:prstGeom prst="roundRect">
            <a:avLst>
              <a:gd name="adj" fmla="val 45455"/>
            </a:avLst>
          </a:prstGeom>
          <a:solidFill>
            <a:srgbClr val="D99A1B"/>
          </a:solidFill>
          <a:ln w="12700">
            <a:solidFill>
              <a:srgbClr val="D99A1B"/>
            </a:solidFill>
            <a:prstDash val="solid"/>
          </a:ln>
        </p:spPr>
      </p:sp>
      <p:sp>
        <p:nvSpPr>
          <p:cNvPr id="54" name="Text 51"/>
          <p:cNvSpPr/>
          <p:nvPr/>
        </p:nvSpPr>
        <p:spPr>
          <a:xfrm>
            <a:off x="548640" y="5623560"/>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QA &amp; launch</a:t>
            </a:r>
            <a:endParaRPr lang="en-US" sz="1000" dirty="0"/>
          </a:p>
        </p:txBody>
      </p:sp>
      <p:sp>
        <p:nvSpPr>
          <p:cNvPr id="55" name="Shape 52"/>
          <p:cNvSpPr/>
          <p:nvPr/>
        </p:nvSpPr>
        <p:spPr>
          <a:xfrm>
            <a:off x="3657600" y="5660136"/>
            <a:ext cx="7985455" cy="201168"/>
          </a:xfrm>
          <a:prstGeom prst="roundRect">
            <a:avLst>
              <a:gd name="adj" fmla="val 45455"/>
            </a:avLst>
          </a:prstGeom>
          <a:solidFill>
            <a:srgbClr val="EEF0F5"/>
          </a:solidFill>
          <a:ln w="12700">
            <a:solidFill>
              <a:srgbClr val="EEF0F5"/>
            </a:solidFill>
            <a:prstDash val="solid"/>
          </a:ln>
        </p:spPr>
      </p:sp>
      <p:sp>
        <p:nvSpPr>
          <p:cNvPr id="56" name="Shape 53"/>
          <p:cNvSpPr/>
          <p:nvPr/>
        </p:nvSpPr>
        <p:spPr>
          <a:xfrm>
            <a:off x="10084918" y="5660136"/>
            <a:ext cx="1558138" cy="201168"/>
          </a:xfrm>
          <a:prstGeom prst="roundRect">
            <a:avLst>
              <a:gd name="adj" fmla="val 45455"/>
            </a:avLst>
          </a:prstGeom>
          <a:solidFill>
            <a:srgbClr val="E0457B"/>
          </a:solidFill>
          <a:ln w="12700">
            <a:solidFill>
              <a:srgbClr val="E0457B"/>
            </a:solidFill>
            <a:prstDash val="solid"/>
          </a:ln>
        </p:spPr>
      </p:sp>
      <p:sp>
        <p:nvSpPr>
          <p:cNvPr id="57" name="Text 54"/>
          <p:cNvSpPr/>
          <p:nvPr/>
        </p:nvSpPr>
        <p:spPr>
          <a:xfrm>
            <a:off x="548640" y="5952744"/>
            <a:ext cx="3017520" cy="274320"/>
          </a:xfrm>
          <a:prstGeom prst="rect">
            <a:avLst/>
          </a:prstGeom>
          <a:noFill/>
          <a:ln/>
        </p:spPr>
        <p:txBody>
          <a:bodyPr wrap="square" lIns="0" tIns="0" rIns="0" bIns="0" rtlCol="0" anchor="ctr"/>
          <a:lstStyle/>
          <a:p>
            <a:pPr indent="0" marL="0">
              <a:buNone/>
            </a:pPr>
            <a:r>
              <a:rPr lang="en-US" sz="1000" dirty="0">
                <a:solidFill>
                  <a:srgbClr val="111827"/>
                </a:solidFill>
                <a:latin typeface="Calibri" pitchFamily="34" charset="0"/>
                <a:ea typeface="Calibri" pitchFamily="34" charset="-122"/>
                <a:cs typeface="Calibri" pitchFamily="34" charset="-120"/>
              </a:rPr>
              <a:t>Delivery management</a:t>
            </a:r>
            <a:endParaRPr lang="en-US" sz="1000" dirty="0"/>
          </a:p>
        </p:txBody>
      </p:sp>
      <p:sp>
        <p:nvSpPr>
          <p:cNvPr id="58" name="Shape 55"/>
          <p:cNvSpPr/>
          <p:nvPr/>
        </p:nvSpPr>
        <p:spPr>
          <a:xfrm>
            <a:off x="3657600" y="5989320"/>
            <a:ext cx="7985455" cy="201168"/>
          </a:xfrm>
          <a:prstGeom prst="roundRect">
            <a:avLst>
              <a:gd name="adj" fmla="val 45455"/>
            </a:avLst>
          </a:prstGeom>
          <a:solidFill>
            <a:srgbClr val="EEF0F5"/>
          </a:solidFill>
          <a:ln w="12700">
            <a:solidFill>
              <a:srgbClr val="EEF0F5"/>
            </a:solidFill>
            <a:prstDash val="solid"/>
          </a:ln>
        </p:spPr>
      </p:sp>
      <p:sp>
        <p:nvSpPr>
          <p:cNvPr id="59" name="Shape 56"/>
          <p:cNvSpPr/>
          <p:nvPr/>
        </p:nvSpPr>
        <p:spPr>
          <a:xfrm>
            <a:off x="3657600" y="5989320"/>
            <a:ext cx="7985455" cy="201168"/>
          </a:xfrm>
          <a:prstGeom prst="roundRect">
            <a:avLst>
              <a:gd name="adj" fmla="val 45455"/>
            </a:avLst>
          </a:prstGeom>
          <a:solidFill>
            <a:srgbClr val="8892B0"/>
          </a:solidFill>
          <a:ln w="12700">
            <a:solidFill>
              <a:srgbClr val="8892B0"/>
            </a:solidFill>
            <a:prstDash val="solid"/>
          </a:ln>
        </p:spPr>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ESTIMATE · COMMERCIALS</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Investment</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14</a:t>
            </a:r>
            <a:endParaRPr lang="en-US" sz="1000" dirty="0"/>
          </a:p>
        </p:txBody>
      </p:sp>
      <p:sp>
        <p:nvSpPr>
          <p:cNvPr id="11" name="Shape 8"/>
          <p:cNvSpPr/>
          <p:nvPr/>
        </p:nvSpPr>
        <p:spPr>
          <a:xfrm>
            <a:off x="548640" y="1508760"/>
            <a:ext cx="5852160" cy="2103120"/>
          </a:xfrm>
          <a:prstGeom prst="roundRect">
            <a:avLst>
              <a:gd name="adj" fmla="val 4348"/>
            </a:avLst>
          </a:prstGeom>
          <a:solidFill>
            <a:srgbClr val="FFFFFF"/>
          </a:solidFill>
          <a:ln w="12700">
            <a:solidFill>
              <a:srgbClr val="DDE2EE"/>
            </a:solidFill>
            <a:prstDash val="solid"/>
          </a:ln>
        </p:spPr>
      </p:sp>
      <p:sp>
        <p:nvSpPr>
          <p:cNvPr id="12" name="Shape 9"/>
          <p:cNvSpPr/>
          <p:nvPr/>
        </p:nvSpPr>
        <p:spPr>
          <a:xfrm>
            <a:off x="548640" y="1508760"/>
            <a:ext cx="5852160" cy="64008"/>
          </a:xfrm>
          <a:prstGeom prst="rect">
            <a:avLst/>
          </a:prstGeom>
          <a:solidFill>
            <a:srgbClr val="1428A0"/>
          </a:solidFill>
          <a:ln w="12700">
            <a:solidFill>
              <a:srgbClr val="1428A0"/>
            </a:solidFill>
            <a:prstDash val="solid"/>
          </a:ln>
        </p:spPr>
      </p:sp>
      <p:sp>
        <p:nvSpPr>
          <p:cNvPr id="13" name="Text 10"/>
          <p:cNvSpPr/>
          <p:nvPr/>
        </p:nvSpPr>
        <p:spPr>
          <a:xfrm>
            <a:off x="822960" y="1737360"/>
            <a:ext cx="530352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ESTIMATED INVESTMENT</a:t>
            </a:r>
            <a:endParaRPr lang="en-US" sz="1000" dirty="0"/>
          </a:p>
        </p:txBody>
      </p:sp>
      <p:sp>
        <p:nvSpPr>
          <p:cNvPr id="14" name="Text 11"/>
          <p:cNvSpPr/>
          <p:nvPr/>
        </p:nvSpPr>
        <p:spPr>
          <a:xfrm>
            <a:off x="822960" y="2103120"/>
            <a:ext cx="5303520" cy="822960"/>
          </a:xfrm>
          <a:prstGeom prst="rect">
            <a:avLst/>
          </a:prstGeom>
          <a:noFill/>
          <a:ln/>
        </p:spPr>
        <p:txBody>
          <a:bodyPr wrap="square" lIns="0" tIns="0" rIns="0" bIns="0" rtlCol="0" anchor="t">
            <a:normAutofit/>
          </a:bodyPr>
          <a:lstStyle/>
          <a:p>
            <a:pPr indent="0" marL="0">
              <a:buNone/>
            </a:pPr>
            <a:r>
              <a:rPr lang="en-US" sz="3400" b="1" dirty="0">
                <a:solidFill>
                  <a:srgbClr val="1428A0"/>
                </a:solidFill>
                <a:latin typeface="Calibri" pitchFamily="34" charset="0"/>
                <a:ea typeface="Calibri" pitchFamily="34" charset="-122"/>
                <a:cs typeface="Calibri" pitchFamily="34" charset="-120"/>
              </a:rPr>
              <a:t>₹13,17,000 – ₹16,83,000</a:t>
            </a:r>
            <a:endParaRPr lang="en-US" sz="3400" dirty="0"/>
          </a:p>
        </p:txBody>
      </p:sp>
      <p:sp>
        <p:nvSpPr>
          <p:cNvPr id="15" name="Text 12"/>
          <p:cNvSpPr/>
          <p:nvPr/>
        </p:nvSpPr>
        <p:spPr>
          <a:xfrm>
            <a:off x="822960" y="3017520"/>
            <a:ext cx="5303520" cy="365760"/>
          </a:xfrm>
          <a:prstGeom prst="rect">
            <a:avLst/>
          </a:prstGeom>
          <a:noFill/>
          <a:ln/>
        </p:spPr>
        <p:txBody>
          <a:bodyPr wrap="square" lIns="0" tIns="0" rIns="0" bIns="0" rtlCol="0" anchor="t"/>
          <a:lstStyle/>
          <a:p>
            <a:pPr indent="0" marL="0">
              <a:buNone/>
            </a:pPr>
            <a:r>
              <a:rPr lang="en-US" sz="1200" dirty="0">
                <a:solidFill>
                  <a:srgbClr val="5B6477"/>
                </a:solidFill>
                <a:latin typeface="Calibri" pitchFamily="34" charset="0"/>
                <a:ea typeface="Calibri" pitchFamily="34" charset="-122"/>
                <a:cs typeface="Calibri" pitchFamily="34" charset="-120"/>
              </a:rPr>
              <a:t>₹13.2 lakh to ₹16.8 lakh · a range until discovery is complete</a:t>
            </a:r>
            <a:endParaRPr lang="en-US" sz="1200" dirty="0"/>
          </a:p>
        </p:txBody>
      </p:sp>
      <p:sp>
        <p:nvSpPr>
          <p:cNvPr id="16" name="Shape 13"/>
          <p:cNvSpPr/>
          <p:nvPr/>
        </p:nvSpPr>
        <p:spPr>
          <a:xfrm>
            <a:off x="6675120" y="1508760"/>
            <a:ext cx="2392528" cy="960120"/>
          </a:xfrm>
          <a:prstGeom prst="roundRect">
            <a:avLst>
              <a:gd name="adj" fmla="val 9524"/>
            </a:avLst>
          </a:prstGeom>
          <a:solidFill>
            <a:srgbClr val="FFFFFF"/>
          </a:solidFill>
          <a:ln w="12700">
            <a:solidFill>
              <a:srgbClr val="DDE2EE"/>
            </a:solidFill>
            <a:prstDash val="solid"/>
          </a:ln>
        </p:spPr>
      </p:sp>
      <p:sp>
        <p:nvSpPr>
          <p:cNvPr id="17" name="Text 14"/>
          <p:cNvSpPr/>
          <p:nvPr/>
        </p:nvSpPr>
        <p:spPr>
          <a:xfrm>
            <a:off x="6858000"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123</a:t>
            </a:r>
            <a:endParaRPr lang="en-US" sz="2800" dirty="0"/>
          </a:p>
        </p:txBody>
      </p:sp>
      <p:sp>
        <p:nvSpPr>
          <p:cNvPr id="18" name="Text 15"/>
          <p:cNvSpPr/>
          <p:nvPr/>
        </p:nvSpPr>
        <p:spPr>
          <a:xfrm>
            <a:off x="6858000"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person-days</a:t>
            </a:r>
            <a:endParaRPr lang="en-US" sz="1100" dirty="0"/>
          </a:p>
        </p:txBody>
      </p:sp>
      <p:sp>
        <p:nvSpPr>
          <p:cNvPr id="19" name="Shape 16"/>
          <p:cNvSpPr/>
          <p:nvPr/>
        </p:nvSpPr>
        <p:spPr>
          <a:xfrm>
            <a:off x="9250528" y="1508760"/>
            <a:ext cx="2392528" cy="960120"/>
          </a:xfrm>
          <a:prstGeom prst="roundRect">
            <a:avLst>
              <a:gd name="adj" fmla="val 9524"/>
            </a:avLst>
          </a:prstGeom>
          <a:solidFill>
            <a:srgbClr val="FFFFFF"/>
          </a:solidFill>
          <a:ln w="12700">
            <a:solidFill>
              <a:srgbClr val="DDE2EE"/>
            </a:solidFill>
            <a:prstDash val="solid"/>
          </a:ln>
        </p:spPr>
      </p:sp>
      <p:sp>
        <p:nvSpPr>
          <p:cNvPr id="20" name="Text 17"/>
          <p:cNvSpPr/>
          <p:nvPr/>
        </p:nvSpPr>
        <p:spPr>
          <a:xfrm>
            <a:off x="9433408" y="1618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5 weeks</a:t>
            </a:r>
            <a:endParaRPr lang="en-US" sz="2800" dirty="0"/>
          </a:p>
        </p:txBody>
      </p:sp>
      <p:sp>
        <p:nvSpPr>
          <p:cNvPr id="21" name="Text 18"/>
          <p:cNvSpPr/>
          <p:nvPr/>
        </p:nvSpPr>
        <p:spPr>
          <a:xfrm>
            <a:off x="9433408" y="2132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indicative duration</a:t>
            </a:r>
            <a:endParaRPr lang="en-US" sz="1100" dirty="0"/>
          </a:p>
        </p:txBody>
      </p:sp>
      <p:sp>
        <p:nvSpPr>
          <p:cNvPr id="22" name="Shape 19"/>
          <p:cNvSpPr/>
          <p:nvPr/>
        </p:nvSpPr>
        <p:spPr>
          <a:xfrm>
            <a:off x="6675120" y="2651760"/>
            <a:ext cx="2392528" cy="960120"/>
          </a:xfrm>
          <a:prstGeom prst="roundRect">
            <a:avLst>
              <a:gd name="adj" fmla="val 9524"/>
            </a:avLst>
          </a:prstGeom>
          <a:solidFill>
            <a:srgbClr val="FFFFFF"/>
          </a:solidFill>
          <a:ln w="12700">
            <a:solidFill>
              <a:srgbClr val="DDE2EE"/>
            </a:solidFill>
            <a:prstDash val="solid"/>
          </a:ln>
        </p:spPr>
      </p:sp>
      <p:sp>
        <p:nvSpPr>
          <p:cNvPr id="23" name="Text 20"/>
          <p:cNvSpPr/>
          <p:nvPr/>
        </p:nvSpPr>
        <p:spPr>
          <a:xfrm>
            <a:off x="6858000" y="2761488"/>
            <a:ext cx="2026768" cy="528066"/>
          </a:xfrm>
          <a:prstGeom prst="rect">
            <a:avLst/>
          </a:prstGeom>
          <a:noFill/>
          <a:ln/>
        </p:spPr>
        <p:txBody>
          <a:bodyPr wrap="square" lIns="0" tIns="0" rIns="0" bIns="0" rtlCol="0" anchor="ctr"/>
          <a:lstStyle/>
          <a:p>
            <a:pPr indent="0" marL="0">
              <a:buNone/>
            </a:pPr>
            <a:r>
              <a:rPr lang="en-US" sz="2800" b="1" dirty="0">
                <a:solidFill>
                  <a:srgbClr val="111827"/>
                </a:solidFill>
                <a:latin typeface="Calibri" pitchFamily="34" charset="0"/>
                <a:ea typeface="Calibri" pitchFamily="34" charset="-122"/>
                <a:cs typeface="Calibri" pitchFamily="34" charset="-120"/>
              </a:rPr>
              <a:t>6</a:t>
            </a:r>
            <a:endParaRPr lang="en-US" sz="2800" dirty="0"/>
          </a:p>
        </p:txBody>
      </p:sp>
      <p:sp>
        <p:nvSpPr>
          <p:cNvPr id="24" name="Text 21"/>
          <p:cNvSpPr/>
          <p:nvPr/>
        </p:nvSpPr>
        <p:spPr>
          <a:xfrm>
            <a:off x="6858000"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people on the team</a:t>
            </a:r>
            <a:endParaRPr lang="en-US" sz="1100" dirty="0"/>
          </a:p>
        </p:txBody>
      </p:sp>
      <p:sp>
        <p:nvSpPr>
          <p:cNvPr id="25" name="Shape 22"/>
          <p:cNvSpPr/>
          <p:nvPr/>
        </p:nvSpPr>
        <p:spPr>
          <a:xfrm>
            <a:off x="9250528" y="2651760"/>
            <a:ext cx="2392528" cy="960120"/>
          </a:xfrm>
          <a:prstGeom prst="roundRect">
            <a:avLst>
              <a:gd name="adj" fmla="val 9524"/>
            </a:avLst>
          </a:prstGeom>
          <a:solidFill>
            <a:srgbClr val="FFFFFF"/>
          </a:solidFill>
          <a:ln w="12700">
            <a:solidFill>
              <a:srgbClr val="DDE2EE"/>
            </a:solidFill>
            <a:prstDash val="solid"/>
          </a:ln>
        </p:spPr>
      </p:sp>
      <p:sp>
        <p:nvSpPr>
          <p:cNvPr id="26" name="Text 23"/>
          <p:cNvSpPr/>
          <p:nvPr/>
        </p:nvSpPr>
        <p:spPr>
          <a:xfrm>
            <a:off x="9433408" y="2761488"/>
            <a:ext cx="2026768" cy="528066"/>
          </a:xfrm>
          <a:prstGeom prst="rect">
            <a:avLst/>
          </a:prstGeom>
          <a:noFill/>
          <a:ln/>
        </p:spPr>
        <p:txBody>
          <a:bodyPr wrap="square" lIns="0" tIns="0" rIns="0" bIns="0" rtlCol="0" anchor="ctr"/>
          <a:lstStyle/>
          <a:p>
            <a:pPr indent="0" marL="0">
              <a:buNone/>
            </a:pPr>
            <a:r>
              <a:rPr lang="en-US" sz="2000" b="1" dirty="0">
                <a:solidFill>
                  <a:srgbClr val="111827"/>
                </a:solidFill>
                <a:latin typeface="Calibri" pitchFamily="34" charset="0"/>
                <a:ea typeface="Calibri" pitchFamily="34" charset="-122"/>
                <a:cs typeface="Calibri" pitchFamily="34" charset="-120"/>
              </a:rPr>
              <a:t>In discovery</a:t>
            </a:r>
            <a:endParaRPr lang="en-US" sz="2000" dirty="0"/>
          </a:p>
        </p:txBody>
      </p:sp>
      <p:sp>
        <p:nvSpPr>
          <p:cNvPr id="27" name="Text 24"/>
          <p:cNvSpPr/>
          <p:nvPr/>
        </p:nvSpPr>
        <p:spPr>
          <a:xfrm>
            <a:off x="9433408" y="3275838"/>
            <a:ext cx="2026768" cy="288036"/>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final scope and price</a:t>
            </a:r>
            <a:endParaRPr lang="en-US" sz="1100" dirty="0"/>
          </a:p>
        </p:txBody>
      </p:sp>
      <p:sp>
        <p:nvSpPr>
          <p:cNvPr id="28" name="Text 25"/>
          <p:cNvSpPr/>
          <p:nvPr/>
        </p:nvSpPr>
        <p:spPr>
          <a:xfrm>
            <a:off x="548640" y="3886200"/>
            <a:ext cx="5486400" cy="274320"/>
          </a:xfrm>
          <a:prstGeom prst="rect">
            <a:avLst/>
          </a:prstGeom>
          <a:noFill/>
          <a:ln/>
        </p:spPr>
        <p:txBody>
          <a:bodyPr wrap="square" lIns="0" tIns="0" rIns="0" bIns="0" rtlCol="0" anchor="t"/>
          <a:lstStyle/>
          <a:p>
            <a:pPr indent="0" marL="0">
              <a:buNone/>
            </a:pPr>
            <a:r>
              <a:rPr lang="en-US" sz="1000" b="1" spc="200" kern="0" dirty="0">
                <a:solidFill>
                  <a:srgbClr val="5B6477"/>
                </a:solidFill>
                <a:latin typeface="Calibri" pitchFamily="34" charset="0"/>
                <a:ea typeface="Calibri" pitchFamily="34" charset="-122"/>
                <a:cs typeface="Calibri" pitchFamily="34" charset="-120"/>
              </a:rPr>
              <a:t>ASSUMPTIONS</a:t>
            </a:r>
            <a:endParaRPr lang="en-US" sz="1000" dirty="0"/>
          </a:p>
        </p:txBody>
      </p:sp>
      <p:sp>
        <p:nvSpPr>
          <p:cNvPr id="29" name="Text 26"/>
          <p:cNvSpPr/>
          <p:nvPr/>
        </p:nvSpPr>
        <p:spPr>
          <a:xfrm>
            <a:off x="548640" y="4206240"/>
            <a:ext cx="11094415" cy="182880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Homepage and key templates only; no new backend features</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Client provides brand assets and timely feedback</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Blended day rate 8500 with a 40% margin</a:t>
            </a:r>
            <a:endParaRPr lang="en-US" sz="1300" dirty="0"/>
          </a:p>
          <a:p>
            <a:pPr marL="342900" indent="-342900">
              <a:spcAft>
                <a:spcPts val="600"/>
              </a:spcAft>
              <a:buSzPct val="100000"/>
              <a:buChar char="•"/>
            </a:pPr>
            <a:r>
              <a:rPr lang="en-US" sz="1300" dirty="0">
                <a:solidFill>
                  <a:srgbClr val="111827"/>
                </a:solidFill>
                <a:latin typeface="Calibri" pitchFamily="34" charset="0"/>
                <a:ea typeface="Calibri" pitchFamily="34" charset="-122"/>
                <a:cs typeface="Calibri" pitchFamily="34" charset="-120"/>
              </a:rPr>
              <a:t>Estimate is +/- range until discovery is complete</a:t>
            </a:r>
            <a:endParaRPr lang="en-US" sz="1300" dirty="0"/>
          </a:p>
        </p:txBody>
      </p:sp>
      <p:sp>
        <p:nvSpPr>
          <p:cNvPr id="30" name="Text 27"/>
          <p:cNvSpPr/>
          <p:nvPr/>
        </p:nvSpPr>
        <p:spPr>
          <a:xfrm>
            <a:off x="548640" y="6035040"/>
            <a:ext cx="11094415" cy="274320"/>
          </a:xfrm>
          <a:prstGeom prst="rect">
            <a:avLst/>
          </a:prstGeom>
          <a:noFill/>
          <a:ln/>
        </p:spPr>
        <p:txBody>
          <a:bodyPr wrap="square" lIns="0" tIns="0" rIns="0" bIns="0" rtlCol="0" anchor="t"/>
          <a:lstStyle/>
          <a:p>
            <a:pPr indent="0" marL="0">
              <a:buNone/>
            </a:pPr>
            <a:r>
              <a:rPr lang="en-US" sz="1050" i="1" dirty="0">
                <a:solidFill>
                  <a:srgbClr val="5B6477"/>
                </a:solidFill>
                <a:latin typeface="Calibri" pitchFamily="34" charset="0"/>
                <a:ea typeface="Calibri" pitchFamily="34" charset="-122"/>
                <a:cs typeface="Calibri" pitchFamily="34" charset="-120"/>
              </a:rPr>
              <a:t>Terms: to be added by the account owner before this proposal is sent.</a:t>
            </a:r>
            <a:endParaRPr lang="en-US" sz="10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WORKING TOGETHER</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Next steps</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15</a:t>
            </a:r>
            <a:endParaRPr lang="en-US" sz="1000" dirty="0"/>
          </a:p>
        </p:txBody>
      </p:sp>
      <p:sp>
        <p:nvSpPr>
          <p:cNvPr id="11" name="Shape 8"/>
          <p:cNvSpPr/>
          <p:nvPr/>
        </p:nvSpPr>
        <p:spPr>
          <a:xfrm>
            <a:off x="548640" y="1645920"/>
            <a:ext cx="11094415" cy="1234440"/>
          </a:xfrm>
          <a:prstGeom prst="roundRect">
            <a:avLst>
              <a:gd name="adj" fmla="val 7407"/>
            </a:avLst>
          </a:prstGeom>
          <a:solidFill>
            <a:srgbClr val="FFFFFF"/>
          </a:solidFill>
          <a:ln w="12700">
            <a:solidFill>
              <a:srgbClr val="DDE2EE"/>
            </a:solidFill>
            <a:prstDash val="solid"/>
          </a:ln>
        </p:spPr>
      </p:sp>
      <p:sp>
        <p:nvSpPr>
          <p:cNvPr id="12" name="Shape 9"/>
          <p:cNvSpPr/>
          <p:nvPr/>
        </p:nvSpPr>
        <p:spPr>
          <a:xfrm>
            <a:off x="822960" y="1920240"/>
            <a:ext cx="685800" cy="685800"/>
          </a:xfrm>
          <a:prstGeom prst="ellipse">
            <a:avLst/>
          </a:prstGeom>
          <a:solidFill>
            <a:srgbClr val="1428A0"/>
          </a:solidFill>
          <a:ln w="12700">
            <a:solidFill>
              <a:srgbClr val="1428A0"/>
            </a:solidFill>
            <a:prstDash val="solid"/>
          </a:ln>
        </p:spPr>
      </p:sp>
      <p:sp>
        <p:nvSpPr>
          <p:cNvPr id="13" name="Text 10"/>
          <p:cNvSpPr/>
          <p:nvPr/>
        </p:nvSpPr>
        <p:spPr>
          <a:xfrm>
            <a:off x="822960" y="192024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1</a:t>
            </a:r>
            <a:endParaRPr lang="en-US" sz="2400" dirty="0"/>
          </a:p>
        </p:txBody>
      </p:sp>
      <p:sp>
        <p:nvSpPr>
          <p:cNvPr id="14" name="Text 11"/>
          <p:cNvSpPr/>
          <p:nvPr/>
        </p:nvSpPr>
        <p:spPr>
          <a:xfrm>
            <a:off x="1828800" y="184708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Walk through the concept</a:t>
            </a:r>
            <a:endParaRPr lang="en-US" sz="1900" dirty="0"/>
          </a:p>
        </p:txBody>
      </p:sp>
      <p:sp>
        <p:nvSpPr>
          <p:cNvPr id="15" name="Text 12"/>
          <p:cNvSpPr/>
          <p:nvPr/>
        </p:nvSpPr>
        <p:spPr>
          <a:xfrm>
            <a:off x="1828800" y="228600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A 30-minute session with your team on Samsung UK's homepage concept, the audit and the technology review.</a:t>
            </a:r>
            <a:endParaRPr lang="en-US" sz="1300" dirty="0"/>
          </a:p>
        </p:txBody>
      </p:sp>
      <p:sp>
        <p:nvSpPr>
          <p:cNvPr id="16" name="Shape 13"/>
          <p:cNvSpPr/>
          <p:nvPr/>
        </p:nvSpPr>
        <p:spPr>
          <a:xfrm>
            <a:off x="548640" y="3108960"/>
            <a:ext cx="11094415" cy="1234440"/>
          </a:xfrm>
          <a:prstGeom prst="roundRect">
            <a:avLst>
              <a:gd name="adj" fmla="val 7407"/>
            </a:avLst>
          </a:prstGeom>
          <a:solidFill>
            <a:srgbClr val="FFFFFF"/>
          </a:solidFill>
          <a:ln w="12700">
            <a:solidFill>
              <a:srgbClr val="DDE2EE"/>
            </a:solidFill>
            <a:prstDash val="solid"/>
          </a:ln>
        </p:spPr>
      </p:sp>
      <p:sp>
        <p:nvSpPr>
          <p:cNvPr id="17" name="Shape 14"/>
          <p:cNvSpPr/>
          <p:nvPr/>
        </p:nvSpPr>
        <p:spPr>
          <a:xfrm>
            <a:off x="822960" y="3383280"/>
            <a:ext cx="685800" cy="685800"/>
          </a:xfrm>
          <a:prstGeom prst="ellipse">
            <a:avLst/>
          </a:prstGeom>
          <a:solidFill>
            <a:srgbClr val="1428A0"/>
          </a:solidFill>
          <a:ln w="12700">
            <a:solidFill>
              <a:srgbClr val="1428A0"/>
            </a:solidFill>
            <a:prstDash val="solid"/>
          </a:ln>
        </p:spPr>
      </p:sp>
      <p:sp>
        <p:nvSpPr>
          <p:cNvPr id="18" name="Text 15"/>
          <p:cNvSpPr/>
          <p:nvPr/>
        </p:nvSpPr>
        <p:spPr>
          <a:xfrm>
            <a:off x="822960" y="338328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2</a:t>
            </a:r>
            <a:endParaRPr lang="en-US" sz="2400" dirty="0"/>
          </a:p>
        </p:txBody>
      </p:sp>
      <p:sp>
        <p:nvSpPr>
          <p:cNvPr id="19" name="Text 16"/>
          <p:cNvSpPr/>
          <p:nvPr/>
        </p:nvSpPr>
        <p:spPr>
          <a:xfrm>
            <a:off x="1828800" y="331012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Discovery week</a:t>
            </a:r>
            <a:endParaRPr lang="en-US" sz="1900" dirty="0"/>
          </a:p>
        </p:txBody>
      </p:sp>
      <p:sp>
        <p:nvSpPr>
          <p:cNvPr id="20" name="Text 17"/>
          <p:cNvSpPr/>
          <p:nvPr/>
        </p:nvSpPr>
        <p:spPr>
          <a:xfrm>
            <a:off x="1828800" y="374904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We confirm scope, constraints and price, and fix the plan and the team.</a:t>
            </a:r>
            <a:endParaRPr lang="en-US" sz="1300" dirty="0"/>
          </a:p>
        </p:txBody>
      </p:sp>
      <p:sp>
        <p:nvSpPr>
          <p:cNvPr id="21" name="Shape 18"/>
          <p:cNvSpPr/>
          <p:nvPr/>
        </p:nvSpPr>
        <p:spPr>
          <a:xfrm>
            <a:off x="548640" y="4572000"/>
            <a:ext cx="11094415" cy="1234440"/>
          </a:xfrm>
          <a:prstGeom prst="roundRect">
            <a:avLst>
              <a:gd name="adj" fmla="val 7407"/>
            </a:avLst>
          </a:prstGeom>
          <a:solidFill>
            <a:srgbClr val="FFFFFF"/>
          </a:solidFill>
          <a:ln w="12700">
            <a:solidFill>
              <a:srgbClr val="DDE2EE"/>
            </a:solidFill>
            <a:prstDash val="solid"/>
          </a:ln>
        </p:spPr>
      </p:sp>
      <p:sp>
        <p:nvSpPr>
          <p:cNvPr id="22" name="Shape 19"/>
          <p:cNvSpPr/>
          <p:nvPr/>
        </p:nvSpPr>
        <p:spPr>
          <a:xfrm>
            <a:off x="822960" y="4846320"/>
            <a:ext cx="685800" cy="685800"/>
          </a:xfrm>
          <a:prstGeom prst="ellipse">
            <a:avLst/>
          </a:prstGeom>
          <a:solidFill>
            <a:srgbClr val="1428A0"/>
          </a:solidFill>
          <a:ln w="12700">
            <a:solidFill>
              <a:srgbClr val="1428A0"/>
            </a:solidFill>
            <a:prstDash val="solid"/>
          </a:ln>
        </p:spPr>
      </p:sp>
      <p:sp>
        <p:nvSpPr>
          <p:cNvPr id="23" name="Text 20"/>
          <p:cNvSpPr/>
          <p:nvPr/>
        </p:nvSpPr>
        <p:spPr>
          <a:xfrm>
            <a:off x="822960" y="4846320"/>
            <a:ext cx="685800" cy="685800"/>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3</a:t>
            </a:r>
            <a:endParaRPr lang="en-US" sz="2400" dirty="0"/>
          </a:p>
        </p:txBody>
      </p:sp>
      <p:sp>
        <p:nvSpPr>
          <p:cNvPr id="24" name="Text 21"/>
          <p:cNvSpPr/>
          <p:nvPr/>
        </p:nvSpPr>
        <p:spPr>
          <a:xfrm>
            <a:off x="1828800" y="4773168"/>
            <a:ext cx="9448495" cy="365760"/>
          </a:xfrm>
          <a:prstGeom prst="rect">
            <a:avLst/>
          </a:prstGeom>
          <a:noFill/>
          <a:ln/>
        </p:spPr>
        <p:txBody>
          <a:bodyPr wrap="square" lIns="0" tIns="0" rIns="0" bIns="0" rtlCol="0" anchor="t"/>
          <a:lstStyle/>
          <a:p>
            <a:pPr indent="0" marL="0">
              <a:buNone/>
            </a:pPr>
            <a:r>
              <a:rPr lang="en-US" sz="1900" b="1" dirty="0">
                <a:solidFill>
                  <a:srgbClr val="111827"/>
                </a:solidFill>
                <a:latin typeface="Calibri" pitchFamily="34" charset="0"/>
                <a:ea typeface="Calibri" pitchFamily="34" charset="-122"/>
                <a:cs typeface="Calibri" pitchFamily="34" charset="-120"/>
              </a:rPr>
              <a:t>Start building</a:t>
            </a:r>
            <a:endParaRPr lang="en-US" sz="1900" dirty="0"/>
          </a:p>
        </p:txBody>
      </p:sp>
      <p:sp>
        <p:nvSpPr>
          <p:cNvPr id="25" name="Text 22"/>
          <p:cNvSpPr/>
          <p:nvPr/>
        </p:nvSpPr>
        <p:spPr>
          <a:xfrm>
            <a:off x="1828800" y="5212080"/>
            <a:ext cx="9448495" cy="502920"/>
          </a:xfrm>
          <a:prstGeom prst="rect">
            <a:avLst/>
          </a:prstGeom>
          <a:noFill/>
          <a:ln/>
        </p:spPr>
        <p:txBody>
          <a:bodyPr wrap="square" lIns="0" tIns="0" rIns="0" bIns="0" rtlCol="0" anchor="t"/>
          <a:lstStyle/>
          <a:p>
            <a:pPr indent="0" marL="0">
              <a:buNone/>
            </a:pPr>
            <a:r>
              <a:rPr lang="en-US" sz="1300" dirty="0">
                <a:solidFill>
                  <a:srgbClr val="5B6477"/>
                </a:solidFill>
                <a:latin typeface="Calibri" pitchFamily="34" charset="0"/>
                <a:ea typeface="Calibri" pitchFamily="34" charset="-122"/>
                <a:cs typeface="Calibri" pitchFamily="34" charset="-120"/>
              </a:rPr>
              <a:t>The team starts 2026-11-02, with weekly demos and a launch plan.</a:t>
            </a:r>
            <a:endParaRPr lang="en-US" sz="13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1428A0"/>
        </a:solidFill>
      </p:bgPr>
    </p:bg>
    <p:spTree>
      <p:nvGrpSpPr>
        <p:cNvPr id="1" name=""/>
        <p:cNvGrpSpPr/>
        <p:nvPr/>
      </p:nvGrpSpPr>
      <p:grpSpPr>
        <a:xfrm>
          <a:off x="0" y="0"/>
          <a:ext cx="0" cy="0"/>
          <a:chOff x="0" y="0"/>
          <a:chExt cx="0" cy="0"/>
        </a:xfrm>
      </p:grpSpPr>
      <p:sp>
        <p:nvSpPr>
          <p:cNvPr id="2" name="Shape 0"/>
          <p:cNvSpPr/>
          <p:nvPr/>
        </p:nvSpPr>
        <p:spPr>
          <a:xfrm>
            <a:off x="4632808" y="1371600"/>
            <a:ext cx="1814170" cy="614477"/>
          </a:xfrm>
          <a:prstGeom prst="ellipse">
            <a:avLst/>
          </a:prstGeom>
          <a:solidFill>
            <a:srgbClr val="FFFFFF"/>
          </a:solidFill>
          <a:ln w="12700">
            <a:solidFill>
              <a:srgbClr val="FFFFFF"/>
            </a:solidFill>
            <a:prstDash val="solid"/>
          </a:ln>
        </p:spPr>
      </p:sp>
      <p:sp>
        <p:nvSpPr>
          <p:cNvPr id="3" name="Text 1"/>
          <p:cNvSpPr/>
          <p:nvPr/>
        </p:nvSpPr>
        <p:spPr>
          <a:xfrm>
            <a:off x="4632808" y="1371600"/>
            <a:ext cx="1814170" cy="614477"/>
          </a:xfrm>
          <a:prstGeom prst="rect">
            <a:avLst/>
          </a:prstGeom>
          <a:noFill/>
          <a:ln/>
        </p:spPr>
        <p:txBody>
          <a:bodyPr wrap="square" lIns="0" tIns="0" rIns="0" bIns="0" rtlCol="0" anchor="ctr"/>
          <a:lstStyle/>
          <a:p>
            <a:pPr algn="ctr" indent="0" marL="0">
              <a:buNone/>
            </a:pPr>
            <a:r>
              <a:rPr lang="en-US" sz="1728" b="1" spc="100" kern="0" dirty="0">
                <a:solidFill>
                  <a:srgbClr val="1428A0"/>
                </a:solidFill>
                <a:latin typeface="Calibri" pitchFamily="34" charset="0"/>
                <a:ea typeface="Calibri" pitchFamily="34" charset="-122"/>
                <a:cs typeface="Calibri" pitchFamily="34" charset="-120"/>
              </a:rPr>
              <a:t>SAMSUNG</a:t>
            </a:r>
            <a:endParaRPr lang="en-US" sz="1728" dirty="0"/>
          </a:p>
        </p:txBody>
      </p:sp>
      <p:sp>
        <p:nvSpPr>
          <p:cNvPr id="4" name="Text 2"/>
          <p:cNvSpPr/>
          <p:nvPr/>
        </p:nvSpPr>
        <p:spPr>
          <a:xfrm>
            <a:off x="6593281" y="1371600"/>
            <a:ext cx="965606" cy="614477"/>
          </a:xfrm>
          <a:prstGeom prst="rect">
            <a:avLst/>
          </a:prstGeom>
          <a:noFill/>
          <a:ln/>
        </p:spPr>
        <p:txBody>
          <a:bodyPr wrap="square" lIns="0" tIns="0" rIns="0" bIns="0" rtlCol="0" anchor="ctr"/>
          <a:lstStyle/>
          <a:p>
            <a:pPr indent="0" marL="0">
              <a:buNone/>
            </a:pPr>
            <a:r>
              <a:rPr lang="en-US" sz="2880" b="1" spc="200" kern="0" dirty="0">
                <a:solidFill>
                  <a:srgbClr val="FFFFFF"/>
                </a:solidFill>
                <a:latin typeface="Calibri" pitchFamily="34" charset="0"/>
                <a:ea typeface="Calibri" pitchFamily="34" charset="-122"/>
                <a:cs typeface="Calibri" pitchFamily="34" charset="-120"/>
              </a:rPr>
              <a:t>SDS</a:t>
            </a:r>
            <a:endParaRPr lang="en-US" sz="2880" dirty="0"/>
          </a:p>
        </p:txBody>
      </p:sp>
      <p:sp>
        <p:nvSpPr>
          <p:cNvPr id="5" name="Text 3"/>
          <p:cNvSpPr/>
          <p:nvPr/>
        </p:nvSpPr>
        <p:spPr>
          <a:xfrm>
            <a:off x="1097280" y="2834640"/>
            <a:ext cx="9997135" cy="1463040"/>
          </a:xfrm>
          <a:prstGeom prst="rect">
            <a:avLst/>
          </a:prstGeom>
          <a:noFill/>
          <a:ln/>
        </p:spPr>
        <p:txBody>
          <a:bodyPr wrap="square" lIns="0" tIns="0" rIns="0" bIns="0" rtlCol="0" anchor="t">
            <a:normAutofit/>
          </a:bodyPr>
          <a:lstStyle/>
          <a:p>
            <a:pPr algn="ctr" indent="0" marL="0">
              <a:buNone/>
            </a:pPr>
            <a:r>
              <a:rPr lang="en-US" sz="3400" b="1" dirty="0">
                <a:solidFill>
                  <a:srgbClr val="FFFFFF"/>
                </a:solidFill>
                <a:latin typeface="Calibri" pitchFamily="34" charset="0"/>
                <a:ea typeface="Calibri" pitchFamily="34" charset="-122"/>
                <a:cs typeface="Calibri" pitchFamily="34" charset="-120"/>
              </a:rPr>
              <a:t>Let's make Samsung UK's website your strongest sales channel.</a:t>
            </a:r>
            <a:endParaRPr lang="en-US" sz="3400" dirty="0"/>
          </a:p>
        </p:txBody>
      </p:sp>
      <p:sp>
        <p:nvSpPr>
          <p:cNvPr id="6" name="Text 4"/>
          <p:cNvSpPr/>
          <p:nvPr/>
        </p:nvSpPr>
        <p:spPr>
          <a:xfrm>
            <a:off x="1097280" y="4572000"/>
            <a:ext cx="9997135" cy="457200"/>
          </a:xfrm>
          <a:prstGeom prst="rect">
            <a:avLst/>
          </a:prstGeom>
          <a:noFill/>
          <a:ln/>
        </p:spPr>
        <p:txBody>
          <a:bodyPr wrap="square" lIns="0" tIns="0" rIns="0" bIns="0" rtlCol="0" anchor="t"/>
          <a:lstStyle/>
          <a:p>
            <a:pPr algn="ctr" indent="0" marL="0">
              <a:buNone/>
            </a:pPr>
            <a:r>
              <a:rPr lang="en-US" sz="1800" dirty="0">
                <a:solidFill>
                  <a:srgbClr val="DCE3FF"/>
                </a:solidFill>
                <a:latin typeface="Calibri" pitchFamily="34" charset="0"/>
                <a:ea typeface="Calibri" pitchFamily="34" charset="-122"/>
                <a:cs typeface="Calibri" pitchFamily="34" charset="-120"/>
              </a:rPr>
              <a:t>Samsung SDS · Digital Engineering</a:t>
            </a:r>
            <a:endParaRPr lang="en-US" sz="1800" dirty="0"/>
          </a:p>
        </p:txBody>
      </p:sp>
      <p:sp>
        <p:nvSpPr>
          <p:cNvPr id="7" name="Text 5"/>
          <p:cNvSpPr/>
          <p:nvPr/>
        </p:nvSpPr>
        <p:spPr>
          <a:xfrm>
            <a:off x="1097280" y="5120640"/>
            <a:ext cx="9997135" cy="365760"/>
          </a:xfrm>
          <a:prstGeom prst="rect">
            <a:avLst/>
          </a:prstGeom>
          <a:noFill/>
          <a:ln/>
        </p:spPr>
        <p:txBody>
          <a:bodyPr wrap="square" lIns="0" tIns="0" rIns="0" bIns="0" rtlCol="0" anchor="t"/>
          <a:lstStyle/>
          <a:p>
            <a:pPr algn="ctr" indent="0" marL="0">
              <a:buNone/>
            </a:pPr>
            <a:r>
              <a:rPr lang="en-US" sz="1300" dirty="0">
                <a:solidFill>
                  <a:srgbClr val="B7C4FF"/>
                </a:solidFill>
                <a:latin typeface="Calibri" pitchFamily="34" charset="0"/>
                <a:ea typeface="Calibri" pitchFamily="34" charset="-122"/>
                <a:cs typeface="Calibri" pitchFamily="34" charset="-120"/>
              </a:rPr>
              <a:t>samsung.com  ·  2026-10-26</a:t>
            </a:r>
            <a:endParaRPr lang="en-US" sz="13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B"/>
        </a:solidFill>
      </p:bgPr>
    </p:bg>
    <p:spTree>
      <p:nvGrpSpPr>
        <p:cNvPr id="1" name=""/>
        <p:cNvGrpSpPr/>
        <p:nvPr/>
      </p:nvGrpSpPr>
      <p:grpSpPr>
        <a:xfrm>
          <a:off x="0" y="0"/>
          <a:ext cx="0" cy="0"/>
          <a:chOff x="0" y="0"/>
          <a:chExt cx="0" cy="0"/>
        </a:xfrm>
      </p:grpSpPr>
      <p:sp>
        <p:nvSpPr>
          <p:cNvPr id="2" name="Shape 0"/>
          <p:cNvSpPr/>
          <p:nvPr/>
        </p:nvSpPr>
        <p:spPr>
          <a:xfrm>
            <a:off x="0" y="0"/>
            <a:ext cx="12191695" cy="109728"/>
          </a:xfrm>
          <a:prstGeom prst="rect">
            <a:avLst/>
          </a:prstGeom>
          <a:solidFill>
            <a:srgbClr val="1428A0"/>
          </a:solidFill>
          <a:ln w="12700">
            <a:solidFill>
              <a:srgbClr val="1428A0"/>
            </a:solidFill>
            <a:prstDash val="solid"/>
          </a:ln>
        </p:spPr>
      </p:sp>
      <p:sp>
        <p:nvSpPr>
          <p:cNvPr id="3" name="Text 1"/>
          <p:cNvSpPr/>
          <p:nvPr/>
        </p:nvSpPr>
        <p:spPr>
          <a:xfrm>
            <a:off x="548640" y="347472"/>
            <a:ext cx="8229600" cy="274320"/>
          </a:xfrm>
          <a:prstGeom prst="rect">
            <a:avLst/>
          </a:prstGeom>
          <a:noFill/>
          <a:ln/>
        </p:spPr>
        <p:txBody>
          <a:bodyPr wrap="square" lIns="0" tIns="0" rIns="0" bIns="0" rtlCol="0" anchor="t"/>
          <a:lstStyle/>
          <a:p>
            <a:pPr indent="0" marL="0">
              <a:buNone/>
            </a:pPr>
            <a:r>
              <a:rPr lang="en-US" sz="1100" b="1" spc="300" kern="0" dirty="0">
                <a:solidFill>
                  <a:srgbClr val="1428A0"/>
                </a:solidFill>
                <a:latin typeface="Calibri" pitchFamily="34" charset="0"/>
                <a:ea typeface="Calibri" pitchFamily="34" charset="-122"/>
                <a:cs typeface="Calibri" pitchFamily="34" charset="-120"/>
              </a:rPr>
              <a:t>APPENDIX</a:t>
            </a:r>
            <a:endParaRPr lang="en-US" sz="1100" dirty="0"/>
          </a:p>
        </p:txBody>
      </p:sp>
      <p:sp>
        <p:nvSpPr>
          <p:cNvPr id="4" name="Text 2"/>
          <p:cNvSpPr/>
          <p:nvPr/>
        </p:nvSpPr>
        <p:spPr>
          <a:xfrm>
            <a:off x="548640" y="621792"/>
            <a:ext cx="9326880" cy="731520"/>
          </a:xfrm>
          <a:prstGeom prst="rect">
            <a:avLst/>
          </a:prstGeom>
          <a:noFill/>
          <a:ln/>
        </p:spPr>
        <p:txBody>
          <a:bodyPr wrap="square" lIns="0" tIns="0" rIns="0" bIns="0" rtlCol="0" anchor="t">
            <a:normAutofit/>
          </a:bodyPr>
          <a:lstStyle/>
          <a:p>
            <a:pPr indent="0" marL="0">
              <a:buNone/>
            </a:pPr>
            <a:r>
              <a:rPr lang="en-US" sz="2800" b="1" dirty="0">
                <a:solidFill>
                  <a:srgbClr val="0B1B5E"/>
                </a:solidFill>
                <a:latin typeface="Calibri" pitchFamily="34" charset="0"/>
                <a:ea typeface="Calibri" pitchFamily="34" charset="-122"/>
                <a:cs typeface="Calibri" pitchFamily="34" charset="-120"/>
              </a:rPr>
              <a:t>How we measured</a:t>
            </a:r>
            <a:endParaRPr lang="en-US" sz="2800" dirty="0"/>
          </a:p>
        </p:txBody>
      </p:sp>
      <p:sp>
        <p:nvSpPr>
          <p:cNvPr id="5" name="Shape 3"/>
          <p:cNvSpPr/>
          <p:nvPr/>
        </p:nvSpPr>
        <p:spPr>
          <a:xfrm>
            <a:off x="10042855" y="329184"/>
            <a:ext cx="992124" cy="336042"/>
          </a:xfrm>
          <a:prstGeom prst="ellipse">
            <a:avLst/>
          </a:prstGeom>
          <a:solidFill>
            <a:srgbClr val="1428A0"/>
          </a:solidFill>
          <a:ln w="12700">
            <a:solidFill>
              <a:srgbClr val="1428A0"/>
            </a:solidFill>
            <a:prstDash val="solid"/>
          </a:ln>
        </p:spPr>
      </p:sp>
      <p:sp>
        <p:nvSpPr>
          <p:cNvPr id="6" name="Text 4"/>
          <p:cNvSpPr/>
          <p:nvPr/>
        </p:nvSpPr>
        <p:spPr>
          <a:xfrm>
            <a:off x="10042855" y="329184"/>
            <a:ext cx="992124" cy="336042"/>
          </a:xfrm>
          <a:prstGeom prst="rect">
            <a:avLst/>
          </a:prstGeom>
          <a:noFill/>
          <a:ln/>
        </p:spPr>
        <p:txBody>
          <a:bodyPr wrap="square" lIns="0" tIns="0" rIns="0" bIns="0" rtlCol="0" anchor="ctr"/>
          <a:lstStyle/>
          <a:p>
            <a:pPr algn="ctr" indent="0" marL="0">
              <a:buNone/>
            </a:pPr>
            <a:r>
              <a:rPr lang="en-US" sz="945" b="1" spc="100" kern="0" dirty="0">
                <a:solidFill>
                  <a:srgbClr val="FFFFFF"/>
                </a:solidFill>
                <a:latin typeface="Calibri" pitchFamily="34" charset="0"/>
                <a:ea typeface="Calibri" pitchFamily="34" charset="-122"/>
                <a:cs typeface="Calibri" pitchFamily="34" charset="-120"/>
              </a:rPr>
              <a:t>SAMSUNG</a:t>
            </a:r>
            <a:endParaRPr lang="en-US" sz="945" dirty="0"/>
          </a:p>
        </p:txBody>
      </p:sp>
      <p:sp>
        <p:nvSpPr>
          <p:cNvPr id="7" name="Text 5"/>
          <p:cNvSpPr/>
          <p:nvPr/>
        </p:nvSpPr>
        <p:spPr>
          <a:xfrm>
            <a:off x="11114989" y="329184"/>
            <a:ext cx="528066" cy="336042"/>
          </a:xfrm>
          <a:prstGeom prst="rect">
            <a:avLst/>
          </a:prstGeom>
          <a:noFill/>
          <a:ln/>
        </p:spPr>
        <p:txBody>
          <a:bodyPr wrap="square" lIns="0" tIns="0" rIns="0" bIns="0" rtlCol="0" anchor="ctr"/>
          <a:lstStyle/>
          <a:p>
            <a:pPr indent="0" marL="0">
              <a:buNone/>
            </a:pPr>
            <a:r>
              <a:rPr lang="en-US" sz="1575" b="1" spc="200" kern="0" dirty="0">
                <a:solidFill>
                  <a:srgbClr val="1428A0"/>
                </a:solidFill>
                <a:latin typeface="Calibri" pitchFamily="34" charset="0"/>
                <a:ea typeface="Calibri" pitchFamily="34" charset="-122"/>
                <a:cs typeface="Calibri" pitchFamily="34" charset="-120"/>
              </a:rPr>
              <a:t>SDS</a:t>
            </a:r>
            <a:endParaRPr lang="en-US" sz="1575" dirty="0"/>
          </a:p>
        </p:txBody>
      </p:sp>
      <p:sp>
        <p:nvSpPr>
          <p:cNvPr id="8" name="Text 6"/>
          <p:cNvSpPr/>
          <p:nvPr/>
        </p:nvSpPr>
        <p:spPr>
          <a:xfrm>
            <a:off x="548640" y="6446520"/>
            <a:ext cx="7315200" cy="256032"/>
          </a:xfrm>
          <a:prstGeom prst="rect">
            <a:avLst/>
          </a:prstGeom>
          <a:noFill/>
          <a:ln/>
        </p:spPr>
        <p:txBody>
          <a:bodyPr wrap="square" lIns="0" tIns="0" rIns="0" bIns="0" rtlCol="0" anchor="t"/>
          <a:lstStyle/>
          <a:p>
            <a:pPr indent="0" marL="0">
              <a:buNone/>
            </a:pPr>
            <a:r>
              <a:rPr lang="en-US" sz="1000" dirty="0">
                <a:solidFill>
                  <a:srgbClr val="5B6477"/>
                </a:solidFill>
                <a:latin typeface="Calibri" pitchFamily="34" charset="0"/>
                <a:ea typeface="Calibri" pitchFamily="34" charset="-122"/>
                <a:cs typeface="Calibri" pitchFamily="34" charset="-120"/>
              </a:rPr>
              <a:t>Samsung UK  ·  Prepared by Samsung SDS</a:t>
            </a:r>
            <a:endParaRPr lang="en-US" sz="1000" dirty="0"/>
          </a:p>
        </p:txBody>
      </p:sp>
      <p:sp>
        <p:nvSpPr>
          <p:cNvPr id="9" name="Text 7"/>
          <p:cNvSpPr/>
          <p:nvPr/>
        </p:nvSpPr>
        <p:spPr>
          <a:xfrm>
            <a:off x="11185855" y="6446520"/>
            <a:ext cx="457200" cy="256032"/>
          </a:xfrm>
          <a:prstGeom prst="rect">
            <a:avLst/>
          </a:prstGeom>
          <a:noFill/>
          <a:ln/>
        </p:spPr>
        <p:txBody>
          <a:bodyPr wrap="square" lIns="0" tIns="0" rIns="0" bIns="0" rtlCol="0" anchor="t"/>
          <a:lstStyle/>
          <a:p>
            <a:pPr algn="r" indent="0" marL="0">
              <a:buNone/>
            </a:pPr>
            <a:r>
              <a:rPr lang="en-US" sz="1000" dirty="0">
                <a:solidFill>
                  <a:srgbClr val="5B6477"/>
                </a:solidFill>
                <a:latin typeface="Calibri" pitchFamily="34" charset="0"/>
                <a:ea typeface="Calibri" pitchFamily="34" charset="-122"/>
                <a:cs typeface="Calibri" pitchFamily="34" charset="-120"/>
              </a:rPr>
              <a:t>17</a:t>
            </a:r>
            <a:endParaRPr lang="en-US" sz="1000" dirty="0"/>
          </a:p>
        </p:txBody>
      </p:sp>
      <p:sp>
        <p:nvSpPr>
          <p:cNvPr id="11" name="Shape 8"/>
          <p:cNvSpPr/>
          <p:nvPr/>
        </p:nvSpPr>
        <p:spPr>
          <a:xfrm>
            <a:off x="548640" y="1508760"/>
            <a:ext cx="5394960" cy="1188720"/>
          </a:xfrm>
          <a:prstGeom prst="roundRect">
            <a:avLst>
              <a:gd name="adj" fmla="val 7692"/>
            </a:avLst>
          </a:prstGeom>
          <a:solidFill>
            <a:srgbClr val="FFFFFF"/>
          </a:solidFill>
          <a:ln w="12700">
            <a:solidFill>
              <a:srgbClr val="DDE2EE"/>
            </a:solidFill>
            <a:prstDash val="solid"/>
          </a:ln>
        </p:spPr>
      </p:sp>
      <p:sp>
        <p:nvSpPr>
          <p:cNvPr id="12" name="Text 9"/>
          <p:cNvSpPr/>
          <p:nvPr/>
        </p:nvSpPr>
        <p:spPr>
          <a:xfrm>
            <a:off x="77724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Speed</a:t>
            </a:r>
            <a:endParaRPr lang="en-US" sz="1400" dirty="0"/>
          </a:p>
        </p:txBody>
      </p:sp>
      <p:sp>
        <p:nvSpPr>
          <p:cNvPr id="13" name="Text 10"/>
          <p:cNvSpPr/>
          <p:nvPr/>
        </p:nvSpPr>
        <p:spPr>
          <a:xfrm>
            <a:off x="77724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Lighthouse 12, mobile profile with simulated throttling. Falls back to browser timings if Lighthouse cannot run.</a:t>
            </a:r>
            <a:endParaRPr lang="en-US" sz="1150" dirty="0"/>
          </a:p>
        </p:txBody>
      </p:sp>
      <p:sp>
        <p:nvSpPr>
          <p:cNvPr id="14" name="Shape 11"/>
          <p:cNvSpPr/>
          <p:nvPr/>
        </p:nvSpPr>
        <p:spPr>
          <a:xfrm>
            <a:off x="6172200" y="1508760"/>
            <a:ext cx="5394960" cy="1188720"/>
          </a:xfrm>
          <a:prstGeom prst="roundRect">
            <a:avLst>
              <a:gd name="adj" fmla="val 7692"/>
            </a:avLst>
          </a:prstGeom>
          <a:solidFill>
            <a:srgbClr val="FFFFFF"/>
          </a:solidFill>
          <a:ln w="12700">
            <a:solidFill>
              <a:srgbClr val="DDE2EE"/>
            </a:solidFill>
            <a:prstDash val="solid"/>
          </a:ln>
        </p:spPr>
      </p:sp>
      <p:sp>
        <p:nvSpPr>
          <p:cNvPr id="15" name="Text 12"/>
          <p:cNvSpPr/>
          <p:nvPr/>
        </p:nvSpPr>
        <p:spPr>
          <a:xfrm>
            <a:off x="6400800" y="16459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Mobile</a:t>
            </a:r>
            <a:endParaRPr lang="en-US" sz="1400" dirty="0"/>
          </a:p>
        </p:txBody>
      </p:sp>
      <p:sp>
        <p:nvSpPr>
          <p:cNvPr id="16" name="Text 13"/>
          <p:cNvSpPr/>
          <p:nvPr/>
        </p:nvSpPr>
        <p:spPr>
          <a:xfrm>
            <a:off x="6400800" y="19659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The page reloaded at phone size with touch: viewport, overflow, tap targets, text size.</a:t>
            </a:r>
            <a:endParaRPr lang="en-US" sz="1150" dirty="0"/>
          </a:p>
        </p:txBody>
      </p:sp>
      <p:sp>
        <p:nvSpPr>
          <p:cNvPr id="17" name="Shape 14"/>
          <p:cNvSpPr/>
          <p:nvPr/>
        </p:nvSpPr>
        <p:spPr>
          <a:xfrm>
            <a:off x="548640" y="2880360"/>
            <a:ext cx="5394960" cy="1188720"/>
          </a:xfrm>
          <a:prstGeom prst="roundRect">
            <a:avLst>
              <a:gd name="adj" fmla="val 7692"/>
            </a:avLst>
          </a:prstGeom>
          <a:solidFill>
            <a:srgbClr val="FFFFFF"/>
          </a:solidFill>
          <a:ln w="12700">
            <a:solidFill>
              <a:srgbClr val="DDE2EE"/>
            </a:solidFill>
            <a:prstDash val="solid"/>
          </a:ln>
        </p:spPr>
      </p:sp>
      <p:sp>
        <p:nvSpPr>
          <p:cNvPr id="18" name="Text 15"/>
          <p:cNvSpPr/>
          <p:nvPr/>
        </p:nvSpPr>
        <p:spPr>
          <a:xfrm>
            <a:off x="77724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Accessibility</a:t>
            </a:r>
            <a:endParaRPr lang="en-US" sz="1400" dirty="0"/>
          </a:p>
        </p:txBody>
      </p:sp>
      <p:sp>
        <p:nvSpPr>
          <p:cNvPr id="19" name="Text 16"/>
          <p:cNvSpPr/>
          <p:nvPr/>
        </p:nvSpPr>
        <p:spPr>
          <a:xfrm>
            <a:off x="77724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axe-core run in a real browser; each rule weighted by impact.</a:t>
            </a:r>
            <a:endParaRPr lang="en-US" sz="1150" dirty="0"/>
          </a:p>
        </p:txBody>
      </p:sp>
      <p:sp>
        <p:nvSpPr>
          <p:cNvPr id="20" name="Shape 17"/>
          <p:cNvSpPr/>
          <p:nvPr/>
        </p:nvSpPr>
        <p:spPr>
          <a:xfrm>
            <a:off x="6172200" y="2880360"/>
            <a:ext cx="5394960" cy="1188720"/>
          </a:xfrm>
          <a:prstGeom prst="roundRect">
            <a:avLst>
              <a:gd name="adj" fmla="val 7692"/>
            </a:avLst>
          </a:prstGeom>
          <a:solidFill>
            <a:srgbClr val="FFFFFF"/>
          </a:solidFill>
          <a:ln w="12700">
            <a:solidFill>
              <a:srgbClr val="DDE2EE"/>
            </a:solidFill>
            <a:prstDash val="solid"/>
          </a:ln>
        </p:spPr>
      </p:sp>
      <p:sp>
        <p:nvSpPr>
          <p:cNvPr id="21" name="Text 18"/>
          <p:cNvSpPr/>
          <p:nvPr/>
        </p:nvSpPr>
        <p:spPr>
          <a:xfrm>
            <a:off x="6400800" y="30175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UX</a:t>
            </a:r>
            <a:endParaRPr lang="en-US" sz="1400" dirty="0"/>
          </a:p>
        </p:txBody>
      </p:sp>
      <p:sp>
        <p:nvSpPr>
          <p:cNvPr id="22" name="Text 19"/>
          <p:cNvSpPr/>
          <p:nvPr/>
        </p:nvSpPr>
        <p:spPr>
          <a:xfrm>
            <a:off x="6400800" y="33375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 vision model scores a screenshot against a fixed rubric; findings must cite what is visible.</a:t>
            </a:r>
            <a:endParaRPr lang="en-US" sz="1150" dirty="0"/>
          </a:p>
        </p:txBody>
      </p:sp>
      <p:sp>
        <p:nvSpPr>
          <p:cNvPr id="23" name="Shape 20"/>
          <p:cNvSpPr/>
          <p:nvPr/>
        </p:nvSpPr>
        <p:spPr>
          <a:xfrm>
            <a:off x="548640" y="4251960"/>
            <a:ext cx="5394960" cy="1188720"/>
          </a:xfrm>
          <a:prstGeom prst="roundRect">
            <a:avLst>
              <a:gd name="adj" fmla="val 7692"/>
            </a:avLst>
          </a:prstGeom>
          <a:solidFill>
            <a:srgbClr val="FFFFFF"/>
          </a:solidFill>
          <a:ln w="12700">
            <a:solidFill>
              <a:srgbClr val="DDE2EE"/>
            </a:solidFill>
            <a:prstDash val="solid"/>
          </a:ln>
        </p:spPr>
      </p:sp>
      <p:sp>
        <p:nvSpPr>
          <p:cNvPr id="24" name="Text 21"/>
          <p:cNvSpPr/>
          <p:nvPr/>
        </p:nvSpPr>
        <p:spPr>
          <a:xfrm>
            <a:off x="77724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AI search</a:t>
            </a:r>
            <a:endParaRPr lang="en-US" sz="1400" dirty="0"/>
          </a:p>
        </p:txBody>
      </p:sp>
      <p:sp>
        <p:nvSpPr>
          <p:cNvPr id="25" name="Text 22"/>
          <p:cNvSpPr/>
          <p:nvPr/>
        </p:nvSpPr>
        <p:spPr>
          <a:xfrm>
            <a:off x="77724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Structured data, llms.txt, AI-crawler rules and a model judgement of how clearly the page says what you do.</a:t>
            </a:r>
            <a:endParaRPr lang="en-US" sz="1150" dirty="0"/>
          </a:p>
        </p:txBody>
      </p:sp>
      <p:sp>
        <p:nvSpPr>
          <p:cNvPr id="26" name="Shape 23"/>
          <p:cNvSpPr/>
          <p:nvPr/>
        </p:nvSpPr>
        <p:spPr>
          <a:xfrm>
            <a:off x="6172200" y="4251960"/>
            <a:ext cx="5394960" cy="1188720"/>
          </a:xfrm>
          <a:prstGeom prst="roundRect">
            <a:avLst>
              <a:gd name="adj" fmla="val 7692"/>
            </a:avLst>
          </a:prstGeom>
          <a:solidFill>
            <a:srgbClr val="FFFFFF"/>
          </a:solidFill>
          <a:ln w="12700">
            <a:solidFill>
              <a:srgbClr val="DDE2EE"/>
            </a:solidFill>
            <a:prstDash val="solid"/>
          </a:ln>
        </p:spPr>
      </p:sp>
      <p:sp>
        <p:nvSpPr>
          <p:cNvPr id="27" name="Text 24"/>
          <p:cNvSpPr/>
          <p:nvPr/>
        </p:nvSpPr>
        <p:spPr>
          <a:xfrm>
            <a:off x="6400800" y="4389120"/>
            <a:ext cx="4937760" cy="274320"/>
          </a:xfrm>
          <a:prstGeom prst="rect">
            <a:avLst/>
          </a:prstGeom>
          <a:noFill/>
          <a:ln/>
        </p:spPr>
        <p:txBody>
          <a:bodyPr wrap="square" lIns="0" tIns="0" rIns="0" bIns="0" rtlCol="0" anchor="t"/>
          <a:lstStyle/>
          <a:p>
            <a:pPr indent="0" marL="0">
              <a:buNone/>
            </a:pPr>
            <a:r>
              <a:rPr lang="en-US" sz="1400" b="1" dirty="0">
                <a:solidFill>
                  <a:srgbClr val="1428A0"/>
                </a:solidFill>
                <a:latin typeface="Calibri" pitchFamily="34" charset="0"/>
                <a:ea typeface="Calibri" pitchFamily="34" charset="-122"/>
                <a:cs typeface="Calibri" pitchFamily="34" charset="-120"/>
              </a:rPr>
              <a:t>Technology</a:t>
            </a:r>
            <a:endParaRPr lang="en-US" sz="1400" dirty="0"/>
          </a:p>
        </p:txBody>
      </p:sp>
      <p:sp>
        <p:nvSpPr>
          <p:cNvPr id="28" name="Text 25"/>
          <p:cNvSpPr/>
          <p:nvPr/>
        </p:nvSpPr>
        <p:spPr>
          <a:xfrm>
            <a:off x="6400800" y="4709160"/>
            <a:ext cx="4937760" cy="685800"/>
          </a:xfrm>
          <a:prstGeom prst="rect">
            <a:avLst/>
          </a:prstGeom>
          <a:noFill/>
          <a:ln/>
        </p:spPr>
        <p:txBody>
          <a:bodyPr wrap="square" lIns="0" tIns="0" rIns="0" bIns="0" rtlCol="0" anchor="t"/>
          <a:lstStyle/>
          <a:p>
            <a:pPr indent="0" marL="0">
              <a:buNone/>
            </a:pPr>
            <a:r>
              <a:rPr lang="en-US" sz="1150" dirty="0">
                <a:solidFill>
                  <a:srgbClr val="5B6477"/>
                </a:solidFill>
                <a:latin typeface="Calibri" pitchFamily="34" charset="0"/>
                <a:ea typeface="Calibri" pitchFamily="34" charset="-122"/>
                <a:cs typeface="Calibri" pitchFamily="34" charset="-120"/>
              </a:rPr>
              <a:t>About 130 signatures over network requests, headers, cookies, markup and script globals. A hint, not a certainty.</a:t>
            </a:r>
            <a:endParaRPr lang="en-US" sz="1150" dirty="0"/>
          </a:p>
        </p:txBody>
      </p:sp>
      <p:sp>
        <p:nvSpPr>
          <p:cNvPr id="29" name="Text 26"/>
          <p:cNvSpPr/>
          <p:nvPr/>
        </p:nvSpPr>
        <p:spPr>
          <a:xfrm>
            <a:off x="548640" y="5760720"/>
            <a:ext cx="11094415" cy="457200"/>
          </a:xfrm>
          <a:prstGeom prst="rect">
            <a:avLst/>
          </a:prstGeom>
          <a:noFill/>
          <a:ln/>
        </p:spPr>
        <p:txBody>
          <a:bodyPr wrap="square" lIns="0" tIns="0" rIns="0" bIns="0" rtlCol="0" anchor="t"/>
          <a:lstStyle/>
          <a:p>
            <a:pPr indent="0" marL="0">
              <a:buNone/>
            </a:pPr>
            <a:r>
              <a:rPr lang="en-US" sz="1100" dirty="0">
                <a:solidFill>
                  <a:srgbClr val="5B6477"/>
                </a:solidFill>
                <a:latin typeface="Calibri" pitchFamily="34" charset="0"/>
                <a:ea typeface="Calibri" pitchFamily="34" charset="-122"/>
                <a:cs typeface="Calibri" pitchFamily="34" charset="-120"/>
              </a:rPr>
              <a:t>Scores are for the homepage only, measured once. The bench roster, skills inventory and rates are sample data until connected to real systems.</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Samsung SDS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Samsung UK: website improvement proposal</dc:title>
  <dc:subject>PptxGenJS Presentation</dc:subject>
  <dc:creator>Samsung SDS</dc:creator>
  <cp:lastModifiedBy>Samsung SDS</cp:lastModifiedBy>
  <cp:revision>1</cp:revision>
  <dcterms:created xsi:type="dcterms:W3CDTF">2026-10-26T17:40:11Z</dcterms:created>
  <dcterms:modified xsi:type="dcterms:W3CDTF">2026-10-26T17:40:11Z</dcterms:modified>
</cp:coreProperties>
</file>