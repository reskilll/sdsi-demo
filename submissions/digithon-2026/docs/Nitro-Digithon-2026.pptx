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presentation" id="{4c6fb469-049e-9e2e-3a82-1953ea9570b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 name="Appendix" id="{aafe86a3-bc4b-5e05-ef4a-ca0dd3b113ea}">
          <p14:sldIdLst>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org match</c:v>
                </c:pt>
              </c:strCache>
            </c:strRef>
          </c:tx>
          <c:spPr>
            <a:solidFill>
              <a:schemeClr val="accent1"/>
            </a:solidFill>
            <a:ln w="9525" cap="flat">
              <a:solidFill>
                <a:srgbClr val="F9F9F9"/>
              </a:solidFill>
              <a:prstDash val="solid"/>
              <a:round/>
            </a:ln>
            <a:effectLst/>
          </c:spPr>
          <c:dPt>
            <c:idx val="0"/>
            <c:bubble3D val="0"/>
            <c:spPr>
              <a:solidFill>
                <a:srgbClr val="0F9D6B"/>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88</c:v>
                </c:pt>
                <c:pt idx="1">
                  <c:v>12</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grade D</c:v>
                </c:pt>
              </c:strCache>
            </c:strRef>
          </c:tx>
          <c:spPr>
            <a:solidFill>
              <a:schemeClr val="accent1"/>
            </a:solidFill>
            <a:ln w="9525" cap="flat">
              <a:solidFill>
                <a:srgbClr val="F9F9F9"/>
              </a:solidFill>
              <a:prstDash val="solid"/>
              <a:round/>
            </a:ln>
            <a:effectLst/>
          </c:spPr>
          <c:dPt>
            <c:idx val="0"/>
            <c:bubble3D val="0"/>
            <c:spPr>
              <a:solidFill>
                <a:srgbClr val="D64545"/>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64</c:v>
                </c:pt>
                <c:pt idx="1">
                  <c:v>36</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grade D</c:v>
                </c:pt>
              </c:strCache>
            </c:strRef>
          </c:tx>
          <c:spPr>
            <a:solidFill>
              <a:schemeClr val="accent1"/>
            </a:solidFill>
            <a:ln w="9525" cap="flat">
              <a:solidFill>
                <a:srgbClr val="F9F9F9"/>
              </a:solidFill>
              <a:prstDash val="solid"/>
              <a:round/>
            </a:ln>
            <a:effectLst/>
          </c:spPr>
          <c:dPt>
            <c:idx val="0"/>
            <c:bubble3D val="0"/>
            <c:spPr>
              <a:solidFill>
                <a:srgbClr val="D64545"/>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64</c:v>
                </c:pt>
                <c:pt idx="1">
                  <c:v>36</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D64545"/>
            </a:solidFill>
            <a:effectLst/>
          </c:spPr>
          <c:invertIfNegative val="0"/>
          <c:dLbls>
            <c:numFmt formatCode="#,##0" sourceLinked="0"/>
            <c:txPr>
              <a:bodyPr/>
              <a:lstStyle/>
              <a:p>
                <a:pPr>
                  <a:defRPr b="0" i="0" strike="noStrike" sz="1300" u="none">
                    <a:solidFill>
                      <a:srgbClr val="1A2033"/>
                    </a:solidFill>
                    <a:latin typeface="+mn-lt"/>
                  </a:defRPr>
                </a:pPr>
              </a:p>
            </c:txPr>
            <c:showLegendKey val="0"/>
            <c:showVal val="1"/>
            <c:showCatName val="0"/>
            <c:showSerName val="0"/>
            <c:showPercent val="0"/>
            <c:showBubbleSize val="0"/>
            <c:showLeaderLines val="0"/>
          </c:dLbls>
          <c:dPt>
            <c:idx val="0"/>
            <c:invertIfNegative val="0"/>
            <c:bubble3D val="0"/>
            <c:spPr>
              <a:solidFill>
                <a:srgbClr val="D64545"/>
              </a:solidFill>
              <a:effectLst/>
            </c:spPr>
          </c:dPt>
          <c:dPt>
            <c:idx val="1"/>
            <c:invertIfNegative val="0"/>
            <c:bubble3D val="0"/>
            <c:spPr>
              <a:solidFill>
                <a:srgbClr val="0F9D6B"/>
              </a:solidFill>
              <a:effectLst/>
            </c:spPr>
          </c:dPt>
          <c:dPt>
            <c:idx val="2"/>
            <c:invertIfNegative val="0"/>
            <c:bubble3D val="0"/>
            <c:spPr>
              <a:solidFill>
                <a:srgbClr val="B7791F"/>
              </a:solidFill>
              <a:effectLst/>
            </c:spPr>
          </c:dPt>
          <c:dPt>
            <c:idx val="3"/>
            <c:invertIfNegative val="0"/>
            <c:bubble3D val="0"/>
            <c:spPr>
              <a:solidFill>
                <a:srgbClr val="D64545"/>
              </a:solidFill>
              <a:effectLst/>
            </c:spPr>
          </c:dPt>
          <c:dPt>
            <c:idx val="4"/>
            <c:invertIfNegative val="0"/>
            <c:bubble3D val="0"/>
            <c:spPr>
              <a:solidFill>
                <a:srgbClr val="D64545"/>
              </a:solidFill>
              <a:effectLst/>
            </c:spPr>
          </c:dPt>
          <c:cat>
            <c:multiLvlStrRef>
              <c:f>Sheet1!$A$2:$A$6</c:f>
              <c:multiLvlStrCache>
                <c:ptCount val="5"/>
                <c:lvl>
                  <c:pt idx="0">
                    <c:v>Speed (F)</c:v>
                  </c:pt>
                  <c:pt idx="1">
                    <c:v>Mobile (B)</c:v>
                  </c:pt>
                  <c:pt idx="2">
                    <c:v>Accessibility (C)</c:v>
                  </c:pt>
                  <c:pt idx="3">
                    <c:v>UX (D)</c:v>
                  </c:pt>
                  <c:pt idx="4">
                    <c:v>AI search (D)</c:v>
                  </c:pt>
                </c:lvl>
              </c:multiLvlStrCache>
            </c:multiLvlStrRef>
          </c:cat>
          <c:val>
            <c:numRef>
              <c:f>Sheet1!$B$2:$B$6</c:f>
              <c:numCache>
                <c:formatCode>General</c:formatCode>
                <c:ptCount val="5"/>
                <c:pt idx="0">
                  <c:v>40</c:v>
                </c:pt>
                <c:pt idx="1">
                  <c:v>87</c:v>
                </c:pt>
                <c:pt idx="2">
                  <c:v>70</c:v>
                </c:pt>
                <c:pt idx="3">
                  <c:v>60</c:v>
                </c:pt>
                <c:pt idx="4">
                  <c:v>62</c:v>
                </c:pt>
              </c:numCache>
            </c:numRef>
          </c:val>
        </c:ser>
        <c:dLbls>
          <c:numFmt formatCode="#,##0" sourceLinked="0"/>
          <c:txPr>
            <a:bodyPr/>
            <a:lstStyle/>
            <a:p>
              <a:pPr>
                <a:defRPr b="0" i="0" strike="noStrike" sz="1300" u="none">
                  <a:solidFill>
                    <a:srgbClr val="1A20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A2033"/>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Nitro, presented by Manish Paul (Digital CRM) with Abhishek Kaushik, Rohan Kalra, Saurav Singh and Amrendra Kumar; mentor Mukul Jain. Digithon 2026. Nitro is an AI pre-sales platform. Paste a prospect's website and a team of AI agents audits it, redesigns it, matches our available experts and writes a personalised pitch in minutes. A human approves everything before it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pain points of pre-sales today: proposals are slow, expensive to create and generic; we cannot target the right customers; demos take too long; and skilled developers wait between projects. So conversion stays low. In the live deck each point appears on a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Waiting for RFPs gives us a few chances a month, and an RFP arrives late: the shortlist is set and every vendor answers the same questions. Nitro prepares a personalised analysis in about 2.5 minutes, three at a time, so 72 an hour; at about 18 cents of model tokens each, 100 prospects cost about 18 dollars. These are measured on our saved runs (103 to 150 seconds, 11 to 18 cents). So we analyse hundreds, pick the best fits (clear problems on their platform and skills we have), and go to the CTO first, already knowing their stack, their news and their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 proposals look like every other vendor. Nothing in them shows we looked at the client's own site, so ours lands in the client's inbox as one more unread proposal that looks like all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one personalised demo for a prospect takes days of developer time, so we build one only when a deal is almost won. Nitro builds one in about 1.5 to 3 minutes per run, so every prospect can get one, and the agents are always available, working 24x7 in the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turning point of the story: show, do not tell. The client sees their own site improved before any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input: the prospect's website. The server checks it is a public address, then a whole office of AI agents goes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agents, each with one job. The Coordinator plans the run; the Market Researcher reads the latest news on the company first; the others audit, test, design, match people and write the pitch. The Tender Scout finds work in government tenders. Every tool call posts to a live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a URL, or take a government tender the Tender Scout found; the Coordinator plans; the Market Researcher reads the latest news on the company; seven checks run in parallel; the Designer and Team Matcher build; the Deck Writer writes; a human approves. The checks find speed, mobile, accessibility, UX, AI-search visibility, the tech stack from front end to DevOps, third-party weight and the brand kit. A run takes about 1.5 to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Tender Scout watches the GeM portal, CPPP RSS feeds and state tender feeds. For each tender it reads the scope, asks whether it is digital work, matches it to our skills, and decides with a reason. A relevant tender goes to the agents like a website; one that does not fit is dropped and the reason is logged. Example: a MeitY website revamp and GIGW accessibility audit is relevant (web, accessibility); Delhi Metro civil works for a depot is not (civil works, not digital). Simulated on the home dashboard today, and callable as the tenders_triage tool over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40/100 (16.9 s until the main content appears, 6.3 MB page). Mobile 87/100 (12 of 84 tap targets too small). Accessibility 70/100 (3 rules failed, 2 critical). UX 60/100 (weakest: call-to-action clarity). AI search 62/100 (no structured data, llms.txt present). 9 technologies detected; they open talks on logistics, data, finance and cloud. Customer data goes to 5 tools (GA4, Clarity, Tag Manager, Meta Pixel, Google Ads). Brand kit: #000000 and #ece9e2, Geograph typeface, Shop All call to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is only the entry point. From outside, the agents already read the server and language, APIs and third parties, CDN and hosting, commerce platform, CMS, payments, analytics, monitoring, security and consent, performance, accessibility and AI search: 132 technologies in 17 categories. That earns the room with the CTO, where the conversation moves to cloud infrastructure, data pipelines, logistics systems, ERP and CRM integration, DevOps and SRE, AI and data platforms, cybersecurity and modernisation.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389 network requests Nitro detected 9 technologies across 25 domains; customer data goes to 5 analytics, tag and ad tools. Each technology is a way into a conversation about logistics, data, finance and cloud, mapped to our people and our in-house innovations.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Designer extracts their colours, fonts and content and builds a new homepage in HTML in about 40 seconds. The same inspectors re-check it: accessibility 70 to 98, mobile 87 to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Matcher scores how well our organisation fits the work, names available experts and estimates effort and price. The roster, skills and rates shown here are sample data behind an adapter, ready for real HR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Allbirds run, Vue.js maps to Vue/Nuxt skills (partial coverage), Shopify to commerce (a gap), GA4 and Tag Manager to web analytics (strong), Cloudflare and Azure to DevOps and cloud (strong). The matcher then names available experts and start dates. Integrating with our project management system (PMS) brings live availability, skills and rates in, and gives billing visibility in advance and upcoming projects. Today the roster is sample data behind an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run produces an audit (64/100, grade D on Allbirds, with evidence and ranked fixes), a redesigned homepage (accessibility 70 to 98, mobile 87 to 100), an estimate (named team, person-days, hours per skill, timeline and a price range computed from the findings and the rate card), a personalised PowerPoint deck and a written proposal. A human approves before anything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paid part of a run is model tokens: Claude Sonnet 5.5 costs 2 dollars per million input tokens and 10 dollars per million output tokens. Four agents call the model (the Coordinator's planner, the UX Reviewer, the AI-Search Checker and the Designer); the other seven use free, open-source tools. The dashboard now shows the tokens and cost of every agent and the total for each run. Replaying a saved run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Writer produces a 9-slide PowerPoint deck and a written proposal: their site today (64/100, grade D), what is costing them customers, before and after, why us (88/100 organisation match), and the plan with team, effort, timeline and price. Every number comes from the audit, the redesign and the match. Nothing is sent until a human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every prospect sees their better website before they sign. Run npm start and open localhost:3000 to watch it work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keeps the full detail: every pain point, each step of the run, the agent marketplace, the technology, trust, the business case, the roadmap and a one-slide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Skilled developers between projects are a cost to the organisation, and their time is not visible to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proposal needs a lead, research on the prospect's site and stack, a draft and a review. That takes days of senior time, so very few go out, and the ones that do are generic and seldom convert.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contact list, no shared playbook, and so much preparation that the moment passes. These are qualitative pain points; real numbers will come from our own pipeline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live view of who is available with which skills. Deals are chased without knowing whether we can staff them, and the right people wait while the right deals go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pre-sales pain points: slow reach, expensive pitches, talent between projects used badly, no personalisation, no scale, and no proof in the room during CTO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 goes: paste a URL, the Coordinator plans, seven checks run in parallel, the Designer and Team Matcher build in parallel, the Deck Writer writes, and a human reviews. About 1.5 to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result from allbirds.com: 64 out of 100, grade D. Speed 40 (F), mobile 87 (B), accessibility 70 (C), UX 60 (D), AI search 62 (D). Every finding carries its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eight pains are answered today. The audit gives a concrete angle to open with, which partly answers the lack of direction. Contact finding and outreach drafts are not built yet and are the first items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URL gives a full-stack view. Today Nitro covers the front end, detects back-end and cloud technologies, measures performance and checks AI readiness. Deeper back-end checks, automated tests, journeys and locales are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in the marketplace: the Journey Runner walks key journeys (search, product, cart, checkout), the Test Writer turns them into Playwright tests the client keeps, and the Locale Tester runs them across languages and regions. Each step gets an LLM score with a reason.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LLM scores with reasons using one rubric (beta), a redesigned homepage in real HTML (today), a simple RAG chat assistant built from their pages if needed (next), and a personalised deck and proposal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app every tool call posts to a live feed, results land as cards, and a pixel-art office shows which agent is busy and who hands work to whom. Every run is saved and can be replayed for free. At the end, the Coordinator asks a human to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do the heavy lifting at scale, around the clock. Our experts check the numbers, add real project know-how, adjust plan, team and price, and own the CTO conversation. The result is fast, streamlined and fine-tuned.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run finishes, the Review Assigner (planned) gives it to an available developer with the right skills. They get a notification, review and fine-tune, sign off, and get credit on the pitch. Time between projects becomes useful, visible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a CTO meeting we paste their URL and, about three minutes later, show the score, tech stack and redesign on screen. By minute ten we discuss their real issues with a named team and price range. The next day they get a deck reviewed by an expert.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Night Watch agent: keeps a watchlist of target accounts, re-checks every site overnight, alerts sales when a site slows down, breaks or relaunches, and sends a morning digest with the best leads and a drafted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research of a prospect's site, stack and pitch takes days of senior time. A Nitro run takes about 1.5 to 3 minutes in our tests, and the app runs up to 3 at the same time, so experts spend their time reviewing instead of researching. We will measure the real time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marketplace lists 25 agents: 12 live, 2 beta and 11 planned, with what each takes in, produces and how to showcase it. It is built in the code: config/marketplace.json, the /api/marketplace endpoint and the /marketplace.html page, with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TypeScript on Node.js 20; Playwright, Lighthouse 12, axe-core and the Chrome DevTools Protocol to measure; Claude through the Anthropic Messages API with streaming and vision; pptxgenjs for the deck; vanilla HTML, CSS and JavaScript for the interface; Node test runner, a guardrailed planner and offline fallbacks.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numbers come from tools; the model only judges design and clarity. Code guardrails control the planner. Offline mode and free replay mean it always works. Everything is documented: 43 decisions, 49 tests and tagged releases. Sample data is labelled as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Nitro lets us reach many more prospects with personalised proof, puts developers between projects to work, and shortens the path to a staffed project. We will measure the real impact: proposals sent, replies, conversions, revenue and talent utilisation.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get more, faster, personal pitches. Developers between projects get real work and credit. Delivery heads get projects scoped from data. Leadership gets lower unallocated cost and a measurable pipeline. The client CTO gets free, useful insight. The organisation shows its AI and engineering skill in every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full URL-to-pitch pipeline, planner-driven lead agent, live feed, office and replay, review window and agent marketplace. Next: journeys and tests, locale testing, LLM scores and HTML fixes, back-end and DevOps inspectors, real talent data, review assignment. Later: 24x7 agents, RAG chat generator, live-meeting assistant, CRM and multi-page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solution, how, proof, impact and next steps on one page, followed by the key ideas as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Nitro lets us reach many more prospects with proof about their own site, improve conversion with personal findings and a named team, put available experts to work, and scale with an agent marketplace and agents that can run 24x7. Next: a live demo replaying one real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02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10698480" cy="411480"/>
          </a:xfrm>
          <a:prstGeom prst="rect">
            <a:avLst/>
          </a:prstGeom>
          <a:noFill/>
          <a:ln/>
        </p:spPr>
        <p:txBody>
          <a:bodyPr wrap="square" rtlCol="0"/>
          <a:lstStyle>
            <a:lvl1pPr indent="0" marL="0">
              <a:buNone/>
              <a:defRPr lang="en-US" sz="1400" b="1" spc="400" kern="0" dirty="0">
                <a:solidFill>
                  <a:srgbClr val="8FA5FF"/>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731520" y="1874520"/>
            <a:ext cx="10698480" cy="1600200"/>
          </a:xfrm>
          <a:prstGeom prst="rect">
            <a:avLst/>
          </a:prstGeom>
          <a:noFill/>
          <a:ln/>
        </p:spPr>
        <p:txBody>
          <a:bodyPr wrap="square" rtlCol="0"/>
          <a:lstStyle>
            <a:lvl1pPr algn="l" indent="0" marL="0">
              <a:buNone/>
              <a:defRPr lang="en-US" sz="4800" b="1" dirty="0">
                <a:solidFill>
                  <a:srgbClr val="F1F4FF"/>
                </a:solidFill>
                <a:latin typeface="Calibri" pitchFamily="34" charset="0"/>
                <a:ea typeface="Calibri" pitchFamily="34" charset="-122"/>
                <a:cs typeface="Calibri" pitchFamily="34" charset="-120"/>
              </a:defRPr>
            </a:lvl1pPr>
          </a:lstStyle>
          <a:p>
            <a:pPr algn="l" indent="0" marL="0">
              <a:buNone/>
            </a:pPr>
            <a:endParaRPr lang="en-US" sz="4800" dirty="0"/>
          </a:p>
        </p:txBody>
      </p:sp>
      <p:sp>
        <p:nvSpPr>
          <p:cNvPr id="4" name="Text 0"/>
          <p:cNvSpPr/>
          <p:nvPr>
            <p:ph idx="102" type="body" hasCustomPrompt="1"/>
          </p:nvPr>
        </p:nvSpPr>
        <p:spPr>
          <a:xfrm>
            <a:off x="731520" y="3429000"/>
            <a:ext cx="10698480" cy="1645920"/>
          </a:xfrm>
          <a:prstGeom prst="rect">
            <a:avLst/>
          </a:prstGeom>
          <a:noFill/>
          <a:ln/>
        </p:spPr>
        <p:txBody>
          <a:bodyPr wrap="square" rtlCol="0"/>
          <a:lstStyle>
            <a:lvl1pPr indent="0" marL="0">
              <a:buNone/>
              <a:defRPr lang="en-US" sz="2000" dirty="0">
                <a:solidFill>
                  <a:srgbClr val="A9B4D6"/>
                </a:solidFill>
                <a:latin typeface="Calibri" pitchFamily="34" charset="0"/>
                <a:ea typeface="Calibri" pitchFamily="34" charset="-122"/>
                <a:cs typeface="Calibri" pitchFamily="34" charset="-120"/>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4D6"/>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6F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rtlCol="0"/>
          <a:lstStyle>
            <a:lvl1pPr indent="0" marL="0">
              <a:buNone/>
              <a:defRPr lang="en-US" sz="1200" b="1" spc="300" kern="0" dirty="0">
                <a:solidFill>
                  <a:srgbClr val="4F6BFF"/>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rtlCol="0"/>
          <a:lstStyle>
            <a:lvl1pPr algn="l" indent="0" marL="0">
              <a:buNone/>
              <a:defRPr lang="en-US" sz="3400" b="1" dirty="0">
                <a:solidFill>
                  <a:srgbClr val="1A2033"/>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4" name="Text 0"/>
          <p:cNvSpPr/>
          <p:nvPr/>
        </p:nvSpPr>
        <p:spPr>
          <a:xfrm>
            <a:off x="548640" y="6419088"/>
            <a:ext cx="3657600" cy="274320"/>
          </a:xfrm>
          <a:prstGeom prst="rect">
            <a:avLst/>
          </a:prstGeom>
          <a:noFill/>
          <a:ln/>
        </p:spPr>
        <p:txBody>
          <a:bodyPr wrap="square" lIns="0" tIns="0" rIns="0" bIns="0" rtlCol="0" anchor="ctr"/>
          <a:lstStyle/>
          <a:p>
            <a:pPr indent="0" marL="0">
              <a:buNone/>
            </a:pPr>
            <a:r>
              <a:rPr lang="en-US" sz="1000" dirty="0">
                <a:solidFill>
                  <a:srgbClr val="667089"/>
                </a:solidFill>
                <a:latin typeface="Calibri" pitchFamily="34" charset="0"/>
                <a:ea typeface="Calibri" pitchFamily="34" charset="-122"/>
                <a:cs typeface="Calibri" pitchFamily="34" charset="-120"/>
              </a:rPr>
              <a:t>Nitro · Digithon 2026</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4D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2.xm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3.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3.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3.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image" Target="../media/image-12-21.png"/><Relationship Id="rId22" Type="http://schemas.openxmlformats.org/officeDocument/2006/relationships/slideLayout" Target="../slideLayouts/slideLayout3.xml"/><Relationship Id="rId2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7-1.jpg"/><Relationship Id="rId3" Type="http://schemas.openxmlformats.org/officeDocument/2006/relationships/image" Target="../media/image-17-2.jp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slideLayout" Target="../slideLayouts/slideLayout2.xml"/><Relationship Id="rId1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png"/><Relationship Id="rId13" Type="http://schemas.openxmlformats.org/officeDocument/2006/relationships/slideLayout" Target="../slideLayouts/slideLayout3.xml"/><Relationship Id="rId1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3.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image" Target="../media/image-27-13.png"/><Relationship Id="rId14" Type="http://schemas.openxmlformats.org/officeDocument/2006/relationships/slideLayout" Target="../slideLayouts/slideLayout3.xml"/><Relationship Id="rId1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3.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3.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3.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3.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10.png"/><Relationship Id="rId11" Type="http://schemas.openxmlformats.org/officeDocument/2006/relationships/image" Target="../media/image-39-11.png"/><Relationship Id="rId12" Type="http://schemas.openxmlformats.org/officeDocument/2006/relationships/image" Target="../media/image-39-12.png"/><Relationship Id="rId13" Type="http://schemas.openxmlformats.org/officeDocument/2006/relationships/image" Target="../media/image-39-13.png"/><Relationship Id="rId14" Type="http://schemas.openxmlformats.org/officeDocument/2006/relationships/image" Target="../media/image-39-14.png"/><Relationship Id="rId15" Type="http://schemas.openxmlformats.org/officeDocument/2006/relationships/image" Target="../media/image-39-15.png"/><Relationship Id="rId16" Type="http://schemas.openxmlformats.org/officeDocument/2006/relationships/image" Target="../media/image-39-16.png"/><Relationship Id="rId17" Type="http://schemas.openxmlformats.org/officeDocument/2006/relationships/image" Target="../media/image-39-17.png"/><Relationship Id="rId18" Type="http://schemas.openxmlformats.org/officeDocument/2006/relationships/image" Target="../media/image-39-18.png"/><Relationship Id="rId19" Type="http://schemas.openxmlformats.org/officeDocument/2006/relationships/image" Target="../media/image-39-19.png"/><Relationship Id="rId20" Type="http://schemas.openxmlformats.org/officeDocument/2006/relationships/image" Target="../media/image-39-20.png"/><Relationship Id="rId21" Type="http://schemas.openxmlformats.org/officeDocument/2006/relationships/image" Target="../media/image-39-21.png"/><Relationship Id="rId22" Type="http://schemas.openxmlformats.org/officeDocument/2006/relationships/image" Target="../media/image-39-22.png"/><Relationship Id="rId23" Type="http://schemas.openxmlformats.org/officeDocument/2006/relationships/image" Target="../media/image-39-23.png"/><Relationship Id="rId24" Type="http://schemas.openxmlformats.org/officeDocument/2006/relationships/image" Target="../media/image-39-24.png"/><Relationship Id="rId25" Type="http://schemas.openxmlformats.org/officeDocument/2006/relationships/image" Target="../media/image-39-25.png"/><Relationship Id="rId26" Type="http://schemas.openxmlformats.org/officeDocument/2006/relationships/slideLayout" Target="../slideLayouts/slideLayout3.xml"/><Relationship Id="rId2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3.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3.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3.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3.xml"/><Relationship Id="rId6"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10698480" cy="411480"/>
          </a:xfrm>
          <a:prstGeom prst="rect">
            <a:avLst/>
          </a:prstGeom>
          <a:noFill/>
          <a:ln/>
        </p:spPr>
        <p:txBody>
          <a:bodyPr wrap="square" lIns="0" tIns="0" rIns="0" bIns="0" rtlCol="0"/>
          <a:lstStyle/>
          <a:p>
            <a:pPr indent="0" marL="0">
              <a:buNone/>
            </a:pPr>
            <a:r>
              <a:rPr lang="en-US" sz="1400" b="1" spc="400" kern="0" dirty="0">
                <a:solidFill>
                  <a:srgbClr val="8FA5FF"/>
                </a:solidFill>
                <a:latin typeface="Calibri" pitchFamily="34" charset="0"/>
                <a:ea typeface="Calibri" pitchFamily="34" charset="-122"/>
                <a:cs typeface="Calibri" pitchFamily="34" charset="-120"/>
              </a:rPr>
              <a:t>DIGITHON 2026</a:t>
            </a:r>
            <a:endParaRPr lang="en-US" sz="1400" dirty="0"/>
          </a:p>
        </p:txBody>
      </p:sp>
      <p:sp>
        <p:nvSpPr>
          <p:cNvPr id="4" name="Text 1"/>
          <p:cNvSpPr txBox="1"/>
          <p:nvPr/>
        </p:nvSpPr>
        <p:spPr>
          <a:xfrm>
            <a:off x="685800" y="1783080"/>
            <a:ext cx="10698480" cy="1691640"/>
          </a:xfrm>
          <a:prstGeom prst="rect">
            <a:avLst/>
          </a:prstGeom>
          <a:noFill/>
          <a:ln/>
        </p:spPr>
        <p:txBody>
          <a:bodyPr wrap="square" lIns="0" tIns="0" rIns="0" bIns="0" rtlCol="0" anchor="ctr"/>
          <a:lstStyle/>
          <a:p>
            <a:pPr indent="0" marL="0">
              <a:buNone/>
            </a:pPr>
            <a:r>
              <a:rPr lang="en-US" sz="12000" b="1" dirty="0">
                <a:solidFill>
                  <a:srgbClr val="8FA5FF"/>
                </a:solidFill>
                <a:latin typeface="Calibri" pitchFamily="34" charset="0"/>
                <a:ea typeface="Calibri" pitchFamily="34" charset="-122"/>
                <a:cs typeface="Calibri" pitchFamily="34" charset="-120"/>
              </a:rPr>
              <a:t>Nitro</a:t>
            </a:r>
            <a:endParaRPr lang="en-US" sz="12000" dirty="0"/>
          </a:p>
        </p:txBody>
      </p:sp>
      <p:sp>
        <p:nvSpPr>
          <p:cNvPr id="5" name="Text 0"/>
          <p:cNvSpPr/>
          <p:nvPr>
            <p:ph idx="102" type="body" hasCustomPrompt="1"/>
          </p:nvPr>
        </p:nvSpPr>
        <p:spPr>
          <a:xfrm>
            <a:off x="731520" y="3429000"/>
            <a:ext cx="10698480" cy="1645920"/>
          </a:xfrm>
          <a:prstGeom prst="rect">
            <a:avLst/>
          </a:prstGeom>
          <a:noFill/>
          <a:ln/>
        </p:spPr>
        <p:txBody>
          <a:bodyPr wrap="square" lIns="0" tIns="0" rIns="0" bIns="0" rtlCol="0" anchor="t"/>
          <a:lstStyle/>
          <a:p>
            <a:pPr indent="0" marL="0">
              <a:buNone/>
            </a:pPr>
            <a:r>
              <a:rPr lang="en-US" sz="2400" b="1" dirty="0">
                <a:solidFill>
                  <a:srgbClr val="F1F4FF"/>
                </a:solidFill>
                <a:latin typeface="Calibri" pitchFamily="34" charset="0"/>
                <a:ea typeface="Calibri" pitchFamily="34" charset="-122"/>
                <a:cs typeface="Calibri" pitchFamily="34" charset="-120"/>
              </a:rPr>
              <a:t>Great developers, in front of every client.</a:t>
            </a:r>
            <a:endParaRPr lang="en-US" sz="2000" dirty="0"/>
          </a:p>
          <a:p>
            <a:pPr indent="0" marL="0">
              <a:buNone/>
            </a:pPr>
            <a:r>
              <a:rPr lang="en-US" sz="2000" dirty="0">
                <a:solidFill>
                  <a:srgbClr val="A9B4D6"/>
                </a:solidFill>
                <a:latin typeface="Calibri" pitchFamily="34" charset="0"/>
                <a:ea typeface="Calibri" pitchFamily="34" charset="-122"/>
                <a:cs typeface="Calibri" pitchFamily="34" charset="-120"/>
              </a:rPr>
              <a:t>Powering external business in a supercharged environment.</a:t>
            </a:r>
            <a:endParaRPr lang="en-US" sz="2000" dirty="0"/>
          </a:p>
          <a:p>
            <a:pPr indent="0" marL="0">
              <a:buNone/>
            </a:pPr>
            <a:r>
              <a:rPr lang="en-US" sz="1000" dirty="0">
                <a:solidFill>
                  <a:srgbClr val="A9B4D6"/>
                </a:solidFill>
                <a:latin typeface="Calibri" pitchFamily="34" charset="0"/>
                <a:ea typeface="Calibri" pitchFamily="34" charset="-122"/>
                <a:cs typeface="Calibri" pitchFamily="34" charset="-120"/>
              </a:rPr>
              <a:t> </a:t>
            </a:r>
            <a:endParaRPr lang="en-US" sz="2000" dirty="0"/>
          </a:p>
          <a:p>
            <a:pPr indent="0" marL="0">
              <a:buNone/>
            </a:pPr>
            <a:r>
              <a:rPr lang="en-US" sz="2200" b="1" dirty="0">
                <a:solidFill>
                  <a:srgbClr val="F1F4FF"/>
                </a:solidFill>
                <a:latin typeface="Calibri" pitchFamily="34" charset="0"/>
                <a:ea typeface="Calibri" pitchFamily="34" charset="-122"/>
                <a:cs typeface="Calibri" pitchFamily="34" charset="-120"/>
              </a:rPr>
              <a:t>Manish Paul</a:t>
            </a:r>
            <a:pPr indent="0" marL="0">
              <a:buNone/>
            </a:pPr>
            <a:r>
              <a:rPr lang="en-US" sz="1600" dirty="0">
                <a:solidFill>
                  <a:srgbClr val="A9B4D6"/>
                </a:solidFill>
                <a:latin typeface="Calibri" pitchFamily="34" charset="0"/>
                <a:ea typeface="Calibri" pitchFamily="34" charset="-122"/>
                <a:cs typeface="Calibri" pitchFamily="34" charset="-120"/>
              </a:rPr>
              <a:t>   Digital CRM</a:t>
            </a:r>
            <a:endParaRPr lang="en-US" sz="2000" dirty="0"/>
          </a:p>
          <a:p>
            <a:pPr indent="0" marL="0">
              <a:buNone/>
            </a:pPr>
            <a:r>
              <a:rPr lang="en-US" sz="1600" dirty="0">
                <a:solidFill>
                  <a:srgbClr val="F1F4FF"/>
                </a:solidFill>
                <a:latin typeface="Calibri" pitchFamily="34" charset="0"/>
                <a:ea typeface="Calibri" pitchFamily="34" charset="-122"/>
                <a:cs typeface="Calibri" pitchFamily="34" charset="-120"/>
              </a:rPr>
              <a:t>Abhishek Kaushik  ·  Rohan Kalra  ·  Saurav Singh  ·  Amrendra Kumar</a:t>
            </a:r>
            <a:endParaRPr lang="en-US" sz="2000" dirty="0"/>
          </a:p>
          <a:p>
            <a:pPr indent="0" marL="0">
              <a:buNone/>
            </a:pPr>
            <a:r>
              <a:rPr lang="en-US" sz="1500" dirty="0">
                <a:solidFill>
                  <a:srgbClr val="A9B4D6"/>
                </a:solidFill>
                <a:latin typeface="Calibri" pitchFamily="34" charset="0"/>
                <a:ea typeface="Calibri" pitchFamily="34" charset="-122"/>
                <a:cs typeface="Calibri" pitchFamily="34" charset="-120"/>
              </a:rPr>
              <a:t>Mentor: </a:t>
            </a:r>
            <a:pPr indent="0" marL="0">
              <a:buNone/>
            </a:pPr>
            <a:r>
              <a:rPr lang="en-US" sz="1500" b="1" dirty="0">
                <a:solidFill>
                  <a:srgbClr val="F1F4FF"/>
                </a:solidFill>
                <a:latin typeface="Calibri" pitchFamily="34" charset="0"/>
                <a:ea typeface="Calibri" pitchFamily="34" charset="-122"/>
                <a:cs typeface="Calibri" pitchFamily="34" charset="-120"/>
              </a:rPr>
              <a:t>Mukul Jain</a:t>
            </a:r>
            <a:endParaRPr lang="en-US" sz="2000" dirty="0"/>
          </a:p>
        </p:txBody>
      </p:sp>
      <p:pic>
        <p:nvPicPr>
          <p:cNvPr id="6" name="Image 0" descr="Coordinator agent, pixel robot">    </p:cNvPr>
          <p:cNvPicPr>
            <a:picLocks noChangeAspect="1"/>
          </p:cNvPicPr>
          <p:nvPr/>
        </p:nvPicPr>
        <p:blipFill>
          <a:blip r:embed="rId1"/>
          <a:stretch>
            <a:fillRect/>
          </a:stretch>
        </p:blipFill>
        <p:spPr>
          <a:xfrm>
            <a:off x="2361667" y="5532120"/>
            <a:ext cx="502920" cy="691515"/>
          </a:xfrm>
          <a:prstGeom prst="rect">
            <a:avLst/>
          </a:prstGeom>
        </p:spPr>
      </p:pic>
      <p:pic>
        <p:nvPicPr>
          <p:cNvPr id="7" name="Image 1" descr="Site Auditor agent, pixel robot">    </p:cNvPr>
          <p:cNvPicPr>
            <a:picLocks noChangeAspect="1"/>
          </p:cNvPicPr>
          <p:nvPr/>
        </p:nvPicPr>
        <p:blipFill>
          <a:blip r:embed="rId2"/>
          <a:stretch>
            <a:fillRect/>
          </a:stretch>
        </p:blipFill>
        <p:spPr>
          <a:xfrm>
            <a:off x="3040609" y="5532120"/>
            <a:ext cx="502920" cy="691515"/>
          </a:xfrm>
          <a:prstGeom prst="rect">
            <a:avLst/>
          </a:prstGeom>
        </p:spPr>
      </p:pic>
      <p:pic>
        <p:nvPicPr>
          <p:cNvPr id="8" name="Image 2" descr="Tech Detector agent, pixel robot">    </p:cNvPr>
          <p:cNvPicPr>
            <a:picLocks noChangeAspect="1"/>
          </p:cNvPicPr>
          <p:nvPr/>
        </p:nvPicPr>
        <p:blipFill>
          <a:blip r:embed="rId3"/>
          <a:stretch>
            <a:fillRect/>
          </a:stretch>
        </p:blipFill>
        <p:spPr>
          <a:xfrm>
            <a:off x="3719551" y="5532120"/>
            <a:ext cx="502920" cy="691515"/>
          </a:xfrm>
          <a:prstGeom prst="rect">
            <a:avLst/>
          </a:prstGeom>
        </p:spPr>
      </p:pic>
      <p:pic>
        <p:nvPicPr>
          <p:cNvPr id="9" name="Image 3" descr="Speed Tester agent, pixel robot">    </p:cNvPr>
          <p:cNvPicPr>
            <a:picLocks noChangeAspect="1"/>
          </p:cNvPicPr>
          <p:nvPr/>
        </p:nvPicPr>
        <p:blipFill>
          <a:blip r:embed="rId4"/>
          <a:stretch>
            <a:fillRect/>
          </a:stretch>
        </p:blipFill>
        <p:spPr>
          <a:xfrm>
            <a:off x="4398493" y="5532120"/>
            <a:ext cx="502920" cy="691515"/>
          </a:xfrm>
          <a:prstGeom prst="rect">
            <a:avLst/>
          </a:prstGeom>
        </p:spPr>
      </p:pic>
      <p:pic>
        <p:nvPicPr>
          <p:cNvPr id="10" name="Image 4" descr="Mobile Tester agent, pixel robot">    </p:cNvPr>
          <p:cNvPicPr>
            <a:picLocks noChangeAspect="1"/>
          </p:cNvPicPr>
          <p:nvPr/>
        </p:nvPicPr>
        <p:blipFill>
          <a:blip r:embed="rId5"/>
          <a:stretch>
            <a:fillRect/>
          </a:stretch>
        </p:blipFill>
        <p:spPr>
          <a:xfrm>
            <a:off x="5077435" y="5532120"/>
            <a:ext cx="502920" cy="691515"/>
          </a:xfrm>
          <a:prstGeom prst="rect">
            <a:avLst/>
          </a:prstGeom>
        </p:spPr>
      </p:pic>
      <p:pic>
        <p:nvPicPr>
          <p:cNvPr id="11" name="Image 5" descr="Accessibility Checker agent, pixel robot">    </p:cNvPr>
          <p:cNvPicPr>
            <a:picLocks noChangeAspect="1"/>
          </p:cNvPicPr>
          <p:nvPr/>
        </p:nvPicPr>
        <p:blipFill>
          <a:blip r:embed="rId6"/>
          <a:stretch>
            <a:fillRect/>
          </a:stretch>
        </p:blipFill>
        <p:spPr>
          <a:xfrm>
            <a:off x="5756377" y="5532120"/>
            <a:ext cx="502920" cy="691515"/>
          </a:xfrm>
          <a:prstGeom prst="rect">
            <a:avLst/>
          </a:prstGeom>
        </p:spPr>
      </p:pic>
      <p:pic>
        <p:nvPicPr>
          <p:cNvPr id="12" name="Image 6" descr="UX Reviewer agent, pixel robot">    </p:cNvPr>
          <p:cNvPicPr>
            <a:picLocks noChangeAspect="1"/>
          </p:cNvPicPr>
          <p:nvPr/>
        </p:nvPicPr>
        <p:blipFill>
          <a:blip r:embed="rId7"/>
          <a:stretch>
            <a:fillRect/>
          </a:stretch>
        </p:blipFill>
        <p:spPr>
          <a:xfrm>
            <a:off x="6435319" y="5532120"/>
            <a:ext cx="502920" cy="691515"/>
          </a:xfrm>
          <a:prstGeom prst="rect">
            <a:avLst/>
          </a:prstGeom>
        </p:spPr>
      </p:pic>
      <p:pic>
        <p:nvPicPr>
          <p:cNvPr id="13" name="Image 7" descr="AI-Search Checker agent, pixel robot">    </p:cNvPr>
          <p:cNvPicPr>
            <a:picLocks noChangeAspect="1"/>
          </p:cNvPicPr>
          <p:nvPr/>
        </p:nvPicPr>
        <p:blipFill>
          <a:blip r:embed="rId8"/>
          <a:stretch>
            <a:fillRect/>
          </a:stretch>
        </p:blipFill>
        <p:spPr>
          <a:xfrm>
            <a:off x="7114261" y="5532120"/>
            <a:ext cx="502920" cy="691515"/>
          </a:xfrm>
          <a:prstGeom prst="rect">
            <a:avLst/>
          </a:prstGeom>
        </p:spPr>
      </p:pic>
      <p:pic>
        <p:nvPicPr>
          <p:cNvPr id="14" name="Image 8" descr="Designer agent, pixel robot">    </p:cNvPr>
          <p:cNvPicPr>
            <a:picLocks noChangeAspect="1"/>
          </p:cNvPicPr>
          <p:nvPr/>
        </p:nvPicPr>
        <p:blipFill>
          <a:blip r:embed="rId9"/>
          <a:stretch>
            <a:fillRect/>
          </a:stretch>
        </p:blipFill>
        <p:spPr>
          <a:xfrm>
            <a:off x="7793203" y="5532120"/>
            <a:ext cx="502920" cy="691515"/>
          </a:xfrm>
          <a:prstGeom prst="rect">
            <a:avLst/>
          </a:prstGeom>
        </p:spPr>
      </p:pic>
      <p:pic>
        <p:nvPicPr>
          <p:cNvPr id="15" name="Image 9" descr="Team Matcher agent, pixel robot">    </p:cNvPr>
          <p:cNvPicPr>
            <a:picLocks noChangeAspect="1"/>
          </p:cNvPicPr>
          <p:nvPr/>
        </p:nvPicPr>
        <p:blipFill>
          <a:blip r:embed="rId10"/>
          <a:stretch>
            <a:fillRect/>
          </a:stretch>
        </p:blipFill>
        <p:spPr>
          <a:xfrm>
            <a:off x="8472145" y="5532120"/>
            <a:ext cx="502920" cy="691515"/>
          </a:xfrm>
          <a:prstGeom prst="rect">
            <a:avLst/>
          </a:prstGeom>
        </p:spPr>
      </p:pic>
      <p:pic>
        <p:nvPicPr>
          <p:cNvPr id="16" name="Image 10" descr="Deck Writer agent, pixel robot">    </p:cNvPr>
          <p:cNvPicPr>
            <a:picLocks noChangeAspect="1"/>
          </p:cNvPicPr>
          <p:nvPr/>
        </p:nvPicPr>
        <p:blipFill>
          <a:blip r:embed="rId11"/>
          <a:stretch>
            <a:fillRect/>
          </a:stretch>
        </p:blipFill>
        <p:spPr>
          <a:xfrm>
            <a:off x="9151087" y="5532120"/>
            <a:ext cx="502920" cy="691515"/>
          </a:xfrm>
          <a:prstGeom prst="rect">
            <a:avLst/>
          </a:prstGeom>
        </p:spPr>
      </p:pic>
      <p:sp>
        <p:nvSpPr>
          <p:cNvPr id="17" name="Text 0"/>
          <p:cNvSpPr/>
          <p:nvPr>
            <p:ph idx="101" type="title" hasCustomPrompt="1"/>
          </p:nvPr>
        </p:nvSpPr>
        <p:spPr>
          <a:xfrm>
            <a:off x="731520" y="1874520"/>
            <a:ext cx="10698480" cy="1600200"/>
          </a:xfrm>
          <a:prstGeom prst="rect">
            <a:avLst/>
          </a:prstGeom>
          <a:noFill/>
          <a:ln/>
        </p:spPr>
        <p:txBody>
          <a:bodyPr wrap="square" lIns="0" tIns="0" rIns="0" bIns="0" rtlCol="0" anchor="t"/>
          <a:lstStyle/>
          <a:p>
            <a:pPr algn="l" indent="0" marL="0">
              <a:buNone/>
            </a:pPr>
            <a:endParaRPr lang="en-US" sz="4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4D6"/>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PROBLEM</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Pre-sales today</a:t>
            </a:r>
            <a:endParaRPr lang="en-US" sz="3400" dirty="0"/>
          </a:p>
        </p:txBody>
      </p:sp>
      <p:sp>
        <p:nvSpPr>
          <p:cNvPr id="5" name="Shape 2"/>
          <p:cNvSpPr/>
          <p:nvPr/>
        </p:nvSpPr>
        <p:spPr>
          <a:xfrm>
            <a:off x="548640" y="1783080"/>
            <a:ext cx="3545738" cy="1600200"/>
          </a:xfrm>
          <a:prstGeom prst="roundRect">
            <a:avLst>
              <a:gd name="adj" fmla="val 6857"/>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Text 3"/>
          <p:cNvSpPr txBox="1"/>
          <p:nvPr/>
        </p:nvSpPr>
        <p:spPr>
          <a:xfrm>
            <a:off x="822960" y="1984248"/>
            <a:ext cx="914400" cy="274320"/>
          </a:xfrm>
          <a:prstGeom prst="rect">
            <a:avLst/>
          </a:prstGeom>
          <a:noFill/>
          <a:ln/>
        </p:spPr>
        <p:txBody>
          <a:bodyPr wrap="square" lIns="0" tIns="0" rIns="0" bIns="0" rtlCol="0" anchor="t"/>
          <a:lstStyle/>
          <a:p>
            <a:pPr indent="0" marL="0">
              <a:buNone/>
            </a:pPr>
            <a:r>
              <a:rPr lang="en-US" sz="1100" b="1" spc="200" kern="0" dirty="0">
                <a:solidFill>
                  <a:srgbClr val="4F6BFF"/>
                </a:solidFill>
                <a:latin typeface="Calibri" pitchFamily="34" charset="0"/>
                <a:ea typeface="Calibri" pitchFamily="34" charset="-122"/>
                <a:cs typeface="Calibri" pitchFamily="34" charset="-120"/>
              </a:rPr>
              <a:t>01</a:t>
            </a:r>
            <a:endParaRPr lang="en-US" sz="1100" dirty="0"/>
          </a:p>
        </p:txBody>
      </p:sp>
      <p:sp>
        <p:nvSpPr>
          <p:cNvPr id="7" name="Text 4"/>
          <p:cNvSpPr txBox="1"/>
          <p:nvPr/>
        </p:nvSpPr>
        <p:spPr>
          <a:xfrm>
            <a:off x="822960" y="2240280"/>
            <a:ext cx="2997098" cy="457200"/>
          </a:xfrm>
          <a:prstGeom prst="rect">
            <a:avLst/>
          </a:prstGeom>
          <a:noFill/>
          <a:ln/>
        </p:spPr>
        <p:txBody>
          <a:bodyPr wrap="square" lIns="0" tIns="0" rIns="0" bIns="0" rtlCol="0" anchor="t"/>
          <a:lstStyle/>
          <a:p>
            <a:pPr indent="0" marL="0">
              <a:buNone/>
            </a:pPr>
            <a:r>
              <a:rPr lang="en-US" sz="2100" b="1" dirty="0">
                <a:solidFill>
                  <a:srgbClr val="1A2033"/>
                </a:solidFill>
                <a:latin typeface="Calibri" pitchFamily="34" charset="0"/>
                <a:ea typeface="Calibri" pitchFamily="34" charset="-122"/>
                <a:cs typeface="Calibri" pitchFamily="34" charset="-120"/>
              </a:rPr>
              <a:t>Slow to propose</a:t>
            </a:r>
            <a:endParaRPr lang="en-US" sz="2100" dirty="0"/>
          </a:p>
        </p:txBody>
      </p:sp>
      <p:sp>
        <p:nvSpPr>
          <p:cNvPr id="8" name="Text 5"/>
          <p:cNvSpPr txBox="1"/>
          <p:nvPr/>
        </p:nvSpPr>
        <p:spPr>
          <a:xfrm>
            <a:off x="822960" y="2697480"/>
            <a:ext cx="2997098" cy="548640"/>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Days of research before a single proposal goes out.</a:t>
            </a:r>
            <a:endParaRPr lang="en-US" sz="1300" dirty="0"/>
          </a:p>
        </p:txBody>
      </p:sp>
      <p:sp>
        <p:nvSpPr>
          <p:cNvPr id="9" name="Shape 6"/>
          <p:cNvSpPr/>
          <p:nvPr/>
        </p:nvSpPr>
        <p:spPr>
          <a:xfrm>
            <a:off x="4322978" y="1783080"/>
            <a:ext cx="3545738" cy="1600200"/>
          </a:xfrm>
          <a:prstGeom prst="roundRect">
            <a:avLst>
              <a:gd name="adj" fmla="val 6857"/>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0" name="Text 7"/>
          <p:cNvSpPr txBox="1"/>
          <p:nvPr/>
        </p:nvSpPr>
        <p:spPr>
          <a:xfrm>
            <a:off x="4597298" y="1984248"/>
            <a:ext cx="914400" cy="274320"/>
          </a:xfrm>
          <a:prstGeom prst="rect">
            <a:avLst/>
          </a:prstGeom>
          <a:noFill/>
          <a:ln/>
        </p:spPr>
        <p:txBody>
          <a:bodyPr wrap="square" lIns="0" tIns="0" rIns="0" bIns="0" rtlCol="0" anchor="t"/>
          <a:lstStyle/>
          <a:p>
            <a:pPr indent="0" marL="0">
              <a:buNone/>
            </a:pPr>
            <a:r>
              <a:rPr lang="en-US" sz="1100" b="1" spc="200" kern="0" dirty="0">
                <a:solidFill>
                  <a:srgbClr val="4F6BFF"/>
                </a:solidFill>
                <a:latin typeface="Calibri" pitchFamily="34" charset="0"/>
                <a:ea typeface="Calibri" pitchFamily="34" charset="-122"/>
                <a:cs typeface="Calibri" pitchFamily="34" charset="-120"/>
              </a:rPr>
              <a:t>02</a:t>
            </a:r>
            <a:endParaRPr lang="en-US" sz="1100" dirty="0"/>
          </a:p>
        </p:txBody>
      </p:sp>
      <p:sp>
        <p:nvSpPr>
          <p:cNvPr id="11" name="Text 8"/>
          <p:cNvSpPr txBox="1"/>
          <p:nvPr/>
        </p:nvSpPr>
        <p:spPr>
          <a:xfrm>
            <a:off x="4597298" y="2240280"/>
            <a:ext cx="2997098" cy="457200"/>
          </a:xfrm>
          <a:prstGeom prst="rect">
            <a:avLst/>
          </a:prstGeom>
          <a:noFill/>
          <a:ln/>
        </p:spPr>
        <p:txBody>
          <a:bodyPr wrap="square" lIns="0" tIns="0" rIns="0" bIns="0" rtlCol="0" anchor="t"/>
          <a:lstStyle/>
          <a:p>
            <a:pPr indent="0" marL="0">
              <a:buNone/>
            </a:pPr>
            <a:r>
              <a:rPr lang="en-US" sz="2100" b="1" dirty="0">
                <a:solidFill>
                  <a:srgbClr val="1A2033"/>
                </a:solidFill>
                <a:latin typeface="Calibri" pitchFamily="34" charset="0"/>
                <a:ea typeface="Calibri" pitchFamily="34" charset="-122"/>
                <a:cs typeface="Calibri" pitchFamily="34" charset="-120"/>
              </a:rPr>
              <a:t>Expensive to create</a:t>
            </a:r>
            <a:endParaRPr lang="en-US" sz="2100" dirty="0"/>
          </a:p>
        </p:txBody>
      </p:sp>
      <p:sp>
        <p:nvSpPr>
          <p:cNvPr id="12" name="Text 9"/>
          <p:cNvSpPr txBox="1"/>
          <p:nvPr/>
        </p:nvSpPr>
        <p:spPr>
          <a:xfrm>
            <a:off x="4597298" y="2697480"/>
            <a:ext cx="2997098" cy="548640"/>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Senior architects spend days on each pitch.</a:t>
            </a:r>
            <a:endParaRPr lang="en-US" sz="1300" dirty="0"/>
          </a:p>
        </p:txBody>
      </p:sp>
      <p:sp>
        <p:nvSpPr>
          <p:cNvPr id="13" name="Shape 10"/>
          <p:cNvSpPr/>
          <p:nvPr/>
        </p:nvSpPr>
        <p:spPr>
          <a:xfrm>
            <a:off x="8097317" y="1783080"/>
            <a:ext cx="3545738" cy="1600200"/>
          </a:xfrm>
          <a:prstGeom prst="roundRect">
            <a:avLst>
              <a:gd name="adj" fmla="val 6857"/>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4" name="Text 11"/>
          <p:cNvSpPr txBox="1"/>
          <p:nvPr/>
        </p:nvSpPr>
        <p:spPr>
          <a:xfrm>
            <a:off x="8371637" y="1984248"/>
            <a:ext cx="914400" cy="274320"/>
          </a:xfrm>
          <a:prstGeom prst="rect">
            <a:avLst/>
          </a:prstGeom>
          <a:noFill/>
          <a:ln/>
        </p:spPr>
        <p:txBody>
          <a:bodyPr wrap="square" lIns="0" tIns="0" rIns="0" bIns="0" rtlCol="0" anchor="t"/>
          <a:lstStyle/>
          <a:p>
            <a:pPr indent="0" marL="0">
              <a:buNone/>
            </a:pPr>
            <a:r>
              <a:rPr lang="en-US" sz="1100" b="1" spc="200" kern="0" dirty="0">
                <a:solidFill>
                  <a:srgbClr val="4F6BFF"/>
                </a:solidFill>
                <a:latin typeface="Calibri" pitchFamily="34" charset="0"/>
                <a:ea typeface="Calibri" pitchFamily="34" charset="-122"/>
                <a:cs typeface="Calibri" pitchFamily="34" charset="-120"/>
              </a:rPr>
              <a:t>03</a:t>
            </a:r>
            <a:endParaRPr lang="en-US" sz="1100" dirty="0"/>
          </a:p>
        </p:txBody>
      </p:sp>
      <p:sp>
        <p:nvSpPr>
          <p:cNvPr id="15" name="Text 12"/>
          <p:cNvSpPr txBox="1"/>
          <p:nvPr/>
        </p:nvSpPr>
        <p:spPr>
          <a:xfrm>
            <a:off x="8371637" y="2240280"/>
            <a:ext cx="2997098" cy="457200"/>
          </a:xfrm>
          <a:prstGeom prst="rect">
            <a:avLst/>
          </a:prstGeom>
          <a:noFill/>
          <a:ln/>
        </p:spPr>
        <p:txBody>
          <a:bodyPr wrap="square" lIns="0" tIns="0" rIns="0" bIns="0" rtlCol="0" anchor="t"/>
          <a:lstStyle/>
          <a:p>
            <a:pPr indent="0" marL="0">
              <a:buNone/>
            </a:pPr>
            <a:r>
              <a:rPr lang="en-US" sz="2100" b="1" dirty="0">
                <a:solidFill>
                  <a:srgbClr val="1A2033"/>
                </a:solidFill>
                <a:latin typeface="Calibri" pitchFamily="34" charset="0"/>
                <a:ea typeface="Calibri" pitchFamily="34" charset="-122"/>
                <a:cs typeface="Calibri" pitchFamily="34" charset="-120"/>
              </a:rPr>
              <a:t>Generic content</a:t>
            </a:r>
            <a:endParaRPr lang="en-US" sz="2100" dirty="0"/>
          </a:p>
        </p:txBody>
      </p:sp>
      <p:sp>
        <p:nvSpPr>
          <p:cNvPr id="16" name="Text 13"/>
          <p:cNvSpPr txBox="1"/>
          <p:nvPr/>
        </p:nvSpPr>
        <p:spPr>
          <a:xfrm>
            <a:off x="8371637" y="2697480"/>
            <a:ext cx="2997098" cy="548640"/>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The same slides for every client.</a:t>
            </a:r>
            <a:endParaRPr lang="en-US" sz="1300" dirty="0"/>
          </a:p>
        </p:txBody>
      </p:sp>
      <p:sp>
        <p:nvSpPr>
          <p:cNvPr id="17" name="Shape 14"/>
          <p:cNvSpPr/>
          <p:nvPr/>
        </p:nvSpPr>
        <p:spPr>
          <a:xfrm>
            <a:off x="548640" y="3611880"/>
            <a:ext cx="3545738" cy="1600200"/>
          </a:xfrm>
          <a:prstGeom prst="roundRect">
            <a:avLst>
              <a:gd name="adj" fmla="val 6857"/>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8" name="Text 15"/>
          <p:cNvSpPr txBox="1"/>
          <p:nvPr/>
        </p:nvSpPr>
        <p:spPr>
          <a:xfrm>
            <a:off x="822960" y="3813048"/>
            <a:ext cx="914400" cy="274320"/>
          </a:xfrm>
          <a:prstGeom prst="rect">
            <a:avLst/>
          </a:prstGeom>
          <a:noFill/>
          <a:ln/>
        </p:spPr>
        <p:txBody>
          <a:bodyPr wrap="square" lIns="0" tIns="0" rIns="0" bIns="0" rtlCol="0" anchor="t"/>
          <a:lstStyle/>
          <a:p>
            <a:pPr indent="0" marL="0">
              <a:buNone/>
            </a:pPr>
            <a:r>
              <a:rPr lang="en-US" sz="1100" b="1" spc="200" kern="0" dirty="0">
                <a:solidFill>
                  <a:srgbClr val="4F6BFF"/>
                </a:solidFill>
                <a:latin typeface="Calibri" pitchFamily="34" charset="0"/>
                <a:ea typeface="Calibri" pitchFamily="34" charset="-122"/>
                <a:cs typeface="Calibri" pitchFamily="34" charset="-120"/>
              </a:rPr>
              <a:t>04</a:t>
            </a:r>
            <a:endParaRPr lang="en-US" sz="1100" dirty="0"/>
          </a:p>
        </p:txBody>
      </p:sp>
      <p:sp>
        <p:nvSpPr>
          <p:cNvPr id="19" name="Text 16"/>
          <p:cNvSpPr txBox="1"/>
          <p:nvPr/>
        </p:nvSpPr>
        <p:spPr>
          <a:xfrm>
            <a:off x="822960" y="4069080"/>
            <a:ext cx="2997098" cy="457200"/>
          </a:xfrm>
          <a:prstGeom prst="rect">
            <a:avLst/>
          </a:prstGeom>
          <a:noFill/>
          <a:ln/>
        </p:spPr>
        <p:txBody>
          <a:bodyPr wrap="square" lIns="0" tIns="0" rIns="0" bIns="0" rtlCol="0" anchor="t"/>
          <a:lstStyle/>
          <a:p>
            <a:pPr indent="0" marL="0">
              <a:buNone/>
            </a:pPr>
            <a:r>
              <a:rPr lang="en-US" sz="2100" b="1" dirty="0">
                <a:solidFill>
                  <a:srgbClr val="1A2033"/>
                </a:solidFill>
                <a:latin typeface="Calibri" pitchFamily="34" charset="0"/>
                <a:ea typeface="Calibri" pitchFamily="34" charset="-122"/>
                <a:cs typeface="Calibri" pitchFamily="34" charset="-120"/>
              </a:rPr>
              <a:t>Can't target customers</a:t>
            </a:r>
            <a:endParaRPr lang="en-US" sz="2100" dirty="0"/>
          </a:p>
        </p:txBody>
      </p:sp>
      <p:sp>
        <p:nvSpPr>
          <p:cNvPr id="20" name="Text 17"/>
          <p:cNvSpPr txBox="1"/>
          <p:nvPr/>
        </p:nvSpPr>
        <p:spPr>
          <a:xfrm>
            <a:off x="822960" y="4526280"/>
            <a:ext cx="2997098" cy="548640"/>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We don't know who to approach, or with what.</a:t>
            </a:r>
            <a:endParaRPr lang="en-US" sz="1300" dirty="0"/>
          </a:p>
        </p:txBody>
      </p:sp>
      <p:sp>
        <p:nvSpPr>
          <p:cNvPr id="21" name="Shape 18"/>
          <p:cNvSpPr/>
          <p:nvPr/>
        </p:nvSpPr>
        <p:spPr>
          <a:xfrm>
            <a:off x="4322978" y="3611880"/>
            <a:ext cx="3545738" cy="1600200"/>
          </a:xfrm>
          <a:prstGeom prst="roundRect">
            <a:avLst>
              <a:gd name="adj" fmla="val 6857"/>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2" name="Text 19"/>
          <p:cNvSpPr txBox="1"/>
          <p:nvPr/>
        </p:nvSpPr>
        <p:spPr>
          <a:xfrm>
            <a:off x="4597298" y="3813048"/>
            <a:ext cx="914400" cy="274320"/>
          </a:xfrm>
          <a:prstGeom prst="rect">
            <a:avLst/>
          </a:prstGeom>
          <a:noFill/>
          <a:ln/>
        </p:spPr>
        <p:txBody>
          <a:bodyPr wrap="square" lIns="0" tIns="0" rIns="0" bIns="0" rtlCol="0" anchor="t"/>
          <a:lstStyle/>
          <a:p>
            <a:pPr indent="0" marL="0">
              <a:buNone/>
            </a:pPr>
            <a:r>
              <a:rPr lang="en-US" sz="1100" b="1" spc="200" kern="0" dirty="0">
                <a:solidFill>
                  <a:srgbClr val="4F6BFF"/>
                </a:solidFill>
                <a:latin typeface="Calibri" pitchFamily="34" charset="0"/>
                <a:ea typeface="Calibri" pitchFamily="34" charset="-122"/>
                <a:cs typeface="Calibri" pitchFamily="34" charset="-120"/>
              </a:rPr>
              <a:t>05</a:t>
            </a:r>
            <a:endParaRPr lang="en-US" sz="1100" dirty="0"/>
          </a:p>
        </p:txBody>
      </p:sp>
      <p:sp>
        <p:nvSpPr>
          <p:cNvPr id="23" name="Text 20"/>
          <p:cNvSpPr txBox="1"/>
          <p:nvPr/>
        </p:nvSpPr>
        <p:spPr>
          <a:xfrm>
            <a:off x="4597298" y="4069080"/>
            <a:ext cx="2997098" cy="457200"/>
          </a:xfrm>
          <a:prstGeom prst="rect">
            <a:avLst/>
          </a:prstGeom>
          <a:noFill/>
          <a:ln/>
        </p:spPr>
        <p:txBody>
          <a:bodyPr wrap="square" lIns="0" tIns="0" rIns="0" bIns="0" rtlCol="0" anchor="t"/>
          <a:lstStyle/>
          <a:p>
            <a:pPr indent="0" marL="0">
              <a:buNone/>
            </a:pPr>
            <a:r>
              <a:rPr lang="en-US" sz="2100" b="1" dirty="0">
                <a:solidFill>
                  <a:srgbClr val="1A2033"/>
                </a:solidFill>
                <a:latin typeface="Calibri" pitchFamily="34" charset="0"/>
                <a:ea typeface="Calibri" pitchFamily="34" charset="-122"/>
                <a:cs typeface="Calibri" pitchFamily="34" charset="-120"/>
              </a:rPr>
              <a:t>Demos take too long</a:t>
            </a:r>
            <a:endParaRPr lang="en-US" sz="2100" dirty="0"/>
          </a:p>
        </p:txBody>
      </p:sp>
      <p:sp>
        <p:nvSpPr>
          <p:cNvPr id="24" name="Text 21"/>
          <p:cNvSpPr txBox="1"/>
          <p:nvPr/>
        </p:nvSpPr>
        <p:spPr>
          <a:xfrm>
            <a:off x="4597298" y="4526280"/>
            <a:ext cx="2997098" cy="548640"/>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Built only when a deal is almost won.</a:t>
            </a:r>
            <a:endParaRPr lang="en-US" sz="1300" dirty="0"/>
          </a:p>
        </p:txBody>
      </p:sp>
      <p:sp>
        <p:nvSpPr>
          <p:cNvPr id="25" name="Shape 22"/>
          <p:cNvSpPr/>
          <p:nvPr/>
        </p:nvSpPr>
        <p:spPr>
          <a:xfrm>
            <a:off x="8097317" y="3611880"/>
            <a:ext cx="3545738" cy="1600200"/>
          </a:xfrm>
          <a:prstGeom prst="roundRect">
            <a:avLst>
              <a:gd name="adj" fmla="val 6857"/>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6" name="Text 23"/>
          <p:cNvSpPr txBox="1"/>
          <p:nvPr/>
        </p:nvSpPr>
        <p:spPr>
          <a:xfrm>
            <a:off x="8371637" y="3813048"/>
            <a:ext cx="914400" cy="274320"/>
          </a:xfrm>
          <a:prstGeom prst="rect">
            <a:avLst/>
          </a:prstGeom>
          <a:noFill/>
          <a:ln/>
        </p:spPr>
        <p:txBody>
          <a:bodyPr wrap="square" lIns="0" tIns="0" rIns="0" bIns="0" rtlCol="0" anchor="t"/>
          <a:lstStyle/>
          <a:p>
            <a:pPr indent="0" marL="0">
              <a:buNone/>
            </a:pPr>
            <a:r>
              <a:rPr lang="en-US" sz="1100" b="1" spc="200" kern="0" dirty="0">
                <a:solidFill>
                  <a:srgbClr val="4F6BFF"/>
                </a:solidFill>
                <a:latin typeface="Calibri" pitchFamily="34" charset="0"/>
                <a:ea typeface="Calibri" pitchFamily="34" charset="-122"/>
                <a:cs typeface="Calibri" pitchFamily="34" charset="-120"/>
              </a:rPr>
              <a:t>06</a:t>
            </a:r>
            <a:endParaRPr lang="en-US" sz="1100" dirty="0"/>
          </a:p>
        </p:txBody>
      </p:sp>
      <p:sp>
        <p:nvSpPr>
          <p:cNvPr id="27" name="Text 24"/>
          <p:cNvSpPr txBox="1"/>
          <p:nvPr/>
        </p:nvSpPr>
        <p:spPr>
          <a:xfrm>
            <a:off x="8371637" y="4069080"/>
            <a:ext cx="2997098" cy="457200"/>
          </a:xfrm>
          <a:prstGeom prst="rect">
            <a:avLst/>
          </a:prstGeom>
          <a:noFill/>
          <a:ln/>
        </p:spPr>
        <p:txBody>
          <a:bodyPr wrap="square" lIns="0" tIns="0" rIns="0" bIns="0" rtlCol="0" anchor="t"/>
          <a:lstStyle/>
          <a:p>
            <a:pPr indent="0" marL="0">
              <a:buNone/>
            </a:pPr>
            <a:r>
              <a:rPr lang="en-US" sz="2100" b="1" dirty="0">
                <a:solidFill>
                  <a:srgbClr val="1A2033"/>
                </a:solidFill>
                <a:latin typeface="Calibri" pitchFamily="34" charset="0"/>
                <a:ea typeface="Calibri" pitchFamily="34" charset="-122"/>
                <a:cs typeface="Calibri" pitchFamily="34" charset="-120"/>
              </a:rPr>
              <a:t>Talent waiting</a:t>
            </a:r>
            <a:endParaRPr lang="en-US" sz="2100" dirty="0"/>
          </a:p>
        </p:txBody>
      </p:sp>
      <p:sp>
        <p:nvSpPr>
          <p:cNvPr id="28" name="Text 25"/>
          <p:cNvSpPr txBox="1"/>
          <p:nvPr/>
        </p:nvSpPr>
        <p:spPr>
          <a:xfrm>
            <a:off x="8371637" y="4526280"/>
            <a:ext cx="2997098" cy="548640"/>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Skilled developers sit between projects.</a:t>
            </a:r>
            <a:endParaRPr lang="en-US" sz="1300" dirty="0"/>
          </a:p>
        </p:txBody>
      </p:sp>
      <p:sp>
        <p:nvSpPr>
          <p:cNvPr id="29" name="Text 26"/>
          <p:cNvSpPr txBox="1"/>
          <p:nvPr/>
        </p:nvSpPr>
        <p:spPr>
          <a:xfrm>
            <a:off x="548640" y="5486400"/>
            <a:ext cx="11094415" cy="548640"/>
          </a:xfrm>
          <a:prstGeom prst="rect">
            <a:avLst/>
          </a:prstGeom>
          <a:noFill/>
          <a:ln/>
        </p:spPr>
        <p:txBody>
          <a:bodyPr wrap="square" lIns="0" tIns="0" rIns="0" bIns="0" rtlCol="0" anchor="ctr"/>
          <a:lstStyle/>
          <a:p>
            <a:pPr algn="ctr" indent="0" marL="0">
              <a:buNone/>
            </a:pPr>
            <a:r>
              <a:rPr lang="en-US" sz="2400" b="1" dirty="0">
                <a:solidFill>
                  <a:srgbClr val="1A2033"/>
                </a:solidFill>
                <a:latin typeface="Calibri" pitchFamily="34" charset="0"/>
                <a:ea typeface="Calibri" pitchFamily="34" charset="-122"/>
                <a:cs typeface="Calibri" pitchFamily="34" charset="-120"/>
              </a:rPr>
              <a:t>So conversion stays low.</a:t>
            </a:r>
            <a:endParaRPr lang="en-US" sz="2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WHY CONVERSION IS LOW</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Don't wait for RFPs. Reach the CTO first, at scale.</a:t>
            </a:r>
            <a:endParaRPr lang="en-US" sz="3400" dirty="0"/>
          </a:p>
        </p:txBody>
      </p:sp>
      <p:sp>
        <p:nvSpPr>
          <p:cNvPr id="5" name="Shape 2"/>
          <p:cNvSpPr/>
          <p:nvPr/>
        </p:nvSpPr>
        <p:spPr>
          <a:xfrm>
            <a:off x="548640" y="1691640"/>
            <a:ext cx="6400800" cy="2468880"/>
          </a:xfrm>
          <a:prstGeom prst="roundRect">
            <a:avLst>
              <a:gd name="adj" fmla="val 444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Text 3"/>
          <p:cNvSpPr txBox="1"/>
          <p:nvPr/>
        </p:nvSpPr>
        <p:spPr>
          <a:xfrm>
            <a:off x="822960" y="1828800"/>
            <a:ext cx="5943600" cy="274320"/>
          </a:xfrm>
          <a:prstGeom prst="rect">
            <a:avLst/>
          </a:prstGeom>
          <a:noFill/>
          <a:ln/>
        </p:spPr>
        <p:txBody>
          <a:bodyPr wrap="square" lIns="0" tIns="0" rIns="0" bIns="0" rtlCol="0" anchor="t"/>
          <a:lstStyle/>
          <a:p>
            <a:pPr indent="0" marL="0">
              <a:buNone/>
            </a:pPr>
            <a:r>
              <a:rPr lang="en-US" sz="1100" b="1" spc="200" kern="0" dirty="0">
                <a:solidFill>
                  <a:srgbClr val="667089"/>
                </a:solidFill>
                <a:latin typeface="Calibri" pitchFamily="34" charset="0"/>
                <a:ea typeface="Calibri" pitchFamily="34" charset="-122"/>
                <a:cs typeface="Calibri" pitchFamily="34" charset="-120"/>
              </a:rPr>
              <a:t>PERSONALISED PITCHES WE CAN PREPARE</a:t>
            </a:r>
            <a:endParaRPr lang="en-US" sz="1100" dirty="0"/>
          </a:p>
        </p:txBody>
      </p:sp>
      <p:sp>
        <p:nvSpPr>
          <p:cNvPr id="7" name="Text 4"/>
          <p:cNvSpPr txBox="1"/>
          <p:nvPr/>
        </p:nvSpPr>
        <p:spPr>
          <a:xfrm>
            <a:off x="822960" y="2240280"/>
            <a:ext cx="1737360" cy="384048"/>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Waiting for RFPs</a:t>
            </a:r>
            <a:endParaRPr lang="en-US" sz="1400" dirty="0"/>
          </a:p>
        </p:txBody>
      </p:sp>
      <p:sp>
        <p:nvSpPr>
          <p:cNvPr id="8" name="Shape 5"/>
          <p:cNvSpPr/>
          <p:nvPr/>
        </p:nvSpPr>
        <p:spPr>
          <a:xfrm>
            <a:off x="2606040" y="2258568"/>
            <a:ext cx="160934" cy="347472"/>
          </a:xfrm>
          <a:prstGeom prst="roundRect">
            <a:avLst>
              <a:gd name="adj" fmla="val 45455"/>
            </a:avLst>
          </a:prstGeom>
          <a:solidFill>
            <a:srgbClr val="D64545"/>
          </a:solidFill>
          <a:ln w="12700">
            <a:solidFill>
              <a:srgbClr val="D64545"/>
            </a:solidFill>
            <a:prstDash val="solid"/>
          </a:ln>
        </p:spPr>
      </p:sp>
      <p:sp>
        <p:nvSpPr>
          <p:cNvPr id="9" name="Text 6"/>
          <p:cNvSpPr txBox="1"/>
          <p:nvPr/>
        </p:nvSpPr>
        <p:spPr>
          <a:xfrm>
            <a:off x="2606040" y="2624328"/>
            <a:ext cx="4023360" cy="274320"/>
          </a:xfrm>
          <a:prstGeom prst="rect">
            <a:avLst/>
          </a:prstGeom>
          <a:noFill/>
          <a:ln/>
        </p:spPr>
        <p:txBody>
          <a:bodyPr wrap="square" lIns="0" tIns="0" rIns="0" bIns="0" rtlCol="0" anchor="t"/>
          <a:lstStyle/>
          <a:p>
            <a:pPr indent="0" marL="0">
              <a:buNone/>
            </a:pPr>
            <a:r>
              <a:rPr lang="en-US" sz="1300" b="1" dirty="0">
                <a:solidFill>
                  <a:srgbClr val="D64545"/>
                </a:solidFill>
                <a:latin typeface="Calibri" pitchFamily="34" charset="0"/>
                <a:ea typeface="Calibri" pitchFamily="34" charset="-122"/>
                <a:cs typeface="Calibri" pitchFamily="34" charset="-120"/>
              </a:rPr>
              <a:t>a few a month</a:t>
            </a:r>
            <a:endParaRPr lang="en-US" sz="1300" dirty="0"/>
          </a:p>
        </p:txBody>
      </p:sp>
      <p:sp>
        <p:nvSpPr>
          <p:cNvPr id="10" name="Text 7"/>
          <p:cNvSpPr txBox="1"/>
          <p:nvPr/>
        </p:nvSpPr>
        <p:spPr>
          <a:xfrm>
            <a:off x="822960" y="3017520"/>
            <a:ext cx="1737360" cy="384048"/>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With Nitro</a:t>
            </a:r>
            <a:endParaRPr lang="en-US" sz="1400" dirty="0"/>
          </a:p>
        </p:txBody>
      </p:sp>
      <p:sp>
        <p:nvSpPr>
          <p:cNvPr id="11" name="Shape 8"/>
          <p:cNvSpPr/>
          <p:nvPr/>
        </p:nvSpPr>
        <p:spPr>
          <a:xfrm>
            <a:off x="2606040" y="3035808"/>
            <a:ext cx="4023360" cy="347472"/>
          </a:xfrm>
          <a:prstGeom prst="roundRect">
            <a:avLst>
              <a:gd name="adj" fmla="val 21053"/>
            </a:avLst>
          </a:prstGeom>
          <a:solidFill>
            <a:srgbClr val="0F9D6B"/>
          </a:solidFill>
          <a:ln w="12700">
            <a:solidFill>
              <a:srgbClr val="0F9D6B"/>
            </a:solidFill>
            <a:prstDash val="solid"/>
          </a:ln>
        </p:spPr>
      </p:sp>
      <p:sp>
        <p:nvSpPr>
          <p:cNvPr id="12" name="Text 9"/>
          <p:cNvSpPr txBox="1"/>
          <p:nvPr/>
        </p:nvSpPr>
        <p:spPr>
          <a:xfrm>
            <a:off x="2606040" y="3401568"/>
            <a:ext cx="4023360" cy="274320"/>
          </a:xfrm>
          <a:prstGeom prst="rect">
            <a:avLst/>
          </a:prstGeom>
          <a:noFill/>
          <a:ln/>
        </p:spPr>
        <p:txBody>
          <a:bodyPr wrap="square" lIns="0" tIns="0" rIns="0" bIns="0" rtlCol="0" anchor="t"/>
          <a:lstStyle/>
          <a:p>
            <a:pPr indent="0" marL="0">
              <a:buNone/>
            </a:pPr>
            <a:r>
              <a:rPr lang="en-US" sz="1300" b="1" dirty="0">
                <a:solidFill>
                  <a:srgbClr val="0F9D6B"/>
                </a:solidFill>
                <a:latin typeface="Calibri" pitchFamily="34" charset="0"/>
                <a:ea typeface="Calibri" pitchFamily="34" charset="-122"/>
                <a:cs typeface="Calibri" pitchFamily="34" charset="-120"/>
              </a:rPr>
              <a:t>hundreds a month</a:t>
            </a:r>
            <a:endParaRPr lang="en-US" sz="1300" dirty="0"/>
          </a:p>
        </p:txBody>
      </p:sp>
      <p:sp>
        <p:nvSpPr>
          <p:cNvPr id="13" name="Text 10"/>
          <p:cNvSpPr txBox="1"/>
          <p:nvPr/>
        </p:nvSpPr>
        <p:spPr>
          <a:xfrm>
            <a:off x="822960" y="3749040"/>
            <a:ext cx="5943600" cy="320040"/>
          </a:xfrm>
          <a:prstGeom prst="rect">
            <a:avLst/>
          </a:prstGeom>
          <a:noFill/>
          <a:ln/>
        </p:spPr>
        <p:txBody>
          <a:bodyPr wrap="square" lIns="0" tIns="0" rIns="0" bIns="0" rtlCol="0" anchor="t"/>
          <a:lstStyle/>
          <a:p>
            <a:pPr indent="0" marL="0">
              <a:buNone/>
            </a:pPr>
            <a:r>
              <a:rPr lang="en-US" sz="1200" dirty="0">
                <a:solidFill>
                  <a:srgbClr val="667089"/>
                </a:solidFill>
                <a:latin typeface="Calibri" pitchFamily="34" charset="0"/>
                <a:ea typeface="Calibri" pitchFamily="34" charset="-122"/>
                <a:cs typeface="Calibri" pitchFamily="34" charset="-120"/>
              </a:rPr>
              <a:t>An RFP arrives late: the shortlist is set and every vendor answers it.</a:t>
            </a:r>
            <a:endParaRPr lang="en-US" sz="1200" dirty="0"/>
          </a:p>
        </p:txBody>
      </p:sp>
      <p:sp>
        <p:nvSpPr>
          <p:cNvPr id="14" name="Shape 11"/>
          <p:cNvSpPr/>
          <p:nvPr/>
        </p:nvSpPr>
        <p:spPr>
          <a:xfrm>
            <a:off x="7178040" y="1691640"/>
            <a:ext cx="4462272" cy="987552"/>
          </a:xfrm>
          <a:prstGeom prst="roundRect">
            <a:avLst>
              <a:gd name="adj" fmla="val 1111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5" name="Text 12"/>
          <p:cNvSpPr txBox="1"/>
          <p:nvPr/>
        </p:nvSpPr>
        <p:spPr>
          <a:xfrm>
            <a:off x="7178040" y="1819656"/>
            <a:ext cx="892454" cy="502920"/>
          </a:xfrm>
          <a:prstGeom prst="rect">
            <a:avLst/>
          </a:prstGeom>
          <a:noFill/>
          <a:ln/>
        </p:spPr>
        <p:txBody>
          <a:bodyPr wrap="square" lIns="0" tIns="0" rIns="0" bIns="0" rtlCol="0" anchor="ctr"/>
          <a:lstStyle/>
          <a:p>
            <a:pPr algn="ctr" indent="0" marL="0">
              <a:buNone/>
            </a:pPr>
            <a:r>
              <a:rPr lang="en-US" sz="2200" b="1" dirty="0">
                <a:solidFill>
                  <a:srgbClr val="1A2033"/>
                </a:solidFill>
                <a:latin typeface="Calibri" pitchFamily="34" charset="0"/>
                <a:ea typeface="Calibri" pitchFamily="34" charset="-122"/>
                <a:cs typeface="Calibri" pitchFamily="34" charset="-120"/>
              </a:rPr>
              <a:t>2.5 min</a:t>
            </a:r>
            <a:endParaRPr lang="en-US" sz="2200" dirty="0"/>
          </a:p>
        </p:txBody>
      </p:sp>
      <p:sp>
        <p:nvSpPr>
          <p:cNvPr id="16" name="Text 13"/>
          <p:cNvSpPr txBox="1"/>
          <p:nvPr/>
        </p:nvSpPr>
        <p:spPr>
          <a:xfrm>
            <a:off x="7178040" y="2295144"/>
            <a:ext cx="892454" cy="274320"/>
          </a:xfrm>
          <a:prstGeom prst="rect">
            <a:avLst/>
          </a:prstGeom>
          <a:noFill/>
          <a:ln/>
        </p:spPr>
        <p:txBody>
          <a:bodyPr wrap="square" lIns="0" tIns="0" rIns="0" bIns="0" rtlCol="0" anchor="t"/>
          <a:lstStyle/>
          <a:p>
            <a:pPr algn="ctr" indent="0" marL="0">
              <a:buNone/>
            </a:pPr>
            <a:r>
              <a:rPr lang="en-US" sz="1000" dirty="0">
                <a:solidFill>
                  <a:srgbClr val="667089"/>
                </a:solidFill>
                <a:latin typeface="Calibri" pitchFamily="34" charset="0"/>
                <a:ea typeface="Calibri" pitchFamily="34" charset="-122"/>
                <a:cs typeface="Calibri" pitchFamily="34" charset="-120"/>
              </a:rPr>
              <a:t>per analysis</a:t>
            </a:r>
            <a:endParaRPr lang="en-US" sz="1000" dirty="0"/>
          </a:p>
        </p:txBody>
      </p:sp>
      <p:sp>
        <p:nvSpPr>
          <p:cNvPr id="17" name="Text 14"/>
          <p:cNvSpPr txBox="1"/>
          <p:nvPr/>
        </p:nvSpPr>
        <p:spPr>
          <a:xfrm>
            <a:off x="8070494" y="1691640"/>
            <a:ext cx="892454" cy="987552"/>
          </a:xfrm>
          <a:prstGeom prst="rect">
            <a:avLst/>
          </a:prstGeom>
          <a:noFill/>
          <a:ln/>
        </p:spPr>
        <p:txBody>
          <a:bodyPr wrap="square" lIns="0" tIns="0" rIns="0" bIns="0" rtlCol="0" anchor="ctr"/>
          <a:lstStyle/>
          <a:p>
            <a:pPr algn="ctr" indent="0" marL="0">
              <a:buNone/>
            </a:pPr>
            <a:r>
              <a:rPr lang="en-US" sz="2200" dirty="0">
                <a:solidFill>
                  <a:srgbClr val="667089"/>
                </a:solidFill>
                <a:latin typeface="Calibri" pitchFamily="34" charset="0"/>
                <a:ea typeface="Calibri" pitchFamily="34" charset="-122"/>
                <a:cs typeface="Calibri" pitchFamily="34" charset="-120"/>
              </a:rPr>
              <a:t>×</a:t>
            </a:r>
            <a:endParaRPr lang="en-US" sz="2200" dirty="0"/>
          </a:p>
        </p:txBody>
      </p:sp>
      <p:sp>
        <p:nvSpPr>
          <p:cNvPr id="18" name="Text 15"/>
          <p:cNvSpPr txBox="1"/>
          <p:nvPr/>
        </p:nvSpPr>
        <p:spPr>
          <a:xfrm>
            <a:off x="8962949" y="1819656"/>
            <a:ext cx="892454" cy="502920"/>
          </a:xfrm>
          <a:prstGeom prst="rect">
            <a:avLst/>
          </a:prstGeom>
          <a:noFill/>
          <a:ln/>
        </p:spPr>
        <p:txBody>
          <a:bodyPr wrap="square" lIns="0" tIns="0" rIns="0" bIns="0" rtlCol="0" anchor="ctr"/>
          <a:lstStyle/>
          <a:p>
            <a:pPr algn="ctr" indent="0" marL="0">
              <a:buNone/>
            </a:pPr>
            <a:r>
              <a:rPr lang="en-US" sz="2200" b="1" dirty="0">
                <a:solidFill>
                  <a:srgbClr val="1A2033"/>
                </a:solidFill>
                <a:latin typeface="Calibri" pitchFamily="34" charset="0"/>
                <a:ea typeface="Calibri" pitchFamily="34" charset="-122"/>
                <a:cs typeface="Calibri" pitchFamily="34" charset="-120"/>
              </a:rPr>
              <a:t>3</a:t>
            </a:r>
            <a:endParaRPr lang="en-US" sz="2200" dirty="0"/>
          </a:p>
        </p:txBody>
      </p:sp>
      <p:sp>
        <p:nvSpPr>
          <p:cNvPr id="19" name="Text 16"/>
          <p:cNvSpPr txBox="1"/>
          <p:nvPr/>
        </p:nvSpPr>
        <p:spPr>
          <a:xfrm>
            <a:off x="8962949" y="2295144"/>
            <a:ext cx="892454" cy="274320"/>
          </a:xfrm>
          <a:prstGeom prst="rect">
            <a:avLst/>
          </a:prstGeom>
          <a:noFill/>
          <a:ln/>
        </p:spPr>
        <p:txBody>
          <a:bodyPr wrap="square" lIns="0" tIns="0" rIns="0" bIns="0" rtlCol="0" anchor="t"/>
          <a:lstStyle/>
          <a:p>
            <a:pPr algn="ctr" indent="0" marL="0">
              <a:buNone/>
            </a:pPr>
            <a:r>
              <a:rPr lang="en-US" sz="1000" dirty="0">
                <a:solidFill>
                  <a:srgbClr val="667089"/>
                </a:solidFill>
                <a:latin typeface="Calibri" pitchFamily="34" charset="0"/>
                <a:ea typeface="Calibri" pitchFamily="34" charset="-122"/>
                <a:cs typeface="Calibri" pitchFamily="34" charset="-120"/>
              </a:rPr>
              <a:t>in parallel</a:t>
            </a:r>
            <a:endParaRPr lang="en-US" sz="1000" dirty="0"/>
          </a:p>
        </p:txBody>
      </p:sp>
      <p:sp>
        <p:nvSpPr>
          <p:cNvPr id="20" name="Text 17"/>
          <p:cNvSpPr txBox="1"/>
          <p:nvPr/>
        </p:nvSpPr>
        <p:spPr>
          <a:xfrm>
            <a:off x="9855403" y="1691640"/>
            <a:ext cx="892454" cy="987552"/>
          </a:xfrm>
          <a:prstGeom prst="rect">
            <a:avLst/>
          </a:prstGeom>
          <a:noFill/>
          <a:ln/>
        </p:spPr>
        <p:txBody>
          <a:bodyPr wrap="square" lIns="0" tIns="0" rIns="0" bIns="0" rtlCol="0" anchor="ctr"/>
          <a:lstStyle/>
          <a:p>
            <a:pPr algn="ctr" indent="0" marL="0">
              <a:buNone/>
            </a:pPr>
            <a:r>
              <a:rPr lang="en-US" sz="2200" dirty="0">
                <a:solidFill>
                  <a:srgbClr val="667089"/>
                </a:solidFill>
                <a:latin typeface="Calibri" pitchFamily="34" charset="0"/>
                <a:ea typeface="Calibri" pitchFamily="34" charset="-122"/>
                <a:cs typeface="Calibri" pitchFamily="34" charset="-120"/>
              </a:rPr>
              <a:t>=</a:t>
            </a:r>
            <a:endParaRPr lang="en-US" sz="2200" dirty="0"/>
          </a:p>
        </p:txBody>
      </p:sp>
      <p:sp>
        <p:nvSpPr>
          <p:cNvPr id="21" name="Text 18"/>
          <p:cNvSpPr txBox="1"/>
          <p:nvPr/>
        </p:nvSpPr>
        <p:spPr>
          <a:xfrm>
            <a:off x="10747858" y="1819656"/>
            <a:ext cx="892454" cy="502920"/>
          </a:xfrm>
          <a:prstGeom prst="rect">
            <a:avLst/>
          </a:prstGeom>
          <a:noFill/>
          <a:ln/>
        </p:spPr>
        <p:txBody>
          <a:bodyPr wrap="square" lIns="0" tIns="0" rIns="0" bIns="0" rtlCol="0" anchor="ctr"/>
          <a:lstStyle/>
          <a:p>
            <a:pPr algn="ctr" indent="0" marL="0">
              <a:buNone/>
            </a:pPr>
            <a:r>
              <a:rPr lang="en-US" sz="2200" b="1" dirty="0">
                <a:solidFill>
                  <a:srgbClr val="4F6BFF"/>
                </a:solidFill>
                <a:latin typeface="Calibri" pitchFamily="34" charset="0"/>
                <a:ea typeface="Calibri" pitchFamily="34" charset="-122"/>
                <a:cs typeface="Calibri" pitchFamily="34" charset="-120"/>
              </a:rPr>
              <a:t>72</a:t>
            </a:r>
            <a:endParaRPr lang="en-US" sz="2200" dirty="0"/>
          </a:p>
        </p:txBody>
      </p:sp>
      <p:sp>
        <p:nvSpPr>
          <p:cNvPr id="22" name="Text 19"/>
          <p:cNvSpPr txBox="1"/>
          <p:nvPr/>
        </p:nvSpPr>
        <p:spPr>
          <a:xfrm>
            <a:off x="10747858" y="2295144"/>
            <a:ext cx="892454" cy="274320"/>
          </a:xfrm>
          <a:prstGeom prst="rect">
            <a:avLst/>
          </a:prstGeom>
          <a:noFill/>
          <a:ln/>
        </p:spPr>
        <p:txBody>
          <a:bodyPr wrap="square" lIns="0" tIns="0" rIns="0" bIns="0" rtlCol="0" anchor="t"/>
          <a:lstStyle/>
          <a:p>
            <a:pPr algn="ctr" indent="0" marL="0">
              <a:buNone/>
            </a:pPr>
            <a:r>
              <a:rPr lang="en-US" sz="1000" dirty="0">
                <a:solidFill>
                  <a:srgbClr val="667089"/>
                </a:solidFill>
                <a:latin typeface="Calibri" pitchFamily="34" charset="0"/>
                <a:ea typeface="Calibri" pitchFamily="34" charset="-122"/>
                <a:cs typeface="Calibri" pitchFamily="34" charset="-120"/>
              </a:rPr>
              <a:t>an hour</a:t>
            </a:r>
            <a:endParaRPr lang="en-US" sz="1000" dirty="0"/>
          </a:p>
        </p:txBody>
      </p:sp>
      <p:sp>
        <p:nvSpPr>
          <p:cNvPr id="23" name="Shape 20"/>
          <p:cNvSpPr/>
          <p:nvPr/>
        </p:nvSpPr>
        <p:spPr>
          <a:xfrm>
            <a:off x="7178040" y="2788920"/>
            <a:ext cx="4462272" cy="987552"/>
          </a:xfrm>
          <a:prstGeom prst="roundRect">
            <a:avLst>
              <a:gd name="adj" fmla="val 1111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4" name="Text 21"/>
          <p:cNvSpPr txBox="1"/>
          <p:nvPr/>
        </p:nvSpPr>
        <p:spPr>
          <a:xfrm>
            <a:off x="7178040" y="2916936"/>
            <a:ext cx="892454" cy="502920"/>
          </a:xfrm>
          <a:prstGeom prst="rect">
            <a:avLst/>
          </a:prstGeom>
          <a:noFill/>
          <a:ln/>
        </p:spPr>
        <p:txBody>
          <a:bodyPr wrap="square" lIns="0" tIns="0" rIns="0" bIns="0" rtlCol="0" anchor="ctr"/>
          <a:lstStyle/>
          <a:p>
            <a:pPr algn="ctr" indent="0" marL="0">
              <a:buNone/>
            </a:pPr>
            <a:r>
              <a:rPr lang="en-US" sz="2200" b="1" dirty="0">
                <a:solidFill>
                  <a:srgbClr val="1A2033"/>
                </a:solidFill>
                <a:latin typeface="Calibri" pitchFamily="34" charset="0"/>
                <a:ea typeface="Calibri" pitchFamily="34" charset="-122"/>
                <a:cs typeface="Calibri" pitchFamily="34" charset="-120"/>
              </a:rPr>
              <a:t>$0.18</a:t>
            </a:r>
            <a:endParaRPr lang="en-US" sz="2200" dirty="0"/>
          </a:p>
        </p:txBody>
      </p:sp>
      <p:sp>
        <p:nvSpPr>
          <p:cNvPr id="25" name="Text 22"/>
          <p:cNvSpPr txBox="1"/>
          <p:nvPr/>
        </p:nvSpPr>
        <p:spPr>
          <a:xfrm>
            <a:off x="7178040" y="3392424"/>
            <a:ext cx="892454" cy="274320"/>
          </a:xfrm>
          <a:prstGeom prst="rect">
            <a:avLst/>
          </a:prstGeom>
          <a:noFill/>
          <a:ln/>
        </p:spPr>
        <p:txBody>
          <a:bodyPr wrap="square" lIns="0" tIns="0" rIns="0" bIns="0" rtlCol="0" anchor="t"/>
          <a:lstStyle/>
          <a:p>
            <a:pPr algn="ctr" indent="0" marL="0">
              <a:buNone/>
            </a:pPr>
            <a:r>
              <a:rPr lang="en-US" sz="1000" dirty="0">
                <a:solidFill>
                  <a:srgbClr val="667089"/>
                </a:solidFill>
                <a:latin typeface="Calibri" pitchFamily="34" charset="0"/>
                <a:ea typeface="Calibri" pitchFamily="34" charset="-122"/>
                <a:cs typeface="Calibri" pitchFamily="34" charset="-120"/>
              </a:rPr>
              <a:t>per analysis</a:t>
            </a:r>
            <a:endParaRPr lang="en-US" sz="1000" dirty="0"/>
          </a:p>
        </p:txBody>
      </p:sp>
      <p:sp>
        <p:nvSpPr>
          <p:cNvPr id="26" name="Text 23"/>
          <p:cNvSpPr txBox="1"/>
          <p:nvPr/>
        </p:nvSpPr>
        <p:spPr>
          <a:xfrm>
            <a:off x="8070494" y="2788920"/>
            <a:ext cx="892454" cy="987552"/>
          </a:xfrm>
          <a:prstGeom prst="rect">
            <a:avLst/>
          </a:prstGeom>
          <a:noFill/>
          <a:ln/>
        </p:spPr>
        <p:txBody>
          <a:bodyPr wrap="square" lIns="0" tIns="0" rIns="0" bIns="0" rtlCol="0" anchor="ctr"/>
          <a:lstStyle/>
          <a:p>
            <a:pPr algn="ctr" indent="0" marL="0">
              <a:buNone/>
            </a:pPr>
            <a:r>
              <a:rPr lang="en-US" sz="2200" dirty="0">
                <a:solidFill>
                  <a:srgbClr val="667089"/>
                </a:solidFill>
                <a:latin typeface="Calibri" pitchFamily="34" charset="0"/>
                <a:ea typeface="Calibri" pitchFamily="34" charset="-122"/>
                <a:cs typeface="Calibri" pitchFamily="34" charset="-120"/>
              </a:rPr>
              <a:t>×</a:t>
            </a:r>
            <a:endParaRPr lang="en-US" sz="2200" dirty="0"/>
          </a:p>
        </p:txBody>
      </p:sp>
      <p:sp>
        <p:nvSpPr>
          <p:cNvPr id="27" name="Text 24"/>
          <p:cNvSpPr txBox="1"/>
          <p:nvPr/>
        </p:nvSpPr>
        <p:spPr>
          <a:xfrm>
            <a:off x="8962949" y="2916936"/>
            <a:ext cx="892454" cy="502920"/>
          </a:xfrm>
          <a:prstGeom prst="rect">
            <a:avLst/>
          </a:prstGeom>
          <a:noFill/>
          <a:ln/>
        </p:spPr>
        <p:txBody>
          <a:bodyPr wrap="square" lIns="0" tIns="0" rIns="0" bIns="0" rtlCol="0" anchor="ctr"/>
          <a:lstStyle/>
          <a:p>
            <a:pPr algn="ctr" indent="0" marL="0">
              <a:buNone/>
            </a:pPr>
            <a:r>
              <a:rPr lang="en-US" sz="2200" b="1" dirty="0">
                <a:solidFill>
                  <a:srgbClr val="1A2033"/>
                </a:solidFill>
                <a:latin typeface="Calibri" pitchFamily="34" charset="0"/>
                <a:ea typeface="Calibri" pitchFamily="34" charset="-122"/>
                <a:cs typeface="Calibri" pitchFamily="34" charset="-120"/>
              </a:rPr>
              <a:t>100</a:t>
            </a:r>
            <a:endParaRPr lang="en-US" sz="2200" dirty="0"/>
          </a:p>
        </p:txBody>
      </p:sp>
      <p:sp>
        <p:nvSpPr>
          <p:cNvPr id="28" name="Text 25"/>
          <p:cNvSpPr txBox="1"/>
          <p:nvPr/>
        </p:nvSpPr>
        <p:spPr>
          <a:xfrm>
            <a:off x="8962949" y="3392424"/>
            <a:ext cx="892454" cy="274320"/>
          </a:xfrm>
          <a:prstGeom prst="rect">
            <a:avLst/>
          </a:prstGeom>
          <a:noFill/>
          <a:ln/>
        </p:spPr>
        <p:txBody>
          <a:bodyPr wrap="square" lIns="0" tIns="0" rIns="0" bIns="0" rtlCol="0" anchor="t"/>
          <a:lstStyle/>
          <a:p>
            <a:pPr algn="ctr" indent="0" marL="0">
              <a:buNone/>
            </a:pPr>
            <a:r>
              <a:rPr lang="en-US" sz="1000" dirty="0">
                <a:solidFill>
                  <a:srgbClr val="667089"/>
                </a:solidFill>
                <a:latin typeface="Calibri" pitchFamily="34" charset="0"/>
                <a:ea typeface="Calibri" pitchFamily="34" charset="-122"/>
                <a:cs typeface="Calibri" pitchFamily="34" charset="-120"/>
              </a:rPr>
              <a:t>prospects</a:t>
            </a:r>
            <a:endParaRPr lang="en-US" sz="1000" dirty="0"/>
          </a:p>
        </p:txBody>
      </p:sp>
      <p:sp>
        <p:nvSpPr>
          <p:cNvPr id="29" name="Text 26"/>
          <p:cNvSpPr txBox="1"/>
          <p:nvPr/>
        </p:nvSpPr>
        <p:spPr>
          <a:xfrm>
            <a:off x="9855403" y="2788920"/>
            <a:ext cx="892454" cy="987552"/>
          </a:xfrm>
          <a:prstGeom prst="rect">
            <a:avLst/>
          </a:prstGeom>
          <a:noFill/>
          <a:ln/>
        </p:spPr>
        <p:txBody>
          <a:bodyPr wrap="square" lIns="0" tIns="0" rIns="0" bIns="0" rtlCol="0" anchor="ctr"/>
          <a:lstStyle/>
          <a:p>
            <a:pPr algn="ctr" indent="0" marL="0">
              <a:buNone/>
            </a:pPr>
            <a:r>
              <a:rPr lang="en-US" sz="2200" dirty="0">
                <a:solidFill>
                  <a:srgbClr val="667089"/>
                </a:solidFill>
                <a:latin typeface="Calibri" pitchFamily="34" charset="0"/>
                <a:ea typeface="Calibri" pitchFamily="34" charset="-122"/>
                <a:cs typeface="Calibri" pitchFamily="34" charset="-120"/>
              </a:rPr>
              <a:t>=</a:t>
            </a:r>
            <a:endParaRPr lang="en-US" sz="2200" dirty="0"/>
          </a:p>
        </p:txBody>
      </p:sp>
      <p:sp>
        <p:nvSpPr>
          <p:cNvPr id="30" name="Text 27"/>
          <p:cNvSpPr txBox="1"/>
          <p:nvPr/>
        </p:nvSpPr>
        <p:spPr>
          <a:xfrm>
            <a:off x="10747858" y="2916936"/>
            <a:ext cx="892454" cy="502920"/>
          </a:xfrm>
          <a:prstGeom prst="rect">
            <a:avLst/>
          </a:prstGeom>
          <a:noFill/>
          <a:ln/>
        </p:spPr>
        <p:txBody>
          <a:bodyPr wrap="square" lIns="0" tIns="0" rIns="0" bIns="0" rtlCol="0" anchor="ctr"/>
          <a:lstStyle/>
          <a:p>
            <a:pPr algn="ctr" indent="0" marL="0">
              <a:buNone/>
            </a:pPr>
            <a:r>
              <a:rPr lang="en-US" sz="2200" b="1" dirty="0">
                <a:solidFill>
                  <a:srgbClr val="4F6BFF"/>
                </a:solidFill>
                <a:latin typeface="Calibri" pitchFamily="34" charset="0"/>
                <a:ea typeface="Calibri" pitchFamily="34" charset="-122"/>
                <a:cs typeface="Calibri" pitchFamily="34" charset="-120"/>
              </a:rPr>
              <a:t>≈ $18</a:t>
            </a:r>
            <a:endParaRPr lang="en-US" sz="2200" dirty="0"/>
          </a:p>
        </p:txBody>
      </p:sp>
      <p:sp>
        <p:nvSpPr>
          <p:cNvPr id="31" name="Text 28"/>
          <p:cNvSpPr txBox="1"/>
          <p:nvPr/>
        </p:nvSpPr>
        <p:spPr>
          <a:xfrm>
            <a:off x="10747858" y="3392424"/>
            <a:ext cx="892454" cy="274320"/>
          </a:xfrm>
          <a:prstGeom prst="rect">
            <a:avLst/>
          </a:prstGeom>
          <a:noFill/>
          <a:ln/>
        </p:spPr>
        <p:txBody>
          <a:bodyPr wrap="square" lIns="0" tIns="0" rIns="0" bIns="0" rtlCol="0" anchor="t"/>
          <a:lstStyle/>
          <a:p>
            <a:pPr algn="ctr" indent="0" marL="0">
              <a:buNone/>
            </a:pPr>
            <a:r>
              <a:rPr lang="en-US" sz="1000" dirty="0">
                <a:solidFill>
                  <a:srgbClr val="667089"/>
                </a:solidFill>
                <a:latin typeface="Calibri" pitchFamily="34" charset="0"/>
                <a:ea typeface="Calibri" pitchFamily="34" charset="-122"/>
                <a:cs typeface="Calibri" pitchFamily="34" charset="-120"/>
              </a:rPr>
              <a:t>model cost</a:t>
            </a:r>
            <a:endParaRPr lang="en-US" sz="1000" dirty="0"/>
          </a:p>
        </p:txBody>
      </p:sp>
      <p:sp>
        <p:nvSpPr>
          <p:cNvPr id="32" name="Text 29"/>
          <p:cNvSpPr txBox="1"/>
          <p:nvPr/>
        </p:nvSpPr>
        <p:spPr>
          <a:xfrm>
            <a:off x="7178040" y="3840480"/>
            <a:ext cx="4462272" cy="274320"/>
          </a:xfrm>
          <a:prstGeom prst="rect">
            <a:avLst/>
          </a:prstGeom>
          <a:noFill/>
          <a:ln/>
        </p:spPr>
        <p:txBody>
          <a:bodyPr wrap="square" lIns="0" tIns="0" rIns="0" bIns="0" rtlCol="0" anchor="t"/>
          <a:lstStyle/>
          <a:p>
            <a:pPr indent="0" marL="0">
              <a:buNone/>
            </a:pPr>
            <a:r>
              <a:rPr lang="en-US" sz="1050" i="1" dirty="0">
                <a:solidFill>
                  <a:srgbClr val="667089"/>
                </a:solidFill>
                <a:latin typeface="Calibri" pitchFamily="34" charset="0"/>
                <a:ea typeface="Calibri" pitchFamily="34" charset="-122"/>
                <a:cs typeface="Calibri" pitchFamily="34" charset="-120"/>
              </a:rPr>
              <a:t>Measured on our saved runs: 103 to 150 s and $0.11 to $0.18 each.</a:t>
            </a:r>
            <a:endParaRPr lang="en-US" sz="1050" dirty="0"/>
          </a:p>
        </p:txBody>
      </p:sp>
      <p:sp>
        <p:nvSpPr>
          <p:cNvPr id="33" name="Shape 30"/>
          <p:cNvSpPr/>
          <p:nvPr/>
        </p:nvSpPr>
        <p:spPr>
          <a:xfrm>
            <a:off x="548640" y="4526280"/>
            <a:ext cx="3393338" cy="1097280"/>
          </a:xfrm>
          <a:prstGeom prst="roundRect">
            <a:avLst>
              <a:gd name="adj" fmla="val 10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4" name="Image 0" descr="globe icon">    </p:cNvPr>
          <p:cNvPicPr>
            <a:picLocks noChangeAspect="1"/>
          </p:cNvPicPr>
          <p:nvPr/>
        </p:nvPicPr>
        <p:blipFill>
          <a:blip r:embed="rId1"/>
          <a:stretch>
            <a:fillRect/>
          </a:stretch>
        </p:blipFill>
        <p:spPr>
          <a:xfrm>
            <a:off x="777240" y="4800600"/>
            <a:ext cx="548640" cy="548640"/>
          </a:xfrm>
          <a:prstGeom prst="rect">
            <a:avLst/>
          </a:prstGeom>
        </p:spPr>
      </p:pic>
      <p:sp>
        <p:nvSpPr>
          <p:cNvPr id="35" name="Text 31"/>
          <p:cNvSpPr txBox="1"/>
          <p:nvPr/>
        </p:nvSpPr>
        <p:spPr>
          <a:xfrm>
            <a:off x="1508760" y="4709160"/>
            <a:ext cx="2296058" cy="384048"/>
          </a:xfrm>
          <a:prstGeom prst="rect">
            <a:avLst/>
          </a:prstGeom>
          <a:noFill/>
          <a:ln/>
        </p:spPr>
        <p:txBody>
          <a:bodyPr wrap="square" lIns="0" tIns="0" rIns="0" bIns="0" rtlCol="0" anchor="ctr"/>
          <a:lstStyle/>
          <a:p>
            <a:pPr indent="0" marL="0">
              <a:buNone/>
            </a:pPr>
            <a:r>
              <a:rPr lang="en-US" sz="1600" b="1" dirty="0">
                <a:solidFill>
                  <a:srgbClr val="1A2033"/>
                </a:solidFill>
                <a:latin typeface="Calibri" pitchFamily="34" charset="0"/>
                <a:ea typeface="Calibri" pitchFamily="34" charset="-122"/>
                <a:cs typeface="Calibri" pitchFamily="34" charset="-120"/>
              </a:rPr>
              <a:t>Analyse hundreds</a:t>
            </a:r>
            <a:endParaRPr lang="en-US" sz="1600" dirty="0"/>
          </a:p>
        </p:txBody>
      </p:sp>
      <p:sp>
        <p:nvSpPr>
          <p:cNvPr id="36" name="Text 32"/>
          <p:cNvSpPr txBox="1"/>
          <p:nvPr/>
        </p:nvSpPr>
        <p:spPr>
          <a:xfrm>
            <a:off x="1508760" y="5093208"/>
            <a:ext cx="2296058" cy="411480"/>
          </a:xfrm>
          <a:prstGeom prst="rect">
            <a:avLst/>
          </a:prstGeom>
          <a:noFill/>
          <a:ln/>
        </p:spPr>
        <p:txBody>
          <a:bodyPr wrap="square" lIns="0" tIns="0" rIns="0" bIns="0" rtlCol="0" anchor="t"/>
          <a:lstStyle/>
          <a:p>
            <a:pPr indent="0" marL="0">
              <a:buNone/>
            </a:pPr>
            <a:r>
              <a:rPr lang="en-US" sz="1200" dirty="0">
                <a:solidFill>
                  <a:srgbClr val="667089"/>
                </a:solidFill>
                <a:latin typeface="Calibri" pitchFamily="34" charset="0"/>
                <a:ea typeface="Calibri" pitchFamily="34" charset="-122"/>
                <a:cs typeface="Calibri" pitchFamily="34" charset="-120"/>
              </a:rPr>
              <a:t>Every target account, 24x7</a:t>
            </a:r>
            <a:endParaRPr lang="en-US" sz="1200" dirty="0"/>
          </a:p>
        </p:txBody>
      </p:sp>
      <p:sp>
        <p:nvSpPr>
          <p:cNvPr id="37" name="Shape 33"/>
          <p:cNvSpPr/>
          <p:nvPr/>
        </p:nvSpPr>
        <p:spPr>
          <a:xfrm>
            <a:off x="3996842" y="5074920"/>
            <a:ext cx="347472" cy="0"/>
          </a:xfrm>
          <a:prstGeom prst="line">
            <a:avLst/>
          </a:prstGeom>
          <a:noFill/>
          <a:ln w="25400">
            <a:solidFill>
              <a:srgbClr val="4F6BFF"/>
            </a:solidFill>
            <a:prstDash val="dash"/>
            <a:tailEnd type="triangle"/>
          </a:ln>
        </p:spPr>
      </p:sp>
      <p:sp>
        <p:nvSpPr>
          <p:cNvPr id="38" name="Shape 34"/>
          <p:cNvSpPr/>
          <p:nvPr/>
        </p:nvSpPr>
        <p:spPr>
          <a:xfrm>
            <a:off x="4399178" y="4526280"/>
            <a:ext cx="3393338" cy="1097280"/>
          </a:xfrm>
          <a:prstGeom prst="roundRect">
            <a:avLst>
              <a:gd name="adj" fmla="val 10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9" name="Image 1" descr="target icon">    </p:cNvPr>
          <p:cNvPicPr>
            <a:picLocks noChangeAspect="1"/>
          </p:cNvPicPr>
          <p:nvPr/>
        </p:nvPicPr>
        <p:blipFill>
          <a:blip r:embed="rId2"/>
          <a:stretch>
            <a:fillRect/>
          </a:stretch>
        </p:blipFill>
        <p:spPr>
          <a:xfrm>
            <a:off x="4627778" y="4800600"/>
            <a:ext cx="548640" cy="548640"/>
          </a:xfrm>
          <a:prstGeom prst="rect">
            <a:avLst/>
          </a:prstGeom>
        </p:spPr>
      </p:pic>
      <p:sp>
        <p:nvSpPr>
          <p:cNvPr id="40" name="Text 35"/>
          <p:cNvSpPr txBox="1"/>
          <p:nvPr/>
        </p:nvSpPr>
        <p:spPr>
          <a:xfrm>
            <a:off x="5359298" y="4709160"/>
            <a:ext cx="2296058" cy="384048"/>
          </a:xfrm>
          <a:prstGeom prst="rect">
            <a:avLst/>
          </a:prstGeom>
          <a:noFill/>
          <a:ln/>
        </p:spPr>
        <p:txBody>
          <a:bodyPr wrap="square" lIns="0" tIns="0" rIns="0" bIns="0" rtlCol="0" anchor="ctr"/>
          <a:lstStyle/>
          <a:p>
            <a:pPr indent="0" marL="0">
              <a:buNone/>
            </a:pPr>
            <a:r>
              <a:rPr lang="en-US" sz="1600" b="1" dirty="0">
                <a:solidFill>
                  <a:srgbClr val="1A2033"/>
                </a:solidFill>
                <a:latin typeface="Calibri" pitchFamily="34" charset="0"/>
                <a:ea typeface="Calibri" pitchFamily="34" charset="-122"/>
                <a:cs typeface="Calibri" pitchFamily="34" charset="-120"/>
              </a:rPr>
              <a:t>Pick the best fits</a:t>
            </a:r>
            <a:endParaRPr lang="en-US" sz="1600" dirty="0"/>
          </a:p>
        </p:txBody>
      </p:sp>
      <p:sp>
        <p:nvSpPr>
          <p:cNvPr id="41" name="Text 36"/>
          <p:cNvSpPr txBox="1"/>
          <p:nvPr/>
        </p:nvSpPr>
        <p:spPr>
          <a:xfrm>
            <a:off x="5359298" y="5093208"/>
            <a:ext cx="2296058" cy="411480"/>
          </a:xfrm>
          <a:prstGeom prst="rect">
            <a:avLst/>
          </a:prstGeom>
          <a:noFill/>
          <a:ln/>
        </p:spPr>
        <p:txBody>
          <a:bodyPr wrap="square" lIns="0" tIns="0" rIns="0" bIns="0" rtlCol="0" anchor="t"/>
          <a:lstStyle/>
          <a:p>
            <a:pPr indent="0" marL="0">
              <a:buNone/>
            </a:pPr>
            <a:r>
              <a:rPr lang="en-US" sz="1200" dirty="0">
                <a:solidFill>
                  <a:srgbClr val="667089"/>
                </a:solidFill>
                <a:latin typeface="Calibri" pitchFamily="34" charset="0"/>
                <a:ea typeface="Calibri" pitchFamily="34" charset="-122"/>
                <a:cs typeface="Calibri" pitchFamily="34" charset="-120"/>
              </a:rPr>
              <a:t>Clear problems + skills we have</a:t>
            </a:r>
            <a:endParaRPr lang="en-US" sz="1200" dirty="0"/>
          </a:p>
        </p:txBody>
      </p:sp>
      <p:sp>
        <p:nvSpPr>
          <p:cNvPr id="42" name="Shape 37"/>
          <p:cNvSpPr/>
          <p:nvPr/>
        </p:nvSpPr>
        <p:spPr>
          <a:xfrm>
            <a:off x="7847381" y="5074920"/>
            <a:ext cx="347472" cy="0"/>
          </a:xfrm>
          <a:prstGeom prst="line">
            <a:avLst/>
          </a:prstGeom>
          <a:noFill/>
          <a:ln w="25400">
            <a:solidFill>
              <a:srgbClr val="4F6BFF"/>
            </a:solidFill>
            <a:prstDash val="dash"/>
            <a:tailEnd type="triangle"/>
          </a:ln>
        </p:spPr>
      </p:sp>
      <p:sp>
        <p:nvSpPr>
          <p:cNvPr id="43" name="Shape 38"/>
          <p:cNvSpPr/>
          <p:nvPr/>
        </p:nvSpPr>
        <p:spPr>
          <a:xfrm>
            <a:off x="8249717" y="4526280"/>
            <a:ext cx="3393338" cy="1097280"/>
          </a:xfrm>
          <a:prstGeom prst="roundRect">
            <a:avLst>
              <a:gd name="adj" fmla="val 10000"/>
            </a:avLst>
          </a:prstGeom>
          <a:solidFill>
            <a:srgbClr val="FFFFFF"/>
          </a:solidFill>
          <a:ln w="25400">
            <a:solidFill>
              <a:srgbClr val="4F6BFF"/>
            </a:solidFill>
            <a:prstDash val="solid"/>
          </a:ln>
          <a:effectLst>
            <a:outerShdw sx="100000" sy="100000" kx="0" ky="0" algn="bl" rotWithShape="0" blurRad="101600" dist="25400" dir="5400000">
              <a:srgbClr val="1E2850">
                <a:alpha val="8000"/>
              </a:srgbClr>
            </a:outerShdw>
          </a:effectLst>
        </p:spPr>
      </p:sp>
      <p:pic>
        <p:nvPicPr>
          <p:cNvPr id="44" name="Image 2" descr="handshake icon">    </p:cNvPr>
          <p:cNvPicPr>
            <a:picLocks noChangeAspect="1"/>
          </p:cNvPicPr>
          <p:nvPr/>
        </p:nvPicPr>
        <p:blipFill>
          <a:blip r:embed="rId3"/>
          <a:stretch>
            <a:fillRect/>
          </a:stretch>
        </p:blipFill>
        <p:spPr>
          <a:xfrm>
            <a:off x="8478317" y="4800600"/>
            <a:ext cx="548640" cy="548640"/>
          </a:xfrm>
          <a:prstGeom prst="rect">
            <a:avLst/>
          </a:prstGeom>
        </p:spPr>
      </p:pic>
      <p:sp>
        <p:nvSpPr>
          <p:cNvPr id="45" name="Text 39"/>
          <p:cNvSpPr txBox="1"/>
          <p:nvPr/>
        </p:nvSpPr>
        <p:spPr>
          <a:xfrm>
            <a:off x="9209837" y="4709160"/>
            <a:ext cx="2296058" cy="384048"/>
          </a:xfrm>
          <a:prstGeom prst="rect">
            <a:avLst/>
          </a:prstGeom>
          <a:noFill/>
          <a:ln/>
        </p:spPr>
        <p:txBody>
          <a:bodyPr wrap="square" lIns="0" tIns="0" rIns="0" bIns="0" rtlCol="0" anchor="ctr"/>
          <a:lstStyle/>
          <a:p>
            <a:pPr indent="0" marL="0">
              <a:buNone/>
            </a:pPr>
            <a:r>
              <a:rPr lang="en-US" sz="1600" b="1" dirty="0">
                <a:solidFill>
                  <a:srgbClr val="1A2033"/>
                </a:solidFill>
                <a:latin typeface="Calibri" pitchFamily="34" charset="0"/>
                <a:ea typeface="Calibri" pitchFamily="34" charset="-122"/>
                <a:cs typeface="Calibri" pitchFamily="34" charset="-120"/>
              </a:rPr>
              <a:t>Talk to the CTO first</a:t>
            </a:r>
            <a:endParaRPr lang="en-US" sz="1600" dirty="0"/>
          </a:p>
        </p:txBody>
      </p:sp>
      <p:sp>
        <p:nvSpPr>
          <p:cNvPr id="46" name="Text 40"/>
          <p:cNvSpPr txBox="1"/>
          <p:nvPr/>
        </p:nvSpPr>
        <p:spPr>
          <a:xfrm>
            <a:off x="9209837" y="5093208"/>
            <a:ext cx="2296058" cy="411480"/>
          </a:xfrm>
          <a:prstGeom prst="rect">
            <a:avLst/>
          </a:prstGeom>
          <a:noFill/>
          <a:ln/>
        </p:spPr>
        <p:txBody>
          <a:bodyPr wrap="square" lIns="0" tIns="0" rIns="0" bIns="0" rtlCol="0" anchor="t"/>
          <a:lstStyle/>
          <a:p>
            <a:pPr indent="0" marL="0">
              <a:buNone/>
            </a:pPr>
            <a:r>
              <a:rPr lang="en-US" sz="1200" dirty="0">
                <a:solidFill>
                  <a:srgbClr val="667089"/>
                </a:solidFill>
                <a:latin typeface="Calibri" pitchFamily="34" charset="0"/>
                <a:ea typeface="Calibri" pitchFamily="34" charset="-122"/>
                <a:cs typeface="Calibri" pitchFamily="34" charset="-120"/>
              </a:rPr>
              <a:t>Already knowing their stack, news and gaps</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PROBLEM</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The client never sees what we would do for them</a:t>
            </a:r>
            <a:endParaRPr lang="en-US" sz="3400" dirty="0"/>
          </a:p>
        </p:txBody>
      </p:sp>
      <p:sp>
        <p:nvSpPr>
          <p:cNvPr id="5" name="Shape 2"/>
          <p:cNvSpPr/>
          <p:nvPr/>
        </p:nvSpPr>
        <p:spPr>
          <a:xfrm>
            <a:off x="548640" y="1783080"/>
            <a:ext cx="6035040" cy="3931920"/>
          </a:xfrm>
          <a:prstGeom prst="roundRect">
            <a:avLst>
              <a:gd name="adj" fmla="val 279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Shape 3"/>
          <p:cNvSpPr/>
          <p:nvPr/>
        </p:nvSpPr>
        <p:spPr>
          <a:xfrm>
            <a:off x="566928" y="1801368"/>
            <a:ext cx="5998464" cy="457200"/>
          </a:xfrm>
          <a:prstGeom prst="rect">
            <a:avLst/>
          </a:prstGeom>
          <a:solidFill>
            <a:srgbClr val="F1F3F9"/>
          </a:solidFill>
          <a:ln w="12700">
            <a:solidFill>
              <a:srgbClr val="F1F3F9"/>
            </a:solidFill>
            <a:prstDash val="solid"/>
          </a:ln>
        </p:spPr>
      </p:sp>
      <p:sp>
        <p:nvSpPr>
          <p:cNvPr id="7" name="Text 4"/>
          <p:cNvSpPr txBox="1"/>
          <p:nvPr/>
        </p:nvSpPr>
        <p:spPr>
          <a:xfrm>
            <a:off x="777240" y="1801368"/>
            <a:ext cx="5669280" cy="457200"/>
          </a:xfrm>
          <a:prstGeom prst="rect">
            <a:avLst/>
          </a:prstGeom>
          <a:noFill/>
          <a:ln/>
        </p:spPr>
        <p:txBody>
          <a:bodyPr wrap="square" lIns="0" tIns="0" rIns="0" bIns="0" rtlCol="0" anchor="ctr"/>
          <a:lstStyle/>
          <a:p>
            <a:pPr indent="0" marL="0">
              <a:buNone/>
            </a:pPr>
            <a:r>
              <a:rPr lang="en-US" sz="1100" dirty="0">
                <a:solidFill>
                  <a:srgbClr val="667089"/>
                </a:solidFill>
                <a:latin typeface="Calibri" pitchFamily="34" charset="0"/>
                <a:ea typeface="Calibri" pitchFamily="34" charset="-122"/>
                <a:cs typeface="Calibri" pitchFamily="34" charset="-120"/>
              </a:rPr>
              <a:t>To: cmo@prospect.com · Subject: Proposal for your esteemed consideration</a:t>
            </a:r>
            <a:endParaRPr lang="en-US" sz="1100" dirty="0"/>
          </a:p>
        </p:txBody>
      </p:sp>
      <p:sp>
        <p:nvSpPr>
          <p:cNvPr id="8" name="Text 5"/>
          <p:cNvSpPr txBox="1"/>
          <p:nvPr/>
        </p:nvSpPr>
        <p:spPr>
          <a:xfrm>
            <a:off x="868680" y="2468880"/>
            <a:ext cx="5394960" cy="2377440"/>
          </a:xfrm>
          <a:prstGeom prst="rect">
            <a:avLst/>
          </a:prstGeom>
          <a:noFill/>
          <a:ln/>
        </p:spPr>
        <p:txBody>
          <a:bodyPr wrap="square" lIns="0" tIns="0" rIns="0" bIns="0" rtlCol="0" anchor="t"/>
          <a:lstStyle/>
          <a:p>
            <a:pPr indent="0" marL="0">
              <a:spcAft>
                <a:spcPts val="1000"/>
              </a:spcAft>
              <a:buNone/>
            </a:pPr>
            <a:r>
              <a:rPr lang="en-US" sz="1600" dirty="0">
                <a:solidFill>
                  <a:srgbClr val="1A2033"/>
                </a:solidFill>
                <a:latin typeface="Cambria" pitchFamily="34" charset="0"/>
                <a:ea typeface="Cambria" pitchFamily="34" charset="-122"/>
                <a:cs typeface="Cambria" pitchFamily="34" charset="-120"/>
              </a:rPr>
              <a:t>Dear Sir/Madam,</a:t>
            </a:r>
            <a:endParaRPr lang="en-US" sz="1600" dirty="0"/>
          </a:p>
          <a:p>
            <a:pPr indent="0" marL="0">
              <a:spcAft>
                <a:spcPts val="1000"/>
              </a:spcAft>
              <a:buNone/>
            </a:pPr>
            <a:r>
              <a:rPr lang="en-US" sz="1600" dirty="0">
                <a:solidFill>
                  <a:srgbClr val="1A2033"/>
                </a:solidFill>
                <a:latin typeface="Cambria" pitchFamily="34" charset="0"/>
                <a:ea typeface="Cambria" pitchFamily="34" charset="-122"/>
                <a:cs typeface="Cambria" pitchFamily="34" charset="-120"/>
              </a:rPr>
              <a:t>We are pleased to submit our proposal for your consideration.</a:t>
            </a:r>
            <a:endParaRPr lang="en-US" sz="1600" dirty="0"/>
          </a:p>
          <a:p>
            <a:pPr indent="0" marL="0">
              <a:spcAft>
                <a:spcPts val="1000"/>
              </a:spcAft>
              <a:buNone/>
            </a:pPr>
            <a:r>
              <a:rPr lang="en-US" sz="1600" dirty="0">
                <a:solidFill>
                  <a:srgbClr val="1A2033"/>
                </a:solidFill>
                <a:latin typeface="Cambria" pitchFamily="34" charset="0"/>
                <a:ea typeface="Cambria" pitchFamily="34" charset="-122"/>
                <a:cs typeface="Cambria" pitchFamily="34" charset="-120"/>
              </a:rPr>
              <a:t>We have 15+ years of experience and skilled professionals.</a:t>
            </a:r>
            <a:endParaRPr lang="en-US" sz="1600" dirty="0"/>
          </a:p>
          <a:p>
            <a:pPr indent="0" marL="0">
              <a:spcAft>
                <a:spcPts val="1000"/>
              </a:spcAft>
              <a:buNone/>
            </a:pPr>
            <a:r>
              <a:rPr lang="en-US" sz="1600" dirty="0">
                <a:solidFill>
                  <a:srgbClr val="1A2033"/>
                </a:solidFill>
                <a:latin typeface="Cambria" pitchFamily="34" charset="0"/>
                <a:ea typeface="Cambria" pitchFamily="34" charset="-122"/>
                <a:cs typeface="Cambria" pitchFamily="34" charset="-120"/>
              </a:rPr>
              <a:t>We look forward to a fruitful association. Regards.</a:t>
            </a:r>
            <a:endParaRPr lang="en-US" sz="1600" dirty="0"/>
          </a:p>
        </p:txBody>
      </p:sp>
      <p:sp>
        <p:nvSpPr>
          <p:cNvPr id="9" name="Text 6"/>
          <p:cNvSpPr txBox="1"/>
          <p:nvPr/>
        </p:nvSpPr>
        <p:spPr>
          <a:xfrm rot="-720000">
            <a:off x="4572000" y="4663440"/>
            <a:ext cx="1645920" cy="685800"/>
          </a:xfrm>
          <a:prstGeom prst="rect">
            <a:avLst/>
          </a:prstGeom>
          <a:noFill/>
          <a:ln w="38100">
            <a:solidFill>
              <a:srgbClr val="D64545"/>
            </a:solidFill>
          </a:ln>
        </p:spPr>
        <p:txBody>
          <a:bodyPr wrap="square" rtlCol="0" anchor="ctr"/>
          <a:lstStyle/>
          <a:p>
            <a:pPr algn="ctr" indent="0" marL="0">
              <a:buNone/>
            </a:pPr>
            <a:r>
              <a:rPr lang="en-US" sz="3000" b="1" dirty="0">
                <a:solidFill>
                  <a:srgbClr val="D64545"/>
                </a:solidFill>
                <a:latin typeface="Calibri" pitchFamily="34" charset="0"/>
                <a:ea typeface="Calibri" pitchFamily="34" charset="-122"/>
                <a:cs typeface="Calibri" pitchFamily="34" charset="-120"/>
              </a:rPr>
              <a:t>SENT</a:t>
            </a:r>
            <a:endParaRPr lang="en-US" sz="3000" dirty="0"/>
          </a:p>
        </p:txBody>
      </p:sp>
      <p:sp>
        <p:nvSpPr>
          <p:cNvPr id="10" name="Shape 7"/>
          <p:cNvSpPr/>
          <p:nvPr/>
        </p:nvSpPr>
        <p:spPr>
          <a:xfrm>
            <a:off x="6858000" y="1783080"/>
            <a:ext cx="4785055" cy="3026664"/>
          </a:xfrm>
          <a:prstGeom prst="roundRect">
            <a:avLst>
              <a:gd name="adj" fmla="val 3625"/>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1" name="Shape 8"/>
          <p:cNvSpPr/>
          <p:nvPr/>
        </p:nvSpPr>
        <p:spPr>
          <a:xfrm>
            <a:off x="6876288" y="1801368"/>
            <a:ext cx="4748479" cy="457200"/>
          </a:xfrm>
          <a:prstGeom prst="rect">
            <a:avLst/>
          </a:prstGeom>
          <a:solidFill>
            <a:srgbClr val="F1F3F9"/>
          </a:solidFill>
          <a:ln w="12700">
            <a:solidFill>
              <a:srgbClr val="F1F3F9"/>
            </a:solidFill>
            <a:prstDash val="solid"/>
          </a:ln>
        </p:spPr>
      </p:sp>
      <p:sp>
        <p:nvSpPr>
          <p:cNvPr id="12" name="Text 9"/>
          <p:cNvSpPr txBox="1"/>
          <p:nvPr/>
        </p:nvSpPr>
        <p:spPr>
          <a:xfrm>
            <a:off x="7040880" y="1801368"/>
            <a:ext cx="3322015" cy="457200"/>
          </a:xfrm>
          <a:prstGeom prst="rect">
            <a:avLst/>
          </a:prstGeom>
          <a:noFill/>
          <a:ln/>
        </p:spPr>
        <p:txBody>
          <a:bodyPr wrap="square" lIns="0" tIns="0" rIns="0" bIns="0" rtlCol="0" anchor="ctr"/>
          <a:lstStyle/>
          <a:p>
            <a:pPr indent="0" marL="0">
              <a:buNone/>
            </a:pPr>
            <a:r>
              <a:rPr lang="en-US" sz="1200" b="1" dirty="0">
                <a:solidFill>
                  <a:srgbClr val="1A2033"/>
                </a:solidFill>
                <a:latin typeface="Calibri" pitchFamily="34" charset="0"/>
                <a:ea typeface="Calibri" pitchFamily="34" charset="-122"/>
                <a:cs typeface="Calibri" pitchFamily="34" charset="-120"/>
              </a:rPr>
              <a:t>Inbox · cmo@prospect.com</a:t>
            </a:r>
            <a:endParaRPr lang="en-US" sz="1200" dirty="0"/>
          </a:p>
        </p:txBody>
      </p:sp>
      <p:sp>
        <p:nvSpPr>
          <p:cNvPr id="13" name="Text 10"/>
          <p:cNvSpPr txBox="1"/>
          <p:nvPr/>
        </p:nvSpPr>
        <p:spPr>
          <a:xfrm>
            <a:off x="10271455" y="1801368"/>
            <a:ext cx="1188720" cy="457200"/>
          </a:xfrm>
          <a:prstGeom prst="rect">
            <a:avLst/>
          </a:prstGeom>
          <a:noFill/>
          <a:ln/>
        </p:spPr>
        <p:txBody>
          <a:bodyPr wrap="square" lIns="0" tIns="0" rIns="0" bIns="0" rtlCol="0" anchor="ctr"/>
          <a:lstStyle/>
          <a:p>
            <a:pPr algn="r" indent="0" marL="0">
              <a:buNone/>
            </a:pPr>
            <a:r>
              <a:rPr lang="en-US" sz="1100" b="1" dirty="0">
                <a:solidFill>
                  <a:srgbClr val="667089"/>
                </a:solidFill>
                <a:latin typeface="Calibri" pitchFamily="34" charset="0"/>
                <a:ea typeface="Calibri" pitchFamily="34" charset="-122"/>
                <a:cs typeface="Calibri" pitchFamily="34" charset="-120"/>
              </a:rPr>
              <a:t>Unread </a:t>
            </a:r>
            <a:pPr algn="r" indent="0" marL="0">
              <a:buNone/>
            </a:pPr>
            <a:r>
              <a:rPr lang="en-US" sz="1100" b="1" dirty="0">
                <a:solidFill>
                  <a:srgbClr val="FFFFFF"/>
                </a:solidFill>
                <a:highlight>
                  <a:srgbClr val="4F6BFF"/>
                </a:highlight>
                <a:latin typeface="Calibri" pitchFamily="34" charset="0"/>
                <a:ea typeface="Calibri" pitchFamily="34" charset="-122"/>
                <a:cs typeface="Calibri" pitchFamily="34" charset="-120"/>
              </a:rPr>
              <a:t> 6 </a:t>
            </a:r>
            <a:endParaRPr lang="en-US" sz="1100" dirty="0"/>
          </a:p>
        </p:txBody>
      </p:sp>
      <p:sp>
        <p:nvSpPr>
          <p:cNvPr id="14" name="Shape 11"/>
          <p:cNvSpPr/>
          <p:nvPr/>
        </p:nvSpPr>
        <p:spPr>
          <a:xfrm>
            <a:off x="6876288" y="2286000"/>
            <a:ext cx="4748479" cy="420624"/>
          </a:xfrm>
          <a:prstGeom prst="rect">
            <a:avLst/>
          </a:prstGeom>
          <a:solidFill>
            <a:srgbClr val="EEF2FF"/>
          </a:solidFill>
          <a:ln w="12700">
            <a:solidFill>
              <a:srgbClr val="EEF2FF"/>
            </a:solidFill>
            <a:prstDash val="solid"/>
          </a:ln>
        </p:spPr>
      </p:sp>
      <p:sp>
        <p:nvSpPr>
          <p:cNvPr id="15" name="Shape 12"/>
          <p:cNvSpPr/>
          <p:nvPr/>
        </p:nvSpPr>
        <p:spPr>
          <a:xfrm>
            <a:off x="7040880" y="2450592"/>
            <a:ext cx="91440" cy="91440"/>
          </a:xfrm>
          <a:prstGeom prst="ellipse">
            <a:avLst/>
          </a:prstGeom>
          <a:solidFill>
            <a:srgbClr val="4F6BFF"/>
          </a:solidFill>
          <a:ln w="12700">
            <a:solidFill>
              <a:srgbClr val="4F6BFF"/>
            </a:solidFill>
            <a:prstDash val="solid"/>
          </a:ln>
        </p:spPr>
      </p:sp>
      <p:sp>
        <p:nvSpPr>
          <p:cNvPr id="16" name="Text 13"/>
          <p:cNvSpPr txBox="1"/>
          <p:nvPr/>
        </p:nvSpPr>
        <p:spPr>
          <a:xfrm>
            <a:off x="7242048" y="2286000"/>
            <a:ext cx="3322015" cy="420624"/>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Proposal for your esteemed consideration</a:t>
            </a:r>
            <a:endParaRPr lang="en-US" sz="1100" dirty="0"/>
          </a:p>
        </p:txBody>
      </p:sp>
      <p:sp>
        <p:nvSpPr>
          <p:cNvPr id="17" name="Text 14"/>
          <p:cNvSpPr txBox="1"/>
          <p:nvPr/>
        </p:nvSpPr>
        <p:spPr>
          <a:xfrm>
            <a:off x="10591495" y="2286000"/>
            <a:ext cx="868680" cy="420624"/>
          </a:xfrm>
          <a:prstGeom prst="rect">
            <a:avLst/>
          </a:prstGeom>
          <a:noFill/>
          <a:ln/>
        </p:spPr>
        <p:txBody>
          <a:bodyPr wrap="square" lIns="0" tIns="0" rIns="0" bIns="0" rtlCol="0" anchor="ctr"/>
          <a:lstStyle/>
          <a:p>
            <a:pPr algn="r" indent="0" marL="0">
              <a:buNone/>
            </a:pPr>
            <a:r>
              <a:rPr lang="en-US" sz="1000" dirty="0">
                <a:solidFill>
                  <a:srgbClr val="667089"/>
                </a:solidFill>
                <a:latin typeface="Calibri" pitchFamily="34" charset="0"/>
                <a:ea typeface="Calibri" pitchFamily="34" charset="-122"/>
                <a:cs typeface="Calibri" pitchFamily="34" charset="-120"/>
              </a:rPr>
              <a:t>Us</a:t>
            </a:r>
            <a:endParaRPr lang="en-US" sz="1000" dirty="0"/>
          </a:p>
        </p:txBody>
      </p:sp>
      <p:sp>
        <p:nvSpPr>
          <p:cNvPr id="18" name="Shape 15"/>
          <p:cNvSpPr/>
          <p:nvPr/>
        </p:nvSpPr>
        <p:spPr>
          <a:xfrm>
            <a:off x="7040880" y="2871216"/>
            <a:ext cx="91440" cy="91440"/>
          </a:xfrm>
          <a:prstGeom prst="ellipse">
            <a:avLst/>
          </a:prstGeom>
          <a:solidFill>
            <a:srgbClr val="4F6BFF"/>
          </a:solidFill>
          <a:ln w="12700">
            <a:solidFill>
              <a:srgbClr val="4F6BFF"/>
            </a:solidFill>
            <a:prstDash val="solid"/>
          </a:ln>
        </p:spPr>
      </p:sp>
      <p:sp>
        <p:nvSpPr>
          <p:cNvPr id="19" name="Text 16"/>
          <p:cNvSpPr txBox="1"/>
          <p:nvPr/>
        </p:nvSpPr>
        <p:spPr>
          <a:xfrm>
            <a:off x="7242048" y="2706624"/>
            <a:ext cx="3322015" cy="420624"/>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Proposal for your consideration</a:t>
            </a:r>
            <a:endParaRPr lang="en-US" sz="1100" dirty="0"/>
          </a:p>
        </p:txBody>
      </p:sp>
      <p:sp>
        <p:nvSpPr>
          <p:cNvPr id="20" name="Text 17"/>
          <p:cNvSpPr txBox="1"/>
          <p:nvPr/>
        </p:nvSpPr>
        <p:spPr>
          <a:xfrm>
            <a:off x="10591495" y="2706624"/>
            <a:ext cx="868680" cy="420624"/>
          </a:xfrm>
          <a:prstGeom prst="rect">
            <a:avLst/>
          </a:prstGeom>
          <a:noFill/>
          <a:ln/>
        </p:spPr>
        <p:txBody>
          <a:bodyPr wrap="square" lIns="0" tIns="0" rIns="0" bIns="0" rtlCol="0" anchor="ctr"/>
          <a:lstStyle/>
          <a:p>
            <a:pPr algn="r" indent="0" marL="0">
              <a:buNone/>
            </a:pPr>
            <a:r>
              <a:rPr lang="en-US" sz="1000" dirty="0">
                <a:solidFill>
                  <a:srgbClr val="667089"/>
                </a:solidFill>
                <a:latin typeface="Calibri" pitchFamily="34" charset="0"/>
                <a:ea typeface="Calibri" pitchFamily="34" charset="-122"/>
                <a:cs typeface="Calibri" pitchFamily="34" charset="-120"/>
              </a:rPr>
              <a:t>Vendor A</a:t>
            </a:r>
            <a:endParaRPr lang="en-US" sz="1000" dirty="0"/>
          </a:p>
        </p:txBody>
      </p:sp>
      <p:sp>
        <p:nvSpPr>
          <p:cNvPr id="21" name="Shape 18"/>
          <p:cNvSpPr/>
          <p:nvPr/>
        </p:nvSpPr>
        <p:spPr>
          <a:xfrm>
            <a:off x="7040880" y="3291840"/>
            <a:ext cx="91440" cy="91440"/>
          </a:xfrm>
          <a:prstGeom prst="ellipse">
            <a:avLst/>
          </a:prstGeom>
          <a:solidFill>
            <a:srgbClr val="4F6BFF"/>
          </a:solidFill>
          <a:ln w="12700">
            <a:solidFill>
              <a:srgbClr val="4F6BFF"/>
            </a:solidFill>
            <a:prstDash val="solid"/>
          </a:ln>
        </p:spPr>
      </p:sp>
      <p:sp>
        <p:nvSpPr>
          <p:cNvPr id="22" name="Text 19"/>
          <p:cNvSpPr txBox="1"/>
          <p:nvPr/>
        </p:nvSpPr>
        <p:spPr>
          <a:xfrm>
            <a:off x="7242048" y="3127248"/>
            <a:ext cx="3322015" cy="420624"/>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Introducing our capabilities</a:t>
            </a:r>
            <a:endParaRPr lang="en-US" sz="1100" dirty="0"/>
          </a:p>
        </p:txBody>
      </p:sp>
      <p:sp>
        <p:nvSpPr>
          <p:cNvPr id="23" name="Text 20"/>
          <p:cNvSpPr txBox="1"/>
          <p:nvPr/>
        </p:nvSpPr>
        <p:spPr>
          <a:xfrm>
            <a:off x="10591495" y="3127248"/>
            <a:ext cx="868680" cy="420624"/>
          </a:xfrm>
          <a:prstGeom prst="rect">
            <a:avLst/>
          </a:prstGeom>
          <a:noFill/>
          <a:ln/>
        </p:spPr>
        <p:txBody>
          <a:bodyPr wrap="square" lIns="0" tIns="0" rIns="0" bIns="0" rtlCol="0" anchor="ctr"/>
          <a:lstStyle/>
          <a:p>
            <a:pPr algn="r" indent="0" marL="0">
              <a:buNone/>
            </a:pPr>
            <a:r>
              <a:rPr lang="en-US" sz="1000" dirty="0">
                <a:solidFill>
                  <a:srgbClr val="667089"/>
                </a:solidFill>
                <a:latin typeface="Calibri" pitchFamily="34" charset="0"/>
                <a:ea typeface="Calibri" pitchFamily="34" charset="-122"/>
                <a:cs typeface="Calibri" pitchFamily="34" charset="-120"/>
              </a:rPr>
              <a:t>Vendor B</a:t>
            </a:r>
            <a:endParaRPr lang="en-US" sz="1000" dirty="0"/>
          </a:p>
        </p:txBody>
      </p:sp>
      <p:sp>
        <p:nvSpPr>
          <p:cNvPr id="24" name="Shape 21"/>
          <p:cNvSpPr/>
          <p:nvPr/>
        </p:nvSpPr>
        <p:spPr>
          <a:xfrm>
            <a:off x="7040880" y="3712464"/>
            <a:ext cx="91440" cy="91440"/>
          </a:xfrm>
          <a:prstGeom prst="ellipse">
            <a:avLst/>
          </a:prstGeom>
          <a:solidFill>
            <a:srgbClr val="4F6BFF"/>
          </a:solidFill>
          <a:ln w="12700">
            <a:solidFill>
              <a:srgbClr val="4F6BFF"/>
            </a:solidFill>
            <a:prstDash val="solid"/>
          </a:ln>
        </p:spPr>
      </p:sp>
      <p:sp>
        <p:nvSpPr>
          <p:cNvPr id="25" name="Text 22"/>
          <p:cNvSpPr txBox="1"/>
          <p:nvPr/>
        </p:nvSpPr>
        <p:spPr>
          <a:xfrm>
            <a:off x="7242048" y="3547872"/>
            <a:ext cx="3322015" cy="420624"/>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Partnership opportunity</a:t>
            </a:r>
            <a:endParaRPr lang="en-US" sz="1100" dirty="0"/>
          </a:p>
        </p:txBody>
      </p:sp>
      <p:sp>
        <p:nvSpPr>
          <p:cNvPr id="26" name="Text 23"/>
          <p:cNvSpPr txBox="1"/>
          <p:nvPr/>
        </p:nvSpPr>
        <p:spPr>
          <a:xfrm>
            <a:off x="10591495" y="3547872"/>
            <a:ext cx="868680" cy="420624"/>
          </a:xfrm>
          <a:prstGeom prst="rect">
            <a:avLst/>
          </a:prstGeom>
          <a:noFill/>
          <a:ln/>
        </p:spPr>
        <p:txBody>
          <a:bodyPr wrap="square" lIns="0" tIns="0" rIns="0" bIns="0" rtlCol="0" anchor="ctr"/>
          <a:lstStyle/>
          <a:p>
            <a:pPr algn="r" indent="0" marL="0">
              <a:buNone/>
            </a:pPr>
            <a:r>
              <a:rPr lang="en-US" sz="1000" dirty="0">
                <a:solidFill>
                  <a:srgbClr val="667089"/>
                </a:solidFill>
                <a:latin typeface="Calibri" pitchFamily="34" charset="0"/>
                <a:ea typeface="Calibri" pitchFamily="34" charset="-122"/>
                <a:cs typeface="Calibri" pitchFamily="34" charset="-120"/>
              </a:rPr>
              <a:t>Vendor C</a:t>
            </a:r>
            <a:endParaRPr lang="en-US" sz="1000" dirty="0"/>
          </a:p>
        </p:txBody>
      </p:sp>
      <p:sp>
        <p:nvSpPr>
          <p:cNvPr id="27" name="Shape 24"/>
          <p:cNvSpPr/>
          <p:nvPr/>
        </p:nvSpPr>
        <p:spPr>
          <a:xfrm>
            <a:off x="7040880" y="4133088"/>
            <a:ext cx="91440" cy="91440"/>
          </a:xfrm>
          <a:prstGeom prst="ellipse">
            <a:avLst/>
          </a:prstGeom>
          <a:solidFill>
            <a:srgbClr val="4F6BFF"/>
          </a:solidFill>
          <a:ln w="12700">
            <a:solidFill>
              <a:srgbClr val="4F6BFF"/>
            </a:solidFill>
            <a:prstDash val="solid"/>
          </a:ln>
        </p:spPr>
      </p:sp>
      <p:sp>
        <p:nvSpPr>
          <p:cNvPr id="28" name="Text 25"/>
          <p:cNvSpPr txBox="1"/>
          <p:nvPr/>
        </p:nvSpPr>
        <p:spPr>
          <a:xfrm>
            <a:off x="7242048" y="3968496"/>
            <a:ext cx="3322015" cy="420624"/>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Following up on our proposal</a:t>
            </a:r>
            <a:endParaRPr lang="en-US" sz="1100" dirty="0"/>
          </a:p>
        </p:txBody>
      </p:sp>
      <p:sp>
        <p:nvSpPr>
          <p:cNvPr id="29" name="Text 26"/>
          <p:cNvSpPr txBox="1"/>
          <p:nvPr/>
        </p:nvSpPr>
        <p:spPr>
          <a:xfrm>
            <a:off x="10591495" y="3968496"/>
            <a:ext cx="868680" cy="420624"/>
          </a:xfrm>
          <a:prstGeom prst="rect">
            <a:avLst/>
          </a:prstGeom>
          <a:noFill/>
          <a:ln/>
        </p:spPr>
        <p:txBody>
          <a:bodyPr wrap="square" lIns="0" tIns="0" rIns="0" bIns="0" rtlCol="0" anchor="ctr"/>
          <a:lstStyle/>
          <a:p>
            <a:pPr algn="r" indent="0" marL="0">
              <a:buNone/>
            </a:pPr>
            <a:r>
              <a:rPr lang="en-US" sz="1000" dirty="0">
                <a:solidFill>
                  <a:srgbClr val="667089"/>
                </a:solidFill>
                <a:latin typeface="Calibri" pitchFamily="34" charset="0"/>
                <a:ea typeface="Calibri" pitchFamily="34" charset="-122"/>
                <a:cs typeface="Calibri" pitchFamily="34" charset="-120"/>
              </a:rPr>
              <a:t>Vendor D</a:t>
            </a:r>
            <a:endParaRPr lang="en-US" sz="1000" dirty="0"/>
          </a:p>
        </p:txBody>
      </p:sp>
      <p:sp>
        <p:nvSpPr>
          <p:cNvPr id="30" name="Shape 27"/>
          <p:cNvSpPr/>
          <p:nvPr/>
        </p:nvSpPr>
        <p:spPr>
          <a:xfrm>
            <a:off x="7040880" y="4553712"/>
            <a:ext cx="91440" cy="91440"/>
          </a:xfrm>
          <a:prstGeom prst="ellipse">
            <a:avLst/>
          </a:prstGeom>
          <a:solidFill>
            <a:srgbClr val="4F6BFF"/>
          </a:solidFill>
          <a:ln w="12700">
            <a:solidFill>
              <a:srgbClr val="4F6BFF"/>
            </a:solidFill>
            <a:prstDash val="solid"/>
          </a:ln>
        </p:spPr>
      </p:sp>
      <p:sp>
        <p:nvSpPr>
          <p:cNvPr id="31" name="Text 28"/>
          <p:cNvSpPr txBox="1"/>
          <p:nvPr/>
        </p:nvSpPr>
        <p:spPr>
          <a:xfrm>
            <a:off x="7242048" y="4389120"/>
            <a:ext cx="3322015" cy="420624"/>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Our services overview</a:t>
            </a:r>
            <a:endParaRPr lang="en-US" sz="1100" dirty="0"/>
          </a:p>
        </p:txBody>
      </p:sp>
      <p:sp>
        <p:nvSpPr>
          <p:cNvPr id="32" name="Text 29"/>
          <p:cNvSpPr txBox="1"/>
          <p:nvPr/>
        </p:nvSpPr>
        <p:spPr>
          <a:xfrm>
            <a:off x="10591495" y="4389120"/>
            <a:ext cx="868680" cy="420624"/>
          </a:xfrm>
          <a:prstGeom prst="rect">
            <a:avLst/>
          </a:prstGeom>
          <a:noFill/>
          <a:ln/>
        </p:spPr>
        <p:txBody>
          <a:bodyPr wrap="square" lIns="0" tIns="0" rIns="0" bIns="0" rtlCol="0" anchor="ctr"/>
          <a:lstStyle/>
          <a:p>
            <a:pPr algn="r" indent="0" marL="0">
              <a:buNone/>
            </a:pPr>
            <a:r>
              <a:rPr lang="en-US" sz="1000" dirty="0">
                <a:solidFill>
                  <a:srgbClr val="667089"/>
                </a:solidFill>
                <a:latin typeface="Calibri" pitchFamily="34" charset="0"/>
                <a:ea typeface="Calibri" pitchFamily="34" charset="-122"/>
                <a:cs typeface="Calibri" pitchFamily="34" charset="-120"/>
              </a:rPr>
              <a:t>Vendor E</a:t>
            </a:r>
            <a:endParaRPr lang="en-US" sz="1000" dirty="0"/>
          </a:p>
        </p:txBody>
      </p:sp>
      <p:sp>
        <p:nvSpPr>
          <p:cNvPr id="33" name="Text 30"/>
          <p:cNvSpPr txBox="1"/>
          <p:nvPr/>
        </p:nvSpPr>
        <p:spPr>
          <a:xfrm>
            <a:off x="6858000" y="4983480"/>
            <a:ext cx="4785055" cy="640080"/>
          </a:xfrm>
          <a:prstGeom prst="rect">
            <a:avLst/>
          </a:prstGeom>
          <a:noFill/>
          <a:ln/>
        </p:spPr>
        <p:txBody>
          <a:bodyPr wrap="square" lIns="0" tIns="0" rIns="0" bIns="0" rtlCol="0" anchor="t"/>
          <a:lstStyle/>
          <a:p>
            <a:pPr indent="0" marL="0">
              <a:buNone/>
            </a:pPr>
            <a:r>
              <a:rPr lang="en-US" sz="1700" b="1" dirty="0">
                <a:solidFill>
                  <a:srgbClr val="667089"/>
                </a:solidFill>
                <a:latin typeface="Calibri" pitchFamily="34" charset="0"/>
                <a:ea typeface="Calibri" pitchFamily="34" charset="-122"/>
                <a:cs typeface="Calibri" pitchFamily="34" charset="-120"/>
              </a:rPr>
              <a:t>One more proposal that looks like all the others.</a:t>
            </a:r>
            <a:endParaRPr lang="en-US" sz="17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PROBLEM</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Demos take days to build. Nitro builds one in minutes.</a:t>
            </a:r>
            <a:endParaRPr lang="en-US" sz="3400" dirty="0"/>
          </a:p>
        </p:txBody>
      </p:sp>
      <p:sp>
        <p:nvSpPr>
          <p:cNvPr id="5" name="Text 2"/>
          <p:cNvSpPr txBox="1"/>
          <p:nvPr/>
        </p:nvSpPr>
        <p:spPr>
          <a:xfrm>
            <a:off x="548640" y="1783080"/>
            <a:ext cx="11094415" cy="320040"/>
          </a:xfrm>
          <a:prstGeom prst="rect">
            <a:avLst/>
          </a:prstGeom>
          <a:noFill/>
          <a:ln/>
        </p:spPr>
        <p:txBody>
          <a:bodyPr wrap="square" lIns="0" tIns="0" rIns="0" bIns="0" rtlCol="0" anchor="t"/>
          <a:lstStyle/>
          <a:p>
            <a:pPr indent="0" marL="0">
              <a:buNone/>
            </a:pPr>
            <a:r>
              <a:rPr lang="en-US" sz="1200" b="1" spc="300" kern="0" dirty="0">
                <a:solidFill>
                  <a:srgbClr val="667089"/>
                </a:solidFill>
                <a:latin typeface="Calibri" pitchFamily="34" charset="0"/>
                <a:ea typeface="Calibri" pitchFamily="34" charset="-122"/>
                <a:cs typeface="Calibri" pitchFamily="34" charset="-120"/>
              </a:rPr>
              <a:t>TIME TO BUILD ONE PERSONALISED DEMO FOR A PROSPECT</a:t>
            </a:r>
            <a:endParaRPr lang="en-US" sz="1200" dirty="0"/>
          </a:p>
        </p:txBody>
      </p:sp>
      <p:sp>
        <p:nvSpPr>
          <p:cNvPr id="6" name="Text 3"/>
          <p:cNvSpPr txBox="1"/>
          <p:nvPr/>
        </p:nvSpPr>
        <p:spPr>
          <a:xfrm>
            <a:off x="548640" y="2240280"/>
            <a:ext cx="2194560" cy="548640"/>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By hand</a:t>
            </a:r>
            <a:endParaRPr lang="en-US" sz="1700" dirty="0"/>
          </a:p>
        </p:txBody>
      </p:sp>
      <p:sp>
        <p:nvSpPr>
          <p:cNvPr id="7" name="Shape 4"/>
          <p:cNvSpPr/>
          <p:nvPr/>
        </p:nvSpPr>
        <p:spPr>
          <a:xfrm>
            <a:off x="2834640" y="2313432"/>
            <a:ext cx="6949440" cy="402336"/>
          </a:xfrm>
          <a:prstGeom prst="roundRect">
            <a:avLst>
              <a:gd name="adj" fmla="val 22727"/>
            </a:avLst>
          </a:prstGeom>
          <a:solidFill>
            <a:srgbClr val="E6E9F3"/>
          </a:solidFill>
          <a:ln w="12700">
            <a:solidFill>
              <a:srgbClr val="E6E9F3"/>
            </a:solidFill>
            <a:prstDash val="solid"/>
          </a:ln>
        </p:spPr>
      </p:sp>
      <p:sp>
        <p:nvSpPr>
          <p:cNvPr id="8" name="Shape 5"/>
          <p:cNvSpPr/>
          <p:nvPr/>
        </p:nvSpPr>
        <p:spPr>
          <a:xfrm>
            <a:off x="2834640" y="2313432"/>
            <a:ext cx="6949440" cy="402336"/>
          </a:xfrm>
          <a:prstGeom prst="roundRect">
            <a:avLst>
              <a:gd name="adj" fmla="val 22727"/>
            </a:avLst>
          </a:prstGeom>
          <a:solidFill>
            <a:srgbClr val="D64545"/>
          </a:solidFill>
          <a:ln w="12700">
            <a:solidFill>
              <a:srgbClr val="D64545"/>
            </a:solidFill>
            <a:prstDash val="solid"/>
          </a:ln>
        </p:spPr>
      </p:sp>
      <p:sp>
        <p:nvSpPr>
          <p:cNvPr id="9" name="Text 6"/>
          <p:cNvSpPr txBox="1"/>
          <p:nvPr/>
        </p:nvSpPr>
        <p:spPr>
          <a:xfrm>
            <a:off x="3017520" y="2313432"/>
            <a:ext cx="6583680" cy="402336"/>
          </a:xfrm>
          <a:prstGeom prst="rect">
            <a:avLst/>
          </a:prstGeom>
          <a:noFill/>
          <a:ln/>
        </p:spPr>
        <p:txBody>
          <a:bodyPr wrap="square" lIns="0" tIns="0" rIns="0" bIns="0" rtlCol="0" anchor="ctr"/>
          <a:lstStyle/>
          <a:p>
            <a:pPr indent="0" marL="0">
              <a:buNone/>
            </a:pPr>
            <a:r>
              <a:rPr lang="en-US" sz="1400" b="1" i="1" dirty="0">
                <a:solidFill>
                  <a:srgbClr val="FFFFFF"/>
                </a:solidFill>
                <a:latin typeface="Calibri" pitchFamily="34" charset="0"/>
                <a:ea typeface="Calibri" pitchFamily="34" charset="-122"/>
                <a:cs typeface="Calibri" pitchFamily="34" charset="-120"/>
              </a:rPr>
              <a:t>Days of developer time</a:t>
            </a:r>
            <a:endParaRPr lang="en-US" sz="1400" dirty="0"/>
          </a:p>
        </p:txBody>
      </p:sp>
      <p:sp>
        <p:nvSpPr>
          <p:cNvPr id="10" name="Text 7"/>
          <p:cNvSpPr txBox="1"/>
          <p:nvPr/>
        </p:nvSpPr>
        <p:spPr>
          <a:xfrm>
            <a:off x="9966960" y="2240280"/>
            <a:ext cx="1645920" cy="548640"/>
          </a:xfrm>
          <a:prstGeom prst="rect">
            <a:avLst/>
          </a:prstGeom>
          <a:noFill/>
          <a:ln/>
        </p:spPr>
        <p:txBody>
          <a:bodyPr wrap="square" lIns="0" tIns="0" rIns="0" bIns="0" rtlCol="0" anchor="ctr"/>
          <a:lstStyle/>
          <a:p>
            <a:pPr indent="0" marL="0">
              <a:buNone/>
            </a:pPr>
            <a:r>
              <a:rPr lang="en-US" sz="1700" b="1" dirty="0">
                <a:solidFill>
                  <a:srgbClr val="D64545"/>
                </a:solidFill>
                <a:latin typeface="Calibri" pitchFamily="34" charset="0"/>
                <a:ea typeface="Calibri" pitchFamily="34" charset="-122"/>
                <a:cs typeface="Calibri" pitchFamily="34" charset="-120"/>
              </a:rPr>
              <a:t>Days</a:t>
            </a:r>
            <a:endParaRPr lang="en-US" sz="1700" dirty="0"/>
          </a:p>
        </p:txBody>
      </p:sp>
      <p:sp>
        <p:nvSpPr>
          <p:cNvPr id="11" name="Text 8"/>
          <p:cNvSpPr txBox="1"/>
          <p:nvPr/>
        </p:nvSpPr>
        <p:spPr>
          <a:xfrm>
            <a:off x="548640" y="2971800"/>
            <a:ext cx="2194560" cy="548640"/>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With Nitro</a:t>
            </a:r>
            <a:endParaRPr lang="en-US" sz="1700" dirty="0"/>
          </a:p>
        </p:txBody>
      </p:sp>
      <p:sp>
        <p:nvSpPr>
          <p:cNvPr id="12" name="Shape 9"/>
          <p:cNvSpPr/>
          <p:nvPr/>
        </p:nvSpPr>
        <p:spPr>
          <a:xfrm>
            <a:off x="2834640" y="3044952"/>
            <a:ext cx="6949440" cy="402336"/>
          </a:xfrm>
          <a:prstGeom prst="roundRect">
            <a:avLst>
              <a:gd name="adj" fmla="val 22727"/>
            </a:avLst>
          </a:prstGeom>
          <a:solidFill>
            <a:srgbClr val="E6E9F3"/>
          </a:solidFill>
          <a:ln w="12700">
            <a:solidFill>
              <a:srgbClr val="E6E9F3"/>
            </a:solidFill>
            <a:prstDash val="solid"/>
          </a:ln>
        </p:spPr>
      </p:sp>
      <p:sp>
        <p:nvSpPr>
          <p:cNvPr id="13" name="Shape 10"/>
          <p:cNvSpPr/>
          <p:nvPr/>
        </p:nvSpPr>
        <p:spPr>
          <a:xfrm>
            <a:off x="2834640" y="3044952"/>
            <a:ext cx="228600" cy="402336"/>
          </a:xfrm>
          <a:prstGeom prst="roundRect">
            <a:avLst>
              <a:gd name="adj" fmla="val 40000"/>
            </a:avLst>
          </a:prstGeom>
          <a:solidFill>
            <a:srgbClr val="0F9D6B"/>
          </a:solidFill>
          <a:ln w="12700">
            <a:solidFill>
              <a:srgbClr val="0F9D6B"/>
            </a:solidFill>
            <a:prstDash val="solid"/>
          </a:ln>
        </p:spPr>
      </p:sp>
      <p:sp>
        <p:nvSpPr>
          <p:cNvPr id="14" name="Text 11"/>
          <p:cNvSpPr txBox="1"/>
          <p:nvPr/>
        </p:nvSpPr>
        <p:spPr>
          <a:xfrm>
            <a:off x="9966960" y="2971800"/>
            <a:ext cx="1645920" cy="548640"/>
          </a:xfrm>
          <a:prstGeom prst="rect">
            <a:avLst/>
          </a:prstGeom>
          <a:noFill/>
          <a:ln/>
        </p:spPr>
        <p:txBody>
          <a:bodyPr wrap="square" lIns="0" tIns="0" rIns="0" bIns="0" rtlCol="0" anchor="ctr"/>
          <a:lstStyle/>
          <a:p>
            <a:pPr indent="0" marL="0">
              <a:buNone/>
            </a:pPr>
            <a:r>
              <a:rPr lang="en-US" sz="1700" b="1" dirty="0">
                <a:solidFill>
                  <a:srgbClr val="0F9D6B"/>
                </a:solidFill>
                <a:latin typeface="Calibri" pitchFamily="34" charset="0"/>
                <a:ea typeface="Calibri" pitchFamily="34" charset="-122"/>
                <a:cs typeface="Calibri" pitchFamily="34" charset="-120"/>
              </a:rPr>
              <a:t>1.5–3 min</a:t>
            </a:r>
            <a:endParaRPr lang="en-US" sz="1700" dirty="0"/>
          </a:p>
        </p:txBody>
      </p:sp>
      <p:sp>
        <p:nvSpPr>
          <p:cNvPr id="15" name="Shape 12"/>
          <p:cNvSpPr/>
          <p:nvPr/>
        </p:nvSpPr>
        <p:spPr>
          <a:xfrm>
            <a:off x="548640" y="3931920"/>
            <a:ext cx="5432908" cy="1463040"/>
          </a:xfrm>
          <a:prstGeom prst="roundRect">
            <a:avLst>
              <a:gd name="adj" fmla="val 75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6" name="Text 13"/>
          <p:cNvSpPr txBox="1"/>
          <p:nvPr/>
        </p:nvSpPr>
        <p:spPr>
          <a:xfrm>
            <a:off x="777240" y="4114800"/>
            <a:ext cx="502142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Every prospect gets one</a:t>
            </a:r>
            <a:endParaRPr lang="en-US" sz="1700" dirty="0"/>
          </a:p>
        </p:txBody>
      </p:sp>
      <p:sp>
        <p:nvSpPr>
          <p:cNvPr id="17" name="Text 14"/>
          <p:cNvSpPr txBox="1"/>
          <p:nvPr/>
        </p:nvSpPr>
        <p:spPr>
          <a:xfrm>
            <a:off x="777240" y="4645152"/>
            <a:ext cx="4975708" cy="6400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Not only the deals that are almost won: a demo built on their own site, before the first meeting.</a:t>
            </a:r>
            <a:endParaRPr lang="en-US" sz="1400" dirty="0"/>
          </a:p>
        </p:txBody>
      </p:sp>
      <p:sp>
        <p:nvSpPr>
          <p:cNvPr id="18" name="Shape 15"/>
          <p:cNvSpPr/>
          <p:nvPr/>
        </p:nvSpPr>
        <p:spPr>
          <a:xfrm>
            <a:off x="6210148" y="3931920"/>
            <a:ext cx="5432908" cy="1463040"/>
          </a:xfrm>
          <a:prstGeom prst="roundRect">
            <a:avLst>
              <a:gd name="adj" fmla="val 7500"/>
            </a:avLst>
          </a:prstGeom>
          <a:solidFill>
            <a:srgbClr val="FFFFFF"/>
          </a:solidFill>
          <a:ln w="12700">
            <a:solidFill>
              <a:srgbClr val="0F9D6B"/>
            </a:solidFill>
            <a:prstDash val="solid"/>
          </a:ln>
          <a:effectLst>
            <a:outerShdw sx="100000" sy="100000" kx="0" ky="0" algn="bl" rotWithShape="0" blurRad="101600" dist="25400" dir="5400000">
              <a:srgbClr val="1E2850">
                <a:alpha val="8000"/>
              </a:srgbClr>
            </a:outerShdw>
          </a:effectLst>
        </p:spPr>
      </p:sp>
      <p:sp>
        <p:nvSpPr>
          <p:cNvPr id="19" name="Text 16"/>
          <p:cNvSpPr txBox="1"/>
          <p:nvPr/>
        </p:nvSpPr>
        <p:spPr>
          <a:xfrm>
            <a:off x="6438748" y="4114800"/>
            <a:ext cx="502142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Always available · 24x7</a:t>
            </a:r>
            <a:endParaRPr lang="en-US" sz="1700" dirty="0"/>
          </a:p>
        </p:txBody>
      </p:sp>
      <p:sp>
        <p:nvSpPr>
          <p:cNvPr id="20" name="Text 17"/>
          <p:cNvSpPr txBox="1"/>
          <p:nvPr/>
        </p:nvSpPr>
        <p:spPr>
          <a:xfrm>
            <a:off x="6438748" y="4645152"/>
            <a:ext cx="4975708" cy="6400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Agents keep working in the background, so a demo is ready whenever sales needs one.</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10698480" cy="411480"/>
          </a:xfrm>
          <a:prstGeom prst="rect">
            <a:avLst/>
          </a:prstGeom>
          <a:noFill/>
          <a:ln/>
        </p:spPr>
        <p:txBody>
          <a:bodyPr wrap="square" lIns="0" tIns="0" rIns="0" bIns="0" rtlCol="0"/>
          <a:lstStyle/>
          <a:p>
            <a:pPr indent="0" marL="0">
              <a:buNone/>
            </a:pPr>
            <a:r>
              <a:rPr lang="en-US" sz="1400" b="1" spc="400" kern="0" dirty="0">
                <a:solidFill>
                  <a:srgbClr val="8FA5FF"/>
                </a:solidFill>
                <a:latin typeface="Calibri" pitchFamily="34" charset="0"/>
                <a:ea typeface="Calibri" pitchFamily="34" charset="-122"/>
                <a:cs typeface="Calibri" pitchFamily="34" charset="-120"/>
              </a:rPr>
              <a:t>WHAT IF…</a:t>
            </a:r>
            <a:endParaRPr lang="en-US" sz="1400" dirty="0"/>
          </a:p>
        </p:txBody>
      </p:sp>
      <p:sp>
        <p:nvSpPr>
          <p:cNvPr id="4" name="Text 1"/>
          <p:cNvSpPr txBox="1"/>
          <p:nvPr/>
        </p:nvSpPr>
        <p:spPr>
          <a:xfrm>
            <a:off x="731520" y="2011680"/>
            <a:ext cx="10698480" cy="2286000"/>
          </a:xfrm>
          <a:prstGeom prst="rect">
            <a:avLst/>
          </a:prstGeom>
          <a:noFill/>
          <a:ln/>
        </p:spPr>
        <p:txBody>
          <a:bodyPr wrap="square" lIns="0" tIns="0" rIns="0" bIns="0" rtlCol="0" anchor="t"/>
          <a:lstStyle/>
          <a:p>
            <a:pPr indent="0" marL="0">
              <a:buNone/>
            </a:pPr>
            <a:r>
              <a:rPr lang="en-US" sz="4800" b="1" dirty="0">
                <a:solidFill>
                  <a:srgbClr val="F1F4FF"/>
                </a:solidFill>
                <a:latin typeface="Calibri" pitchFamily="34" charset="0"/>
                <a:ea typeface="Calibri" pitchFamily="34" charset="-122"/>
                <a:cs typeface="Calibri" pitchFamily="34" charset="-120"/>
              </a:rPr>
              <a:t>What if the prospect could see their own website, improved, before they signed anything?</a:t>
            </a:r>
            <a:endParaRPr lang="en-US" sz="4800" dirty="0"/>
          </a:p>
        </p:txBody>
      </p:sp>
      <p:sp>
        <p:nvSpPr>
          <p:cNvPr id="5" name="Text 2"/>
          <p:cNvSpPr txBox="1"/>
          <p:nvPr/>
        </p:nvSpPr>
        <p:spPr>
          <a:xfrm>
            <a:off x="731520" y="4480560"/>
            <a:ext cx="10698480" cy="548640"/>
          </a:xfrm>
          <a:prstGeom prst="rect">
            <a:avLst/>
          </a:prstGeom>
          <a:noFill/>
          <a:ln/>
        </p:spPr>
        <p:txBody>
          <a:bodyPr wrap="square" lIns="0" tIns="0" rIns="0" bIns="0" rtlCol="0" anchor="t"/>
          <a:lstStyle/>
          <a:p>
            <a:pPr indent="0" marL="0">
              <a:buNone/>
            </a:pPr>
            <a:r>
              <a:rPr lang="en-US" sz="2400" b="1" dirty="0">
                <a:solidFill>
                  <a:srgbClr val="A9B8FF"/>
                </a:solidFill>
                <a:latin typeface="Calibri" pitchFamily="34" charset="0"/>
                <a:ea typeface="Calibri" pitchFamily="34" charset="-122"/>
                <a:cs typeface="Calibri" pitchFamily="34" charset="-120"/>
              </a:rPr>
              <a:t>That is Nitro.</a:t>
            </a:r>
            <a:endParaRPr lang="en-US" sz="2400" dirty="0"/>
          </a:p>
        </p:txBody>
      </p:sp>
      <p:sp>
        <p:nvSpPr>
          <p:cNvPr id="6" name="Text 0"/>
          <p:cNvSpPr/>
          <p:nvPr>
            <p:ph idx="101" type="title" hasCustomPrompt="1"/>
          </p:nvPr>
        </p:nvSpPr>
        <p:spPr>
          <a:xfrm>
            <a:off x="731520" y="1874520"/>
            <a:ext cx="10698480" cy="1600200"/>
          </a:xfrm>
          <a:prstGeom prst="rect">
            <a:avLst/>
          </a:prstGeom>
          <a:noFill/>
          <a:ln/>
        </p:spPr>
        <p:txBody>
          <a:bodyPr wrap="square" lIns="0" tIns="0" rIns="0" bIns="0" rtlCol="0" anchor="t"/>
          <a:lstStyle/>
          <a:p>
            <a:pPr algn="l" indent="0" marL="0">
              <a:buNone/>
            </a:pPr>
            <a:endParaRPr lang="en-US" sz="4800" dirty="0"/>
          </a:p>
        </p:txBody>
      </p:sp>
      <p:sp>
        <p:nvSpPr>
          <p:cNvPr id="7" name="Text 0"/>
          <p:cNvSpPr/>
          <p:nvPr>
            <p:ph idx="102" type="body" hasCustomPrompt="1"/>
          </p:nvPr>
        </p:nvSpPr>
        <p:spPr>
          <a:xfrm>
            <a:off x="731520" y="3429000"/>
            <a:ext cx="10698480" cy="164592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4D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SOLUTION</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Paste a URL. That's it.</a:t>
            </a:r>
            <a:endParaRPr lang="en-US" sz="3400" dirty="0"/>
          </a:p>
        </p:txBody>
      </p:sp>
      <p:sp>
        <p:nvSpPr>
          <p:cNvPr id="5" name="Shape 2"/>
          <p:cNvSpPr/>
          <p:nvPr/>
        </p:nvSpPr>
        <p:spPr>
          <a:xfrm>
            <a:off x="2651760" y="1920240"/>
            <a:ext cx="6858000" cy="868680"/>
          </a:xfrm>
          <a:prstGeom prst="roundRect">
            <a:avLst>
              <a:gd name="adj" fmla="val 49474"/>
            </a:avLst>
          </a:prstGeom>
          <a:solidFill>
            <a:srgbClr val="FFFFFF"/>
          </a:solidFill>
          <a:ln w="31750">
            <a:solidFill>
              <a:srgbClr val="4F6BFF"/>
            </a:solidFill>
            <a:prstDash val="solid"/>
          </a:ln>
          <a:effectLst>
            <a:outerShdw sx="100000" sy="100000" kx="0" ky="0" algn="bl" rotWithShape="0" blurRad="101600" dist="25400" dir="5400000">
              <a:srgbClr val="1E2850">
                <a:alpha val="8000"/>
              </a:srgbClr>
            </a:outerShdw>
          </a:effectLst>
        </p:spPr>
      </p:sp>
      <p:pic>
        <p:nvPicPr>
          <p:cNvPr id="6" name="Image 0" descr="globe icon">    </p:cNvPr>
          <p:cNvPicPr>
            <a:picLocks noChangeAspect="1"/>
          </p:cNvPicPr>
          <p:nvPr/>
        </p:nvPicPr>
        <p:blipFill>
          <a:blip r:embed="rId1"/>
          <a:stretch>
            <a:fillRect/>
          </a:stretch>
        </p:blipFill>
        <p:spPr>
          <a:xfrm>
            <a:off x="2926080" y="2103120"/>
            <a:ext cx="502920" cy="502920"/>
          </a:xfrm>
          <a:prstGeom prst="rect">
            <a:avLst/>
          </a:prstGeom>
        </p:spPr>
      </p:pic>
      <p:sp>
        <p:nvSpPr>
          <p:cNvPr id="7" name="Text 3"/>
          <p:cNvSpPr txBox="1"/>
          <p:nvPr/>
        </p:nvSpPr>
        <p:spPr>
          <a:xfrm>
            <a:off x="3611880" y="1920240"/>
            <a:ext cx="4114800" cy="868680"/>
          </a:xfrm>
          <a:prstGeom prst="rect">
            <a:avLst/>
          </a:prstGeom>
          <a:noFill/>
          <a:ln/>
        </p:spPr>
        <p:txBody>
          <a:bodyPr wrap="square" lIns="0" tIns="0" rIns="0" bIns="0" rtlCol="0" anchor="ctr"/>
          <a:lstStyle/>
          <a:p>
            <a:pPr indent="0" marL="0">
              <a:buNone/>
            </a:pPr>
            <a:r>
              <a:rPr lang="en-US" sz="2600" b="1" dirty="0">
                <a:solidFill>
                  <a:srgbClr val="1A2033"/>
                </a:solidFill>
                <a:latin typeface="Calibri" pitchFamily="34" charset="0"/>
                <a:ea typeface="Calibri" pitchFamily="34" charset="-122"/>
                <a:cs typeface="Calibri" pitchFamily="34" charset="-120"/>
              </a:rPr>
              <a:t>www.allbirds.com</a:t>
            </a:r>
            <a:endParaRPr lang="en-US" sz="2600" dirty="0"/>
          </a:p>
        </p:txBody>
      </p:sp>
      <p:sp>
        <p:nvSpPr>
          <p:cNvPr id="8" name="Shape 4"/>
          <p:cNvSpPr/>
          <p:nvPr/>
        </p:nvSpPr>
        <p:spPr>
          <a:xfrm>
            <a:off x="7863840" y="2075688"/>
            <a:ext cx="1463040" cy="548640"/>
          </a:xfrm>
          <a:prstGeom prst="roundRect">
            <a:avLst>
              <a:gd name="adj" fmla="val 50000"/>
            </a:avLst>
          </a:prstGeom>
          <a:solidFill>
            <a:srgbClr val="4F6BFF"/>
          </a:solidFill>
          <a:ln w="12700">
            <a:solidFill>
              <a:srgbClr val="4F6BFF"/>
            </a:solidFill>
            <a:prstDash val="solid"/>
          </a:ln>
        </p:spPr>
      </p:sp>
      <p:sp>
        <p:nvSpPr>
          <p:cNvPr id="9" name="Text 5"/>
          <p:cNvSpPr txBox="1"/>
          <p:nvPr/>
        </p:nvSpPr>
        <p:spPr>
          <a:xfrm>
            <a:off x="7863840" y="2075688"/>
            <a:ext cx="14630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Launch</a:t>
            </a:r>
            <a:endParaRPr lang="en-US" sz="1700" dirty="0"/>
          </a:p>
        </p:txBody>
      </p:sp>
      <p:sp>
        <p:nvSpPr>
          <p:cNvPr id="10" name="Text 6"/>
          <p:cNvSpPr txBox="1"/>
          <p:nvPr/>
        </p:nvSpPr>
        <p:spPr>
          <a:xfrm>
            <a:off x="548640" y="3154680"/>
            <a:ext cx="11094415" cy="548640"/>
          </a:xfrm>
          <a:prstGeom prst="rect">
            <a:avLst/>
          </a:prstGeom>
          <a:noFill/>
          <a:ln/>
        </p:spPr>
        <p:txBody>
          <a:bodyPr wrap="square" lIns="0" tIns="0" rIns="0" bIns="0" rtlCol="0" anchor="t"/>
          <a:lstStyle/>
          <a:p>
            <a:pPr algn="ctr" indent="0" marL="0">
              <a:buNone/>
            </a:pPr>
            <a:r>
              <a:rPr lang="en-US" sz="2200" dirty="0">
                <a:solidFill>
                  <a:srgbClr val="667089"/>
                </a:solidFill>
                <a:latin typeface="Calibri" pitchFamily="34" charset="0"/>
                <a:ea typeface="Calibri" pitchFamily="34" charset="-122"/>
                <a:cs typeface="Calibri" pitchFamily="34" charset="-120"/>
              </a:rPr>
              <a:t>…and a whole office of AI agents goes to work.</a:t>
            </a:r>
            <a:endParaRPr lang="en-US" sz="2200" dirty="0"/>
          </a:p>
        </p:txBody>
      </p:sp>
      <p:pic>
        <p:nvPicPr>
          <p:cNvPr id="11" name="Image 1" descr="Coordinator agent, pixel robot">    </p:cNvPr>
          <p:cNvPicPr>
            <a:picLocks noChangeAspect="1"/>
          </p:cNvPicPr>
          <p:nvPr/>
        </p:nvPicPr>
        <p:blipFill>
          <a:blip r:embed="rId2"/>
          <a:stretch>
            <a:fillRect/>
          </a:stretch>
        </p:blipFill>
        <p:spPr>
          <a:xfrm>
            <a:off x="664312" y="4023360"/>
            <a:ext cx="731520" cy="1005840"/>
          </a:xfrm>
          <a:prstGeom prst="rect">
            <a:avLst/>
          </a:prstGeom>
        </p:spPr>
      </p:pic>
      <p:pic>
        <p:nvPicPr>
          <p:cNvPr id="12" name="Image 2" descr="Site Auditor agent, pixel robot">    </p:cNvPr>
          <p:cNvPicPr>
            <a:picLocks noChangeAspect="1"/>
          </p:cNvPicPr>
          <p:nvPr/>
        </p:nvPicPr>
        <p:blipFill>
          <a:blip r:embed="rId3"/>
          <a:stretch>
            <a:fillRect/>
          </a:stretch>
        </p:blipFill>
        <p:spPr>
          <a:xfrm>
            <a:off x="1651864" y="4023360"/>
            <a:ext cx="731520" cy="1005840"/>
          </a:xfrm>
          <a:prstGeom prst="rect">
            <a:avLst/>
          </a:prstGeom>
        </p:spPr>
      </p:pic>
      <p:pic>
        <p:nvPicPr>
          <p:cNvPr id="13" name="Image 3" descr="Tech Detector agent, pixel robot">    </p:cNvPr>
          <p:cNvPicPr>
            <a:picLocks noChangeAspect="1"/>
          </p:cNvPicPr>
          <p:nvPr/>
        </p:nvPicPr>
        <p:blipFill>
          <a:blip r:embed="rId4"/>
          <a:stretch>
            <a:fillRect/>
          </a:stretch>
        </p:blipFill>
        <p:spPr>
          <a:xfrm>
            <a:off x="2639416" y="4023360"/>
            <a:ext cx="731520" cy="1005840"/>
          </a:xfrm>
          <a:prstGeom prst="rect">
            <a:avLst/>
          </a:prstGeom>
        </p:spPr>
      </p:pic>
      <p:pic>
        <p:nvPicPr>
          <p:cNvPr id="14" name="Image 4" descr="Speed Tester agent, pixel robot">    </p:cNvPr>
          <p:cNvPicPr>
            <a:picLocks noChangeAspect="1"/>
          </p:cNvPicPr>
          <p:nvPr/>
        </p:nvPicPr>
        <p:blipFill>
          <a:blip r:embed="rId5"/>
          <a:stretch>
            <a:fillRect/>
          </a:stretch>
        </p:blipFill>
        <p:spPr>
          <a:xfrm>
            <a:off x="3626968" y="4023360"/>
            <a:ext cx="731520" cy="1005840"/>
          </a:xfrm>
          <a:prstGeom prst="rect">
            <a:avLst/>
          </a:prstGeom>
        </p:spPr>
      </p:pic>
      <p:pic>
        <p:nvPicPr>
          <p:cNvPr id="15" name="Image 5" descr="Mobile Tester agent, pixel robot">    </p:cNvPr>
          <p:cNvPicPr>
            <a:picLocks noChangeAspect="1"/>
          </p:cNvPicPr>
          <p:nvPr/>
        </p:nvPicPr>
        <p:blipFill>
          <a:blip r:embed="rId6"/>
          <a:stretch>
            <a:fillRect/>
          </a:stretch>
        </p:blipFill>
        <p:spPr>
          <a:xfrm>
            <a:off x="4614520" y="4023360"/>
            <a:ext cx="731520" cy="1005840"/>
          </a:xfrm>
          <a:prstGeom prst="rect">
            <a:avLst/>
          </a:prstGeom>
        </p:spPr>
      </p:pic>
      <p:pic>
        <p:nvPicPr>
          <p:cNvPr id="16" name="Image 6" descr="Accessibility Checker agent, pixel robot">    </p:cNvPr>
          <p:cNvPicPr>
            <a:picLocks noChangeAspect="1"/>
          </p:cNvPicPr>
          <p:nvPr/>
        </p:nvPicPr>
        <p:blipFill>
          <a:blip r:embed="rId7"/>
          <a:stretch>
            <a:fillRect/>
          </a:stretch>
        </p:blipFill>
        <p:spPr>
          <a:xfrm>
            <a:off x="5602072" y="4023360"/>
            <a:ext cx="731520" cy="1005840"/>
          </a:xfrm>
          <a:prstGeom prst="rect">
            <a:avLst/>
          </a:prstGeom>
        </p:spPr>
      </p:pic>
      <p:pic>
        <p:nvPicPr>
          <p:cNvPr id="17" name="Image 7" descr="UX Reviewer agent, pixel robot">    </p:cNvPr>
          <p:cNvPicPr>
            <a:picLocks noChangeAspect="1"/>
          </p:cNvPicPr>
          <p:nvPr/>
        </p:nvPicPr>
        <p:blipFill>
          <a:blip r:embed="rId8"/>
          <a:stretch>
            <a:fillRect/>
          </a:stretch>
        </p:blipFill>
        <p:spPr>
          <a:xfrm>
            <a:off x="6589624" y="4023360"/>
            <a:ext cx="731520" cy="1005840"/>
          </a:xfrm>
          <a:prstGeom prst="rect">
            <a:avLst/>
          </a:prstGeom>
        </p:spPr>
      </p:pic>
      <p:pic>
        <p:nvPicPr>
          <p:cNvPr id="18" name="Image 8" descr="AI-Search Checker agent, pixel robot">    </p:cNvPr>
          <p:cNvPicPr>
            <a:picLocks noChangeAspect="1"/>
          </p:cNvPicPr>
          <p:nvPr/>
        </p:nvPicPr>
        <p:blipFill>
          <a:blip r:embed="rId9"/>
          <a:stretch>
            <a:fillRect/>
          </a:stretch>
        </p:blipFill>
        <p:spPr>
          <a:xfrm>
            <a:off x="7577176" y="4023360"/>
            <a:ext cx="731520" cy="1005840"/>
          </a:xfrm>
          <a:prstGeom prst="rect">
            <a:avLst/>
          </a:prstGeom>
        </p:spPr>
      </p:pic>
      <p:pic>
        <p:nvPicPr>
          <p:cNvPr id="19" name="Image 9" descr="Designer agent, pixel robot">    </p:cNvPr>
          <p:cNvPicPr>
            <a:picLocks noChangeAspect="1"/>
          </p:cNvPicPr>
          <p:nvPr/>
        </p:nvPicPr>
        <p:blipFill>
          <a:blip r:embed="rId10"/>
          <a:stretch>
            <a:fillRect/>
          </a:stretch>
        </p:blipFill>
        <p:spPr>
          <a:xfrm>
            <a:off x="8564728" y="4023360"/>
            <a:ext cx="731520" cy="1005840"/>
          </a:xfrm>
          <a:prstGeom prst="rect">
            <a:avLst/>
          </a:prstGeom>
        </p:spPr>
      </p:pic>
      <p:pic>
        <p:nvPicPr>
          <p:cNvPr id="20" name="Image 10" descr="Team Matcher agent, pixel robot">    </p:cNvPr>
          <p:cNvPicPr>
            <a:picLocks noChangeAspect="1"/>
          </p:cNvPicPr>
          <p:nvPr/>
        </p:nvPicPr>
        <p:blipFill>
          <a:blip r:embed="rId11"/>
          <a:stretch>
            <a:fillRect/>
          </a:stretch>
        </p:blipFill>
        <p:spPr>
          <a:xfrm>
            <a:off x="9552280" y="4023360"/>
            <a:ext cx="731520" cy="1005840"/>
          </a:xfrm>
          <a:prstGeom prst="rect">
            <a:avLst/>
          </a:prstGeom>
        </p:spPr>
      </p:pic>
      <p:pic>
        <p:nvPicPr>
          <p:cNvPr id="21" name="Image 11" descr="Deck Writer agent, pixel robot">    </p:cNvPr>
          <p:cNvPicPr>
            <a:picLocks noChangeAspect="1"/>
          </p:cNvPicPr>
          <p:nvPr/>
        </p:nvPicPr>
        <p:blipFill>
          <a:blip r:embed="rId12"/>
          <a:stretch>
            <a:fillRect/>
          </a:stretch>
        </p:blipFill>
        <p:spPr>
          <a:xfrm>
            <a:off x="10539832" y="4023360"/>
            <a:ext cx="731520" cy="1005840"/>
          </a:xfrm>
          <a:prstGeom prst="rect">
            <a:avLst/>
          </a:prstGeom>
        </p:spPr>
      </p:pic>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TEAM</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Meet the 13 agents</a:t>
            </a:r>
            <a:endParaRPr lang="en-US" sz="3400" dirty="0"/>
          </a:p>
        </p:txBody>
      </p:sp>
      <p:sp>
        <p:nvSpPr>
          <p:cNvPr id="5" name="Shape 2"/>
          <p:cNvSpPr/>
          <p:nvPr/>
        </p:nvSpPr>
        <p:spPr>
          <a:xfrm>
            <a:off x="548640" y="1783080"/>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Coordinator agent, pixel robot">    </p:cNvPr>
          <p:cNvPicPr>
            <a:picLocks noChangeAspect="1"/>
          </p:cNvPicPr>
          <p:nvPr/>
        </p:nvPicPr>
        <p:blipFill>
          <a:blip r:embed="rId1"/>
          <a:stretch>
            <a:fillRect/>
          </a:stretch>
        </p:blipFill>
        <p:spPr>
          <a:xfrm>
            <a:off x="1004077" y="1947672"/>
            <a:ext cx="548640" cy="754380"/>
          </a:xfrm>
          <a:prstGeom prst="rect">
            <a:avLst/>
          </a:prstGeom>
        </p:spPr>
      </p:pic>
      <p:sp>
        <p:nvSpPr>
          <p:cNvPr id="7" name="Text 3"/>
          <p:cNvSpPr txBox="1"/>
          <p:nvPr/>
        </p:nvSpPr>
        <p:spPr>
          <a:xfrm>
            <a:off x="621792" y="2770632"/>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Coordinator</a:t>
            </a:r>
            <a:endParaRPr lang="en-US" sz="1300" dirty="0"/>
          </a:p>
        </p:txBody>
      </p:sp>
      <p:sp>
        <p:nvSpPr>
          <p:cNvPr id="8" name="Text 4"/>
          <p:cNvSpPr txBox="1"/>
          <p:nvPr/>
        </p:nvSpPr>
        <p:spPr>
          <a:xfrm>
            <a:off x="621792" y="3200400"/>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Plans and runs the job</a:t>
            </a:r>
            <a:endParaRPr lang="en-US" sz="1050" dirty="0"/>
          </a:p>
        </p:txBody>
      </p:sp>
      <p:sp>
        <p:nvSpPr>
          <p:cNvPr id="9" name="Shape 5"/>
          <p:cNvSpPr/>
          <p:nvPr/>
        </p:nvSpPr>
        <p:spPr>
          <a:xfrm>
            <a:off x="2154457" y="1783080"/>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0" name="Image 1" descr="undefined agent, pixel robot">    </p:cNvPr>
          <p:cNvPicPr>
            <a:picLocks noChangeAspect="1"/>
          </p:cNvPicPr>
          <p:nvPr/>
        </p:nvPicPr>
        <p:blipFill>
          <a:blip r:embed="rId2"/>
          <a:stretch>
            <a:fillRect/>
          </a:stretch>
        </p:blipFill>
        <p:spPr>
          <a:xfrm>
            <a:off x="2609894" y="1947672"/>
            <a:ext cx="548640" cy="754380"/>
          </a:xfrm>
          <a:prstGeom prst="rect">
            <a:avLst/>
          </a:prstGeom>
        </p:spPr>
      </p:pic>
      <p:sp>
        <p:nvSpPr>
          <p:cNvPr id="11" name="Text 6"/>
          <p:cNvSpPr txBox="1"/>
          <p:nvPr/>
        </p:nvSpPr>
        <p:spPr>
          <a:xfrm>
            <a:off x="2227609" y="2770632"/>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Market Researcher</a:t>
            </a:r>
            <a:endParaRPr lang="en-US" sz="1300" dirty="0"/>
          </a:p>
        </p:txBody>
      </p:sp>
      <p:sp>
        <p:nvSpPr>
          <p:cNvPr id="12" name="Text 7"/>
          <p:cNvSpPr txBox="1"/>
          <p:nvPr/>
        </p:nvSpPr>
        <p:spPr>
          <a:xfrm>
            <a:off x="2227609" y="3200400"/>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Latest news on the company</a:t>
            </a:r>
            <a:endParaRPr lang="en-US" sz="1050" dirty="0"/>
          </a:p>
        </p:txBody>
      </p:sp>
      <p:sp>
        <p:nvSpPr>
          <p:cNvPr id="13" name="Shape 8"/>
          <p:cNvSpPr/>
          <p:nvPr/>
        </p:nvSpPr>
        <p:spPr>
          <a:xfrm>
            <a:off x="3760274" y="1783080"/>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4" name="Image 2" descr="undefined agent, pixel robot">    </p:cNvPr>
          <p:cNvPicPr>
            <a:picLocks noChangeAspect="1"/>
          </p:cNvPicPr>
          <p:nvPr/>
        </p:nvPicPr>
        <p:blipFill>
          <a:blip r:embed="rId3"/>
          <a:stretch>
            <a:fillRect/>
          </a:stretch>
        </p:blipFill>
        <p:spPr>
          <a:xfrm>
            <a:off x="4215711" y="1947672"/>
            <a:ext cx="548640" cy="754380"/>
          </a:xfrm>
          <a:prstGeom prst="rect">
            <a:avLst/>
          </a:prstGeom>
        </p:spPr>
      </p:pic>
      <p:sp>
        <p:nvSpPr>
          <p:cNvPr id="15" name="Text 9"/>
          <p:cNvSpPr txBox="1"/>
          <p:nvPr/>
        </p:nvSpPr>
        <p:spPr>
          <a:xfrm>
            <a:off x="3833426" y="2770632"/>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Tender Scout</a:t>
            </a:r>
            <a:endParaRPr lang="en-US" sz="1300" dirty="0"/>
          </a:p>
        </p:txBody>
      </p:sp>
      <p:sp>
        <p:nvSpPr>
          <p:cNvPr id="16" name="Text 10"/>
          <p:cNvSpPr txBox="1"/>
          <p:nvPr/>
        </p:nvSpPr>
        <p:spPr>
          <a:xfrm>
            <a:off x="3833426" y="3200400"/>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Triages government tenders</a:t>
            </a:r>
            <a:endParaRPr lang="en-US" sz="1050" dirty="0"/>
          </a:p>
        </p:txBody>
      </p:sp>
      <p:sp>
        <p:nvSpPr>
          <p:cNvPr id="17" name="Shape 11"/>
          <p:cNvSpPr/>
          <p:nvPr/>
        </p:nvSpPr>
        <p:spPr>
          <a:xfrm>
            <a:off x="5366091" y="1783080"/>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8" name="Image 3" descr="Site Auditor agent, pixel robot">    </p:cNvPr>
          <p:cNvPicPr>
            <a:picLocks noChangeAspect="1"/>
          </p:cNvPicPr>
          <p:nvPr/>
        </p:nvPicPr>
        <p:blipFill>
          <a:blip r:embed="rId4"/>
          <a:stretch>
            <a:fillRect/>
          </a:stretch>
        </p:blipFill>
        <p:spPr>
          <a:xfrm>
            <a:off x="5821528" y="1947672"/>
            <a:ext cx="548640" cy="754380"/>
          </a:xfrm>
          <a:prstGeom prst="rect">
            <a:avLst/>
          </a:prstGeom>
        </p:spPr>
      </p:pic>
      <p:sp>
        <p:nvSpPr>
          <p:cNvPr id="19" name="Text 12"/>
          <p:cNvSpPr txBox="1"/>
          <p:nvPr/>
        </p:nvSpPr>
        <p:spPr>
          <a:xfrm>
            <a:off x="5439243" y="2770632"/>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Site Auditor</a:t>
            </a:r>
            <a:endParaRPr lang="en-US" sz="1300" dirty="0"/>
          </a:p>
        </p:txBody>
      </p:sp>
      <p:sp>
        <p:nvSpPr>
          <p:cNvPr id="20" name="Text 13"/>
          <p:cNvSpPr txBox="1"/>
          <p:nvPr/>
        </p:nvSpPr>
        <p:spPr>
          <a:xfrm>
            <a:off x="5439243" y="3200400"/>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Checks the website</a:t>
            </a:r>
            <a:endParaRPr lang="en-US" sz="1050" dirty="0"/>
          </a:p>
        </p:txBody>
      </p:sp>
      <p:sp>
        <p:nvSpPr>
          <p:cNvPr id="21" name="Shape 14"/>
          <p:cNvSpPr/>
          <p:nvPr/>
        </p:nvSpPr>
        <p:spPr>
          <a:xfrm>
            <a:off x="6971908" y="1783080"/>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2" name="Image 4" descr="Tech Detector agent, pixel robot">    </p:cNvPr>
          <p:cNvPicPr>
            <a:picLocks noChangeAspect="1"/>
          </p:cNvPicPr>
          <p:nvPr/>
        </p:nvPicPr>
        <p:blipFill>
          <a:blip r:embed="rId5"/>
          <a:stretch>
            <a:fillRect/>
          </a:stretch>
        </p:blipFill>
        <p:spPr>
          <a:xfrm>
            <a:off x="7427345" y="1947672"/>
            <a:ext cx="548640" cy="754380"/>
          </a:xfrm>
          <a:prstGeom prst="rect">
            <a:avLst/>
          </a:prstGeom>
        </p:spPr>
      </p:pic>
      <p:sp>
        <p:nvSpPr>
          <p:cNvPr id="23" name="Text 15"/>
          <p:cNvSpPr txBox="1"/>
          <p:nvPr/>
        </p:nvSpPr>
        <p:spPr>
          <a:xfrm>
            <a:off x="7045060" y="2770632"/>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Tech Detector</a:t>
            </a:r>
            <a:endParaRPr lang="en-US" sz="1300" dirty="0"/>
          </a:p>
        </p:txBody>
      </p:sp>
      <p:sp>
        <p:nvSpPr>
          <p:cNvPr id="24" name="Text 16"/>
          <p:cNvSpPr txBox="1"/>
          <p:nvPr/>
        </p:nvSpPr>
        <p:spPr>
          <a:xfrm>
            <a:off x="7045060" y="3200400"/>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Finds the technologies</a:t>
            </a:r>
            <a:endParaRPr lang="en-US" sz="1050" dirty="0"/>
          </a:p>
        </p:txBody>
      </p:sp>
      <p:sp>
        <p:nvSpPr>
          <p:cNvPr id="25" name="Shape 17"/>
          <p:cNvSpPr/>
          <p:nvPr/>
        </p:nvSpPr>
        <p:spPr>
          <a:xfrm>
            <a:off x="8577725" y="1783080"/>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6" name="Image 5" descr="Speed Tester agent, pixel robot">    </p:cNvPr>
          <p:cNvPicPr>
            <a:picLocks noChangeAspect="1"/>
          </p:cNvPicPr>
          <p:nvPr/>
        </p:nvPicPr>
        <p:blipFill>
          <a:blip r:embed="rId6"/>
          <a:stretch>
            <a:fillRect/>
          </a:stretch>
        </p:blipFill>
        <p:spPr>
          <a:xfrm>
            <a:off x="9033162" y="1947672"/>
            <a:ext cx="548640" cy="754380"/>
          </a:xfrm>
          <a:prstGeom prst="rect">
            <a:avLst/>
          </a:prstGeom>
        </p:spPr>
      </p:pic>
      <p:sp>
        <p:nvSpPr>
          <p:cNvPr id="27" name="Text 18"/>
          <p:cNvSpPr txBox="1"/>
          <p:nvPr/>
        </p:nvSpPr>
        <p:spPr>
          <a:xfrm>
            <a:off x="8650877" y="2770632"/>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Speed Tester</a:t>
            </a:r>
            <a:endParaRPr lang="en-US" sz="1300" dirty="0"/>
          </a:p>
        </p:txBody>
      </p:sp>
      <p:sp>
        <p:nvSpPr>
          <p:cNvPr id="28" name="Text 19"/>
          <p:cNvSpPr txBox="1"/>
          <p:nvPr/>
        </p:nvSpPr>
        <p:spPr>
          <a:xfrm>
            <a:off x="8650877" y="3200400"/>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Measures page speed</a:t>
            </a:r>
            <a:endParaRPr lang="en-US" sz="1050" dirty="0"/>
          </a:p>
        </p:txBody>
      </p:sp>
      <p:sp>
        <p:nvSpPr>
          <p:cNvPr id="29" name="Shape 20"/>
          <p:cNvSpPr/>
          <p:nvPr/>
        </p:nvSpPr>
        <p:spPr>
          <a:xfrm>
            <a:off x="10183542" y="1783080"/>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0" name="Image 6" descr="Mobile Tester agent, pixel robot">    </p:cNvPr>
          <p:cNvPicPr>
            <a:picLocks noChangeAspect="1"/>
          </p:cNvPicPr>
          <p:nvPr/>
        </p:nvPicPr>
        <p:blipFill>
          <a:blip r:embed="rId7"/>
          <a:stretch>
            <a:fillRect/>
          </a:stretch>
        </p:blipFill>
        <p:spPr>
          <a:xfrm>
            <a:off x="10638979" y="1947672"/>
            <a:ext cx="548640" cy="754380"/>
          </a:xfrm>
          <a:prstGeom prst="rect">
            <a:avLst/>
          </a:prstGeom>
        </p:spPr>
      </p:pic>
      <p:sp>
        <p:nvSpPr>
          <p:cNvPr id="31" name="Text 21"/>
          <p:cNvSpPr txBox="1"/>
          <p:nvPr/>
        </p:nvSpPr>
        <p:spPr>
          <a:xfrm>
            <a:off x="10256694" y="2770632"/>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Mobile Tester</a:t>
            </a:r>
            <a:endParaRPr lang="en-US" sz="1300" dirty="0"/>
          </a:p>
        </p:txBody>
      </p:sp>
      <p:sp>
        <p:nvSpPr>
          <p:cNvPr id="32" name="Text 22"/>
          <p:cNvSpPr txBox="1"/>
          <p:nvPr/>
        </p:nvSpPr>
        <p:spPr>
          <a:xfrm>
            <a:off x="10256694" y="3200400"/>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Checks it on a phone</a:t>
            </a:r>
            <a:endParaRPr lang="en-US" sz="1050" dirty="0"/>
          </a:p>
        </p:txBody>
      </p:sp>
      <p:sp>
        <p:nvSpPr>
          <p:cNvPr id="33" name="Shape 23"/>
          <p:cNvSpPr/>
          <p:nvPr/>
        </p:nvSpPr>
        <p:spPr>
          <a:xfrm>
            <a:off x="548640" y="3803904"/>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4" name="Image 7" descr="Accessibility Checker agent, pixel robot">    </p:cNvPr>
          <p:cNvPicPr>
            <a:picLocks noChangeAspect="1"/>
          </p:cNvPicPr>
          <p:nvPr/>
        </p:nvPicPr>
        <p:blipFill>
          <a:blip r:embed="rId8"/>
          <a:stretch>
            <a:fillRect/>
          </a:stretch>
        </p:blipFill>
        <p:spPr>
          <a:xfrm>
            <a:off x="1004077" y="3968496"/>
            <a:ext cx="548640" cy="754380"/>
          </a:xfrm>
          <a:prstGeom prst="rect">
            <a:avLst/>
          </a:prstGeom>
        </p:spPr>
      </p:pic>
      <p:sp>
        <p:nvSpPr>
          <p:cNvPr id="35" name="Text 24"/>
          <p:cNvSpPr txBox="1"/>
          <p:nvPr/>
        </p:nvSpPr>
        <p:spPr>
          <a:xfrm>
            <a:off x="621792" y="4791456"/>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Accessibility Checker</a:t>
            </a:r>
            <a:endParaRPr lang="en-US" sz="1300" dirty="0"/>
          </a:p>
        </p:txBody>
      </p:sp>
      <p:sp>
        <p:nvSpPr>
          <p:cNvPr id="36" name="Text 25"/>
          <p:cNvSpPr txBox="1"/>
          <p:nvPr/>
        </p:nvSpPr>
        <p:spPr>
          <a:xfrm>
            <a:off x="621792" y="5221224"/>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Works for everyone?</a:t>
            </a:r>
            <a:endParaRPr lang="en-US" sz="1050" dirty="0"/>
          </a:p>
        </p:txBody>
      </p:sp>
      <p:sp>
        <p:nvSpPr>
          <p:cNvPr id="37" name="Shape 26"/>
          <p:cNvSpPr/>
          <p:nvPr/>
        </p:nvSpPr>
        <p:spPr>
          <a:xfrm>
            <a:off x="2154457" y="3803904"/>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8" name="Image 8" descr="UX Reviewer agent, pixel robot">    </p:cNvPr>
          <p:cNvPicPr>
            <a:picLocks noChangeAspect="1"/>
          </p:cNvPicPr>
          <p:nvPr/>
        </p:nvPicPr>
        <p:blipFill>
          <a:blip r:embed="rId9"/>
          <a:stretch>
            <a:fillRect/>
          </a:stretch>
        </p:blipFill>
        <p:spPr>
          <a:xfrm>
            <a:off x="2609894" y="3968496"/>
            <a:ext cx="548640" cy="754380"/>
          </a:xfrm>
          <a:prstGeom prst="rect">
            <a:avLst/>
          </a:prstGeom>
        </p:spPr>
      </p:pic>
      <p:sp>
        <p:nvSpPr>
          <p:cNvPr id="39" name="Text 27"/>
          <p:cNvSpPr txBox="1"/>
          <p:nvPr/>
        </p:nvSpPr>
        <p:spPr>
          <a:xfrm>
            <a:off x="2227609" y="4791456"/>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UX Reviewer</a:t>
            </a:r>
            <a:endParaRPr lang="en-US" sz="1300" dirty="0"/>
          </a:p>
        </p:txBody>
      </p:sp>
      <p:sp>
        <p:nvSpPr>
          <p:cNvPr id="40" name="Text 28"/>
          <p:cNvSpPr txBox="1"/>
          <p:nvPr/>
        </p:nvSpPr>
        <p:spPr>
          <a:xfrm>
            <a:off x="2227609" y="5221224"/>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Usability and design</a:t>
            </a:r>
            <a:endParaRPr lang="en-US" sz="1050" dirty="0"/>
          </a:p>
        </p:txBody>
      </p:sp>
      <p:sp>
        <p:nvSpPr>
          <p:cNvPr id="41" name="Shape 29"/>
          <p:cNvSpPr/>
          <p:nvPr/>
        </p:nvSpPr>
        <p:spPr>
          <a:xfrm>
            <a:off x="3760274" y="3803904"/>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42" name="Image 9" descr="AI-Search Checker agent, pixel robot">    </p:cNvPr>
          <p:cNvPicPr>
            <a:picLocks noChangeAspect="1"/>
          </p:cNvPicPr>
          <p:nvPr/>
        </p:nvPicPr>
        <p:blipFill>
          <a:blip r:embed="rId10"/>
          <a:stretch>
            <a:fillRect/>
          </a:stretch>
        </p:blipFill>
        <p:spPr>
          <a:xfrm>
            <a:off x="4215711" y="3968496"/>
            <a:ext cx="548640" cy="754380"/>
          </a:xfrm>
          <a:prstGeom prst="rect">
            <a:avLst/>
          </a:prstGeom>
        </p:spPr>
      </p:pic>
      <p:sp>
        <p:nvSpPr>
          <p:cNvPr id="43" name="Text 30"/>
          <p:cNvSpPr txBox="1"/>
          <p:nvPr/>
        </p:nvSpPr>
        <p:spPr>
          <a:xfrm>
            <a:off x="3833426" y="4791456"/>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AI-Search Checker</a:t>
            </a:r>
            <a:endParaRPr lang="en-US" sz="1300" dirty="0"/>
          </a:p>
        </p:txBody>
      </p:sp>
      <p:sp>
        <p:nvSpPr>
          <p:cNvPr id="44" name="Text 31"/>
          <p:cNvSpPr txBox="1"/>
          <p:nvPr/>
        </p:nvSpPr>
        <p:spPr>
          <a:xfrm>
            <a:off x="3833426" y="5221224"/>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Visible in AI search?</a:t>
            </a:r>
            <a:endParaRPr lang="en-US" sz="1050" dirty="0"/>
          </a:p>
        </p:txBody>
      </p:sp>
      <p:sp>
        <p:nvSpPr>
          <p:cNvPr id="45" name="Shape 32"/>
          <p:cNvSpPr/>
          <p:nvPr/>
        </p:nvSpPr>
        <p:spPr>
          <a:xfrm>
            <a:off x="5366091" y="3803904"/>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46" name="Image 10" descr="Designer agent, pixel robot">    </p:cNvPr>
          <p:cNvPicPr>
            <a:picLocks noChangeAspect="1"/>
          </p:cNvPicPr>
          <p:nvPr/>
        </p:nvPicPr>
        <p:blipFill>
          <a:blip r:embed="rId11"/>
          <a:stretch>
            <a:fillRect/>
          </a:stretch>
        </p:blipFill>
        <p:spPr>
          <a:xfrm>
            <a:off x="5821528" y="3968496"/>
            <a:ext cx="548640" cy="754380"/>
          </a:xfrm>
          <a:prstGeom prst="rect">
            <a:avLst/>
          </a:prstGeom>
        </p:spPr>
      </p:pic>
      <p:sp>
        <p:nvSpPr>
          <p:cNvPr id="47" name="Text 33"/>
          <p:cNvSpPr txBox="1"/>
          <p:nvPr/>
        </p:nvSpPr>
        <p:spPr>
          <a:xfrm>
            <a:off x="5439243" y="4791456"/>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Designer</a:t>
            </a:r>
            <a:endParaRPr lang="en-US" sz="1300" dirty="0"/>
          </a:p>
        </p:txBody>
      </p:sp>
      <p:sp>
        <p:nvSpPr>
          <p:cNvPr id="48" name="Text 34"/>
          <p:cNvSpPr txBox="1"/>
          <p:nvPr/>
        </p:nvSpPr>
        <p:spPr>
          <a:xfrm>
            <a:off x="5439243" y="5221224"/>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Builds the new homepage</a:t>
            </a:r>
            <a:endParaRPr lang="en-US" sz="1050" dirty="0"/>
          </a:p>
        </p:txBody>
      </p:sp>
      <p:sp>
        <p:nvSpPr>
          <p:cNvPr id="49" name="Shape 35"/>
          <p:cNvSpPr/>
          <p:nvPr/>
        </p:nvSpPr>
        <p:spPr>
          <a:xfrm>
            <a:off x="6971908" y="3803904"/>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50" name="Image 11" descr="Team Matcher agent, pixel robot">    </p:cNvPr>
          <p:cNvPicPr>
            <a:picLocks noChangeAspect="1"/>
          </p:cNvPicPr>
          <p:nvPr/>
        </p:nvPicPr>
        <p:blipFill>
          <a:blip r:embed="rId12"/>
          <a:stretch>
            <a:fillRect/>
          </a:stretch>
        </p:blipFill>
        <p:spPr>
          <a:xfrm>
            <a:off x="7427345" y="3968496"/>
            <a:ext cx="548640" cy="754380"/>
          </a:xfrm>
          <a:prstGeom prst="rect">
            <a:avLst/>
          </a:prstGeom>
        </p:spPr>
      </p:pic>
      <p:sp>
        <p:nvSpPr>
          <p:cNvPr id="51" name="Text 36"/>
          <p:cNvSpPr txBox="1"/>
          <p:nvPr/>
        </p:nvSpPr>
        <p:spPr>
          <a:xfrm>
            <a:off x="7045060" y="4791456"/>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Team Matcher</a:t>
            </a:r>
            <a:endParaRPr lang="en-US" sz="1300" dirty="0"/>
          </a:p>
        </p:txBody>
      </p:sp>
      <p:sp>
        <p:nvSpPr>
          <p:cNvPr id="52" name="Text 37"/>
          <p:cNvSpPr txBox="1"/>
          <p:nvPr/>
        </p:nvSpPr>
        <p:spPr>
          <a:xfrm>
            <a:off x="7045060" y="5221224"/>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Finds available experts</a:t>
            </a:r>
            <a:endParaRPr lang="en-US" sz="1050" dirty="0"/>
          </a:p>
        </p:txBody>
      </p:sp>
      <p:sp>
        <p:nvSpPr>
          <p:cNvPr id="53" name="Shape 38"/>
          <p:cNvSpPr/>
          <p:nvPr/>
        </p:nvSpPr>
        <p:spPr>
          <a:xfrm>
            <a:off x="8577725" y="3803904"/>
            <a:ext cx="1459513" cy="1874520"/>
          </a:xfrm>
          <a:prstGeom prst="roundRect">
            <a:avLst>
              <a:gd name="adj" fmla="val 751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54" name="Image 12" descr="Deck Writer agent, pixel robot">    </p:cNvPr>
          <p:cNvPicPr>
            <a:picLocks noChangeAspect="1"/>
          </p:cNvPicPr>
          <p:nvPr/>
        </p:nvPicPr>
        <p:blipFill>
          <a:blip r:embed="rId13"/>
          <a:stretch>
            <a:fillRect/>
          </a:stretch>
        </p:blipFill>
        <p:spPr>
          <a:xfrm>
            <a:off x="9033162" y="3968496"/>
            <a:ext cx="548640" cy="754380"/>
          </a:xfrm>
          <a:prstGeom prst="rect">
            <a:avLst/>
          </a:prstGeom>
        </p:spPr>
      </p:pic>
      <p:sp>
        <p:nvSpPr>
          <p:cNvPr id="55" name="Text 39"/>
          <p:cNvSpPr txBox="1"/>
          <p:nvPr/>
        </p:nvSpPr>
        <p:spPr>
          <a:xfrm>
            <a:off x="8650877" y="4791456"/>
            <a:ext cx="1313209" cy="45720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Deck Writer</a:t>
            </a:r>
            <a:endParaRPr lang="en-US" sz="1300" dirty="0"/>
          </a:p>
        </p:txBody>
      </p:sp>
      <p:sp>
        <p:nvSpPr>
          <p:cNvPr id="56" name="Text 40"/>
          <p:cNvSpPr txBox="1"/>
          <p:nvPr/>
        </p:nvSpPr>
        <p:spPr>
          <a:xfrm>
            <a:off x="8650877" y="5221224"/>
            <a:ext cx="1313209" cy="384048"/>
          </a:xfrm>
          <a:prstGeom prst="rect">
            <a:avLst/>
          </a:prstGeom>
          <a:noFill/>
          <a:ln/>
        </p:spPr>
        <p:txBody>
          <a:bodyPr wrap="square" lIns="0" tIns="0" rIns="0" bIns="0" rtlCol="0" anchor="t"/>
          <a:lstStyle/>
          <a:p>
            <a:pPr algn="ctr" indent="0" marL="0">
              <a:buNone/>
            </a:pPr>
            <a:r>
              <a:rPr lang="en-US" sz="1050" dirty="0">
                <a:solidFill>
                  <a:srgbClr val="667089"/>
                </a:solidFill>
                <a:latin typeface="Calibri" pitchFamily="34" charset="0"/>
                <a:ea typeface="Calibri" pitchFamily="34" charset="-122"/>
                <a:cs typeface="Calibri" pitchFamily="34" charset="-120"/>
              </a:rPr>
              <a:t>Writes deck and proposal</a:t>
            </a:r>
            <a:endParaRPr lang="en-US" sz="1050" dirty="0"/>
          </a:p>
        </p:txBody>
      </p:sp>
      <p:sp>
        <p:nvSpPr>
          <p:cNvPr id="57" name="Shape 41"/>
          <p:cNvSpPr/>
          <p:nvPr/>
        </p:nvSpPr>
        <p:spPr>
          <a:xfrm>
            <a:off x="10183542" y="3803904"/>
            <a:ext cx="1459513" cy="1874520"/>
          </a:xfrm>
          <a:prstGeom prst="roundRect">
            <a:avLst>
              <a:gd name="adj" fmla="val 7518"/>
            </a:avLst>
          </a:prstGeom>
          <a:solidFill>
            <a:srgbClr val="4F6BFF"/>
          </a:solidFill>
          <a:ln w="12700">
            <a:solidFill>
              <a:srgbClr val="4F6BFF"/>
            </a:solidFill>
            <a:prstDash val="solid"/>
          </a:ln>
        </p:spPr>
      </p:sp>
      <p:sp>
        <p:nvSpPr>
          <p:cNvPr id="58" name="Text 42"/>
          <p:cNvSpPr txBox="1"/>
          <p:nvPr/>
        </p:nvSpPr>
        <p:spPr>
          <a:xfrm>
            <a:off x="10229262" y="3803904"/>
            <a:ext cx="1368073" cy="1874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 agents</a:t>
            </a:r>
            <a:endParaRPr lang="en-US" sz="1400" dirty="0"/>
          </a:p>
          <a:p>
            <a:pPr algn="ctr" indent="0" marL="0">
              <a:buNone/>
            </a:pP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12 in every run</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1 finds tenders</a:t>
            </a:r>
            <a:endParaRPr lang="en-US" sz="1400" dirty="0"/>
          </a:p>
        </p:txBody>
      </p:sp>
      <p:sp>
        <p:nvSpPr>
          <p:cNvPr id="59" name="Text 43"/>
          <p:cNvSpPr txBox="1"/>
          <p:nvPr/>
        </p:nvSpPr>
        <p:spPr>
          <a:xfrm>
            <a:off x="548640" y="5806440"/>
            <a:ext cx="11094415" cy="457200"/>
          </a:xfrm>
          <a:prstGeom prst="rect">
            <a:avLst/>
          </a:prstGeom>
          <a:noFill/>
          <a:ln/>
        </p:spPr>
        <p:txBody>
          <a:bodyPr wrap="square" lIns="0" tIns="0" rIns="0" bIns="0" rtlCol="0" anchor="t"/>
          <a:lstStyle/>
          <a:p>
            <a:pPr indent="0" marL="0">
              <a:buNone/>
            </a:pPr>
            <a:r>
              <a:rPr lang="en-US" sz="1100" i="1" dirty="0">
                <a:solidFill>
                  <a:srgbClr val="667089"/>
                </a:solidFill>
                <a:latin typeface="Calibri" pitchFamily="34" charset="0"/>
                <a:ea typeface="Calibri" pitchFamily="34" charset="-122"/>
                <a:cs typeface="Calibri" pitchFamily="34" charset="-120"/>
              </a:rPr>
              <a:t>The Market Researcher runs first in every analysis; the Tender Scout triages government tenders. All are listed in the agent marketplace.</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One URL in. A personalised pitch out.</a:t>
            </a:r>
            <a:endParaRPr lang="en-US" sz="3400" dirty="0"/>
          </a:p>
        </p:txBody>
      </p:sp>
      <p:sp>
        <p:nvSpPr>
          <p:cNvPr id="5" name="Shape 2"/>
          <p:cNvSpPr/>
          <p:nvPr/>
        </p:nvSpPr>
        <p:spPr>
          <a:xfrm>
            <a:off x="548640" y="1691640"/>
            <a:ext cx="1310596" cy="1417320"/>
          </a:xfrm>
          <a:prstGeom prst="roundRect">
            <a:avLst>
              <a:gd name="adj" fmla="val 8372"/>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gov icon">    </p:cNvPr>
          <p:cNvPicPr>
            <a:picLocks noChangeAspect="1"/>
          </p:cNvPicPr>
          <p:nvPr/>
        </p:nvPicPr>
        <p:blipFill>
          <a:blip r:embed="rId1"/>
          <a:stretch>
            <a:fillRect/>
          </a:stretch>
        </p:blipFill>
        <p:spPr>
          <a:xfrm>
            <a:off x="975338" y="1874520"/>
            <a:ext cx="457200" cy="457200"/>
          </a:xfrm>
          <a:prstGeom prst="rect">
            <a:avLst/>
          </a:prstGeom>
        </p:spPr>
      </p:pic>
      <p:sp>
        <p:nvSpPr>
          <p:cNvPr id="7" name="Text 3"/>
          <p:cNvSpPr txBox="1"/>
          <p:nvPr/>
        </p:nvSpPr>
        <p:spPr>
          <a:xfrm>
            <a:off x="640080" y="2441448"/>
            <a:ext cx="1127716"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URL or tender</a:t>
            </a:r>
            <a:endParaRPr lang="en-US" sz="1500" dirty="0"/>
          </a:p>
        </p:txBody>
      </p:sp>
      <p:sp>
        <p:nvSpPr>
          <p:cNvPr id="8" name="Text 4"/>
          <p:cNvSpPr txBox="1"/>
          <p:nvPr/>
        </p:nvSpPr>
        <p:spPr>
          <a:xfrm>
            <a:off x="658368" y="2770632"/>
            <a:ext cx="1091140" cy="2743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Site or govt tender</a:t>
            </a:r>
            <a:endParaRPr lang="en-US" sz="1200" dirty="0"/>
          </a:p>
        </p:txBody>
      </p:sp>
      <p:sp>
        <p:nvSpPr>
          <p:cNvPr id="9" name="Shape 5"/>
          <p:cNvSpPr/>
          <p:nvPr/>
        </p:nvSpPr>
        <p:spPr>
          <a:xfrm>
            <a:off x="1886668" y="2400300"/>
            <a:ext cx="265176" cy="0"/>
          </a:xfrm>
          <a:prstGeom prst="line">
            <a:avLst/>
          </a:prstGeom>
          <a:noFill/>
          <a:ln w="25400">
            <a:solidFill>
              <a:srgbClr val="4F6BFF"/>
            </a:solidFill>
            <a:prstDash val="dash"/>
            <a:tailEnd type="triangle"/>
          </a:ln>
        </p:spPr>
      </p:sp>
      <p:sp>
        <p:nvSpPr>
          <p:cNvPr id="10" name="Shape 6"/>
          <p:cNvSpPr/>
          <p:nvPr/>
        </p:nvSpPr>
        <p:spPr>
          <a:xfrm>
            <a:off x="2179276" y="1691640"/>
            <a:ext cx="1310596" cy="1417320"/>
          </a:xfrm>
          <a:prstGeom prst="roundRect">
            <a:avLst>
              <a:gd name="adj" fmla="val 8372"/>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1" name="Image 1" descr="Coordinator agent, pixel robot">    </p:cNvPr>
          <p:cNvPicPr>
            <a:picLocks noChangeAspect="1"/>
          </p:cNvPicPr>
          <p:nvPr/>
        </p:nvPicPr>
        <p:blipFill>
          <a:blip r:embed="rId2"/>
          <a:stretch>
            <a:fillRect/>
          </a:stretch>
        </p:blipFill>
        <p:spPr>
          <a:xfrm>
            <a:off x="2642551" y="1856232"/>
            <a:ext cx="345643" cy="475259"/>
          </a:xfrm>
          <a:prstGeom prst="rect">
            <a:avLst/>
          </a:prstGeom>
        </p:spPr>
      </p:pic>
      <p:sp>
        <p:nvSpPr>
          <p:cNvPr id="12" name="Text 7"/>
          <p:cNvSpPr txBox="1"/>
          <p:nvPr/>
        </p:nvSpPr>
        <p:spPr>
          <a:xfrm>
            <a:off x="2270716" y="2441448"/>
            <a:ext cx="1127716"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Plan</a:t>
            </a:r>
            <a:endParaRPr lang="en-US" sz="1500" dirty="0"/>
          </a:p>
        </p:txBody>
      </p:sp>
      <p:sp>
        <p:nvSpPr>
          <p:cNvPr id="13" name="Text 8"/>
          <p:cNvSpPr txBox="1"/>
          <p:nvPr/>
        </p:nvSpPr>
        <p:spPr>
          <a:xfrm>
            <a:off x="2289004" y="2770632"/>
            <a:ext cx="1091140" cy="2743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Coordinator agent</a:t>
            </a:r>
            <a:endParaRPr lang="en-US" sz="1200" dirty="0"/>
          </a:p>
        </p:txBody>
      </p:sp>
      <p:sp>
        <p:nvSpPr>
          <p:cNvPr id="14" name="Shape 9"/>
          <p:cNvSpPr/>
          <p:nvPr/>
        </p:nvSpPr>
        <p:spPr>
          <a:xfrm>
            <a:off x="3517305" y="2400300"/>
            <a:ext cx="265176" cy="0"/>
          </a:xfrm>
          <a:prstGeom prst="line">
            <a:avLst/>
          </a:prstGeom>
          <a:noFill/>
          <a:ln w="25400">
            <a:solidFill>
              <a:srgbClr val="4F6BFF"/>
            </a:solidFill>
            <a:prstDash val="dash"/>
            <a:tailEnd type="triangle"/>
          </a:ln>
        </p:spPr>
      </p:sp>
      <p:sp>
        <p:nvSpPr>
          <p:cNvPr id="15" name="Shape 10"/>
          <p:cNvSpPr/>
          <p:nvPr/>
        </p:nvSpPr>
        <p:spPr>
          <a:xfrm>
            <a:off x="3809913" y="1691640"/>
            <a:ext cx="1310596" cy="1417320"/>
          </a:xfrm>
          <a:prstGeom prst="roundRect">
            <a:avLst>
              <a:gd name="adj" fmla="val 8372"/>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6" name="Image 2" descr="undefined agent, pixel robot">    </p:cNvPr>
          <p:cNvPicPr>
            <a:picLocks noChangeAspect="1"/>
          </p:cNvPicPr>
          <p:nvPr/>
        </p:nvPicPr>
        <p:blipFill>
          <a:blip r:embed="rId3"/>
          <a:stretch>
            <a:fillRect/>
          </a:stretch>
        </p:blipFill>
        <p:spPr>
          <a:xfrm>
            <a:off x="4273187" y="1856232"/>
            <a:ext cx="345643" cy="475259"/>
          </a:xfrm>
          <a:prstGeom prst="rect">
            <a:avLst/>
          </a:prstGeom>
        </p:spPr>
      </p:pic>
      <p:sp>
        <p:nvSpPr>
          <p:cNvPr id="17" name="Text 11"/>
          <p:cNvSpPr txBox="1"/>
          <p:nvPr/>
        </p:nvSpPr>
        <p:spPr>
          <a:xfrm>
            <a:off x="3901353" y="2441448"/>
            <a:ext cx="1127716"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Research</a:t>
            </a:r>
            <a:endParaRPr lang="en-US" sz="1500" dirty="0"/>
          </a:p>
        </p:txBody>
      </p:sp>
      <p:sp>
        <p:nvSpPr>
          <p:cNvPr id="18" name="Text 12"/>
          <p:cNvSpPr txBox="1"/>
          <p:nvPr/>
        </p:nvSpPr>
        <p:spPr>
          <a:xfrm>
            <a:off x="3919641" y="2770632"/>
            <a:ext cx="1091140" cy="2743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Latest news on the company</a:t>
            </a:r>
            <a:endParaRPr lang="en-US" sz="1200" dirty="0"/>
          </a:p>
        </p:txBody>
      </p:sp>
      <p:sp>
        <p:nvSpPr>
          <p:cNvPr id="19" name="Shape 13"/>
          <p:cNvSpPr/>
          <p:nvPr/>
        </p:nvSpPr>
        <p:spPr>
          <a:xfrm>
            <a:off x="5147941" y="2400300"/>
            <a:ext cx="265176" cy="0"/>
          </a:xfrm>
          <a:prstGeom prst="line">
            <a:avLst/>
          </a:prstGeom>
          <a:noFill/>
          <a:ln w="25400">
            <a:solidFill>
              <a:srgbClr val="4F6BFF"/>
            </a:solidFill>
            <a:prstDash val="dash"/>
            <a:tailEnd type="triangle"/>
          </a:ln>
        </p:spPr>
      </p:sp>
      <p:sp>
        <p:nvSpPr>
          <p:cNvPr id="20" name="Shape 14"/>
          <p:cNvSpPr/>
          <p:nvPr/>
        </p:nvSpPr>
        <p:spPr>
          <a:xfrm>
            <a:off x="5440549" y="1691640"/>
            <a:ext cx="1310596" cy="1417320"/>
          </a:xfrm>
          <a:prstGeom prst="roundRect">
            <a:avLst>
              <a:gd name="adj" fmla="val 8372"/>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1" name="Image 3" descr="Site Auditor agent, pixel robot">    </p:cNvPr>
          <p:cNvPicPr>
            <a:picLocks noChangeAspect="1"/>
          </p:cNvPicPr>
          <p:nvPr/>
        </p:nvPicPr>
        <p:blipFill>
          <a:blip r:embed="rId4"/>
          <a:stretch>
            <a:fillRect/>
          </a:stretch>
        </p:blipFill>
        <p:spPr>
          <a:xfrm>
            <a:off x="5577709" y="1856232"/>
            <a:ext cx="310883" cy="427464"/>
          </a:xfrm>
          <a:prstGeom prst="rect">
            <a:avLst/>
          </a:prstGeom>
        </p:spPr>
      </p:pic>
      <p:pic>
        <p:nvPicPr>
          <p:cNvPr id="22" name="Image 4" descr="Tech Detector agent, pixel robot">    </p:cNvPr>
          <p:cNvPicPr>
            <a:picLocks noChangeAspect="1"/>
          </p:cNvPicPr>
          <p:nvPr/>
        </p:nvPicPr>
        <p:blipFill>
          <a:blip r:embed="rId5"/>
          <a:stretch>
            <a:fillRect/>
          </a:stretch>
        </p:blipFill>
        <p:spPr>
          <a:xfrm>
            <a:off x="5923135" y="1856232"/>
            <a:ext cx="310883" cy="427464"/>
          </a:xfrm>
          <a:prstGeom prst="rect">
            <a:avLst/>
          </a:prstGeom>
        </p:spPr>
      </p:pic>
      <p:pic>
        <p:nvPicPr>
          <p:cNvPr id="23" name="Image 5" descr="Speed Tester agent, pixel robot">    </p:cNvPr>
          <p:cNvPicPr>
            <a:picLocks noChangeAspect="1"/>
          </p:cNvPicPr>
          <p:nvPr/>
        </p:nvPicPr>
        <p:blipFill>
          <a:blip r:embed="rId6"/>
          <a:stretch>
            <a:fillRect/>
          </a:stretch>
        </p:blipFill>
        <p:spPr>
          <a:xfrm>
            <a:off x="6268560" y="1856232"/>
            <a:ext cx="310883" cy="427464"/>
          </a:xfrm>
          <a:prstGeom prst="rect">
            <a:avLst/>
          </a:prstGeom>
        </p:spPr>
      </p:pic>
      <p:sp>
        <p:nvSpPr>
          <p:cNvPr id="24" name="Text 15"/>
          <p:cNvSpPr txBox="1"/>
          <p:nvPr/>
        </p:nvSpPr>
        <p:spPr>
          <a:xfrm>
            <a:off x="5531989" y="2441448"/>
            <a:ext cx="1127716"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Audit</a:t>
            </a:r>
            <a:endParaRPr lang="en-US" sz="1500" dirty="0"/>
          </a:p>
        </p:txBody>
      </p:sp>
      <p:sp>
        <p:nvSpPr>
          <p:cNvPr id="25" name="Text 16"/>
          <p:cNvSpPr txBox="1"/>
          <p:nvPr/>
        </p:nvSpPr>
        <p:spPr>
          <a:xfrm>
            <a:off x="5550277" y="2770632"/>
            <a:ext cx="1091140" cy="2743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7 checks in parallel</a:t>
            </a:r>
            <a:endParaRPr lang="en-US" sz="1200" dirty="0"/>
          </a:p>
        </p:txBody>
      </p:sp>
      <p:sp>
        <p:nvSpPr>
          <p:cNvPr id="26" name="Shape 17"/>
          <p:cNvSpPr/>
          <p:nvPr/>
        </p:nvSpPr>
        <p:spPr>
          <a:xfrm>
            <a:off x="6778578" y="2400300"/>
            <a:ext cx="265176" cy="0"/>
          </a:xfrm>
          <a:prstGeom prst="line">
            <a:avLst/>
          </a:prstGeom>
          <a:noFill/>
          <a:ln w="25400">
            <a:solidFill>
              <a:srgbClr val="4F6BFF"/>
            </a:solidFill>
            <a:prstDash val="dash"/>
            <a:tailEnd type="triangle"/>
          </a:ln>
        </p:spPr>
      </p:sp>
      <p:sp>
        <p:nvSpPr>
          <p:cNvPr id="27" name="Shape 18"/>
          <p:cNvSpPr/>
          <p:nvPr/>
        </p:nvSpPr>
        <p:spPr>
          <a:xfrm>
            <a:off x="7071186" y="1691640"/>
            <a:ext cx="1310596" cy="1417320"/>
          </a:xfrm>
          <a:prstGeom prst="roundRect">
            <a:avLst>
              <a:gd name="adj" fmla="val 8372"/>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8" name="Image 6" descr="Designer agent, pixel robot">    </p:cNvPr>
          <p:cNvPicPr>
            <a:picLocks noChangeAspect="1"/>
          </p:cNvPicPr>
          <p:nvPr/>
        </p:nvPicPr>
        <p:blipFill>
          <a:blip r:embed="rId7"/>
          <a:stretch>
            <a:fillRect/>
          </a:stretch>
        </p:blipFill>
        <p:spPr>
          <a:xfrm>
            <a:off x="7342436" y="1856232"/>
            <a:ext cx="345643" cy="475259"/>
          </a:xfrm>
          <a:prstGeom prst="rect">
            <a:avLst/>
          </a:prstGeom>
        </p:spPr>
      </p:pic>
      <p:pic>
        <p:nvPicPr>
          <p:cNvPr id="29" name="Image 7" descr="Team Matcher agent, pixel robot">    </p:cNvPr>
          <p:cNvPicPr>
            <a:picLocks noChangeAspect="1"/>
          </p:cNvPicPr>
          <p:nvPr/>
        </p:nvPicPr>
        <p:blipFill>
          <a:blip r:embed="rId8"/>
          <a:stretch>
            <a:fillRect/>
          </a:stretch>
        </p:blipFill>
        <p:spPr>
          <a:xfrm>
            <a:off x="7726484" y="1856232"/>
            <a:ext cx="345643" cy="475259"/>
          </a:xfrm>
          <a:prstGeom prst="rect">
            <a:avLst/>
          </a:prstGeom>
        </p:spPr>
      </p:pic>
      <p:sp>
        <p:nvSpPr>
          <p:cNvPr id="30" name="Text 19"/>
          <p:cNvSpPr txBox="1"/>
          <p:nvPr/>
        </p:nvSpPr>
        <p:spPr>
          <a:xfrm>
            <a:off x="7162626" y="2441448"/>
            <a:ext cx="1127716"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Build</a:t>
            </a:r>
            <a:endParaRPr lang="en-US" sz="1500" dirty="0"/>
          </a:p>
        </p:txBody>
      </p:sp>
      <p:sp>
        <p:nvSpPr>
          <p:cNvPr id="31" name="Text 20"/>
          <p:cNvSpPr txBox="1"/>
          <p:nvPr/>
        </p:nvSpPr>
        <p:spPr>
          <a:xfrm>
            <a:off x="7180914" y="2770632"/>
            <a:ext cx="1091140" cy="2743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Redesign + team</a:t>
            </a:r>
            <a:endParaRPr lang="en-US" sz="1200" dirty="0"/>
          </a:p>
        </p:txBody>
      </p:sp>
      <p:sp>
        <p:nvSpPr>
          <p:cNvPr id="32" name="Shape 21"/>
          <p:cNvSpPr/>
          <p:nvPr/>
        </p:nvSpPr>
        <p:spPr>
          <a:xfrm>
            <a:off x="8409214" y="2400300"/>
            <a:ext cx="265176" cy="0"/>
          </a:xfrm>
          <a:prstGeom prst="line">
            <a:avLst/>
          </a:prstGeom>
          <a:noFill/>
          <a:ln w="25400">
            <a:solidFill>
              <a:srgbClr val="4F6BFF"/>
            </a:solidFill>
            <a:prstDash val="dash"/>
            <a:tailEnd type="triangle"/>
          </a:ln>
        </p:spPr>
      </p:sp>
      <p:sp>
        <p:nvSpPr>
          <p:cNvPr id="33" name="Shape 22"/>
          <p:cNvSpPr/>
          <p:nvPr/>
        </p:nvSpPr>
        <p:spPr>
          <a:xfrm>
            <a:off x="8701822" y="1691640"/>
            <a:ext cx="1310596" cy="1417320"/>
          </a:xfrm>
          <a:prstGeom prst="roundRect">
            <a:avLst>
              <a:gd name="adj" fmla="val 8372"/>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4" name="Image 8" descr="Deck Writer agent, pixel robot">    </p:cNvPr>
          <p:cNvPicPr>
            <a:picLocks noChangeAspect="1"/>
          </p:cNvPicPr>
          <p:nvPr/>
        </p:nvPicPr>
        <p:blipFill>
          <a:blip r:embed="rId9"/>
          <a:stretch>
            <a:fillRect/>
          </a:stretch>
        </p:blipFill>
        <p:spPr>
          <a:xfrm>
            <a:off x="9165097" y="1856232"/>
            <a:ext cx="345643" cy="475259"/>
          </a:xfrm>
          <a:prstGeom prst="rect">
            <a:avLst/>
          </a:prstGeom>
        </p:spPr>
      </p:pic>
      <p:sp>
        <p:nvSpPr>
          <p:cNvPr id="35" name="Text 23"/>
          <p:cNvSpPr txBox="1"/>
          <p:nvPr/>
        </p:nvSpPr>
        <p:spPr>
          <a:xfrm>
            <a:off x="8793262" y="2441448"/>
            <a:ext cx="1127716"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Write</a:t>
            </a:r>
            <a:endParaRPr lang="en-US" sz="1500" dirty="0"/>
          </a:p>
        </p:txBody>
      </p:sp>
      <p:sp>
        <p:nvSpPr>
          <p:cNvPr id="36" name="Text 24"/>
          <p:cNvSpPr txBox="1"/>
          <p:nvPr/>
        </p:nvSpPr>
        <p:spPr>
          <a:xfrm>
            <a:off x="8811550" y="2770632"/>
            <a:ext cx="1091140" cy="2743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Deck + proposal</a:t>
            </a:r>
            <a:endParaRPr lang="en-US" sz="1200" dirty="0"/>
          </a:p>
        </p:txBody>
      </p:sp>
      <p:sp>
        <p:nvSpPr>
          <p:cNvPr id="37" name="Shape 25"/>
          <p:cNvSpPr/>
          <p:nvPr/>
        </p:nvSpPr>
        <p:spPr>
          <a:xfrm>
            <a:off x="10039851" y="2400300"/>
            <a:ext cx="265176" cy="0"/>
          </a:xfrm>
          <a:prstGeom prst="line">
            <a:avLst/>
          </a:prstGeom>
          <a:noFill/>
          <a:ln w="25400">
            <a:solidFill>
              <a:srgbClr val="4F6BFF"/>
            </a:solidFill>
            <a:prstDash val="dash"/>
            <a:tailEnd type="triangle"/>
          </a:ln>
        </p:spPr>
      </p:sp>
      <p:sp>
        <p:nvSpPr>
          <p:cNvPr id="38" name="Shape 26"/>
          <p:cNvSpPr/>
          <p:nvPr/>
        </p:nvSpPr>
        <p:spPr>
          <a:xfrm>
            <a:off x="10332459" y="1691640"/>
            <a:ext cx="1310596" cy="1417320"/>
          </a:xfrm>
          <a:prstGeom prst="roundRect">
            <a:avLst>
              <a:gd name="adj" fmla="val 8372"/>
            </a:avLst>
          </a:prstGeom>
          <a:solidFill>
            <a:srgbClr val="FFFFFF"/>
          </a:solidFill>
          <a:ln w="22225">
            <a:solidFill>
              <a:srgbClr val="0F9D6B"/>
            </a:solidFill>
            <a:prstDash val="solid"/>
          </a:ln>
          <a:effectLst>
            <a:outerShdw sx="100000" sy="100000" kx="0" ky="0" algn="bl" rotWithShape="0" blurRad="101600" dist="25400" dir="5400000">
              <a:srgbClr val="1E2850">
                <a:alpha val="8000"/>
              </a:srgbClr>
            </a:outerShdw>
          </a:effectLst>
        </p:spPr>
      </p:sp>
      <p:pic>
        <p:nvPicPr>
          <p:cNvPr id="39" name="Image 9" descr="person icon">    </p:cNvPr>
          <p:cNvPicPr>
            <a:picLocks noChangeAspect="1"/>
          </p:cNvPicPr>
          <p:nvPr/>
        </p:nvPicPr>
        <p:blipFill>
          <a:blip r:embed="rId10"/>
          <a:stretch>
            <a:fillRect/>
          </a:stretch>
        </p:blipFill>
        <p:spPr>
          <a:xfrm>
            <a:off x="10759157" y="1874520"/>
            <a:ext cx="457200" cy="457200"/>
          </a:xfrm>
          <a:prstGeom prst="rect">
            <a:avLst/>
          </a:prstGeom>
        </p:spPr>
      </p:pic>
      <p:sp>
        <p:nvSpPr>
          <p:cNvPr id="40" name="Text 27"/>
          <p:cNvSpPr txBox="1"/>
          <p:nvPr/>
        </p:nvSpPr>
        <p:spPr>
          <a:xfrm>
            <a:off x="10423899" y="2441448"/>
            <a:ext cx="1127716"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Review</a:t>
            </a:r>
            <a:endParaRPr lang="en-US" sz="1500" dirty="0"/>
          </a:p>
        </p:txBody>
      </p:sp>
      <p:sp>
        <p:nvSpPr>
          <p:cNvPr id="41" name="Text 28"/>
          <p:cNvSpPr txBox="1"/>
          <p:nvPr/>
        </p:nvSpPr>
        <p:spPr>
          <a:xfrm>
            <a:off x="10442187" y="2770632"/>
            <a:ext cx="1091140" cy="2743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Human approves</a:t>
            </a:r>
            <a:endParaRPr lang="en-US" sz="1200" dirty="0"/>
          </a:p>
        </p:txBody>
      </p:sp>
      <p:sp>
        <p:nvSpPr>
          <p:cNvPr id="42" name="Text 29"/>
          <p:cNvSpPr txBox="1"/>
          <p:nvPr/>
        </p:nvSpPr>
        <p:spPr>
          <a:xfrm>
            <a:off x="548640" y="3474720"/>
            <a:ext cx="320040" cy="280670"/>
          </a:xfrm>
          <a:prstGeom prst="rect">
            <a:avLst/>
          </a:prstGeom>
          <a:noFill/>
          <a:ln/>
        </p:spPr>
        <p:txBody>
          <a:bodyPr wrap="square" lIns="0" tIns="0" rIns="0" bIns="0" rtlCol="0" anchor="t"/>
          <a:lstStyle/>
          <a:p>
            <a:pPr indent="0" marL="0">
              <a:buNone/>
            </a:pPr>
            <a:r>
              <a:rPr lang="en-US" sz="1700" b="1" dirty="0">
                <a:solidFill>
                  <a:srgbClr val="0F9D6B"/>
                </a:solidFill>
                <a:latin typeface="Calibri" pitchFamily="34" charset="0"/>
                <a:ea typeface="Calibri" pitchFamily="34" charset="-122"/>
                <a:cs typeface="Calibri" pitchFamily="34" charset="-120"/>
              </a:rPr>
              <a:t>✓</a:t>
            </a:r>
            <a:endParaRPr lang="en-US" sz="1700" dirty="0"/>
          </a:p>
        </p:txBody>
      </p:sp>
      <p:sp>
        <p:nvSpPr>
          <p:cNvPr id="43" name="Text 30"/>
          <p:cNvSpPr txBox="1"/>
          <p:nvPr/>
        </p:nvSpPr>
        <p:spPr>
          <a:xfrm>
            <a:off x="932688" y="3474720"/>
            <a:ext cx="10710367" cy="280670"/>
          </a:xfrm>
          <a:prstGeom prst="rect">
            <a:avLst/>
          </a:prstGeom>
          <a:noFill/>
          <a:ln/>
        </p:spPr>
        <p:txBody>
          <a:bodyPr wrap="square" lIns="0" tIns="0" rIns="0" bIns="0" rtlCol="0" anchor="t"/>
          <a:lstStyle/>
          <a:p>
            <a:pPr indent="0" marL="0">
              <a:buNone/>
            </a:pPr>
            <a:r>
              <a:rPr lang="en-US" sz="1700" dirty="0">
                <a:solidFill>
                  <a:srgbClr val="1A2033"/>
                </a:solidFill>
                <a:latin typeface="Calibri" pitchFamily="34" charset="0"/>
                <a:ea typeface="Calibri" pitchFamily="34" charset="-122"/>
                <a:cs typeface="Calibri" pitchFamily="34" charset="-120"/>
              </a:rPr>
              <a:t>Tools measure: Lighthouse, axe-core, Playwright, Chrome DevTools Protocol</a:t>
            </a:r>
            <a:endParaRPr lang="en-US" sz="1700" dirty="0"/>
          </a:p>
        </p:txBody>
      </p:sp>
      <p:sp>
        <p:nvSpPr>
          <p:cNvPr id="44" name="Text 31"/>
          <p:cNvSpPr txBox="1"/>
          <p:nvPr/>
        </p:nvSpPr>
        <p:spPr>
          <a:xfrm>
            <a:off x="548640" y="3874135"/>
            <a:ext cx="320040" cy="280670"/>
          </a:xfrm>
          <a:prstGeom prst="rect">
            <a:avLst/>
          </a:prstGeom>
          <a:noFill/>
          <a:ln/>
        </p:spPr>
        <p:txBody>
          <a:bodyPr wrap="square" lIns="0" tIns="0" rIns="0" bIns="0" rtlCol="0" anchor="t"/>
          <a:lstStyle/>
          <a:p>
            <a:pPr indent="0" marL="0">
              <a:buNone/>
            </a:pPr>
            <a:r>
              <a:rPr lang="en-US" sz="1700" b="1" dirty="0">
                <a:solidFill>
                  <a:srgbClr val="0F9D6B"/>
                </a:solidFill>
                <a:latin typeface="Calibri" pitchFamily="34" charset="0"/>
                <a:ea typeface="Calibri" pitchFamily="34" charset="-122"/>
                <a:cs typeface="Calibri" pitchFamily="34" charset="-120"/>
              </a:rPr>
              <a:t>✓</a:t>
            </a:r>
            <a:endParaRPr lang="en-US" sz="1700" dirty="0"/>
          </a:p>
        </p:txBody>
      </p:sp>
      <p:sp>
        <p:nvSpPr>
          <p:cNvPr id="45" name="Text 32"/>
          <p:cNvSpPr txBox="1"/>
          <p:nvPr/>
        </p:nvSpPr>
        <p:spPr>
          <a:xfrm>
            <a:off x="932688" y="3874135"/>
            <a:ext cx="10710367" cy="280670"/>
          </a:xfrm>
          <a:prstGeom prst="rect">
            <a:avLst/>
          </a:prstGeom>
          <a:noFill/>
          <a:ln/>
        </p:spPr>
        <p:txBody>
          <a:bodyPr wrap="square" lIns="0" tIns="0" rIns="0" bIns="0" rtlCol="0" anchor="t"/>
          <a:lstStyle/>
          <a:p>
            <a:pPr indent="0" marL="0">
              <a:buNone/>
            </a:pPr>
            <a:r>
              <a:rPr lang="en-US" sz="1700" dirty="0">
                <a:solidFill>
                  <a:srgbClr val="1A2033"/>
                </a:solidFill>
                <a:latin typeface="Calibri" pitchFamily="34" charset="0"/>
                <a:ea typeface="Calibri" pitchFamily="34" charset="-122"/>
                <a:cs typeface="Calibri" pitchFamily="34" charset="-120"/>
              </a:rPr>
              <a:t>The model (Claude) researches, plans, judges design and clarity, and designs</a:t>
            </a:r>
            <a:endParaRPr lang="en-US" sz="1700" dirty="0"/>
          </a:p>
        </p:txBody>
      </p:sp>
      <p:sp>
        <p:nvSpPr>
          <p:cNvPr id="46" name="Text 33"/>
          <p:cNvSpPr txBox="1"/>
          <p:nvPr/>
        </p:nvSpPr>
        <p:spPr>
          <a:xfrm>
            <a:off x="548640" y="4273550"/>
            <a:ext cx="320040" cy="280670"/>
          </a:xfrm>
          <a:prstGeom prst="rect">
            <a:avLst/>
          </a:prstGeom>
          <a:noFill/>
          <a:ln/>
        </p:spPr>
        <p:txBody>
          <a:bodyPr wrap="square" lIns="0" tIns="0" rIns="0" bIns="0" rtlCol="0" anchor="t"/>
          <a:lstStyle/>
          <a:p>
            <a:pPr indent="0" marL="0">
              <a:buNone/>
            </a:pPr>
            <a:r>
              <a:rPr lang="en-US" sz="1700" b="1" dirty="0">
                <a:solidFill>
                  <a:srgbClr val="0F9D6B"/>
                </a:solidFill>
                <a:latin typeface="Calibri" pitchFamily="34" charset="0"/>
                <a:ea typeface="Calibri" pitchFamily="34" charset="-122"/>
                <a:cs typeface="Calibri" pitchFamily="34" charset="-120"/>
              </a:rPr>
              <a:t>✓</a:t>
            </a:r>
            <a:endParaRPr lang="en-US" sz="1700" dirty="0"/>
          </a:p>
        </p:txBody>
      </p:sp>
      <p:sp>
        <p:nvSpPr>
          <p:cNvPr id="47" name="Text 34"/>
          <p:cNvSpPr txBox="1"/>
          <p:nvPr/>
        </p:nvSpPr>
        <p:spPr>
          <a:xfrm>
            <a:off x="932688" y="4273550"/>
            <a:ext cx="10710367" cy="280670"/>
          </a:xfrm>
          <a:prstGeom prst="rect">
            <a:avLst/>
          </a:prstGeom>
          <a:noFill/>
          <a:ln/>
        </p:spPr>
        <p:txBody>
          <a:bodyPr wrap="square" lIns="0" tIns="0" rIns="0" bIns="0" rtlCol="0" anchor="t"/>
          <a:lstStyle/>
          <a:p>
            <a:pPr indent="0" marL="0">
              <a:buNone/>
            </a:pPr>
            <a:r>
              <a:rPr lang="en-US" sz="1700" dirty="0">
                <a:solidFill>
                  <a:srgbClr val="1A2033"/>
                </a:solidFill>
                <a:latin typeface="Calibri" pitchFamily="34" charset="0"/>
                <a:ea typeface="Calibri" pitchFamily="34" charset="-122"/>
                <a:cs typeface="Calibri" pitchFamily="34" charset="-120"/>
              </a:rPr>
              <a:t>Code guardrails keep the order, retries and step budget safe</a:t>
            </a:r>
            <a:endParaRPr lang="en-US" sz="1700" dirty="0"/>
          </a:p>
        </p:txBody>
      </p:sp>
      <p:sp>
        <p:nvSpPr>
          <p:cNvPr id="48" name="Text 35"/>
          <p:cNvSpPr txBox="1"/>
          <p:nvPr/>
        </p:nvSpPr>
        <p:spPr>
          <a:xfrm>
            <a:off x="548640" y="4672965"/>
            <a:ext cx="320040" cy="280670"/>
          </a:xfrm>
          <a:prstGeom prst="rect">
            <a:avLst/>
          </a:prstGeom>
          <a:noFill/>
          <a:ln/>
        </p:spPr>
        <p:txBody>
          <a:bodyPr wrap="square" lIns="0" tIns="0" rIns="0" bIns="0" rtlCol="0" anchor="t"/>
          <a:lstStyle/>
          <a:p>
            <a:pPr indent="0" marL="0">
              <a:buNone/>
            </a:pPr>
            <a:r>
              <a:rPr lang="en-US" sz="1700" b="1" dirty="0">
                <a:solidFill>
                  <a:srgbClr val="0F9D6B"/>
                </a:solidFill>
                <a:latin typeface="Calibri" pitchFamily="34" charset="0"/>
                <a:ea typeface="Calibri" pitchFamily="34" charset="-122"/>
                <a:cs typeface="Calibri" pitchFamily="34" charset="-120"/>
              </a:rPr>
              <a:t>✓</a:t>
            </a:r>
            <a:endParaRPr lang="en-US" sz="1700" dirty="0"/>
          </a:p>
        </p:txBody>
      </p:sp>
      <p:sp>
        <p:nvSpPr>
          <p:cNvPr id="49" name="Text 36"/>
          <p:cNvSpPr txBox="1"/>
          <p:nvPr/>
        </p:nvSpPr>
        <p:spPr>
          <a:xfrm>
            <a:off x="932688" y="4672965"/>
            <a:ext cx="10710367" cy="280670"/>
          </a:xfrm>
          <a:prstGeom prst="rect">
            <a:avLst/>
          </a:prstGeom>
          <a:noFill/>
          <a:ln/>
        </p:spPr>
        <p:txBody>
          <a:bodyPr wrap="square" lIns="0" tIns="0" rIns="0" bIns="0" rtlCol="0" anchor="t"/>
          <a:lstStyle/>
          <a:p>
            <a:pPr indent="0" marL="0">
              <a:buNone/>
            </a:pPr>
            <a:r>
              <a:rPr lang="en-US" sz="1700" dirty="0">
                <a:solidFill>
                  <a:srgbClr val="1A2033"/>
                </a:solidFill>
                <a:latin typeface="Calibri" pitchFamily="34" charset="0"/>
                <a:ea typeface="Calibri" pitchFamily="34" charset="-122"/>
                <a:cs typeface="Calibri" pitchFamily="34" charset="-120"/>
              </a:rPr>
              <a:t>A human reviews everything before it is sent</a:t>
            </a:r>
            <a:endParaRPr lang="en-US" sz="1700" dirty="0"/>
          </a:p>
        </p:txBody>
      </p:sp>
      <p:sp>
        <p:nvSpPr>
          <p:cNvPr id="50" name="Text 37"/>
          <p:cNvSpPr txBox="1"/>
          <p:nvPr/>
        </p:nvSpPr>
        <p:spPr>
          <a:xfrm>
            <a:off x="548640" y="5760720"/>
            <a:ext cx="11094415" cy="320040"/>
          </a:xfrm>
          <a:prstGeom prst="rect">
            <a:avLst/>
          </a:prstGeom>
          <a:noFill/>
          <a:ln/>
        </p:spPr>
        <p:txBody>
          <a:bodyPr wrap="square" lIns="0" tIns="0" rIns="0" bIns="0" rtlCol="0" anchor="t"/>
          <a:lstStyle/>
          <a:p>
            <a:pPr indent="0" marL="0">
              <a:buNone/>
            </a:pPr>
            <a:r>
              <a:rPr lang="en-US" sz="1100" i="1" dirty="0">
                <a:solidFill>
                  <a:srgbClr val="667089"/>
                </a:solidFill>
                <a:latin typeface="Calibri" pitchFamily="34" charset="0"/>
                <a:ea typeface="Calibri" pitchFamily="34" charset="-122"/>
                <a:cs typeface="Calibri" pitchFamily="34" charset="-120"/>
              </a:rPr>
              <a:t>A full run takes about 1.5 to 3 minutes. Every step streams live, and every run can be replayed.</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GOVERNMENT TENDERS</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The Tender Scout finds the work. And decides if it fits.</a:t>
            </a:r>
            <a:endParaRPr lang="en-US" sz="3400" dirty="0"/>
          </a:p>
        </p:txBody>
      </p:sp>
      <p:sp>
        <p:nvSpPr>
          <p:cNvPr id="5" name="Text 2"/>
          <p:cNvSpPr txBox="1"/>
          <p:nvPr/>
        </p:nvSpPr>
        <p:spPr>
          <a:xfrm>
            <a:off x="548640" y="1783080"/>
            <a:ext cx="2011680" cy="274320"/>
          </a:xfrm>
          <a:prstGeom prst="rect">
            <a:avLst/>
          </a:prstGeom>
          <a:noFill/>
          <a:ln/>
        </p:spPr>
        <p:txBody>
          <a:bodyPr wrap="square" lIns="0" tIns="0" rIns="0" bIns="0" rtlCol="0" anchor="t"/>
          <a:lstStyle/>
          <a:p>
            <a:pPr indent="0" marL="0">
              <a:buNone/>
            </a:pPr>
            <a:r>
              <a:rPr lang="en-US" sz="1100" b="1" spc="200" kern="0" dirty="0">
                <a:solidFill>
                  <a:srgbClr val="667089"/>
                </a:solidFill>
                <a:latin typeface="Calibri" pitchFamily="34" charset="0"/>
                <a:ea typeface="Calibri" pitchFamily="34" charset="-122"/>
                <a:cs typeface="Calibri" pitchFamily="34" charset="-120"/>
              </a:rPr>
              <a:t>WATCHING</a:t>
            </a:r>
            <a:endParaRPr lang="en-US" sz="1100" dirty="0"/>
          </a:p>
        </p:txBody>
      </p:sp>
      <p:sp>
        <p:nvSpPr>
          <p:cNvPr id="6" name="Shape 3"/>
          <p:cNvSpPr/>
          <p:nvPr/>
        </p:nvSpPr>
        <p:spPr>
          <a:xfrm>
            <a:off x="548640" y="2148840"/>
            <a:ext cx="2011680" cy="457200"/>
          </a:xfrm>
          <a:prstGeom prst="roundRect">
            <a:avLst>
              <a:gd name="adj" fmla="val 24000"/>
            </a:avLst>
          </a:prstGeom>
          <a:solidFill>
            <a:srgbClr val="FFFFFF"/>
          </a:solidFill>
          <a:ln w="12700">
            <a:solidFill>
              <a:srgbClr val="DFE3EE"/>
            </a:solidFill>
            <a:prstDash val="solid"/>
          </a:ln>
        </p:spPr>
      </p:sp>
      <p:pic>
        <p:nvPicPr>
          <p:cNvPr id="7" name="Image 0" descr="gov icon">    </p:cNvPr>
          <p:cNvPicPr>
            <a:picLocks noChangeAspect="1"/>
          </p:cNvPicPr>
          <p:nvPr/>
        </p:nvPicPr>
        <p:blipFill>
          <a:blip r:embed="rId1"/>
          <a:stretch>
            <a:fillRect/>
          </a:stretch>
        </p:blipFill>
        <p:spPr>
          <a:xfrm>
            <a:off x="640080" y="2231136"/>
            <a:ext cx="292608" cy="292608"/>
          </a:xfrm>
          <a:prstGeom prst="rect">
            <a:avLst/>
          </a:prstGeom>
        </p:spPr>
      </p:pic>
      <p:sp>
        <p:nvSpPr>
          <p:cNvPr id="8" name="Text 4"/>
          <p:cNvSpPr txBox="1"/>
          <p:nvPr/>
        </p:nvSpPr>
        <p:spPr>
          <a:xfrm>
            <a:off x="1005840" y="2148840"/>
            <a:ext cx="1508760" cy="457200"/>
          </a:xfrm>
          <a:prstGeom prst="rect">
            <a:avLst/>
          </a:prstGeom>
          <a:noFill/>
          <a:ln/>
        </p:spPr>
        <p:txBody>
          <a:bodyPr wrap="square" lIns="0" tIns="0" rIns="0" bIns="0" rtlCol="0" anchor="ctr"/>
          <a:lstStyle/>
          <a:p>
            <a:pPr indent="0" marL="0">
              <a:buNone/>
            </a:pPr>
            <a:r>
              <a:rPr lang="en-US" sz="1200" b="1" dirty="0">
                <a:solidFill>
                  <a:srgbClr val="1A2033"/>
                </a:solidFill>
                <a:latin typeface="Calibri" pitchFamily="34" charset="0"/>
                <a:ea typeface="Calibri" pitchFamily="34" charset="-122"/>
                <a:cs typeface="Calibri" pitchFamily="34" charset="-120"/>
              </a:rPr>
              <a:t>GeM portal</a:t>
            </a:r>
            <a:endParaRPr lang="en-US" sz="1200" dirty="0"/>
          </a:p>
        </p:txBody>
      </p:sp>
      <p:sp>
        <p:nvSpPr>
          <p:cNvPr id="9" name="Shape 5"/>
          <p:cNvSpPr/>
          <p:nvPr/>
        </p:nvSpPr>
        <p:spPr>
          <a:xfrm>
            <a:off x="548640" y="2715768"/>
            <a:ext cx="2011680" cy="457200"/>
          </a:xfrm>
          <a:prstGeom prst="roundRect">
            <a:avLst>
              <a:gd name="adj" fmla="val 24000"/>
            </a:avLst>
          </a:prstGeom>
          <a:solidFill>
            <a:srgbClr val="FFFFFF"/>
          </a:solidFill>
          <a:ln w="12700">
            <a:solidFill>
              <a:srgbClr val="DFE3EE"/>
            </a:solidFill>
            <a:prstDash val="solid"/>
          </a:ln>
        </p:spPr>
      </p:sp>
      <p:pic>
        <p:nvPicPr>
          <p:cNvPr id="10" name="Image 1" descr="news icon">    </p:cNvPr>
          <p:cNvPicPr>
            <a:picLocks noChangeAspect="1"/>
          </p:cNvPicPr>
          <p:nvPr/>
        </p:nvPicPr>
        <p:blipFill>
          <a:blip r:embed="rId2"/>
          <a:stretch>
            <a:fillRect/>
          </a:stretch>
        </p:blipFill>
        <p:spPr>
          <a:xfrm>
            <a:off x="640080" y="2798064"/>
            <a:ext cx="292608" cy="292608"/>
          </a:xfrm>
          <a:prstGeom prst="rect">
            <a:avLst/>
          </a:prstGeom>
        </p:spPr>
      </p:pic>
      <p:sp>
        <p:nvSpPr>
          <p:cNvPr id="11" name="Text 6"/>
          <p:cNvSpPr txBox="1"/>
          <p:nvPr/>
        </p:nvSpPr>
        <p:spPr>
          <a:xfrm>
            <a:off x="1005840" y="2715768"/>
            <a:ext cx="1508760" cy="457200"/>
          </a:xfrm>
          <a:prstGeom prst="rect">
            <a:avLst/>
          </a:prstGeom>
          <a:noFill/>
          <a:ln/>
        </p:spPr>
        <p:txBody>
          <a:bodyPr wrap="square" lIns="0" tIns="0" rIns="0" bIns="0" rtlCol="0" anchor="ctr"/>
          <a:lstStyle/>
          <a:p>
            <a:pPr indent="0" marL="0">
              <a:buNone/>
            </a:pPr>
            <a:r>
              <a:rPr lang="en-US" sz="1200" b="1" dirty="0">
                <a:solidFill>
                  <a:srgbClr val="1A2033"/>
                </a:solidFill>
                <a:latin typeface="Calibri" pitchFamily="34" charset="0"/>
                <a:ea typeface="Calibri" pitchFamily="34" charset="-122"/>
                <a:cs typeface="Calibri" pitchFamily="34" charset="-120"/>
              </a:rPr>
              <a:t>CPPP RSS feed</a:t>
            </a:r>
            <a:endParaRPr lang="en-US" sz="1200" dirty="0"/>
          </a:p>
        </p:txBody>
      </p:sp>
      <p:sp>
        <p:nvSpPr>
          <p:cNvPr id="12" name="Shape 7"/>
          <p:cNvSpPr/>
          <p:nvPr/>
        </p:nvSpPr>
        <p:spPr>
          <a:xfrm>
            <a:off x="548640" y="3282696"/>
            <a:ext cx="2011680" cy="457200"/>
          </a:xfrm>
          <a:prstGeom prst="roundRect">
            <a:avLst>
              <a:gd name="adj" fmla="val 24000"/>
            </a:avLst>
          </a:prstGeom>
          <a:solidFill>
            <a:srgbClr val="FFFFFF"/>
          </a:solidFill>
          <a:ln w="12700">
            <a:solidFill>
              <a:srgbClr val="DFE3EE"/>
            </a:solidFill>
            <a:prstDash val="solid"/>
          </a:ln>
        </p:spPr>
      </p:sp>
      <p:pic>
        <p:nvPicPr>
          <p:cNvPr id="13" name="Image 2" descr="globe2 icon">    </p:cNvPr>
          <p:cNvPicPr>
            <a:picLocks noChangeAspect="1"/>
          </p:cNvPicPr>
          <p:nvPr/>
        </p:nvPicPr>
        <p:blipFill>
          <a:blip r:embed="rId3"/>
          <a:stretch>
            <a:fillRect/>
          </a:stretch>
        </p:blipFill>
        <p:spPr>
          <a:xfrm>
            <a:off x="640080" y="3364992"/>
            <a:ext cx="292608" cy="292608"/>
          </a:xfrm>
          <a:prstGeom prst="rect">
            <a:avLst/>
          </a:prstGeom>
        </p:spPr>
      </p:pic>
      <p:sp>
        <p:nvSpPr>
          <p:cNvPr id="14" name="Text 8"/>
          <p:cNvSpPr txBox="1"/>
          <p:nvPr/>
        </p:nvSpPr>
        <p:spPr>
          <a:xfrm>
            <a:off x="1005840" y="3282696"/>
            <a:ext cx="1508760" cy="457200"/>
          </a:xfrm>
          <a:prstGeom prst="rect">
            <a:avLst/>
          </a:prstGeom>
          <a:noFill/>
          <a:ln/>
        </p:spPr>
        <p:txBody>
          <a:bodyPr wrap="square" lIns="0" tIns="0" rIns="0" bIns="0" rtlCol="0" anchor="ctr"/>
          <a:lstStyle/>
          <a:p>
            <a:pPr indent="0" marL="0">
              <a:buNone/>
            </a:pPr>
            <a:r>
              <a:rPr lang="en-US" sz="1200" b="1" dirty="0">
                <a:solidFill>
                  <a:srgbClr val="1A2033"/>
                </a:solidFill>
                <a:latin typeface="Calibri" pitchFamily="34" charset="0"/>
                <a:ea typeface="Calibri" pitchFamily="34" charset="-122"/>
                <a:cs typeface="Calibri" pitchFamily="34" charset="-120"/>
              </a:rPr>
              <a:t>State tender feeds</a:t>
            </a:r>
            <a:endParaRPr lang="en-US" sz="1200" dirty="0"/>
          </a:p>
        </p:txBody>
      </p:sp>
      <p:sp>
        <p:nvSpPr>
          <p:cNvPr id="15" name="Shape 9"/>
          <p:cNvSpPr/>
          <p:nvPr/>
        </p:nvSpPr>
        <p:spPr>
          <a:xfrm>
            <a:off x="2651760" y="2743200"/>
            <a:ext cx="411480" cy="0"/>
          </a:xfrm>
          <a:prstGeom prst="line">
            <a:avLst/>
          </a:prstGeom>
          <a:noFill/>
          <a:ln w="25400">
            <a:solidFill>
              <a:srgbClr val="4F6BFF"/>
            </a:solidFill>
            <a:prstDash val="dash"/>
            <a:tailEnd type="triangle"/>
          </a:ln>
        </p:spPr>
      </p:sp>
      <p:sp>
        <p:nvSpPr>
          <p:cNvPr id="16" name="Shape 10"/>
          <p:cNvSpPr/>
          <p:nvPr/>
        </p:nvSpPr>
        <p:spPr>
          <a:xfrm>
            <a:off x="3154680" y="1737360"/>
            <a:ext cx="4480560" cy="3931920"/>
          </a:xfrm>
          <a:prstGeom prst="roundRect">
            <a:avLst>
              <a:gd name="adj" fmla="val 279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7" name="Image 3" descr="undefined agent, pixel robot">    </p:cNvPr>
          <p:cNvPicPr>
            <a:picLocks noChangeAspect="1"/>
          </p:cNvPicPr>
          <p:nvPr/>
        </p:nvPicPr>
        <p:blipFill>
          <a:blip r:embed="rId4"/>
          <a:stretch>
            <a:fillRect/>
          </a:stretch>
        </p:blipFill>
        <p:spPr>
          <a:xfrm>
            <a:off x="3383280" y="1874520"/>
            <a:ext cx="457200" cy="630936"/>
          </a:xfrm>
          <a:prstGeom prst="rect">
            <a:avLst/>
          </a:prstGeom>
        </p:spPr>
      </p:pic>
      <p:sp>
        <p:nvSpPr>
          <p:cNvPr id="18" name="Text 11"/>
          <p:cNvSpPr txBox="1"/>
          <p:nvPr/>
        </p:nvSpPr>
        <p:spPr>
          <a:xfrm>
            <a:off x="3977640" y="1901952"/>
            <a:ext cx="3474720" cy="365760"/>
          </a:xfrm>
          <a:prstGeom prst="rect">
            <a:avLst/>
          </a:prstGeom>
          <a:noFill/>
          <a:ln/>
        </p:spPr>
        <p:txBody>
          <a:bodyPr wrap="square" lIns="0" tIns="0" rIns="0" bIns="0" rtlCol="0" anchor="t"/>
          <a:lstStyle/>
          <a:p>
            <a:pPr indent="0" marL="0">
              <a:buNone/>
            </a:pPr>
            <a:r>
              <a:rPr lang="en-US" sz="1700" b="1" dirty="0">
                <a:solidFill>
                  <a:srgbClr val="1A2033"/>
                </a:solidFill>
                <a:latin typeface="Calibri" pitchFamily="34" charset="0"/>
                <a:ea typeface="Calibri" pitchFamily="34" charset="-122"/>
                <a:cs typeface="Calibri" pitchFamily="34" charset="-120"/>
              </a:rPr>
              <a:t>Tender Scout</a:t>
            </a:r>
            <a:endParaRPr lang="en-US" sz="1700" dirty="0"/>
          </a:p>
        </p:txBody>
      </p:sp>
      <p:sp>
        <p:nvSpPr>
          <p:cNvPr id="19" name="Text 12"/>
          <p:cNvSpPr txBox="1"/>
          <p:nvPr/>
        </p:nvSpPr>
        <p:spPr>
          <a:xfrm>
            <a:off x="3977640" y="2240280"/>
            <a:ext cx="3474720" cy="274320"/>
          </a:xfrm>
          <a:prstGeom prst="rect">
            <a:avLst/>
          </a:prstGeom>
          <a:noFill/>
          <a:ln/>
        </p:spPr>
        <p:txBody>
          <a:bodyPr wrap="square" lIns="0" tIns="0" rIns="0" bIns="0" rtlCol="0" anchor="t"/>
          <a:lstStyle/>
          <a:p>
            <a:pPr indent="0" marL="0">
              <a:buNone/>
            </a:pPr>
            <a:r>
              <a:rPr lang="en-US" sz="1100" i="1" dirty="0">
                <a:solidFill>
                  <a:srgbClr val="667089"/>
                </a:solidFill>
                <a:latin typeface="Calibri" pitchFamily="34" charset="0"/>
                <a:ea typeface="Calibri" pitchFamily="34" charset="-122"/>
                <a:cs typeface="Calibri" pitchFamily="34" charset="-120"/>
              </a:rPr>
              <a:t>Checks every tender, step by step</a:t>
            </a:r>
            <a:endParaRPr lang="en-US" sz="1100" dirty="0"/>
          </a:p>
        </p:txBody>
      </p:sp>
      <p:sp>
        <p:nvSpPr>
          <p:cNvPr id="20" name="Shape 13"/>
          <p:cNvSpPr/>
          <p:nvPr/>
        </p:nvSpPr>
        <p:spPr>
          <a:xfrm>
            <a:off x="3383280" y="2697480"/>
            <a:ext cx="4023360" cy="566928"/>
          </a:xfrm>
          <a:prstGeom prst="roundRect">
            <a:avLst>
              <a:gd name="adj" fmla="val 12903"/>
            </a:avLst>
          </a:prstGeom>
          <a:solidFill>
            <a:srgbClr val="F1F3F9"/>
          </a:solidFill>
          <a:ln w="12700">
            <a:solidFill>
              <a:srgbClr val="F1F3F9"/>
            </a:solidFill>
            <a:prstDash val="solid"/>
          </a:ln>
        </p:spPr>
      </p:sp>
      <p:sp>
        <p:nvSpPr>
          <p:cNvPr id="21" name="Shape 14"/>
          <p:cNvSpPr/>
          <p:nvPr/>
        </p:nvSpPr>
        <p:spPr>
          <a:xfrm>
            <a:off x="3520440" y="2825496"/>
            <a:ext cx="310896" cy="310896"/>
          </a:xfrm>
          <a:prstGeom prst="ellipse">
            <a:avLst/>
          </a:prstGeom>
          <a:solidFill>
            <a:srgbClr val="4F6BFF"/>
          </a:solidFill>
          <a:ln w="12700">
            <a:solidFill>
              <a:srgbClr val="4F6BFF"/>
            </a:solidFill>
            <a:prstDash val="solid"/>
          </a:ln>
        </p:spPr>
      </p:sp>
      <p:sp>
        <p:nvSpPr>
          <p:cNvPr id="22" name="Text 15"/>
          <p:cNvSpPr txBox="1"/>
          <p:nvPr/>
        </p:nvSpPr>
        <p:spPr>
          <a:xfrm>
            <a:off x="3520440" y="28254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Text 16"/>
          <p:cNvSpPr txBox="1"/>
          <p:nvPr/>
        </p:nvSpPr>
        <p:spPr>
          <a:xfrm>
            <a:off x="3977640" y="2697480"/>
            <a:ext cx="3383280" cy="566928"/>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Read the scope</a:t>
            </a:r>
            <a:endParaRPr lang="en-US" sz="1400" dirty="0"/>
          </a:p>
        </p:txBody>
      </p:sp>
      <p:sp>
        <p:nvSpPr>
          <p:cNvPr id="24" name="Shape 17"/>
          <p:cNvSpPr/>
          <p:nvPr/>
        </p:nvSpPr>
        <p:spPr>
          <a:xfrm>
            <a:off x="3383280" y="3410712"/>
            <a:ext cx="4023360" cy="566928"/>
          </a:xfrm>
          <a:prstGeom prst="roundRect">
            <a:avLst>
              <a:gd name="adj" fmla="val 12903"/>
            </a:avLst>
          </a:prstGeom>
          <a:solidFill>
            <a:srgbClr val="F1F3F9"/>
          </a:solidFill>
          <a:ln w="12700">
            <a:solidFill>
              <a:srgbClr val="F1F3F9"/>
            </a:solidFill>
            <a:prstDash val="solid"/>
          </a:ln>
        </p:spPr>
      </p:sp>
      <p:sp>
        <p:nvSpPr>
          <p:cNvPr id="25" name="Shape 18"/>
          <p:cNvSpPr/>
          <p:nvPr/>
        </p:nvSpPr>
        <p:spPr>
          <a:xfrm>
            <a:off x="3520440" y="3538728"/>
            <a:ext cx="310896" cy="310896"/>
          </a:xfrm>
          <a:prstGeom prst="ellipse">
            <a:avLst/>
          </a:prstGeom>
          <a:solidFill>
            <a:srgbClr val="4F6BFF"/>
          </a:solidFill>
          <a:ln w="12700">
            <a:solidFill>
              <a:srgbClr val="4F6BFF"/>
            </a:solidFill>
            <a:prstDash val="solid"/>
          </a:ln>
        </p:spPr>
      </p:sp>
      <p:sp>
        <p:nvSpPr>
          <p:cNvPr id="26" name="Text 19"/>
          <p:cNvSpPr txBox="1"/>
          <p:nvPr/>
        </p:nvSpPr>
        <p:spPr>
          <a:xfrm>
            <a:off x="3520440" y="35387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7" name="Text 20"/>
          <p:cNvSpPr txBox="1"/>
          <p:nvPr/>
        </p:nvSpPr>
        <p:spPr>
          <a:xfrm>
            <a:off x="3977640" y="3410712"/>
            <a:ext cx="3383280" cy="566928"/>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Digital work?</a:t>
            </a:r>
            <a:endParaRPr lang="en-US" sz="1400" dirty="0"/>
          </a:p>
        </p:txBody>
      </p:sp>
      <p:sp>
        <p:nvSpPr>
          <p:cNvPr id="28" name="Shape 21"/>
          <p:cNvSpPr/>
          <p:nvPr/>
        </p:nvSpPr>
        <p:spPr>
          <a:xfrm>
            <a:off x="3383280" y="4123944"/>
            <a:ext cx="4023360" cy="566928"/>
          </a:xfrm>
          <a:prstGeom prst="roundRect">
            <a:avLst>
              <a:gd name="adj" fmla="val 12903"/>
            </a:avLst>
          </a:prstGeom>
          <a:solidFill>
            <a:srgbClr val="F1F3F9"/>
          </a:solidFill>
          <a:ln w="12700">
            <a:solidFill>
              <a:srgbClr val="F1F3F9"/>
            </a:solidFill>
            <a:prstDash val="solid"/>
          </a:ln>
        </p:spPr>
      </p:sp>
      <p:sp>
        <p:nvSpPr>
          <p:cNvPr id="29" name="Shape 22"/>
          <p:cNvSpPr/>
          <p:nvPr/>
        </p:nvSpPr>
        <p:spPr>
          <a:xfrm>
            <a:off x="3520440" y="4251960"/>
            <a:ext cx="310896" cy="310896"/>
          </a:xfrm>
          <a:prstGeom prst="ellipse">
            <a:avLst/>
          </a:prstGeom>
          <a:solidFill>
            <a:srgbClr val="4F6BFF"/>
          </a:solidFill>
          <a:ln w="12700">
            <a:solidFill>
              <a:srgbClr val="4F6BFF"/>
            </a:solidFill>
            <a:prstDash val="solid"/>
          </a:ln>
        </p:spPr>
      </p:sp>
      <p:sp>
        <p:nvSpPr>
          <p:cNvPr id="30" name="Text 23"/>
          <p:cNvSpPr txBox="1"/>
          <p:nvPr/>
        </p:nvSpPr>
        <p:spPr>
          <a:xfrm>
            <a:off x="3520440" y="42519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1" name="Text 24"/>
          <p:cNvSpPr txBox="1"/>
          <p:nvPr/>
        </p:nvSpPr>
        <p:spPr>
          <a:xfrm>
            <a:off x="3977640" y="4123944"/>
            <a:ext cx="3383280" cy="566928"/>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Match our skills</a:t>
            </a:r>
            <a:endParaRPr lang="en-US" sz="1400" dirty="0"/>
          </a:p>
        </p:txBody>
      </p:sp>
      <p:sp>
        <p:nvSpPr>
          <p:cNvPr id="32" name="Shape 25"/>
          <p:cNvSpPr/>
          <p:nvPr/>
        </p:nvSpPr>
        <p:spPr>
          <a:xfrm>
            <a:off x="3383280" y="4837176"/>
            <a:ext cx="4023360" cy="566928"/>
          </a:xfrm>
          <a:prstGeom prst="roundRect">
            <a:avLst>
              <a:gd name="adj" fmla="val 12903"/>
            </a:avLst>
          </a:prstGeom>
          <a:solidFill>
            <a:srgbClr val="F1F3F9"/>
          </a:solidFill>
          <a:ln w="12700">
            <a:solidFill>
              <a:srgbClr val="F1F3F9"/>
            </a:solidFill>
            <a:prstDash val="solid"/>
          </a:ln>
        </p:spPr>
      </p:sp>
      <p:sp>
        <p:nvSpPr>
          <p:cNvPr id="33" name="Shape 26"/>
          <p:cNvSpPr/>
          <p:nvPr/>
        </p:nvSpPr>
        <p:spPr>
          <a:xfrm>
            <a:off x="3520440" y="4965192"/>
            <a:ext cx="310896" cy="310896"/>
          </a:xfrm>
          <a:prstGeom prst="ellipse">
            <a:avLst/>
          </a:prstGeom>
          <a:solidFill>
            <a:srgbClr val="4F6BFF"/>
          </a:solidFill>
          <a:ln w="12700">
            <a:solidFill>
              <a:srgbClr val="4F6BFF"/>
            </a:solidFill>
            <a:prstDash val="solid"/>
          </a:ln>
        </p:spPr>
      </p:sp>
      <p:sp>
        <p:nvSpPr>
          <p:cNvPr id="34" name="Text 27"/>
          <p:cNvSpPr txBox="1"/>
          <p:nvPr/>
        </p:nvSpPr>
        <p:spPr>
          <a:xfrm>
            <a:off x="3520440" y="4965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28"/>
          <p:cNvSpPr txBox="1"/>
          <p:nvPr/>
        </p:nvSpPr>
        <p:spPr>
          <a:xfrm>
            <a:off x="3977640" y="4837176"/>
            <a:ext cx="3383280" cy="566928"/>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Decide, with a reason</a:t>
            </a:r>
            <a:endParaRPr lang="en-US" sz="1400" dirty="0"/>
          </a:p>
        </p:txBody>
      </p:sp>
      <p:sp>
        <p:nvSpPr>
          <p:cNvPr id="36" name="Shape 29"/>
          <p:cNvSpPr/>
          <p:nvPr/>
        </p:nvSpPr>
        <p:spPr>
          <a:xfrm>
            <a:off x="7726680" y="2743200"/>
            <a:ext cx="411480" cy="0"/>
          </a:xfrm>
          <a:prstGeom prst="line">
            <a:avLst/>
          </a:prstGeom>
          <a:noFill/>
          <a:ln w="25400">
            <a:solidFill>
              <a:srgbClr val="4F6BFF"/>
            </a:solidFill>
            <a:prstDash val="dash"/>
            <a:tailEnd type="triangle"/>
          </a:ln>
        </p:spPr>
      </p:sp>
      <p:sp>
        <p:nvSpPr>
          <p:cNvPr id="37" name="Shape 30"/>
          <p:cNvSpPr/>
          <p:nvPr/>
        </p:nvSpPr>
        <p:spPr>
          <a:xfrm>
            <a:off x="8229600" y="1737360"/>
            <a:ext cx="3413455" cy="1828800"/>
          </a:xfrm>
          <a:prstGeom prst="roundRect">
            <a:avLst>
              <a:gd name="adj" fmla="val 6000"/>
            </a:avLst>
          </a:prstGeom>
          <a:solidFill>
            <a:srgbClr val="FFFFFF"/>
          </a:solidFill>
          <a:ln w="25400">
            <a:solidFill>
              <a:srgbClr val="0F9D6B"/>
            </a:solidFill>
            <a:prstDash val="solid"/>
          </a:ln>
          <a:effectLst>
            <a:outerShdw sx="100000" sy="100000" kx="0" ky="0" algn="bl" rotWithShape="0" blurRad="101600" dist="25400" dir="5400000">
              <a:srgbClr val="1E2850">
                <a:alpha val="8000"/>
              </a:srgbClr>
            </a:outerShdw>
          </a:effectLst>
        </p:spPr>
      </p:sp>
      <p:sp>
        <p:nvSpPr>
          <p:cNvPr id="38" name="Text 31"/>
          <p:cNvSpPr txBox="1"/>
          <p:nvPr/>
        </p:nvSpPr>
        <p:spPr>
          <a:xfrm>
            <a:off x="8412480" y="1874520"/>
            <a:ext cx="3047695" cy="502920"/>
          </a:xfrm>
          <a:prstGeom prst="rect">
            <a:avLst/>
          </a:prstGeom>
          <a:noFill/>
          <a:ln/>
        </p:spPr>
        <p:txBody>
          <a:bodyPr wrap="square" lIns="0" tIns="0" rIns="0" bIns="0" rtlCol="0" anchor="t"/>
          <a:lstStyle/>
          <a:p>
            <a:pPr indent="0" marL="0">
              <a:buNone/>
            </a:pPr>
            <a:r>
              <a:rPr lang="en-US" sz="1300" b="1" dirty="0">
                <a:solidFill>
                  <a:srgbClr val="1A2033"/>
                </a:solidFill>
                <a:latin typeface="Calibri" pitchFamily="34" charset="0"/>
                <a:ea typeface="Calibri" pitchFamily="34" charset="-122"/>
                <a:cs typeface="Calibri" pitchFamily="34" charset="-120"/>
              </a:rPr>
              <a:t>Website revamp and GIGW accessibility audit</a:t>
            </a:r>
            <a:endParaRPr lang="en-US" sz="1300" dirty="0"/>
          </a:p>
        </p:txBody>
      </p:sp>
      <p:sp>
        <p:nvSpPr>
          <p:cNvPr id="39" name="Text 32"/>
          <p:cNvSpPr txBox="1"/>
          <p:nvPr/>
        </p:nvSpPr>
        <p:spPr>
          <a:xfrm>
            <a:off x="8412480" y="2395728"/>
            <a:ext cx="3047695" cy="274320"/>
          </a:xfrm>
          <a:prstGeom prst="rect">
            <a:avLst/>
          </a:prstGeom>
          <a:noFill/>
          <a:ln/>
        </p:spPr>
        <p:txBody>
          <a:bodyPr wrap="square" lIns="0" tIns="0" rIns="0" bIns="0" rtlCol="0" anchor="t"/>
          <a:lstStyle/>
          <a:p>
            <a:pPr indent="0" marL="0">
              <a:buNone/>
            </a:pPr>
            <a:r>
              <a:rPr lang="en-US" sz="1050" dirty="0">
                <a:solidFill>
                  <a:srgbClr val="667089"/>
                </a:solidFill>
                <a:latin typeface="Calibri" pitchFamily="34" charset="0"/>
                <a:ea typeface="Calibri" pitchFamily="34" charset="-122"/>
                <a:cs typeface="Calibri" pitchFamily="34" charset="-120"/>
              </a:rPr>
              <a:t>Ministry of Electronics and IT</a:t>
            </a:r>
            <a:endParaRPr lang="en-US" sz="1050" dirty="0"/>
          </a:p>
        </p:txBody>
      </p:sp>
      <p:sp>
        <p:nvSpPr>
          <p:cNvPr id="40" name="Text 33"/>
          <p:cNvSpPr txBox="1"/>
          <p:nvPr/>
        </p:nvSpPr>
        <p:spPr>
          <a:xfrm>
            <a:off x="8412480" y="2724912"/>
            <a:ext cx="3047695" cy="347472"/>
          </a:xfrm>
          <a:prstGeom prst="rect">
            <a:avLst/>
          </a:prstGeom>
          <a:noFill/>
          <a:ln/>
        </p:spPr>
        <p:txBody>
          <a:bodyPr wrap="square" lIns="0" tIns="0" rIns="0" bIns="0" rtlCol="0" anchor="t"/>
          <a:lstStyle/>
          <a:p>
            <a:pPr indent="0" marL="0">
              <a:buNone/>
            </a:pPr>
            <a:r>
              <a:rPr lang="en-US" sz="1300" b="1" dirty="0">
                <a:solidFill>
                  <a:srgbClr val="0F9D6B"/>
                </a:solidFill>
                <a:latin typeface="Calibri" pitchFamily="34" charset="0"/>
                <a:ea typeface="Calibri" pitchFamily="34" charset="-122"/>
                <a:cs typeface="Calibri" pitchFamily="34" charset="-120"/>
              </a:rPr>
              <a:t>✓ Relevant: web, accessibility</a:t>
            </a:r>
            <a:endParaRPr lang="en-US" sz="1300" dirty="0"/>
          </a:p>
        </p:txBody>
      </p:sp>
      <p:sp>
        <p:nvSpPr>
          <p:cNvPr id="41" name="Text 34"/>
          <p:cNvSpPr txBox="1"/>
          <p:nvPr/>
        </p:nvSpPr>
        <p:spPr>
          <a:xfrm>
            <a:off x="8412480" y="3090672"/>
            <a:ext cx="3047695" cy="274320"/>
          </a:xfrm>
          <a:prstGeom prst="rect">
            <a:avLst/>
          </a:prstGeom>
          <a:noFill/>
          <a:ln/>
        </p:spPr>
        <p:txBody>
          <a:bodyPr wrap="square" lIns="0" tIns="0" rIns="0" bIns="0" rtlCol="0" anchor="t"/>
          <a:lstStyle/>
          <a:p>
            <a:pPr indent="0" marL="0">
              <a:buNone/>
            </a:pPr>
            <a:r>
              <a:rPr lang="en-US" sz="1100" dirty="0">
                <a:solidFill>
                  <a:srgbClr val="0F9D6B"/>
                </a:solidFill>
                <a:latin typeface="Calibri" pitchFamily="34" charset="0"/>
                <a:ea typeface="Calibri" pitchFamily="34" charset="-122"/>
                <a:cs typeface="Calibri" pitchFamily="34" charset="-120"/>
              </a:rPr>
              <a:t>Sent to the agents</a:t>
            </a:r>
            <a:endParaRPr lang="en-US" sz="1100" dirty="0"/>
          </a:p>
        </p:txBody>
      </p:sp>
      <p:sp>
        <p:nvSpPr>
          <p:cNvPr id="42" name="Shape 35"/>
          <p:cNvSpPr/>
          <p:nvPr/>
        </p:nvSpPr>
        <p:spPr>
          <a:xfrm>
            <a:off x="8229600" y="3749040"/>
            <a:ext cx="3413455" cy="1828800"/>
          </a:xfrm>
          <a:prstGeom prst="roundRect">
            <a:avLst>
              <a:gd name="adj" fmla="val 6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43" name="Text 36"/>
          <p:cNvSpPr txBox="1"/>
          <p:nvPr/>
        </p:nvSpPr>
        <p:spPr>
          <a:xfrm>
            <a:off x="8412480" y="3886200"/>
            <a:ext cx="3047695" cy="502920"/>
          </a:xfrm>
          <a:prstGeom prst="rect">
            <a:avLst/>
          </a:prstGeom>
          <a:noFill/>
          <a:ln/>
        </p:spPr>
        <p:txBody>
          <a:bodyPr wrap="square" lIns="0" tIns="0" rIns="0" bIns="0" rtlCol="0" anchor="t"/>
          <a:lstStyle/>
          <a:p>
            <a:pPr indent="0" marL="0">
              <a:buNone/>
            </a:pPr>
            <a:r>
              <a:rPr lang="en-US" sz="1300" b="1" dirty="0">
                <a:solidFill>
                  <a:srgbClr val="1A2033"/>
                </a:solidFill>
                <a:latin typeface="Calibri" pitchFamily="34" charset="0"/>
                <a:ea typeface="Calibri" pitchFamily="34" charset="-122"/>
                <a:cs typeface="Calibri" pitchFamily="34" charset="-120"/>
              </a:rPr>
              <a:t>Civil works for depot expansion</a:t>
            </a:r>
            <a:endParaRPr lang="en-US" sz="1300" dirty="0"/>
          </a:p>
        </p:txBody>
      </p:sp>
      <p:sp>
        <p:nvSpPr>
          <p:cNvPr id="44" name="Text 37"/>
          <p:cNvSpPr txBox="1"/>
          <p:nvPr/>
        </p:nvSpPr>
        <p:spPr>
          <a:xfrm>
            <a:off x="8412480" y="4407408"/>
            <a:ext cx="3047695" cy="274320"/>
          </a:xfrm>
          <a:prstGeom prst="rect">
            <a:avLst/>
          </a:prstGeom>
          <a:noFill/>
          <a:ln/>
        </p:spPr>
        <p:txBody>
          <a:bodyPr wrap="square" lIns="0" tIns="0" rIns="0" bIns="0" rtlCol="0" anchor="t"/>
          <a:lstStyle/>
          <a:p>
            <a:pPr indent="0" marL="0">
              <a:buNone/>
            </a:pPr>
            <a:r>
              <a:rPr lang="en-US" sz="1050" dirty="0">
                <a:solidFill>
                  <a:srgbClr val="667089"/>
                </a:solidFill>
                <a:latin typeface="Calibri" pitchFamily="34" charset="0"/>
                <a:ea typeface="Calibri" pitchFamily="34" charset="-122"/>
                <a:cs typeface="Calibri" pitchFamily="34" charset="-120"/>
              </a:rPr>
              <a:t>Delhi Metro Rail Corporation</a:t>
            </a:r>
            <a:endParaRPr lang="en-US" sz="1050" dirty="0"/>
          </a:p>
        </p:txBody>
      </p:sp>
      <p:sp>
        <p:nvSpPr>
          <p:cNvPr id="45" name="Text 38"/>
          <p:cNvSpPr txBox="1"/>
          <p:nvPr/>
        </p:nvSpPr>
        <p:spPr>
          <a:xfrm>
            <a:off x="8412480" y="4736592"/>
            <a:ext cx="3047695" cy="347472"/>
          </a:xfrm>
          <a:prstGeom prst="rect">
            <a:avLst/>
          </a:prstGeom>
          <a:noFill/>
          <a:ln/>
        </p:spPr>
        <p:txBody>
          <a:bodyPr wrap="square" lIns="0" tIns="0" rIns="0" bIns="0" rtlCol="0" anchor="t"/>
          <a:lstStyle/>
          <a:p>
            <a:pPr indent="0" marL="0">
              <a:buNone/>
            </a:pPr>
            <a:r>
              <a:rPr lang="en-US" sz="1300" b="1" dirty="0">
                <a:solidFill>
                  <a:srgbClr val="D64545"/>
                </a:solidFill>
                <a:latin typeface="Calibri" pitchFamily="34" charset="0"/>
                <a:ea typeface="Calibri" pitchFamily="34" charset="-122"/>
                <a:cs typeface="Calibri" pitchFamily="34" charset="-120"/>
              </a:rPr>
              <a:t>✕ Not relevant: civil works</a:t>
            </a:r>
            <a:endParaRPr lang="en-US" sz="1300" dirty="0"/>
          </a:p>
        </p:txBody>
      </p:sp>
      <p:sp>
        <p:nvSpPr>
          <p:cNvPr id="46" name="Text 39"/>
          <p:cNvSpPr txBox="1"/>
          <p:nvPr/>
        </p:nvSpPr>
        <p:spPr>
          <a:xfrm>
            <a:off x="8412480" y="5102352"/>
            <a:ext cx="3047695" cy="27432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Dropped, reason logged</a:t>
            </a:r>
            <a:endParaRPr lang="en-US" sz="1100" dirty="0"/>
          </a:p>
        </p:txBody>
      </p:sp>
      <p:sp>
        <p:nvSpPr>
          <p:cNvPr id="47" name="Text 40"/>
          <p:cNvSpPr txBox="1"/>
          <p:nvPr/>
        </p:nvSpPr>
        <p:spPr>
          <a:xfrm>
            <a:off x="548640" y="5852160"/>
            <a:ext cx="11094415" cy="320040"/>
          </a:xfrm>
          <a:prstGeom prst="rect">
            <a:avLst/>
          </a:prstGeom>
          <a:noFill/>
          <a:ln/>
        </p:spPr>
        <p:txBody>
          <a:bodyPr wrap="square" lIns="0" tIns="0" rIns="0" bIns="0" rtlCol="0" anchor="t"/>
          <a:lstStyle/>
          <a:p>
            <a:pPr indent="0" marL="0">
              <a:buNone/>
            </a:pPr>
            <a:r>
              <a:rPr lang="en-US" sz="1100" i="1" dirty="0">
                <a:solidFill>
                  <a:srgbClr val="667089"/>
                </a:solidFill>
                <a:latin typeface="Calibri" pitchFamily="34" charset="0"/>
                <a:ea typeface="Calibri" pitchFamily="34" charset="-122"/>
                <a:cs typeface="Calibri" pitchFamily="34" charset="-120"/>
              </a:rPr>
              <a:t>Simulated on the home dashboard today · also callable as the tenders_triage tool over MCP.</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A SAMPLE OF THE CHECKS · REAL ALLBIRDS RUN</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Evidence from outside, before we ever meet.</a:t>
            </a:r>
            <a:endParaRPr lang="en-US" sz="3400" dirty="0"/>
          </a:p>
        </p:txBody>
      </p:sp>
      <p:sp>
        <p:nvSpPr>
          <p:cNvPr id="5" name="Shape 2"/>
          <p:cNvSpPr/>
          <p:nvPr/>
        </p:nvSpPr>
        <p:spPr>
          <a:xfrm>
            <a:off x="548640" y="1691640"/>
            <a:ext cx="1933956" cy="2057400"/>
          </a:xfrm>
          <a:prstGeom prst="roundRect">
            <a:avLst>
              <a:gd name="adj" fmla="val 567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Text 3"/>
          <p:cNvSpPr txBox="1"/>
          <p:nvPr/>
        </p:nvSpPr>
        <p:spPr>
          <a:xfrm>
            <a:off x="713232" y="1828800"/>
            <a:ext cx="548640" cy="274320"/>
          </a:xfrm>
          <a:prstGeom prst="rect">
            <a:avLst/>
          </a:prstGeom>
          <a:noFill/>
          <a:ln/>
        </p:spPr>
        <p:txBody>
          <a:bodyPr wrap="square" lIns="0" tIns="0" rIns="0" bIns="0" rtlCol="0" anchor="t"/>
          <a:lstStyle/>
          <a:p>
            <a:pPr indent="0" marL="0">
              <a:buNone/>
            </a:pPr>
            <a:r>
              <a:rPr lang="en-US" sz="1000" b="1" spc="200" kern="0" dirty="0">
                <a:solidFill>
                  <a:srgbClr val="4F6BFF"/>
                </a:solidFill>
                <a:latin typeface="Calibri" pitchFamily="34" charset="0"/>
                <a:ea typeface="Calibri" pitchFamily="34" charset="-122"/>
                <a:cs typeface="Calibri" pitchFamily="34" charset="-120"/>
              </a:rPr>
              <a:t>01</a:t>
            </a:r>
            <a:endParaRPr lang="en-US" sz="1000" dirty="0"/>
          </a:p>
        </p:txBody>
      </p:sp>
      <p:sp>
        <p:nvSpPr>
          <p:cNvPr id="7" name="Text 4"/>
          <p:cNvSpPr txBox="1"/>
          <p:nvPr/>
        </p:nvSpPr>
        <p:spPr>
          <a:xfrm>
            <a:off x="713232" y="2075688"/>
            <a:ext cx="1659636" cy="36576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Backend &amp; stack</a:t>
            </a:r>
            <a:endParaRPr lang="en-US" sz="1400" dirty="0"/>
          </a:p>
        </p:txBody>
      </p:sp>
      <p:sp>
        <p:nvSpPr>
          <p:cNvPr id="8" name="Text 5"/>
          <p:cNvSpPr txBox="1"/>
          <p:nvPr/>
        </p:nvSpPr>
        <p:spPr>
          <a:xfrm>
            <a:off x="713232" y="2468880"/>
            <a:ext cx="1659636" cy="548640"/>
          </a:xfrm>
          <a:prstGeom prst="rect">
            <a:avLst/>
          </a:prstGeom>
          <a:noFill/>
          <a:ln/>
        </p:spPr>
        <p:txBody>
          <a:bodyPr wrap="square" lIns="0" tIns="0" rIns="0" bIns="0" rtlCol="0" anchor="ctr"/>
          <a:lstStyle/>
          <a:p>
            <a:pPr indent="0" marL="0">
              <a:buNone/>
            </a:pPr>
            <a:r>
              <a:rPr lang="en-US" sz="2600" b="1" dirty="0">
                <a:solidFill>
                  <a:srgbClr val="4F6BFF"/>
                </a:solidFill>
                <a:latin typeface="Calibri" pitchFamily="34" charset="0"/>
                <a:ea typeface="Calibri" pitchFamily="34" charset="-122"/>
                <a:cs typeface="Calibri" pitchFamily="34" charset="-120"/>
              </a:rPr>
              <a:t>9 found</a:t>
            </a:r>
            <a:endParaRPr lang="en-US" sz="2600" dirty="0"/>
          </a:p>
        </p:txBody>
      </p:sp>
      <p:sp>
        <p:nvSpPr>
          <p:cNvPr id="9" name="Text 6"/>
          <p:cNvSpPr txBox="1"/>
          <p:nvPr/>
        </p:nvSpPr>
        <p:spPr>
          <a:xfrm>
            <a:off x="713232" y="3063240"/>
            <a:ext cx="1659636" cy="64008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Opens talks on logistics,</a:t>
            </a:r>
            <a:endParaRPr lang="en-US" sz="1100" dirty="0"/>
          </a:p>
          <a:p>
            <a:pPr indent="0" marL="0">
              <a:buNone/>
            </a:pPr>
            <a:r>
              <a:rPr lang="en-US" sz="1100" dirty="0">
                <a:solidFill>
                  <a:srgbClr val="667089"/>
                </a:solidFill>
                <a:latin typeface="Calibri" pitchFamily="34" charset="0"/>
                <a:ea typeface="Calibri" pitchFamily="34" charset="-122"/>
                <a:cs typeface="Calibri" pitchFamily="34" charset="-120"/>
              </a:rPr>
              <a:t>data, finance and cloud</a:t>
            </a:r>
            <a:endParaRPr lang="en-US" sz="1100" dirty="0"/>
          </a:p>
        </p:txBody>
      </p:sp>
      <p:sp>
        <p:nvSpPr>
          <p:cNvPr id="10" name="Shape 7"/>
          <p:cNvSpPr/>
          <p:nvPr/>
        </p:nvSpPr>
        <p:spPr>
          <a:xfrm>
            <a:off x="2647188" y="1691640"/>
            <a:ext cx="1933956" cy="2057400"/>
          </a:xfrm>
          <a:prstGeom prst="roundRect">
            <a:avLst>
              <a:gd name="adj" fmla="val 567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1" name="Text 8"/>
          <p:cNvSpPr txBox="1"/>
          <p:nvPr/>
        </p:nvSpPr>
        <p:spPr>
          <a:xfrm>
            <a:off x="2811780" y="1828800"/>
            <a:ext cx="548640" cy="274320"/>
          </a:xfrm>
          <a:prstGeom prst="rect">
            <a:avLst/>
          </a:prstGeom>
          <a:noFill/>
          <a:ln/>
        </p:spPr>
        <p:txBody>
          <a:bodyPr wrap="square" lIns="0" tIns="0" rIns="0" bIns="0" rtlCol="0" anchor="t"/>
          <a:lstStyle/>
          <a:p>
            <a:pPr indent="0" marL="0">
              <a:buNone/>
            </a:pPr>
            <a:r>
              <a:rPr lang="en-US" sz="1000" b="1" spc="200" kern="0" dirty="0">
                <a:solidFill>
                  <a:srgbClr val="4F6BFF"/>
                </a:solidFill>
                <a:latin typeface="Calibri" pitchFamily="34" charset="0"/>
                <a:ea typeface="Calibri" pitchFamily="34" charset="-122"/>
                <a:cs typeface="Calibri" pitchFamily="34" charset="-120"/>
              </a:rPr>
              <a:t>02</a:t>
            </a:r>
            <a:endParaRPr lang="en-US" sz="1000" dirty="0"/>
          </a:p>
        </p:txBody>
      </p:sp>
      <p:sp>
        <p:nvSpPr>
          <p:cNvPr id="12" name="Text 9"/>
          <p:cNvSpPr txBox="1"/>
          <p:nvPr/>
        </p:nvSpPr>
        <p:spPr>
          <a:xfrm>
            <a:off x="2811780" y="2075688"/>
            <a:ext cx="1659636" cy="36576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Customer data flows</a:t>
            </a:r>
            <a:endParaRPr lang="en-US" sz="1400" dirty="0"/>
          </a:p>
        </p:txBody>
      </p:sp>
      <p:sp>
        <p:nvSpPr>
          <p:cNvPr id="13" name="Text 10"/>
          <p:cNvSpPr txBox="1"/>
          <p:nvPr/>
        </p:nvSpPr>
        <p:spPr>
          <a:xfrm>
            <a:off x="2811780" y="2468880"/>
            <a:ext cx="1659636" cy="548640"/>
          </a:xfrm>
          <a:prstGeom prst="rect">
            <a:avLst/>
          </a:prstGeom>
          <a:noFill/>
          <a:ln/>
        </p:spPr>
        <p:txBody>
          <a:bodyPr wrap="square" lIns="0" tIns="0" rIns="0" bIns="0" rtlCol="0" anchor="ctr"/>
          <a:lstStyle/>
          <a:p>
            <a:pPr indent="0" marL="0">
              <a:buNone/>
            </a:pPr>
            <a:r>
              <a:rPr lang="en-US" sz="2600" b="1" dirty="0">
                <a:solidFill>
                  <a:srgbClr val="B7791F"/>
                </a:solidFill>
                <a:latin typeface="Calibri" pitchFamily="34" charset="0"/>
                <a:ea typeface="Calibri" pitchFamily="34" charset="-122"/>
                <a:cs typeface="Calibri" pitchFamily="34" charset="-120"/>
              </a:rPr>
              <a:t>5 tools</a:t>
            </a:r>
            <a:endParaRPr lang="en-US" sz="2600" dirty="0"/>
          </a:p>
        </p:txBody>
      </p:sp>
      <p:sp>
        <p:nvSpPr>
          <p:cNvPr id="14" name="Text 11"/>
          <p:cNvSpPr txBox="1"/>
          <p:nvPr/>
        </p:nvSpPr>
        <p:spPr>
          <a:xfrm>
            <a:off x="2811780" y="3063240"/>
            <a:ext cx="1659636" cy="64008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GA4, Clarity, Tag Manager,</a:t>
            </a:r>
            <a:endParaRPr lang="en-US" sz="1100" dirty="0"/>
          </a:p>
          <a:p>
            <a:pPr indent="0" marL="0">
              <a:buNone/>
            </a:pPr>
            <a:r>
              <a:rPr lang="en-US" sz="1100" dirty="0">
                <a:solidFill>
                  <a:srgbClr val="667089"/>
                </a:solidFill>
                <a:latin typeface="Calibri" pitchFamily="34" charset="0"/>
                <a:ea typeface="Calibri" pitchFamily="34" charset="-122"/>
                <a:cs typeface="Calibri" pitchFamily="34" charset="-120"/>
              </a:rPr>
              <a:t>Meta Pixel, Google Ads</a:t>
            </a:r>
            <a:endParaRPr lang="en-US" sz="1100" dirty="0"/>
          </a:p>
        </p:txBody>
      </p:sp>
      <p:sp>
        <p:nvSpPr>
          <p:cNvPr id="15" name="Shape 12"/>
          <p:cNvSpPr/>
          <p:nvPr/>
        </p:nvSpPr>
        <p:spPr>
          <a:xfrm>
            <a:off x="4745736" y="1691640"/>
            <a:ext cx="1933956" cy="2057400"/>
          </a:xfrm>
          <a:prstGeom prst="roundRect">
            <a:avLst>
              <a:gd name="adj" fmla="val 567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6" name="Text 13"/>
          <p:cNvSpPr txBox="1"/>
          <p:nvPr/>
        </p:nvSpPr>
        <p:spPr>
          <a:xfrm>
            <a:off x="4910328" y="1828800"/>
            <a:ext cx="548640" cy="274320"/>
          </a:xfrm>
          <a:prstGeom prst="rect">
            <a:avLst/>
          </a:prstGeom>
          <a:noFill/>
          <a:ln/>
        </p:spPr>
        <p:txBody>
          <a:bodyPr wrap="square" lIns="0" tIns="0" rIns="0" bIns="0" rtlCol="0" anchor="t"/>
          <a:lstStyle/>
          <a:p>
            <a:pPr indent="0" marL="0">
              <a:buNone/>
            </a:pPr>
            <a:r>
              <a:rPr lang="en-US" sz="1000" b="1" spc="200" kern="0" dirty="0">
                <a:solidFill>
                  <a:srgbClr val="4F6BFF"/>
                </a:solidFill>
                <a:latin typeface="Calibri" pitchFamily="34" charset="0"/>
                <a:ea typeface="Calibri" pitchFamily="34" charset="-122"/>
                <a:cs typeface="Calibri" pitchFamily="34" charset="-120"/>
              </a:rPr>
              <a:t>03</a:t>
            </a:r>
            <a:endParaRPr lang="en-US" sz="1000" dirty="0"/>
          </a:p>
        </p:txBody>
      </p:sp>
      <p:sp>
        <p:nvSpPr>
          <p:cNvPr id="17" name="Text 14"/>
          <p:cNvSpPr txBox="1"/>
          <p:nvPr/>
        </p:nvSpPr>
        <p:spPr>
          <a:xfrm>
            <a:off x="4910328" y="2075688"/>
            <a:ext cx="1659636" cy="36576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Speed</a:t>
            </a:r>
            <a:endParaRPr lang="en-US" sz="1400" dirty="0"/>
          </a:p>
        </p:txBody>
      </p:sp>
      <p:sp>
        <p:nvSpPr>
          <p:cNvPr id="18" name="Text 15"/>
          <p:cNvSpPr txBox="1"/>
          <p:nvPr/>
        </p:nvSpPr>
        <p:spPr>
          <a:xfrm>
            <a:off x="4910328" y="2468880"/>
            <a:ext cx="1659636" cy="548640"/>
          </a:xfrm>
          <a:prstGeom prst="rect">
            <a:avLst/>
          </a:prstGeom>
          <a:noFill/>
          <a:ln/>
        </p:spPr>
        <p:txBody>
          <a:bodyPr wrap="square" lIns="0" tIns="0" rIns="0" bIns="0" rtlCol="0" anchor="ctr"/>
          <a:lstStyle/>
          <a:p>
            <a:pPr indent="0" marL="0">
              <a:buNone/>
            </a:pPr>
            <a:r>
              <a:rPr lang="en-US" sz="2600" b="1" dirty="0">
                <a:solidFill>
                  <a:srgbClr val="D64545"/>
                </a:solidFill>
                <a:latin typeface="Calibri" pitchFamily="34" charset="0"/>
                <a:ea typeface="Calibri" pitchFamily="34" charset="-122"/>
                <a:cs typeface="Calibri" pitchFamily="34" charset="-120"/>
              </a:rPr>
              <a:t>40 / 100</a:t>
            </a:r>
            <a:endParaRPr lang="en-US" sz="2600" dirty="0"/>
          </a:p>
        </p:txBody>
      </p:sp>
      <p:sp>
        <p:nvSpPr>
          <p:cNvPr id="19" name="Text 16"/>
          <p:cNvSpPr txBox="1"/>
          <p:nvPr/>
        </p:nvSpPr>
        <p:spPr>
          <a:xfrm>
            <a:off x="4910328" y="3063240"/>
            <a:ext cx="1659636" cy="64008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16.9 s until main content</a:t>
            </a:r>
            <a:endParaRPr lang="en-US" sz="1100" dirty="0"/>
          </a:p>
          <a:p>
            <a:pPr indent="0" marL="0">
              <a:buNone/>
            </a:pPr>
            <a:r>
              <a:rPr lang="en-US" sz="1100" dirty="0">
                <a:solidFill>
                  <a:srgbClr val="667089"/>
                </a:solidFill>
                <a:latin typeface="Calibri" pitchFamily="34" charset="0"/>
                <a:ea typeface="Calibri" pitchFamily="34" charset="-122"/>
                <a:cs typeface="Calibri" pitchFamily="34" charset="-120"/>
              </a:rPr>
              <a:t>6.3 MB page weight</a:t>
            </a:r>
            <a:endParaRPr lang="en-US" sz="1100" dirty="0"/>
          </a:p>
        </p:txBody>
      </p:sp>
      <p:sp>
        <p:nvSpPr>
          <p:cNvPr id="20" name="Shape 17"/>
          <p:cNvSpPr/>
          <p:nvPr/>
        </p:nvSpPr>
        <p:spPr>
          <a:xfrm>
            <a:off x="6844284" y="1691640"/>
            <a:ext cx="1933956" cy="2057400"/>
          </a:xfrm>
          <a:prstGeom prst="roundRect">
            <a:avLst>
              <a:gd name="adj" fmla="val 567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1" name="Text 18"/>
          <p:cNvSpPr txBox="1"/>
          <p:nvPr/>
        </p:nvSpPr>
        <p:spPr>
          <a:xfrm>
            <a:off x="7008876" y="1828800"/>
            <a:ext cx="548640" cy="274320"/>
          </a:xfrm>
          <a:prstGeom prst="rect">
            <a:avLst/>
          </a:prstGeom>
          <a:noFill/>
          <a:ln/>
        </p:spPr>
        <p:txBody>
          <a:bodyPr wrap="square" lIns="0" tIns="0" rIns="0" bIns="0" rtlCol="0" anchor="t"/>
          <a:lstStyle/>
          <a:p>
            <a:pPr indent="0" marL="0">
              <a:buNone/>
            </a:pPr>
            <a:r>
              <a:rPr lang="en-US" sz="1000" b="1" spc="200" kern="0" dirty="0">
                <a:solidFill>
                  <a:srgbClr val="4F6BFF"/>
                </a:solidFill>
                <a:latin typeface="Calibri" pitchFamily="34" charset="0"/>
                <a:ea typeface="Calibri" pitchFamily="34" charset="-122"/>
                <a:cs typeface="Calibri" pitchFamily="34" charset="-120"/>
              </a:rPr>
              <a:t>04</a:t>
            </a:r>
            <a:endParaRPr lang="en-US" sz="1000" dirty="0"/>
          </a:p>
        </p:txBody>
      </p:sp>
      <p:sp>
        <p:nvSpPr>
          <p:cNvPr id="22" name="Text 19"/>
          <p:cNvSpPr txBox="1"/>
          <p:nvPr/>
        </p:nvSpPr>
        <p:spPr>
          <a:xfrm>
            <a:off x="7008876" y="2075688"/>
            <a:ext cx="1659636" cy="36576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Mobile</a:t>
            </a:r>
            <a:endParaRPr lang="en-US" sz="1400" dirty="0"/>
          </a:p>
        </p:txBody>
      </p:sp>
      <p:sp>
        <p:nvSpPr>
          <p:cNvPr id="23" name="Text 20"/>
          <p:cNvSpPr txBox="1"/>
          <p:nvPr/>
        </p:nvSpPr>
        <p:spPr>
          <a:xfrm>
            <a:off x="7008876" y="2468880"/>
            <a:ext cx="1659636" cy="548640"/>
          </a:xfrm>
          <a:prstGeom prst="rect">
            <a:avLst/>
          </a:prstGeom>
          <a:noFill/>
          <a:ln/>
        </p:spPr>
        <p:txBody>
          <a:bodyPr wrap="square" lIns="0" tIns="0" rIns="0" bIns="0" rtlCol="0" anchor="ctr"/>
          <a:lstStyle/>
          <a:p>
            <a:pPr indent="0" marL="0">
              <a:buNone/>
            </a:pPr>
            <a:r>
              <a:rPr lang="en-US" sz="2600" b="1" dirty="0">
                <a:solidFill>
                  <a:srgbClr val="0F9D6B"/>
                </a:solidFill>
                <a:latin typeface="Calibri" pitchFamily="34" charset="0"/>
                <a:ea typeface="Calibri" pitchFamily="34" charset="-122"/>
                <a:cs typeface="Calibri" pitchFamily="34" charset="-120"/>
              </a:rPr>
              <a:t>87 / 100</a:t>
            </a:r>
            <a:endParaRPr lang="en-US" sz="2600" dirty="0"/>
          </a:p>
        </p:txBody>
      </p:sp>
      <p:sp>
        <p:nvSpPr>
          <p:cNvPr id="24" name="Text 21"/>
          <p:cNvSpPr txBox="1"/>
          <p:nvPr/>
        </p:nvSpPr>
        <p:spPr>
          <a:xfrm>
            <a:off x="7008876" y="3063240"/>
            <a:ext cx="1659636" cy="64008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12 of 84 tap targets</a:t>
            </a:r>
            <a:endParaRPr lang="en-US" sz="1100" dirty="0"/>
          </a:p>
          <a:p>
            <a:pPr indent="0" marL="0">
              <a:buNone/>
            </a:pPr>
            <a:r>
              <a:rPr lang="en-US" sz="1100" dirty="0">
                <a:solidFill>
                  <a:srgbClr val="667089"/>
                </a:solidFill>
                <a:latin typeface="Calibri" pitchFamily="34" charset="0"/>
                <a:ea typeface="Calibri" pitchFamily="34" charset="-122"/>
                <a:cs typeface="Calibri" pitchFamily="34" charset="-120"/>
              </a:rPr>
              <a:t>too small</a:t>
            </a:r>
            <a:endParaRPr lang="en-US" sz="1100" dirty="0"/>
          </a:p>
        </p:txBody>
      </p:sp>
      <p:sp>
        <p:nvSpPr>
          <p:cNvPr id="25" name="Shape 22"/>
          <p:cNvSpPr/>
          <p:nvPr/>
        </p:nvSpPr>
        <p:spPr>
          <a:xfrm>
            <a:off x="548640" y="3913632"/>
            <a:ext cx="1933956" cy="2057400"/>
          </a:xfrm>
          <a:prstGeom prst="roundRect">
            <a:avLst>
              <a:gd name="adj" fmla="val 567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6" name="Text 23"/>
          <p:cNvSpPr txBox="1"/>
          <p:nvPr/>
        </p:nvSpPr>
        <p:spPr>
          <a:xfrm>
            <a:off x="713232" y="4050792"/>
            <a:ext cx="548640" cy="274320"/>
          </a:xfrm>
          <a:prstGeom prst="rect">
            <a:avLst/>
          </a:prstGeom>
          <a:noFill/>
          <a:ln/>
        </p:spPr>
        <p:txBody>
          <a:bodyPr wrap="square" lIns="0" tIns="0" rIns="0" bIns="0" rtlCol="0" anchor="t"/>
          <a:lstStyle/>
          <a:p>
            <a:pPr indent="0" marL="0">
              <a:buNone/>
            </a:pPr>
            <a:r>
              <a:rPr lang="en-US" sz="1000" b="1" spc="200" kern="0" dirty="0">
                <a:solidFill>
                  <a:srgbClr val="4F6BFF"/>
                </a:solidFill>
                <a:latin typeface="Calibri" pitchFamily="34" charset="0"/>
                <a:ea typeface="Calibri" pitchFamily="34" charset="-122"/>
                <a:cs typeface="Calibri" pitchFamily="34" charset="-120"/>
              </a:rPr>
              <a:t>05</a:t>
            </a:r>
            <a:endParaRPr lang="en-US" sz="1000" dirty="0"/>
          </a:p>
        </p:txBody>
      </p:sp>
      <p:sp>
        <p:nvSpPr>
          <p:cNvPr id="27" name="Text 24"/>
          <p:cNvSpPr txBox="1"/>
          <p:nvPr/>
        </p:nvSpPr>
        <p:spPr>
          <a:xfrm>
            <a:off x="713232" y="4297680"/>
            <a:ext cx="1659636" cy="36576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Accessibility</a:t>
            </a:r>
            <a:endParaRPr lang="en-US" sz="1400" dirty="0"/>
          </a:p>
        </p:txBody>
      </p:sp>
      <p:sp>
        <p:nvSpPr>
          <p:cNvPr id="28" name="Text 25"/>
          <p:cNvSpPr txBox="1"/>
          <p:nvPr/>
        </p:nvSpPr>
        <p:spPr>
          <a:xfrm>
            <a:off x="713232" y="4690872"/>
            <a:ext cx="1659636" cy="548640"/>
          </a:xfrm>
          <a:prstGeom prst="rect">
            <a:avLst/>
          </a:prstGeom>
          <a:noFill/>
          <a:ln/>
        </p:spPr>
        <p:txBody>
          <a:bodyPr wrap="square" lIns="0" tIns="0" rIns="0" bIns="0" rtlCol="0" anchor="ctr"/>
          <a:lstStyle/>
          <a:p>
            <a:pPr indent="0" marL="0">
              <a:buNone/>
            </a:pPr>
            <a:r>
              <a:rPr lang="en-US" sz="2600" b="1" dirty="0">
                <a:solidFill>
                  <a:srgbClr val="B7791F"/>
                </a:solidFill>
                <a:latin typeface="Calibri" pitchFamily="34" charset="0"/>
                <a:ea typeface="Calibri" pitchFamily="34" charset="-122"/>
                <a:cs typeface="Calibri" pitchFamily="34" charset="-120"/>
              </a:rPr>
              <a:t>70 / 100</a:t>
            </a:r>
            <a:endParaRPr lang="en-US" sz="2600" dirty="0"/>
          </a:p>
        </p:txBody>
      </p:sp>
      <p:sp>
        <p:nvSpPr>
          <p:cNvPr id="29" name="Text 26"/>
          <p:cNvSpPr txBox="1"/>
          <p:nvPr/>
        </p:nvSpPr>
        <p:spPr>
          <a:xfrm>
            <a:off x="713232" y="5285232"/>
            <a:ext cx="1659636" cy="64008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3 rules failed,</a:t>
            </a:r>
            <a:endParaRPr lang="en-US" sz="1100" dirty="0"/>
          </a:p>
          <a:p>
            <a:pPr indent="0" marL="0">
              <a:buNone/>
            </a:pPr>
            <a:r>
              <a:rPr lang="en-US" sz="1100" dirty="0">
                <a:solidFill>
                  <a:srgbClr val="667089"/>
                </a:solidFill>
                <a:latin typeface="Calibri" pitchFamily="34" charset="0"/>
                <a:ea typeface="Calibri" pitchFamily="34" charset="-122"/>
                <a:cs typeface="Calibri" pitchFamily="34" charset="-120"/>
              </a:rPr>
              <a:t>2 of them critical</a:t>
            </a:r>
            <a:endParaRPr lang="en-US" sz="1100" dirty="0"/>
          </a:p>
        </p:txBody>
      </p:sp>
      <p:sp>
        <p:nvSpPr>
          <p:cNvPr id="30" name="Shape 27"/>
          <p:cNvSpPr/>
          <p:nvPr/>
        </p:nvSpPr>
        <p:spPr>
          <a:xfrm>
            <a:off x="2647188" y="3913632"/>
            <a:ext cx="1933956" cy="2057400"/>
          </a:xfrm>
          <a:prstGeom prst="roundRect">
            <a:avLst>
              <a:gd name="adj" fmla="val 567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1" name="Text 28"/>
          <p:cNvSpPr txBox="1"/>
          <p:nvPr/>
        </p:nvSpPr>
        <p:spPr>
          <a:xfrm>
            <a:off x="2811780" y="4050792"/>
            <a:ext cx="548640" cy="274320"/>
          </a:xfrm>
          <a:prstGeom prst="rect">
            <a:avLst/>
          </a:prstGeom>
          <a:noFill/>
          <a:ln/>
        </p:spPr>
        <p:txBody>
          <a:bodyPr wrap="square" lIns="0" tIns="0" rIns="0" bIns="0" rtlCol="0" anchor="t"/>
          <a:lstStyle/>
          <a:p>
            <a:pPr indent="0" marL="0">
              <a:buNone/>
            </a:pPr>
            <a:r>
              <a:rPr lang="en-US" sz="1000" b="1" spc="200" kern="0" dirty="0">
                <a:solidFill>
                  <a:srgbClr val="4F6BFF"/>
                </a:solidFill>
                <a:latin typeface="Calibri" pitchFamily="34" charset="0"/>
                <a:ea typeface="Calibri" pitchFamily="34" charset="-122"/>
                <a:cs typeface="Calibri" pitchFamily="34" charset="-120"/>
              </a:rPr>
              <a:t>06</a:t>
            </a:r>
            <a:endParaRPr lang="en-US" sz="1000" dirty="0"/>
          </a:p>
        </p:txBody>
      </p:sp>
      <p:sp>
        <p:nvSpPr>
          <p:cNvPr id="32" name="Text 29"/>
          <p:cNvSpPr txBox="1"/>
          <p:nvPr/>
        </p:nvSpPr>
        <p:spPr>
          <a:xfrm>
            <a:off x="2811780" y="4297680"/>
            <a:ext cx="1659636" cy="36576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UX and design</a:t>
            </a:r>
            <a:endParaRPr lang="en-US" sz="1400" dirty="0"/>
          </a:p>
        </p:txBody>
      </p:sp>
      <p:sp>
        <p:nvSpPr>
          <p:cNvPr id="33" name="Text 30"/>
          <p:cNvSpPr txBox="1"/>
          <p:nvPr/>
        </p:nvSpPr>
        <p:spPr>
          <a:xfrm>
            <a:off x="2811780" y="4690872"/>
            <a:ext cx="1659636" cy="548640"/>
          </a:xfrm>
          <a:prstGeom prst="rect">
            <a:avLst/>
          </a:prstGeom>
          <a:noFill/>
          <a:ln/>
        </p:spPr>
        <p:txBody>
          <a:bodyPr wrap="square" lIns="0" tIns="0" rIns="0" bIns="0" rtlCol="0" anchor="ctr"/>
          <a:lstStyle/>
          <a:p>
            <a:pPr indent="0" marL="0">
              <a:buNone/>
            </a:pPr>
            <a:r>
              <a:rPr lang="en-US" sz="2600" b="1" dirty="0">
                <a:solidFill>
                  <a:srgbClr val="D64545"/>
                </a:solidFill>
                <a:latin typeface="Calibri" pitchFamily="34" charset="0"/>
                <a:ea typeface="Calibri" pitchFamily="34" charset="-122"/>
                <a:cs typeface="Calibri" pitchFamily="34" charset="-120"/>
              </a:rPr>
              <a:t>60 / 100</a:t>
            </a:r>
            <a:endParaRPr lang="en-US" sz="2600" dirty="0"/>
          </a:p>
        </p:txBody>
      </p:sp>
      <p:sp>
        <p:nvSpPr>
          <p:cNvPr id="34" name="Text 31"/>
          <p:cNvSpPr txBox="1"/>
          <p:nvPr/>
        </p:nvSpPr>
        <p:spPr>
          <a:xfrm>
            <a:off x="2811780" y="5285232"/>
            <a:ext cx="1659636" cy="64008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Weakest area:</a:t>
            </a:r>
            <a:endParaRPr lang="en-US" sz="1100" dirty="0"/>
          </a:p>
          <a:p>
            <a:pPr indent="0" marL="0">
              <a:buNone/>
            </a:pPr>
            <a:r>
              <a:rPr lang="en-US" sz="1100" dirty="0">
                <a:solidFill>
                  <a:srgbClr val="667089"/>
                </a:solidFill>
                <a:latin typeface="Calibri" pitchFamily="34" charset="0"/>
                <a:ea typeface="Calibri" pitchFamily="34" charset="-122"/>
                <a:cs typeface="Calibri" pitchFamily="34" charset="-120"/>
              </a:rPr>
              <a:t>call-to-action clarity</a:t>
            </a:r>
            <a:endParaRPr lang="en-US" sz="1100" dirty="0"/>
          </a:p>
        </p:txBody>
      </p:sp>
      <p:sp>
        <p:nvSpPr>
          <p:cNvPr id="35" name="Shape 32"/>
          <p:cNvSpPr/>
          <p:nvPr/>
        </p:nvSpPr>
        <p:spPr>
          <a:xfrm>
            <a:off x="4745736" y="3913632"/>
            <a:ext cx="1933956" cy="2057400"/>
          </a:xfrm>
          <a:prstGeom prst="roundRect">
            <a:avLst>
              <a:gd name="adj" fmla="val 567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6" name="Text 33"/>
          <p:cNvSpPr txBox="1"/>
          <p:nvPr/>
        </p:nvSpPr>
        <p:spPr>
          <a:xfrm>
            <a:off x="4910328" y="4050792"/>
            <a:ext cx="548640" cy="274320"/>
          </a:xfrm>
          <a:prstGeom prst="rect">
            <a:avLst/>
          </a:prstGeom>
          <a:noFill/>
          <a:ln/>
        </p:spPr>
        <p:txBody>
          <a:bodyPr wrap="square" lIns="0" tIns="0" rIns="0" bIns="0" rtlCol="0" anchor="t"/>
          <a:lstStyle/>
          <a:p>
            <a:pPr indent="0" marL="0">
              <a:buNone/>
            </a:pPr>
            <a:r>
              <a:rPr lang="en-US" sz="1000" b="1" spc="200" kern="0" dirty="0">
                <a:solidFill>
                  <a:srgbClr val="4F6BFF"/>
                </a:solidFill>
                <a:latin typeface="Calibri" pitchFamily="34" charset="0"/>
                <a:ea typeface="Calibri" pitchFamily="34" charset="-122"/>
                <a:cs typeface="Calibri" pitchFamily="34" charset="-120"/>
              </a:rPr>
              <a:t>07</a:t>
            </a:r>
            <a:endParaRPr lang="en-US" sz="1000" dirty="0"/>
          </a:p>
        </p:txBody>
      </p:sp>
      <p:sp>
        <p:nvSpPr>
          <p:cNvPr id="37" name="Text 34"/>
          <p:cNvSpPr txBox="1"/>
          <p:nvPr/>
        </p:nvSpPr>
        <p:spPr>
          <a:xfrm>
            <a:off x="4910328" y="4297680"/>
            <a:ext cx="1659636" cy="36576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AI-search visibility</a:t>
            </a:r>
            <a:endParaRPr lang="en-US" sz="1400" dirty="0"/>
          </a:p>
        </p:txBody>
      </p:sp>
      <p:sp>
        <p:nvSpPr>
          <p:cNvPr id="38" name="Text 35"/>
          <p:cNvSpPr txBox="1"/>
          <p:nvPr/>
        </p:nvSpPr>
        <p:spPr>
          <a:xfrm>
            <a:off x="4910328" y="4690872"/>
            <a:ext cx="1659636" cy="548640"/>
          </a:xfrm>
          <a:prstGeom prst="rect">
            <a:avLst/>
          </a:prstGeom>
          <a:noFill/>
          <a:ln/>
        </p:spPr>
        <p:txBody>
          <a:bodyPr wrap="square" lIns="0" tIns="0" rIns="0" bIns="0" rtlCol="0" anchor="ctr"/>
          <a:lstStyle/>
          <a:p>
            <a:pPr indent="0" marL="0">
              <a:buNone/>
            </a:pPr>
            <a:r>
              <a:rPr lang="en-US" sz="2600" b="1" dirty="0">
                <a:solidFill>
                  <a:srgbClr val="D64545"/>
                </a:solidFill>
                <a:latin typeface="Calibri" pitchFamily="34" charset="0"/>
                <a:ea typeface="Calibri" pitchFamily="34" charset="-122"/>
                <a:cs typeface="Calibri" pitchFamily="34" charset="-120"/>
              </a:rPr>
              <a:t>62 / 100</a:t>
            </a:r>
            <a:endParaRPr lang="en-US" sz="2600" dirty="0"/>
          </a:p>
        </p:txBody>
      </p:sp>
      <p:sp>
        <p:nvSpPr>
          <p:cNvPr id="39" name="Text 36"/>
          <p:cNvSpPr txBox="1"/>
          <p:nvPr/>
        </p:nvSpPr>
        <p:spPr>
          <a:xfrm>
            <a:off x="4910328" y="5285232"/>
            <a:ext cx="1659636" cy="64008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No structured data</a:t>
            </a:r>
            <a:endParaRPr lang="en-US" sz="1100" dirty="0"/>
          </a:p>
          <a:p>
            <a:pPr indent="0" marL="0">
              <a:buNone/>
            </a:pPr>
            <a:r>
              <a:rPr lang="en-US" sz="1100" dirty="0">
                <a:solidFill>
                  <a:srgbClr val="667089"/>
                </a:solidFill>
                <a:latin typeface="Calibri" pitchFamily="34" charset="0"/>
                <a:ea typeface="Calibri" pitchFamily="34" charset="-122"/>
                <a:cs typeface="Calibri" pitchFamily="34" charset="-120"/>
              </a:rPr>
              <a:t>llms.txt present</a:t>
            </a:r>
            <a:endParaRPr lang="en-US" sz="1100" dirty="0"/>
          </a:p>
        </p:txBody>
      </p:sp>
      <p:sp>
        <p:nvSpPr>
          <p:cNvPr id="40" name="Shape 37"/>
          <p:cNvSpPr/>
          <p:nvPr/>
        </p:nvSpPr>
        <p:spPr>
          <a:xfrm>
            <a:off x="6844284" y="3913632"/>
            <a:ext cx="1933956" cy="2057400"/>
          </a:xfrm>
          <a:prstGeom prst="roundRect">
            <a:avLst>
              <a:gd name="adj" fmla="val 567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41" name="Text 38"/>
          <p:cNvSpPr txBox="1"/>
          <p:nvPr/>
        </p:nvSpPr>
        <p:spPr>
          <a:xfrm>
            <a:off x="7008876" y="4050792"/>
            <a:ext cx="548640" cy="274320"/>
          </a:xfrm>
          <a:prstGeom prst="rect">
            <a:avLst/>
          </a:prstGeom>
          <a:noFill/>
          <a:ln/>
        </p:spPr>
        <p:txBody>
          <a:bodyPr wrap="square" lIns="0" tIns="0" rIns="0" bIns="0" rtlCol="0" anchor="t"/>
          <a:lstStyle/>
          <a:p>
            <a:pPr indent="0" marL="0">
              <a:buNone/>
            </a:pPr>
            <a:r>
              <a:rPr lang="en-US" sz="1000" b="1" spc="200" kern="0" dirty="0">
                <a:solidFill>
                  <a:srgbClr val="4F6BFF"/>
                </a:solidFill>
                <a:latin typeface="Calibri" pitchFamily="34" charset="0"/>
                <a:ea typeface="Calibri" pitchFamily="34" charset="-122"/>
                <a:cs typeface="Calibri" pitchFamily="34" charset="-120"/>
              </a:rPr>
              <a:t>08</a:t>
            </a:r>
            <a:endParaRPr lang="en-US" sz="1000" dirty="0"/>
          </a:p>
        </p:txBody>
      </p:sp>
      <p:sp>
        <p:nvSpPr>
          <p:cNvPr id="42" name="Text 39"/>
          <p:cNvSpPr txBox="1"/>
          <p:nvPr/>
        </p:nvSpPr>
        <p:spPr>
          <a:xfrm>
            <a:off x="7008876" y="4297680"/>
            <a:ext cx="1659636" cy="36576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Brand kit</a:t>
            </a:r>
            <a:endParaRPr lang="en-US" sz="1400" dirty="0"/>
          </a:p>
        </p:txBody>
      </p:sp>
      <p:sp>
        <p:nvSpPr>
          <p:cNvPr id="43" name="Text 40"/>
          <p:cNvSpPr txBox="1"/>
          <p:nvPr/>
        </p:nvSpPr>
        <p:spPr>
          <a:xfrm>
            <a:off x="7008876" y="4690872"/>
            <a:ext cx="1659636" cy="548640"/>
          </a:xfrm>
          <a:prstGeom prst="rect">
            <a:avLst/>
          </a:prstGeom>
          <a:noFill/>
          <a:ln/>
        </p:spPr>
        <p:txBody>
          <a:bodyPr wrap="square" lIns="0" tIns="0" rIns="0" bIns="0" rtlCol="0" anchor="ctr"/>
          <a:lstStyle/>
          <a:p>
            <a:pPr indent="0" marL="0">
              <a:buNone/>
            </a:pPr>
            <a:r>
              <a:rPr lang="en-US" sz="2600" b="1" dirty="0">
                <a:solidFill>
                  <a:srgbClr val="1A2033"/>
                </a:solidFill>
                <a:latin typeface="Calibri" pitchFamily="34" charset="0"/>
                <a:ea typeface="Calibri" pitchFamily="34" charset="-122"/>
                <a:cs typeface="Calibri" pitchFamily="34" charset="-120"/>
              </a:rPr>
              <a:t>Geograph</a:t>
            </a:r>
            <a:endParaRPr lang="en-US" sz="2600" dirty="0"/>
          </a:p>
        </p:txBody>
      </p:sp>
      <p:sp>
        <p:nvSpPr>
          <p:cNvPr id="44" name="Text 41"/>
          <p:cNvSpPr txBox="1"/>
          <p:nvPr/>
        </p:nvSpPr>
        <p:spPr>
          <a:xfrm>
            <a:off x="7008876" y="5285232"/>
            <a:ext cx="1659636" cy="64008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#000000 · #ece9e2</a:t>
            </a:r>
            <a:endParaRPr lang="en-US" sz="1100" dirty="0"/>
          </a:p>
          <a:p>
            <a:pPr indent="0" marL="0">
              <a:buNone/>
            </a:pPr>
            <a:r>
              <a:rPr lang="en-US" sz="1100" dirty="0">
                <a:solidFill>
                  <a:srgbClr val="667089"/>
                </a:solidFill>
                <a:latin typeface="Calibri" pitchFamily="34" charset="0"/>
                <a:ea typeface="Calibri" pitchFamily="34" charset="-122"/>
                <a:cs typeface="Calibri" pitchFamily="34" charset="-120"/>
              </a:rPr>
              <a:t>CTA: Shop All</a:t>
            </a:r>
            <a:endParaRPr lang="en-US" sz="1100" dirty="0"/>
          </a:p>
        </p:txBody>
      </p:sp>
      <p:pic>
        <p:nvPicPr>
          <p:cNvPr id="45" name="Image 0" descr="Allbirds homepage, desktop screenshot from the run">    </p:cNvPr>
          <p:cNvPicPr>
            <a:picLocks noChangeAspect="1"/>
          </p:cNvPicPr>
          <p:nvPr/>
        </p:nvPicPr>
        <p:blipFill>
          <a:blip r:embed="rId1"/>
          <a:stretch>
            <a:fillRect/>
          </a:stretch>
        </p:blipFill>
        <p:spPr>
          <a:xfrm>
            <a:off x="9052560" y="1691640"/>
            <a:ext cx="2590495" cy="1619060"/>
          </a:xfrm>
          <a:prstGeom prst="rect">
            <a:avLst/>
          </a:prstGeom>
        </p:spPr>
      </p:pic>
      <p:pic>
        <p:nvPicPr>
          <p:cNvPr id="46" name="Image 1" descr="Allbirds homepage on a phone, screenshot from the run">    </p:cNvPr>
          <p:cNvPicPr>
            <a:picLocks noChangeAspect="1"/>
          </p:cNvPicPr>
          <p:nvPr/>
        </p:nvPicPr>
        <p:blipFill>
          <a:blip r:embed="rId2"/>
          <a:stretch>
            <a:fillRect/>
          </a:stretch>
        </p:blipFill>
        <p:spPr>
          <a:xfrm>
            <a:off x="9671958" y="3447860"/>
            <a:ext cx="1351700" cy="2523173"/>
          </a:xfrm>
          <a:prstGeom prst="rect">
            <a:avLst/>
          </a:prstGeom>
        </p:spPr>
      </p:pic>
      <p:sp>
        <p:nvSpPr>
          <p:cNvPr id="47" name="Text 42"/>
          <p:cNvSpPr txBox="1"/>
          <p:nvPr/>
        </p:nvSpPr>
        <p:spPr>
          <a:xfrm>
            <a:off x="548640" y="6080760"/>
            <a:ext cx="11094415" cy="274320"/>
          </a:xfrm>
          <a:prstGeom prst="rect">
            <a:avLst/>
          </a:prstGeom>
          <a:noFill/>
          <a:ln/>
        </p:spPr>
        <p:txBody>
          <a:bodyPr wrap="square" lIns="0" tIns="0" rIns="0" bIns="0" rtlCol="0" anchor="t"/>
          <a:lstStyle/>
          <a:p>
            <a:pPr indent="0" marL="0">
              <a:buNone/>
            </a:pPr>
            <a:r>
              <a:rPr lang="en-US" sz="1100" i="1" dirty="0">
                <a:solidFill>
                  <a:srgbClr val="667089"/>
                </a:solidFill>
                <a:latin typeface="Calibri" pitchFamily="34" charset="0"/>
                <a:ea typeface="Calibri" pitchFamily="34" charset="-122"/>
                <a:cs typeface="Calibri" pitchFamily="34" charset="-120"/>
              </a:rPr>
              <a:t>Screenshots and numbers are from a saved run on allbirds.com.</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BEYOND THE WEBSITE</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The website is the way in. The backend is the business.</a:t>
            </a:r>
            <a:endParaRPr lang="en-US" sz="3400" dirty="0"/>
          </a:p>
        </p:txBody>
      </p:sp>
      <p:sp>
        <p:nvSpPr>
          <p:cNvPr id="5" name="Shape 2"/>
          <p:cNvSpPr/>
          <p:nvPr/>
        </p:nvSpPr>
        <p:spPr>
          <a:xfrm>
            <a:off x="548640" y="2743200"/>
            <a:ext cx="1554480" cy="1828800"/>
          </a:xfrm>
          <a:prstGeom prst="roundRect">
            <a:avLst>
              <a:gd name="adj" fmla="val 7059"/>
            </a:avLst>
          </a:prstGeom>
          <a:solidFill>
            <a:srgbClr val="FFFFFF"/>
          </a:solidFill>
          <a:ln w="25400">
            <a:solidFill>
              <a:srgbClr val="4F6BFF"/>
            </a:solidFill>
            <a:prstDash val="solid"/>
          </a:ln>
          <a:effectLst>
            <a:outerShdw sx="100000" sy="100000" kx="0" ky="0" algn="bl" rotWithShape="0" blurRad="101600" dist="25400" dir="5400000">
              <a:srgbClr val="1E2850">
                <a:alpha val="8000"/>
              </a:srgbClr>
            </a:outerShdw>
          </a:effectLst>
        </p:spPr>
      </p:sp>
      <p:pic>
        <p:nvPicPr>
          <p:cNvPr id="6" name="Image 0" descr="globe icon">    </p:cNvPr>
          <p:cNvPicPr>
            <a:picLocks noChangeAspect="1"/>
          </p:cNvPicPr>
          <p:nvPr/>
        </p:nvPicPr>
        <p:blipFill>
          <a:blip r:embed="rId1"/>
          <a:stretch>
            <a:fillRect/>
          </a:stretch>
        </p:blipFill>
        <p:spPr>
          <a:xfrm>
            <a:off x="1005840" y="2926080"/>
            <a:ext cx="640080" cy="640080"/>
          </a:xfrm>
          <a:prstGeom prst="rect">
            <a:avLst/>
          </a:prstGeom>
        </p:spPr>
      </p:pic>
      <p:sp>
        <p:nvSpPr>
          <p:cNvPr id="7" name="Text 3"/>
          <p:cNvSpPr txBox="1"/>
          <p:nvPr/>
        </p:nvSpPr>
        <p:spPr>
          <a:xfrm>
            <a:off x="548640" y="3657600"/>
            <a:ext cx="1554480" cy="365760"/>
          </a:xfrm>
          <a:prstGeom prst="rect">
            <a:avLst/>
          </a:prstGeom>
          <a:noFill/>
          <a:ln/>
        </p:spPr>
        <p:txBody>
          <a:bodyPr wrap="square" lIns="0" tIns="0" rIns="0" bIns="0" rtlCol="0" anchor="t"/>
          <a:lstStyle/>
          <a:p>
            <a:pPr algn="ctr" indent="0" marL="0">
              <a:buNone/>
            </a:pPr>
            <a:r>
              <a:rPr lang="en-US" sz="1600" b="1" dirty="0">
                <a:solidFill>
                  <a:srgbClr val="1A2033"/>
                </a:solidFill>
                <a:latin typeface="Calibri" pitchFamily="34" charset="0"/>
                <a:ea typeface="Calibri" pitchFamily="34" charset="-122"/>
                <a:cs typeface="Calibri" pitchFamily="34" charset="-120"/>
              </a:rPr>
              <a:t>Website</a:t>
            </a:r>
            <a:endParaRPr lang="en-US" sz="1600" dirty="0"/>
          </a:p>
        </p:txBody>
      </p:sp>
      <p:sp>
        <p:nvSpPr>
          <p:cNvPr id="8" name="Text 4"/>
          <p:cNvSpPr txBox="1"/>
          <p:nvPr/>
        </p:nvSpPr>
        <p:spPr>
          <a:xfrm>
            <a:off x="548640" y="4023360"/>
            <a:ext cx="1554480" cy="274320"/>
          </a:xfrm>
          <a:prstGeom prst="rect">
            <a:avLst/>
          </a:prstGeom>
          <a:noFill/>
          <a:ln/>
        </p:spPr>
        <p:txBody>
          <a:bodyPr wrap="square" lIns="0" tIns="0" rIns="0" bIns="0" rtlCol="0" anchor="t"/>
          <a:lstStyle/>
          <a:p>
            <a:pPr algn="ctr" indent="0" marL="0">
              <a:buNone/>
            </a:pPr>
            <a:r>
              <a:rPr lang="en-US" sz="1100" dirty="0">
                <a:solidFill>
                  <a:srgbClr val="667089"/>
                </a:solidFill>
                <a:latin typeface="Calibri" pitchFamily="34" charset="0"/>
                <a:ea typeface="Calibri" pitchFamily="34" charset="-122"/>
                <a:cs typeface="Calibri" pitchFamily="34" charset="-120"/>
              </a:rPr>
              <a:t>the entry point</a:t>
            </a:r>
            <a:endParaRPr lang="en-US" sz="1100" dirty="0"/>
          </a:p>
        </p:txBody>
      </p:sp>
      <p:sp>
        <p:nvSpPr>
          <p:cNvPr id="9" name="Shape 5"/>
          <p:cNvSpPr/>
          <p:nvPr/>
        </p:nvSpPr>
        <p:spPr>
          <a:xfrm>
            <a:off x="2194560" y="3657600"/>
            <a:ext cx="411480" cy="0"/>
          </a:xfrm>
          <a:prstGeom prst="line">
            <a:avLst/>
          </a:prstGeom>
          <a:noFill/>
          <a:ln w="25400">
            <a:solidFill>
              <a:srgbClr val="4F6BFF"/>
            </a:solidFill>
            <a:prstDash val="dash"/>
            <a:tailEnd type="triangle"/>
          </a:ln>
        </p:spPr>
      </p:sp>
      <p:sp>
        <p:nvSpPr>
          <p:cNvPr id="10" name="Text 6"/>
          <p:cNvSpPr txBox="1"/>
          <p:nvPr/>
        </p:nvSpPr>
        <p:spPr>
          <a:xfrm>
            <a:off x="2743200" y="1783080"/>
            <a:ext cx="4754880" cy="274320"/>
          </a:xfrm>
          <a:prstGeom prst="rect">
            <a:avLst/>
          </a:prstGeom>
          <a:noFill/>
          <a:ln/>
        </p:spPr>
        <p:txBody>
          <a:bodyPr wrap="square" lIns="0" tIns="0" rIns="0" bIns="0" rtlCol="0" anchor="t"/>
          <a:lstStyle/>
          <a:p>
            <a:pPr indent="0" marL="0">
              <a:buNone/>
            </a:pPr>
            <a:r>
              <a:rPr lang="en-US" sz="1100" b="1" spc="200" kern="0" dirty="0">
                <a:solidFill>
                  <a:srgbClr val="667089"/>
                </a:solidFill>
                <a:latin typeface="Calibri" pitchFamily="34" charset="0"/>
                <a:ea typeface="Calibri" pitchFamily="34" charset="-122"/>
                <a:cs typeface="Calibri" pitchFamily="34" charset="-120"/>
              </a:rPr>
              <a:t>WHAT THE AGENTS READ FROM OUTSIDE</a:t>
            </a:r>
            <a:endParaRPr lang="en-US" sz="1100" dirty="0"/>
          </a:p>
        </p:txBody>
      </p:sp>
      <p:sp>
        <p:nvSpPr>
          <p:cNvPr id="11" name="Shape 7"/>
          <p:cNvSpPr/>
          <p:nvPr/>
        </p:nvSpPr>
        <p:spPr>
          <a:xfrm>
            <a:off x="2743200" y="2148840"/>
            <a:ext cx="1536192" cy="457200"/>
          </a:xfrm>
          <a:prstGeom prst="roundRect">
            <a:avLst>
              <a:gd name="adj" fmla="val 24000"/>
            </a:avLst>
          </a:prstGeom>
          <a:solidFill>
            <a:srgbClr val="FFFFFF"/>
          </a:solidFill>
          <a:ln w="12700">
            <a:solidFill>
              <a:srgbClr val="DFE3EE"/>
            </a:solidFill>
            <a:prstDash val="solid"/>
          </a:ln>
        </p:spPr>
      </p:sp>
      <p:pic>
        <p:nvPicPr>
          <p:cNvPr id="12" name="Image 1" descr="dev icon">    </p:cNvPr>
          <p:cNvPicPr>
            <a:picLocks noChangeAspect="1"/>
          </p:cNvPicPr>
          <p:nvPr/>
        </p:nvPicPr>
        <p:blipFill>
          <a:blip r:embed="rId2"/>
          <a:stretch>
            <a:fillRect/>
          </a:stretch>
        </p:blipFill>
        <p:spPr>
          <a:xfrm>
            <a:off x="2816352" y="2240280"/>
            <a:ext cx="274320" cy="274320"/>
          </a:xfrm>
          <a:prstGeom prst="rect">
            <a:avLst/>
          </a:prstGeom>
        </p:spPr>
      </p:pic>
      <p:sp>
        <p:nvSpPr>
          <p:cNvPr id="13" name="Text 8"/>
          <p:cNvSpPr txBox="1"/>
          <p:nvPr/>
        </p:nvSpPr>
        <p:spPr>
          <a:xfrm>
            <a:off x="3154680" y="214884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Server &amp; language</a:t>
            </a:r>
            <a:endParaRPr lang="en-US" sz="1050" dirty="0"/>
          </a:p>
        </p:txBody>
      </p:sp>
      <p:sp>
        <p:nvSpPr>
          <p:cNvPr id="14" name="Shape 9"/>
          <p:cNvSpPr/>
          <p:nvPr/>
        </p:nvSpPr>
        <p:spPr>
          <a:xfrm>
            <a:off x="4352544" y="2148840"/>
            <a:ext cx="1536192" cy="457200"/>
          </a:xfrm>
          <a:prstGeom prst="roundRect">
            <a:avLst>
              <a:gd name="adj" fmla="val 24000"/>
            </a:avLst>
          </a:prstGeom>
          <a:solidFill>
            <a:srgbClr val="FFFFFF"/>
          </a:solidFill>
          <a:ln w="12700">
            <a:solidFill>
              <a:srgbClr val="DFE3EE"/>
            </a:solidFill>
            <a:prstDash val="solid"/>
          </a:ln>
        </p:spPr>
      </p:sp>
      <p:pic>
        <p:nvPicPr>
          <p:cNvPr id="15" name="Image 2" descr="plug icon">    </p:cNvPr>
          <p:cNvPicPr>
            <a:picLocks noChangeAspect="1"/>
          </p:cNvPicPr>
          <p:nvPr/>
        </p:nvPicPr>
        <p:blipFill>
          <a:blip r:embed="rId3"/>
          <a:stretch>
            <a:fillRect/>
          </a:stretch>
        </p:blipFill>
        <p:spPr>
          <a:xfrm>
            <a:off x="4425696" y="2240280"/>
            <a:ext cx="274320" cy="274320"/>
          </a:xfrm>
          <a:prstGeom prst="rect">
            <a:avLst/>
          </a:prstGeom>
        </p:spPr>
      </p:pic>
      <p:sp>
        <p:nvSpPr>
          <p:cNvPr id="16" name="Text 10"/>
          <p:cNvSpPr txBox="1"/>
          <p:nvPr/>
        </p:nvSpPr>
        <p:spPr>
          <a:xfrm>
            <a:off x="4764024" y="214884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APIs &amp; third parties</a:t>
            </a:r>
            <a:endParaRPr lang="en-US" sz="1050" dirty="0"/>
          </a:p>
        </p:txBody>
      </p:sp>
      <p:sp>
        <p:nvSpPr>
          <p:cNvPr id="17" name="Shape 11"/>
          <p:cNvSpPr/>
          <p:nvPr/>
        </p:nvSpPr>
        <p:spPr>
          <a:xfrm>
            <a:off x="5961888" y="2148840"/>
            <a:ext cx="1536192" cy="457200"/>
          </a:xfrm>
          <a:prstGeom prst="roundRect">
            <a:avLst>
              <a:gd name="adj" fmla="val 24000"/>
            </a:avLst>
          </a:prstGeom>
          <a:solidFill>
            <a:srgbClr val="FFFFFF"/>
          </a:solidFill>
          <a:ln w="12700">
            <a:solidFill>
              <a:srgbClr val="DFE3EE"/>
            </a:solidFill>
            <a:prstDash val="solid"/>
          </a:ln>
        </p:spPr>
      </p:sp>
      <p:pic>
        <p:nvPicPr>
          <p:cNvPr id="18" name="Image 3" descr="cloud icon">    </p:cNvPr>
          <p:cNvPicPr>
            <a:picLocks noChangeAspect="1"/>
          </p:cNvPicPr>
          <p:nvPr/>
        </p:nvPicPr>
        <p:blipFill>
          <a:blip r:embed="rId4"/>
          <a:stretch>
            <a:fillRect/>
          </a:stretch>
        </p:blipFill>
        <p:spPr>
          <a:xfrm>
            <a:off x="6035040" y="2240280"/>
            <a:ext cx="274320" cy="274320"/>
          </a:xfrm>
          <a:prstGeom prst="rect">
            <a:avLst/>
          </a:prstGeom>
        </p:spPr>
      </p:pic>
      <p:sp>
        <p:nvSpPr>
          <p:cNvPr id="19" name="Text 12"/>
          <p:cNvSpPr txBox="1"/>
          <p:nvPr/>
        </p:nvSpPr>
        <p:spPr>
          <a:xfrm>
            <a:off x="6373368" y="214884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CDN &amp; hosting</a:t>
            </a:r>
            <a:endParaRPr lang="en-US" sz="1050" dirty="0"/>
          </a:p>
        </p:txBody>
      </p:sp>
      <p:sp>
        <p:nvSpPr>
          <p:cNvPr id="20" name="Shape 13"/>
          <p:cNvSpPr/>
          <p:nvPr/>
        </p:nvSpPr>
        <p:spPr>
          <a:xfrm>
            <a:off x="2743200" y="2697480"/>
            <a:ext cx="1536192" cy="457200"/>
          </a:xfrm>
          <a:prstGeom prst="roundRect">
            <a:avLst>
              <a:gd name="adj" fmla="val 24000"/>
            </a:avLst>
          </a:prstGeom>
          <a:solidFill>
            <a:srgbClr val="FFFFFF"/>
          </a:solidFill>
          <a:ln w="12700">
            <a:solidFill>
              <a:srgbClr val="DFE3EE"/>
            </a:solidFill>
            <a:prstDash val="solid"/>
          </a:ln>
        </p:spPr>
      </p:sp>
      <p:pic>
        <p:nvPicPr>
          <p:cNvPr id="21" name="Image 4" descr="cart icon">    </p:cNvPr>
          <p:cNvPicPr>
            <a:picLocks noChangeAspect="1"/>
          </p:cNvPicPr>
          <p:nvPr/>
        </p:nvPicPr>
        <p:blipFill>
          <a:blip r:embed="rId5"/>
          <a:stretch>
            <a:fillRect/>
          </a:stretch>
        </p:blipFill>
        <p:spPr>
          <a:xfrm>
            <a:off x="2816352" y="2788920"/>
            <a:ext cx="274320" cy="274320"/>
          </a:xfrm>
          <a:prstGeom prst="rect">
            <a:avLst/>
          </a:prstGeom>
        </p:spPr>
      </p:pic>
      <p:sp>
        <p:nvSpPr>
          <p:cNvPr id="22" name="Text 14"/>
          <p:cNvSpPr txBox="1"/>
          <p:nvPr/>
        </p:nvSpPr>
        <p:spPr>
          <a:xfrm>
            <a:off x="3154680" y="269748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Commerce platform</a:t>
            </a:r>
            <a:endParaRPr lang="en-US" sz="1050" dirty="0"/>
          </a:p>
        </p:txBody>
      </p:sp>
      <p:sp>
        <p:nvSpPr>
          <p:cNvPr id="23" name="Shape 15"/>
          <p:cNvSpPr/>
          <p:nvPr/>
        </p:nvSpPr>
        <p:spPr>
          <a:xfrm>
            <a:off x="4352544" y="2697480"/>
            <a:ext cx="1536192" cy="457200"/>
          </a:xfrm>
          <a:prstGeom prst="roundRect">
            <a:avLst>
              <a:gd name="adj" fmla="val 24000"/>
            </a:avLst>
          </a:prstGeom>
          <a:solidFill>
            <a:srgbClr val="FFFFFF"/>
          </a:solidFill>
          <a:ln w="12700">
            <a:solidFill>
              <a:srgbClr val="DFE3EE"/>
            </a:solidFill>
            <a:prstDash val="solid"/>
          </a:ln>
        </p:spPr>
      </p:sp>
      <p:pic>
        <p:nvPicPr>
          <p:cNvPr id="24" name="Image 5" descr="brick icon">    </p:cNvPr>
          <p:cNvPicPr>
            <a:picLocks noChangeAspect="1"/>
          </p:cNvPicPr>
          <p:nvPr/>
        </p:nvPicPr>
        <p:blipFill>
          <a:blip r:embed="rId6"/>
          <a:stretch>
            <a:fillRect/>
          </a:stretch>
        </p:blipFill>
        <p:spPr>
          <a:xfrm>
            <a:off x="4425696" y="2788920"/>
            <a:ext cx="274320" cy="274320"/>
          </a:xfrm>
          <a:prstGeom prst="rect">
            <a:avLst/>
          </a:prstGeom>
        </p:spPr>
      </p:pic>
      <p:sp>
        <p:nvSpPr>
          <p:cNvPr id="25" name="Text 16"/>
          <p:cNvSpPr txBox="1"/>
          <p:nvPr/>
        </p:nvSpPr>
        <p:spPr>
          <a:xfrm>
            <a:off x="4764024" y="269748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CMS</a:t>
            </a:r>
            <a:endParaRPr lang="en-US" sz="1050" dirty="0"/>
          </a:p>
        </p:txBody>
      </p:sp>
      <p:sp>
        <p:nvSpPr>
          <p:cNvPr id="26" name="Shape 17"/>
          <p:cNvSpPr/>
          <p:nvPr/>
        </p:nvSpPr>
        <p:spPr>
          <a:xfrm>
            <a:off x="5961888" y="2697480"/>
            <a:ext cx="1536192" cy="457200"/>
          </a:xfrm>
          <a:prstGeom prst="roundRect">
            <a:avLst>
              <a:gd name="adj" fmla="val 24000"/>
            </a:avLst>
          </a:prstGeom>
          <a:solidFill>
            <a:srgbClr val="FFFFFF"/>
          </a:solidFill>
          <a:ln w="12700">
            <a:solidFill>
              <a:srgbClr val="DFE3EE"/>
            </a:solidFill>
            <a:prstDash val="solid"/>
          </a:ln>
        </p:spPr>
      </p:sp>
      <p:pic>
        <p:nvPicPr>
          <p:cNvPr id="27" name="Image 6" descr="card icon">    </p:cNvPr>
          <p:cNvPicPr>
            <a:picLocks noChangeAspect="1"/>
          </p:cNvPicPr>
          <p:nvPr/>
        </p:nvPicPr>
        <p:blipFill>
          <a:blip r:embed="rId7"/>
          <a:stretch>
            <a:fillRect/>
          </a:stretch>
        </p:blipFill>
        <p:spPr>
          <a:xfrm>
            <a:off x="6035040" y="2788920"/>
            <a:ext cx="274320" cy="274320"/>
          </a:xfrm>
          <a:prstGeom prst="rect">
            <a:avLst/>
          </a:prstGeom>
        </p:spPr>
      </p:pic>
      <p:sp>
        <p:nvSpPr>
          <p:cNvPr id="28" name="Text 18"/>
          <p:cNvSpPr txBox="1"/>
          <p:nvPr/>
        </p:nvSpPr>
        <p:spPr>
          <a:xfrm>
            <a:off x="6373368" y="269748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Payments</a:t>
            </a:r>
            <a:endParaRPr lang="en-US" sz="1050" dirty="0"/>
          </a:p>
        </p:txBody>
      </p:sp>
      <p:sp>
        <p:nvSpPr>
          <p:cNvPr id="29" name="Shape 19"/>
          <p:cNvSpPr/>
          <p:nvPr/>
        </p:nvSpPr>
        <p:spPr>
          <a:xfrm>
            <a:off x="2743200" y="3246120"/>
            <a:ext cx="1536192" cy="457200"/>
          </a:xfrm>
          <a:prstGeom prst="roundRect">
            <a:avLst>
              <a:gd name="adj" fmla="val 24000"/>
            </a:avLst>
          </a:prstGeom>
          <a:solidFill>
            <a:srgbClr val="FFFFFF"/>
          </a:solidFill>
          <a:ln w="12700">
            <a:solidFill>
              <a:srgbClr val="DFE3EE"/>
            </a:solidFill>
            <a:prstDash val="solid"/>
          </a:ln>
        </p:spPr>
      </p:sp>
      <p:pic>
        <p:nvPicPr>
          <p:cNvPr id="30" name="Image 7" descr="chart icon">    </p:cNvPr>
          <p:cNvPicPr>
            <a:picLocks noChangeAspect="1"/>
          </p:cNvPicPr>
          <p:nvPr/>
        </p:nvPicPr>
        <p:blipFill>
          <a:blip r:embed="rId8"/>
          <a:stretch>
            <a:fillRect/>
          </a:stretch>
        </p:blipFill>
        <p:spPr>
          <a:xfrm>
            <a:off x="2816352" y="3337560"/>
            <a:ext cx="274320" cy="274320"/>
          </a:xfrm>
          <a:prstGeom prst="rect">
            <a:avLst/>
          </a:prstGeom>
        </p:spPr>
      </p:pic>
      <p:sp>
        <p:nvSpPr>
          <p:cNvPr id="31" name="Text 20"/>
          <p:cNvSpPr txBox="1"/>
          <p:nvPr/>
        </p:nvSpPr>
        <p:spPr>
          <a:xfrm>
            <a:off x="3154680" y="324612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Analytics &amp; tags</a:t>
            </a:r>
            <a:endParaRPr lang="en-US" sz="1050" dirty="0"/>
          </a:p>
        </p:txBody>
      </p:sp>
      <p:sp>
        <p:nvSpPr>
          <p:cNvPr id="32" name="Shape 21"/>
          <p:cNvSpPr/>
          <p:nvPr/>
        </p:nvSpPr>
        <p:spPr>
          <a:xfrm>
            <a:off x="4352544" y="3246120"/>
            <a:ext cx="1536192" cy="457200"/>
          </a:xfrm>
          <a:prstGeom prst="roundRect">
            <a:avLst>
              <a:gd name="adj" fmla="val 24000"/>
            </a:avLst>
          </a:prstGeom>
          <a:solidFill>
            <a:srgbClr val="FFFFFF"/>
          </a:solidFill>
          <a:ln w="12700">
            <a:solidFill>
              <a:srgbClr val="DFE3EE"/>
            </a:solidFill>
            <a:prstDash val="solid"/>
          </a:ln>
        </p:spPr>
      </p:sp>
      <p:pic>
        <p:nvPicPr>
          <p:cNvPr id="33" name="Image 8" descr="desktop icon">    </p:cNvPr>
          <p:cNvPicPr>
            <a:picLocks noChangeAspect="1"/>
          </p:cNvPicPr>
          <p:nvPr/>
        </p:nvPicPr>
        <p:blipFill>
          <a:blip r:embed="rId9"/>
          <a:stretch>
            <a:fillRect/>
          </a:stretch>
        </p:blipFill>
        <p:spPr>
          <a:xfrm>
            <a:off x="4425696" y="3337560"/>
            <a:ext cx="274320" cy="274320"/>
          </a:xfrm>
          <a:prstGeom prst="rect">
            <a:avLst/>
          </a:prstGeom>
        </p:spPr>
      </p:pic>
      <p:sp>
        <p:nvSpPr>
          <p:cNvPr id="34" name="Text 22"/>
          <p:cNvSpPr txBox="1"/>
          <p:nvPr/>
        </p:nvSpPr>
        <p:spPr>
          <a:xfrm>
            <a:off x="4764024" y="324612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Monitoring</a:t>
            </a:r>
            <a:endParaRPr lang="en-US" sz="1050" dirty="0"/>
          </a:p>
        </p:txBody>
      </p:sp>
      <p:sp>
        <p:nvSpPr>
          <p:cNvPr id="35" name="Shape 23"/>
          <p:cNvSpPr/>
          <p:nvPr/>
        </p:nvSpPr>
        <p:spPr>
          <a:xfrm>
            <a:off x="5961888" y="3246120"/>
            <a:ext cx="1536192" cy="457200"/>
          </a:xfrm>
          <a:prstGeom prst="roundRect">
            <a:avLst>
              <a:gd name="adj" fmla="val 24000"/>
            </a:avLst>
          </a:prstGeom>
          <a:solidFill>
            <a:srgbClr val="FFFFFF"/>
          </a:solidFill>
          <a:ln w="12700">
            <a:solidFill>
              <a:srgbClr val="DFE3EE"/>
            </a:solidFill>
            <a:prstDash val="solid"/>
          </a:ln>
        </p:spPr>
      </p:sp>
      <p:pic>
        <p:nvPicPr>
          <p:cNvPr id="36" name="Image 9" descr="shield icon">    </p:cNvPr>
          <p:cNvPicPr>
            <a:picLocks noChangeAspect="1"/>
          </p:cNvPicPr>
          <p:nvPr/>
        </p:nvPicPr>
        <p:blipFill>
          <a:blip r:embed="rId10"/>
          <a:stretch>
            <a:fillRect/>
          </a:stretch>
        </p:blipFill>
        <p:spPr>
          <a:xfrm>
            <a:off x="6035040" y="3337560"/>
            <a:ext cx="274320" cy="274320"/>
          </a:xfrm>
          <a:prstGeom prst="rect">
            <a:avLst/>
          </a:prstGeom>
        </p:spPr>
      </p:pic>
      <p:sp>
        <p:nvSpPr>
          <p:cNvPr id="37" name="Text 24"/>
          <p:cNvSpPr txBox="1"/>
          <p:nvPr/>
        </p:nvSpPr>
        <p:spPr>
          <a:xfrm>
            <a:off x="6373368" y="324612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Security &amp; consent</a:t>
            </a:r>
            <a:endParaRPr lang="en-US" sz="1050" dirty="0"/>
          </a:p>
        </p:txBody>
      </p:sp>
      <p:sp>
        <p:nvSpPr>
          <p:cNvPr id="38" name="Shape 25"/>
          <p:cNvSpPr/>
          <p:nvPr/>
        </p:nvSpPr>
        <p:spPr>
          <a:xfrm>
            <a:off x="2743200" y="3794760"/>
            <a:ext cx="1536192" cy="457200"/>
          </a:xfrm>
          <a:prstGeom prst="roundRect">
            <a:avLst>
              <a:gd name="adj" fmla="val 24000"/>
            </a:avLst>
          </a:prstGeom>
          <a:solidFill>
            <a:srgbClr val="FFFFFF"/>
          </a:solidFill>
          <a:ln w="12700">
            <a:solidFill>
              <a:srgbClr val="DFE3EE"/>
            </a:solidFill>
            <a:prstDash val="solid"/>
          </a:ln>
        </p:spPr>
      </p:sp>
      <p:pic>
        <p:nvPicPr>
          <p:cNvPr id="39" name="Image 10" descr="bolt icon">    </p:cNvPr>
          <p:cNvPicPr>
            <a:picLocks noChangeAspect="1"/>
          </p:cNvPicPr>
          <p:nvPr/>
        </p:nvPicPr>
        <p:blipFill>
          <a:blip r:embed="rId11"/>
          <a:stretch>
            <a:fillRect/>
          </a:stretch>
        </p:blipFill>
        <p:spPr>
          <a:xfrm>
            <a:off x="2816352" y="3886200"/>
            <a:ext cx="274320" cy="274320"/>
          </a:xfrm>
          <a:prstGeom prst="rect">
            <a:avLst/>
          </a:prstGeom>
        </p:spPr>
      </p:pic>
      <p:sp>
        <p:nvSpPr>
          <p:cNvPr id="40" name="Text 26"/>
          <p:cNvSpPr txBox="1"/>
          <p:nvPr/>
        </p:nvSpPr>
        <p:spPr>
          <a:xfrm>
            <a:off x="3154680" y="379476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Performance</a:t>
            </a:r>
            <a:endParaRPr lang="en-US" sz="1050" dirty="0"/>
          </a:p>
        </p:txBody>
      </p:sp>
      <p:sp>
        <p:nvSpPr>
          <p:cNvPr id="41" name="Shape 27"/>
          <p:cNvSpPr/>
          <p:nvPr/>
        </p:nvSpPr>
        <p:spPr>
          <a:xfrm>
            <a:off x="4352544" y="3794760"/>
            <a:ext cx="1536192" cy="457200"/>
          </a:xfrm>
          <a:prstGeom prst="roundRect">
            <a:avLst>
              <a:gd name="adj" fmla="val 24000"/>
            </a:avLst>
          </a:prstGeom>
          <a:solidFill>
            <a:srgbClr val="FFFFFF"/>
          </a:solidFill>
          <a:ln w="12700">
            <a:solidFill>
              <a:srgbClr val="DFE3EE"/>
            </a:solidFill>
            <a:prstDash val="solid"/>
          </a:ln>
        </p:spPr>
      </p:sp>
      <p:pic>
        <p:nvPicPr>
          <p:cNvPr id="42" name="Image 11" descr="a11y icon">    </p:cNvPr>
          <p:cNvPicPr>
            <a:picLocks noChangeAspect="1"/>
          </p:cNvPicPr>
          <p:nvPr/>
        </p:nvPicPr>
        <p:blipFill>
          <a:blip r:embed="rId12"/>
          <a:stretch>
            <a:fillRect/>
          </a:stretch>
        </p:blipFill>
        <p:spPr>
          <a:xfrm>
            <a:off x="4425696" y="3886200"/>
            <a:ext cx="274320" cy="274320"/>
          </a:xfrm>
          <a:prstGeom prst="rect">
            <a:avLst/>
          </a:prstGeom>
        </p:spPr>
      </p:pic>
      <p:sp>
        <p:nvSpPr>
          <p:cNvPr id="43" name="Text 28"/>
          <p:cNvSpPr txBox="1"/>
          <p:nvPr/>
        </p:nvSpPr>
        <p:spPr>
          <a:xfrm>
            <a:off x="4764024" y="379476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Accessibility</a:t>
            </a:r>
            <a:endParaRPr lang="en-US" sz="1050" dirty="0"/>
          </a:p>
        </p:txBody>
      </p:sp>
      <p:sp>
        <p:nvSpPr>
          <p:cNvPr id="44" name="Shape 29"/>
          <p:cNvSpPr/>
          <p:nvPr/>
        </p:nvSpPr>
        <p:spPr>
          <a:xfrm>
            <a:off x="5961888" y="3794760"/>
            <a:ext cx="1536192" cy="457200"/>
          </a:xfrm>
          <a:prstGeom prst="roundRect">
            <a:avLst>
              <a:gd name="adj" fmla="val 24000"/>
            </a:avLst>
          </a:prstGeom>
          <a:solidFill>
            <a:srgbClr val="FFFFFF"/>
          </a:solidFill>
          <a:ln w="12700">
            <a:solidFill>
              <a:srgbClr val="DFE3EE"/>
            </a:solidFill>
            <a:prstDash val="solid"/>
          </a:ln>
        </p:spPr>
      </p:sp>
      <p:pic>
        <p:nvPicPr>
          <p:cNvPr id="45" name="Image 12" descr="search icon">    </p:cNvPr>
          <p:cNvPicPr>
            <a:picLocks noChangeAspect="1"/>
          </p:cNvPicPr>
          <p:nvPr/>
        </p:nvPicPr>
        <p:blipFill>
          <a:blip r:embed="rId13"/>
          <a:stretch>
            <a:fillRect/>
          </a:stretch>
        </p:blipFill>
        <p:spPr>
          <a:xfrm>
            <a:off x="6035040" y="3886200"/>
            <a:ext cx="274320" cy="274320"/>
          </a:xfrm>
          <a:prstGeom prst="rect">
            <a:avLst/>
          </a:prstGeom>
        </p:spPr>
      </p:pic>
      <p:sp>
        <p:nvSpPr>
          <p:cNvPr id="46" name="Text 30"/>
          <p:cNvSpPr txBox="1"/>
          <p:nvPr/>
        </p:nvSpPr>
        <p:spPr>
          <a:xfrm>
            <a:off x="6373368" y="3794760"/>
            <a:ext cx="1078992" cy="457200"/>
          </a:xfrm>
          <a:prstGeom prst="rect">
            <a:avLst/>
          </a:prstGeom>
          <a:noFill/>
          <a:ln/>
        </p:spPr>
        <p:txBody>
          <a:bodyPr wrap="square" lIns="0" tIns="0" rIns="0" bIns="0" rtlCol="0" anchor="ctr"/>
          <a:lstStyle/>
          <a:p>
            <a:pPr indent="0" marL="0">
              <a:buNone/>
            </a:pPr>
            <a:r>
              <a:rPr lang="en-US" sz="1050" b="1" dirty="0">
                <a:solidFill>
                  <a:srgbClr val="1A2033"/>
                </a:solidFill>
                <a:latin typeface="Calibri" pitchFamily="34" charset="0"/>
                <a:ea typeface="Calibri" pitchFamily="34" charset="-122"/>
                <a:cs typeface="Calibri" pitchFamily="34" charset="-120"/>
              </a:rPr>
              <a:t>AI search</a:t>
            </a:r>
            <a:endParaRPr lang="en-US" sz="1050" dirty="0"/>
          </a:p>
        </p:txBody>
      </p:sp>
      <p:sp>
        <p:nvSpPr>
          <p:cNvPr id="47" name="Text 31"/>
          <p:cNvSpPr txBox="1"/>
          <p:nvPr/>
        </p:nvSpPr>
        <p:spPr>
          <a:xfrm>
            <a:off x="2743200" y="4434840"/>
            <a:ext cx="4754880" cy="274320"/>
          </a:xfrm>
          <a:prstGeom prst="rect">
            <a:avLst/>
          </a:prstGeom>
          <a:noFill/>
          <a:ln/>
        </p:spPr>
        <p:txBody>
          <a:bodyPr wrap="square" lIns="0" tIns="0" rIns="0" bIns="0" rtlCol="0" anchor="t"/>
          <a:lstStyle/>
          <a:p>
            <a:pPr indent="0" marL="0">
              <a:buNone/>
            </a:pPr>
            <a:r>
              <a:rPr lang="en-US" sz="1100" b="1" dirty="0">
                <a:solidFill>
                  <a:srgbClr val="1A2033"/>
                </a:solidFill>
                <a:latin typeface="Calibri" pitchFamily="34" charset="0"/>
                <a:ea typeface="Calibri" pitchFamily="34" charset="-122"/>
                <a:cs typeface="Calibri" pitchFamily="34" charset="-120"/>
              </a:rPr>
              <a:t>132</a:t>
            </a:r>
            <a:pPr indent="0" marL="0">
              <a:buNone/>
            </a:pPr>
            <a:r>
              <a:rPr lang="en-US" sz="1100" dirty="0">
                <a:solidFill>
                  <a:srgbClr val="667089"/>
                </a:solidFill>
                <a:latin typeface="Calibri" pitchFamily="34" charset="0"/>
                <a:ea typeface="Calibri" pitchFamily="34" charset="-122"/>
                <a:cs typeface="Calibri" pitchFamily="34" charset="-120"/>
              </a:rPr>
              <a:t> technologies · </a:t>
            </a:r>
            <a:pPr indent="0" marL="0">
              <a:buNone/>
            </a:pPr>
            <a:r>
              <a:rPr lang="en-US" sz="1100" b="1" dirty="0">
                <a:solidFill>
                  <a:srgbClr val="1A2033"/>
                </a:solidFill>
                <a:latin typeface="Calibri" pitchFamily="34" charset="0"/>
                <a:ea typeface="Calibri" pitchFamily="34" charset="-122"/>
                <a:cs typeface="Calibri" pitchFamily="34" charset="-120"/>
              </a:rPr>
              <a:t>17</a:t>
            </a:r>
            <a:pPr indent="0" marL="0">
              <a:buNone/>
            </a:pPr>
            <a:r>
              <a:rPr lang="en-US" sz="1100" dirty="0">
                <a:solidFill>
                  <a:srgbClr val="667089"/>
                </a:solidFill>
                <a:latin typeface="Calibri" pitchFamily="34" charset="0"/>
                <a:ea typeface="Calibri" pitchFamily="34" charset="-122"/>
                <a:cs typeface="Calibri" pitchFamily="34" charset="-120"/>
              </a:rPr>
              <a:t> categories · from traffic, headers and code</a:t>
            </a:r>
            <a:endParaRPr lang="en-US" sz="1100" dirty="0"/>
          </a:p>
        </p:txBody>
      </p:sp>
      <p:sp>
        <p:nvSpPr>
          <p:cNvPr id="48" name="Shape 32"/>
          <p:cNvSpPr/>
          <p:nvPr/>
        </p:nvSpPr>
        <p:spPr>
          <a:xfrm>
            <a:off x="7635240" y="3657600"/>
            <a:ext cx="411480" cy="0"/>
          </a:xfrm>
          <a:prstGeom prst="line">
            <a:avLst/>
          </a:prstGeom>
          <a:noFill/>
          <a:ln w="25400">
            <a:solidFill>
              <a:srgbClr val="4F6BFF"/>
            </a:solidFill>
            <a:prstDash val="dash"/>
            <a:tailEnd type="triangle"/>
          </a:ln>
        </p:spPr>
      </p:sp>
      <p:sp>
        <p:nvSpPr>
          <p:cNvPr id="49" name="Text 33"/>
          <p:cNvSpPr txBox="1"/>
          <p:nvPr/>
        </p:nvSpPr>
        <p:spPr>
          <a:xfrm>
            <a:off x="8229600" y="1783080"/>
            <a:ext cx="3474720" cy="274320"/>
          </a:xfrm>
          <a:prstGeom prst="rect">
            <a:avLst/>
          </a:prstGeom>
          <a:noFill/>
          <a:ln/>
        </p:spPr>
        <p:txBody>
          <a:bodyPr wrap="square" lIns="0" tIns="0" rIns="0" bIns="0" rtlCol="0" anchor="t"/>
          <a:lstStyle/>
          <a:p>
            <a:pPr indent="0" marL="0">
              <a:buNone/>
            </a:pPr>
            <a:r>
              <a:rPr lang="en-US" sz="1100" b="1" spc="200" kern="0" dirty="0">
                <a:solidFill>
                  <a:srgbClr val="667089"/>
                </a:solidFill>
                <a:latin typeface="Calibri" pitchFamily="34" charset="0"/>
                <a:ea typeface="Calibri" pitchFamily="34" charset="-122"/>
                <a:cs typeface="Calibri" pitchFamily="34" charset="-120"/>
              </a:rPr>
              <a:t>WHERE THE CTO CONVERSATION GOES</a:t>
            </a:r>
            <a:endParaRPr lang="en-US" sz="1100" dirty="0"/>
          </a:p>
        </p:txBody>
      </p:sp>
      <p:sp>
        <p:nvSpPr>
          <p:cNvPr id="50" name="Shape 34"/>
          <p:cNvSpPr/>
          <p:nvPr/>
        </p:nvSpPr>
        <p:spPr>
          <a:xfrm>
            <a:off x="8229600" y="2148840"/>
            <a:ext cx="3410712" cy="429768"/>
          </a:xfrm>
          <a:prstGeom prst="rect">
            <a:avLst/>
          </a:prstGeom>
          <a:solidFill>
            <a:srgbClr val="EEF2FF"/>
          </a:solidFill>
          <a:ln w="12700">
            <a:solidFill>
              <a:srgbClr val="EEF2FF"/>
            </a:solidFill>
            <a:prstDash val="solid"/>
          </a:ln>
        </p:spPr>
      </p:sp>
      <p:sp>
        <p:nvSpPr>
          <p:cNvPr id="51" name="Shape 35"/>
          <p:cNvSpPr/>
          <p:nvPr/>
        </p:nvSpPr>
        <p:spPr>
          <a:xfrm>
            <a:off x="8229600" y="2148840"/>
            <a:ext cx="54864" cy="429768"/>
          </a:xfrm>
          <a:prstGeom prst="rect">
            <a:avLst/>
          </a:prstGeom>
          <a:solidFill>
            <a:srgbClr val="4F6BFF"/>
          </a:solidFill>
          <a:ln w="12700">
            <a:solidFill>
              <a:srgbClr val="4F6BFF"/>
            </a:solidFill>
            <a:prstDash val="solid"/>
          </a:ln>
        </p:spPr>
      </p:sp>
      <p:pic>
        <p:nvPicPr>
          <p:cNvPr id="52" name="Image 13" descr="cloud icon">    </p:cNvPr>
          <p:cNvPicPr>
            <a:picLocks noChangeAspect="1"/>
          </p:cNvPicPr>
          <p:nvPr/>
        </p:nvPicPr>
        <p:blipFill>
          <a:blip r:embed="rId14"/>
          <a:stretch>
            <a:fillRect/>
          </a:stretch>
        </p:blipFill>
        <p:spPr>
          <a:xfrm>
            <a:off x="8375904" y="2212848"/>
            <a:ext cx="301752" cy="301752"/>
          </a:xfrm>
          <a:prstGeom prst="rect">
            <a:avLst/>
          </a:prstGeom>
        </p:spPr>
      </p:pic>
      <p:sp>
        <p:nvSpPr>
          <p:cNvPr id="53" name="Text 36"/>
          <p:cNvSpPr txBox="1"/>
          <p:nvPr/>
        </p:nvSpPr>
        <p:spPr>
          <a:xfrm>
            <a:off x="8778240" y="2148840"/>
            <a:ext cx="2788920" cy="429768"/>
          </a:xfrm>
          <a:prstGeom prst="rect">
            <a:avLst/>
          </a:prstGeom>
          <a:noFill/>
          <a:ln/>
        </p:spPr>
        <p:txBody>
          <a:bodyPr wrap="square" lIns="0" tIns="0" rIns="0" bIns="0" rtlCol="0" anchor="ctr"/>
          <a:lstStyle/>
          <a:p>
            <a:pPr indent="0" marL="0">
              <a:buNone/>
            </a:pPr>
            <a:r>
              <a:rPr lang="en-US" sz="1500" b="1" dirty="0">
                <a:solidFill>
                  <a:srgbClr val="1A2033"/>
                </a:solidFill>
                <a:latin typeface="Calibri" pitchFamily="34" charset="0"/>
                <a:ea typeface="Calibri" pitchFamily="34" charset="-122"/>
                <a:cs typeface="Calibri" pitchFamily="34" charset="-120"/>
              </a:rPr>
              <a:t>Cloud infrastructure</a:t>
            </a:r>
            <a:endParaRPr lang="en-US" sz="1500" dirty="0"/>
          </a:p>
        </p:txBody>
      </p:sp>
      <p:sp>
        <p:nvSpPr>
          <p:cNvPr id="54" name="Shape 37"/>
          <p:cNvSpPr/>
          <p:nvPr/>
        </p:nvSpPr>
        <p:spPr>
          <a:xfrm>
            <a:off x="8229600" y="2651760"/>
            <a:ext cx="3410712" cy="429768"/>
          </a:xfrm>
          <a:prstGeom prst="rect">
            <a:avLst/>
          </a:prstGeom>
          <a:solidFill>
            <a:srgbClr val="EEF2FF"/>
          </a:solidFill>
          <a:ln w="12700">
            <a:solidFill>
              <a:srgbClr val="EEF2FF"/>
            </a:solidFill>
            <a:prstDash val="solid"/>
          </a:ln>
        </p:spPr>
      </p:sp>
      <p:sp>
        <p:nvSpPr>
          <p:cNvPr id="55" name="Shape 38"/>
          <p:cNvSpPr/>
          <p:nvPr/>
        </p:nvSpPr>
        <p:spPr>
          <a:xfrm>
            <a:off x="8229600" y="2651760"/>
            <a:ext cx="54864" cy="429768"/>
          </a:xfrm>
          <a:prstGeom prst="rect">
            <a:avLst/>
          </a:prstGeom>
          <a:solidFill>
            <a:srgbClr val="4F6BFF"/>
          </a:solidFill>
          <a:ln w="12700">
            <a:solidFill>
              <a:srgbClr val="4F6BFF"/>
            </a:solidFill>
            <a:prstDash val="solid"/>
          </a:ln>
        </p:spPr>
      </p:sp>
      <p:pic>
        <p:nvPicPr>
          <p:cNvPr id="56" name="Image 14" descr="pipe icon">    </p:cNvPr>
          <p:cNvPicPr>
            <a:picLocks noChangeAspect="1"/>
          </p:cNvPicPr>
          <p:nvPr/>
        </p:nvPicPr>
        <p:blipFill>
          <a:blip r:embed="rId15"/>
          <a:stretch>
            <a:fillRect/>
          </a:stretch>
        </p:blipFill>
        <p:spPr>
          <a:xfrm>
            <a:off x="8375904" y="2715768"/>
            <a:ext cx="301752" cy="301752"/>
          </a:xfrm>
          <a:prstGeom prst="rect">
            <a:avLst/>
          </a:prstGeom>
        </p:spPr>
      </p:pic>
      <p:sp>
        <p:nvSpPr>
          <p:cNvPr id="57" name="Text 39"/>
          <p:cNvSpPr txBox="1"/>
          <p:nvPr/>
        </p:nvSpPr>
        <p:spPr>
          <a:xfrm>
            <a:off x="8778240" y="2651760"/>
            <a:ext cx="2788920" cy="429768"/>
          </a:xfrm>
          <a:prstGeom prst="rect">
            <a:avLst/>
          </a:prstGeom>
          <a:noFill/>
          <a:ln/>
        </p:spPr>
        <p:txBody>
          <a:bodyPr wrap="square" lIns="0" tIns="0" rIns="0" bIns="0" rtlCol="0" anchor="ctr"/>
          <a:lstStyle/>
          <a:p>
            <a:pPr indent="0" marL="0">
              <a:buNone/>
            </a:pPr>
            <a:r>
              <a:rPr lang="en-US" sz="1500" b="1" dirty="0">
                <a:solidFill>
                  <a:srgbClr val="1A2033"/>
                </a:solidFill>
                <a:latin typeface="Calibri" pitchFamily="34" charset="0"/>
                <a:ea typeface="Calibri" pitchFamily="34" charset="-122"/>
                <a:cs typeface="Calibri" pitchFamily="34" charset="-120"/>
              </a:rPr>
              <a:t>Data pipelines</a:t>
            </a:r>
            <a:endParaRPr lang="en-US" sz="1500" dirty="0"/>
          </a:p>
        </p:txBody>
      </p:sp>
      <p:sp>
        <p:nvSpPr>
          <p:cNvPr id="58" name="Shape 40"/>
          <p:cNvSpPr/>
          <p:nvPr/>
        </p:nvSpPr>
        <p:spPr>
          <a:xfrm>
            <a:off x="8229600" y="3154680"/>
            <a:ext cx="3410712" cy="429768"/>
          </a:xfrm>
          <a:prstGeom prst="rect">
            <a:avLst/>
          </a:prstGeom>
          <a:solidFill>
            <a:srgbClr val="EEF2FF"/>
          </a:solidFill>
          <a:ln w="12700">
            <a:solidFill>
              <a:srgbClr val="EEF2FF"/>
            </a:solidFill>
            <a:prstDash val="solid"/>
          </a:ln>
        </p:spPr>
      </p:sp>
      <p:sp>
        <p:nvSpPr>
          <p:cNvPr id="59" name="Shape 41"/>
          <p:cNvSpPr/>
          <p:nvPr/>
        </p:nvSpPr>
        <p:spPr>
          <a:xfrm>
            <a:off x="8229600" y="3154680"/>
            <a:ext cx="54864" cy="429768"/>
          </a:xfrm>
          <a:prstGeom prst="rect">
            <a:avLst/>
          </a:prstGeom>
          <a:solidFill>
            <a:srgbClr val="4F6BFF"/>
          </a:solidFill>
          <a:ln w="12700">
            <a:solidFill>
              <a:srgbClr val="4F6BFF"/>
            </a:solidFill>
            <a:prstDash val="solid"/>
          </a:ln>
        </p:spPr>
      </p:sp>
      <p:pic>
        <p:nvPicPr>
          <p:cNvPr id="60" name="Image 15" descr="truck icon">    </p:cNvPr>
          <p:cNvPicPr>
            <a:picLocks noChangeAspect="1"/>
          </p:cNvPicPr>
          <p:nvPr/>
        </p:nvPicPr>
        <p:blipFill>
          <a:blip r:embed="rId16"/>
          <a:stretch>
            <a:fillRect/>
          </a:stretch>
        </p:blipFill>
        <p:spPr>
          <a:xfrm>
            <a:off x="8375904" y="3218688"/>
            <a:ext cx="301752" cy="301752"/>
          </a:xfrm>
          <a:prstGeom prst="rect">
            <a:avLst/>
          </a:prstGeom>
        </p:spPr>
      </p:pic>
      <p:sp>
        <p:nvSpPr>
          <p:cNvPr id="61" name="Text 42"/>
          <p:cNvSpPr txBox="1"/>
          <p:nvPr/>
        </p:nvSpPr>
        <p:spPr>
          <a:xfrm>
            <a:off x="8778240" y="3154680"/>
            <a:ext cx="2788920" cy="429768"/>
          </a:xfrm>
          <a:prstGeom prst="rect">
            <a:avLst/>
          </a:prstGeom>
          <a:noFill/>
          <a:ln/>
        </p:spPr>
        <p:txBody>
          <a:bodyPr wrap="square" lIns="0" tIns="0" rIns="0" bIns="0" rtlCol="0" anchor="ctr"/>
          <a:lstStyle/>
          <a:p>
            <a:pPr indent="0" marL="0">
              <a:buNone/>
            </a:pPr>
            <a:r>
              <a:rPr lang="en-US" sz="1500" b="1" dirty="0">
                <a:solidFill>
                  <a:srgbClr val="1A2033"/>
                </a:solidFill>
                <a:latin typeface="Calibri" pitchFamily="34" charset="0"/>
                <a:ea typeface="Calibri" pitchFamily="34" charset="-122"/>
                <a:cs typeface="Calibri" pitchFamily="34" charset="-120"/>
              </a:rPr>
              <a:t>Logistics systems</a:t>
            </a:r>
            <a:endParaRPr lang="en-US" sz="1500" dirty="0"/>
          </a:p>
        </p:txBody>
      </p:sp>
      <p:sp>
        <p:nvSpPr>
          <p:cNvPr id="62" name="Shape 43"/>
          <p:cNvSpPr/>
          <p:nvPr/>
        </p:nvSpPr>
        <p:spPr>
          <a:xfrm>
            <a:off x="8229600" y="3657600"/>
            <a:ext cx="3410712" cy="429768"/>
          </a:xfrm>
          <a:prstGeom prst="rect">
            <a:avLst/>
          </a:prstGeom>
          <a:solidFill>
            <a:srgbClr val="EEF2FF"/>
          </a:solidFill>
          <a:ln w="12700">
            <a:solidFill>
              <a:srgbClr val="EEF2FF"/>
            </a:solidFill>
            <a:prstDash val="solid"/>
          </a:ln>
        </p:spPr>
      </p:sp>
      <p:sp>
        <p:nvSpPr>
          <p:cNvPr id="63" name="Shape 44"/>
          <p:cNvSpPr/>
          <p:nvPr/>
        </p:nvSpPr>
        <p:spPr>
          <a:xfrm>
            <a:off x="8229600" y="3657600"/>
            <a:ext cx="54864" cy="429768"/>
          </a:xfrm>
          <a:prstGeom prst="rect">
            <a:avLst/>
          </a:prstGeom>
          <a:solidFill>
            <a:srgbClr val="4F6BFF"/>
          </a:solidFill>
          <a:ln w="12700">
            <a:solidFill>
              <a:srgbClr val="4F6BFF"/>
            </a:solidFill>
            <a:prstDash val="solid"/>
          </a:ln>
        </p:spPr>
      </p:sp>
      <p:pic>
        <p:nvPicPr>
          <p:cNvPr id="64" name="Image 16" descr="link icon">    </p:cNvPr>
          <p:cNvPicPr>
            <a:picLocks noChangeAspect="1"/>
          </p:cNvPicPr>
          <p:nvPr/>
        </p:nvPicPr>
        <p:blipFill>
          <a:blip r:embed="rId17"/>
          <a:stretch>
            <a:fillRect/>
          </a:stretch>
        </p:blipFill>
        <p:spPr>
          <a:xfrm>
            <a:off x="8375904" y="3721608"/>
            <a:ext cx="301752" cy="301752"/>
          </a:xfrm>
          <a:prstGeom prst="rect">
            <a:avLst/>
          </a:prstGeom>
        </p:spPr>
      </p:pic>
      <p:sp>
        <p:nvSpPr>
          <p:cNvPr id="65" name="Text 45"/>
          <p:cNvSpPr txBox="1"/>
          <p:nvPr/>
        </p:nvSpPr>
        <p:spPr>
          <a:xfrm>
            <a:off x="8778240" y="3657600"/>
            <a:ext cx="2788920" cy="429768"/>
          </a:xfrm>
          <a:prstGeom prst="rect">
            <a:avLst/>
          </a:prstGeom>
          <a:noFill/>
          <a:ln/>
        </p:spPr>
        <p:txBody>
          <a:bodyPr wrap="square" lIns="0" tIns="0" rIns="0" bIns="0" rtlCol="0" anchor="ctr"/>
          <a:lstStyle/>
          <a:p>
            <a:pPr indent="0" marL="0">
              <a:buNone/>
            </a:pPr>
            <a:r>
              <a:rPr lang="en-US" sz="1500" b="1" dirty="0">
                <a:solidFill>
                  <a:srgbClr val="1A2033"/>
                </a:solidFill>
                <a:latin typeface="Calibri" pitchFamily="34" charset="0"/>
                <a:ea typeface="Calibri" pitchFamily="34" charset="-122"/>
                <a:cs typeface="Calibri" pitchFamily="34" charset="-120"/>
              </a:rPr>
              <a:t>ERP &amp; CRM integration</a:t>
            </a:r>
            <a:endParaRPr lang="en-US" sz="1500" dirty="0"/>
          </a:p>
        </p:txBody>
      </p:sp>
      <p:sp>
        <p:nvSpPr>
          <p:cNvPr id="66" name="Shape 46"/>
          <p:cNvSpPr/>
          <p:nvPr/>
        </p:nvSpPr>
        <p:spPr>
          <a:xfrm>
            <a:off x="8229600" y="4160520"/>
            <a:ext cx="3410712" cy="429768"/>
          </a:xfrm>
          <a:prstGeom prst="rect">
            <a:avLst/>
          </a:prstGeom>
          <a:solidFill>
            <a:srgbClr val="EEF2FF"/>
          </a:solidFill>
          <a:ln w="12700">
            <a:solidFill>
              <a:srgbClr val="EEF2FF"/>
            </a:solidFill>
            <a:prstDash val="solid"/>
          </a:ln>
        </p:spPr>
      </p:sp>
      <p:sp>
        <p:nvSpPr>
          <p:cNvPr id="67" name="Shape 47"/>
          <p:cNvSpPr/>
          <p:nvPr/>
        </p:nvSpPr>
        <p:spPr>
          <a:xfrm>
            <a:off x="8229600" y="4160520"/>
            <a:ext cx="54864" cy="429768"/>
          </a:xfrm>
          <a:prstGeom prst="rect">
            <a:avLst/>
          </a:prstGeom>
          <a:solidFill>
            <a:srgbClr val="4F6BFF"/>
          </a:solidFill>
          <a:ln w="12700">
            <a:solidFill>
              <a:srgbClr val="4F6BFF"/>
            </a:solidFill>
            <a:prstDash val="solid"/>
          </a:ln>
        </p:spPr>
      </p:sp>
      <p:pic>
        <p:nvPicPr>
          <p:cNvPr id="68" name="Image 17" descr="tools icon">    </p:cNvPr>
          <p:cNvPicPr>
            <a:picLocks noChangeAspect="1"/>
          </p:cNvPicPr>
          <p:nvPr/>
        </p:nvPicPr>
        <p:blipFill>
          <a:blip r:embed="rId18"/>
          <a:stretch>
            <a:fillRect/>
          </a:stretch>
        </p:blipFill>
        <p:spPr>
          <a:xfrm>
            <a:off x="8375904" y="4224528"/>
            <a:ext cx="301752" cy="301752"/>
          </a:xfrm>
          <a:prstGeom prst="rect">
            <a:avLst/>
          </a:prstGeom>
        </p:spPr>
      </p:pic>
      <p:sp>
        <p:nvSpPr>
          <p:cNvPr id="69" name="Text 48"/>
          <p:cNvSpPr txBox="1"/>
          <p:nvPr/>
        </p:nvSpPr>
        <p:spPr>
          <a:xfrm>
            <a:off x="8778240" y="4160520"/>
            <a:ext cx="2788920" cy="429768"/>
          </a:xfrm>
          <a:prstGeom prst="rect">
            <a:avLst/>
          </a:prstGeom>
          <a:noFill/>
          <a:ln/>
        </p:spPr>
        <p:txBody>
          <a:bodyPr wrap="square" lIns="0" tIns="0" rIns="0" bIns="0" rtlCol="0" anchor="ctr"/>
          <a:lstStyle/>
          <a:p>
            <a:pPr indent="0" marL="0">
              <a:buNone/>
            </a:pPr>
            <a:r>
              <a:rPr lang="en-US" sz="1500" b="1" dirty="0">
                <a:solidFill>
                  <a:srgbClr val="1A2033"/>
                </a:solidFill>
                <a:latin typeface="Calibri" pitchFamily="34" charset="0"/>
                <a:ea typeface="Calibri" pitchFamily="34" charset="-122"/>
                <a:cs typeface="Calibri" pitchFamily="34" charset="-120"/>
              </a:rPr>
              <a:t>DevOps &amp; SRE</a:t>
            </a:r>
            <a:endParaRPr lang="en-US" sz="1500" dirty="0"/>
          </a:p>
        </p:txBody>
      </p:sp>
      <p:sp>
        <p:nvSpPr>
          <p:cNvPr id="70" name="Shape 49"/>
          <p:cNvSpPr/>
          <p:nvPr/>
        </p:nvSpPr>
        <p:spPr>
          <a:xfrm>
            <a:off x="8229600" y="4663440"/>
            <a:ext cx="3410712" cy="429768"/>
          </a:xfrm>
          <a:prstGeom prst="rect">
            <a:avLst/>
          </a:prstGeom>
          <a:solidFill>
            <a:srgbClr val="EEF2FF"/>
          </a:solidFill>
          <a:ln w="12700">
            <a:solidFill>
              <a:srgbClr val="EEF2FF"/>
            </a:solidFill>
            <a:prstDash val="solid"/>
          </a:ln>
        </p:spPr>
      </p:sp>
      <p:sp>
        <p:nvSpPr>
          <p:cNvPr id="71" name="Shape 50"/>
          <p:cNvSpPr/>
          <p:nvPr/>
        </p:nvSpPr>
        <p:spPr>
          <a:xfrm>
            <a:off x="8229600" y="4663440"/>
            <a:ext cx="54864" cy="429768"/>
          </a:xfrm>
          <a:prstGeom prst="rect">
            <a:avLst/>
          </a:prstGeom>
          <a:solidFill>
            <a:srgbClr val="4F6BFF"/>
          </a:solidFill>
          <a:ln w="12700">
            <a:solidFill>
              <a:srgbClr val="4F6BFF"/>
            </a:solidFill>
            <a:prstDash val="solid"/>
          </a:ln>
        </p:spPr>
      </p:sp>
      <p:pic>
        <p:nvPicPr>
          <p:cNvPr id="72" name="Image 18" descr="robot icon">    </p:cNvPr>
          <p:cNvPicPr>
            <a:picLocks noChangeAspect="1"/>
          </p:cNvPicPr>
          <p:nvPr/>
        </p:nvPicPr>
        <p:blipFill>
          <a:blip r:embed="rId19"/>
          <a:stretch>
            <a:fillRect/>
          </a:stretch>
        </p:blipFill>
        <p:spPr>
          <a:xfrm>
            <a:off x="8375904" y="4727448"/>
            <a:ext cx="301752" cy="301752"/>
          </a:xfrm>
          <a:prstGeom prst="rect">
            <a:avLst/>
          </a:prstGeom>
        </p:spPr>
      </p:pic>
      <p:sp>
        <p:nvSpPr>
          <p:cNvPr id="73" name="Text 51"/>
          <p:cNvSpPr txBox="1"/>
          <p:nvPr/>
        </p:nvSpPr>
        <p:spPr>
          <a:xfrm>
            <a:off x="8778240" y="4663440"/>
            <a:ext cx="2788920" cy="429768"/>
          </a:xfrm>
          <a:prstGeom prst="rect">
            <a:avLst/>
          </a:prstGeom>
          <a:noFill/>
          <a:ln/>
        </p:spPr>
        <p:txBody>
          <a:bodyPr wrap="square" lIns="0" tIns="0" rIns="0" bIns="0" rtlCol="0" anchor="ctr"/>
          <a:lstStyle/>
          <a:p>
            <a:pPr indent="0" marL="0">
              <a:buNone/>
            </a:pPr>
            <a:r>
              <a:rPr lang="en-US" sz="1500" b="1" dirty="0">
                <a:solidFill>
                  <a:srgbClr val="1A2033"/>
                </a:solidFill>
                <a:latin typeface="Calibri" pitchFamily="34" charset="0"/>
                <a:ea typeface="Calibri" pitchFamily="34" charset="-122"/>
                <a:cs typeface="Calibri" pitchFamily="34" charset="-120"/>
              </a:rPr>
              <a:t>AI &amp; data platforms</a:t>
            </a:r>
            <a:endParaRPr lang="en-US" sz="1500" dirty="0"/>
          </a:p>
        </p:txBody>
      </p:sp>
      <p:sp>
        <p:nvSpPr>
          <p:cNvPr id="74" name="Shape 52"/>
          <p:cNvSpPr/>
          <p:nvPr/>
        </p:nvSpPr>
        <p:spPr>
          <a:xfrm>
            <a:off x="8229600" y="5166360"/>
            <a:ext cx="3410712" cy="429768"/>
          </a:xfrm>
          <a:prstGeom prst="rect">
            <a:avLst/>
          </a:prstGeom>
          <a:solidFill>
            <a:srgbClr val="EEF2FF"/>
          </a:solidFill>
          <a:ln w="12700">
            <a:solidFill>
              <a:srgbClr val="EEF2FF"/>
            </a:solidFill>
            <a:prstDash val="solid"/>
          </a:ln>
        </p:spPr>
      </p:sp>
      <p:sp>
        <p:nvSpPr>
          <p:cNvPr id="75" name="Shape 53"/>
          <p:cNvSpPr/>
          <p:nvPr/>
        </p:nvSpPr>
        <p:spPr>
          <a:xfrm>
            <a:off x="8229600" y="5166360"/>
            <a:ext cx="54864" cy="429768"/>
          </a:xfrm>
          <a:prstGeom prst="rect">
            <a:avLst/>
          </a:prstGeom>
          <a:solidFill>
            <a:srgbClr val="4F6BFF"/>
          </a:solidFill>
          <a:ln w="12700">
            <a:solidFill>
              <a:srgbClr val="4F6BFF"/>
            </a:solidFill>
            <a:prstDash val="solid"/>
          </a:ln>
        </p:spPr>
      </p:sp>
      <p:pic>
        <p:nvPicPr>
          <p:cNvPr id="76" name="Image 19" descr="lock icon">    </p:cNvPr>
          <p:cNvPicPr>
            <a:picLocks noChangeAspect="1"/>
          </p:cNvPicPr>
          <p:nvPr/>
        </p:nvPicPr>
        <p:blipFill>
          <a:blip r:embed="rId20"/>
          <a:stretch>
            <a:fillRect/>
          </a:stretch>
        </p:blipFill>
        <p:spPr>
          <a:xfrm>
            <a:off x="8375904" y="5230368"/>
            <a:ext cx="301752" cy="301752"/>
          </a:xfrm>
          <a:prstGeom prst="rect">
            <a:avLst/>
          </a:prstGeom>
        </p:spPr>
      </p:pic>
      <p:sp>
        <p:nvSpPr>
          <p:cNvPr id="77" name="Text 54"/>
          <p:cNvSpPr txBox="1"/>
          <p:nvPr/>
        </p:nvSpPr>
        <p:spPr>
          <a:xfrm>
            <a:off x="8778240" y="5166360"/>
            <a:ext cx="2788920" cy="429768"/>
          </a:xfrm>
          <a:prstGeom prst="rect">
            <a:avLst/>
          </a:prstGeom>
          <a:noFill/>
          <a:ln/>
        </p:spPr>
        <p:txBody>
          <a:bodyPr wrap="square" lIns="0" tIns="0" rIns="0" bIns="0" rtlCol="0" anchor="ctr"/>
          <a:lstStyle/>
          <a:p>
            <a:pPr indent="0" marL="0">
              <a:buNone/>
            </a:pPr>
            <a:r>
              <a:rPr lang="en-US" sz="1500" b="1" dirty="0">
                <a:solidFill>
                  <a:srgbClr val="1A2033"/>
                </a:solidFill>
                <a:latin typeface="Calibri" pitchFamily="34" charset="0"/>
                <a:ea typeface="Calibri" pitchFamily="34" charset="-122"/>
                <a:cs typeface="Calibri" pitchFamily="34" charset="-120"/>
              </a:rPr>
              <a:t>Cybersecurity</a:t>
            </a:r>
            <a:endParaRPr lang="en-US" sz="1500" dirty="0"/>
          </a:p>
        </p:txBody>
      </p:sp>
      <p:sp>
        <p:nvSpPr>
          <p:cNvPr id="78" name="Shape 55"/>
          <p:cNvSpPr/>
          <p:nvPr/>
        </p:nvSpPr>
        <p:spPr>
          <a:xfrm>
            <a:off x="8229600" y="5669280"/>
            <a:ext cx="3410712" cy="429768"/>
          </a:xfrm>
          <a:prstGeom prst="rect">
            <a:avLst/>
          </a:prstGeom>
          <a:solidFill>
            <a:srgbClr val="EEF2FF"/>
          </a:solidFill>
          <a:ln w="12700">
            <a:solidFill>
              <a:srgbClr val="EEF2FF"/>
            </a:solidFill>
            <a:prstDash val="solid"/>
          </a:ln>
        </p:spPr>
      </p:sp>
      <p:sp>
        <p:nvSpPr>
          <p:cNvPr id="79" name="Shape 56"/>
          <p:cNvSpPr/>
          <p:nvPr/>
        </p:nvSpPr>
        <p:spPr>
          <a:xfrm>
            <a:off x="8229600" y="5669280"/>
            <a:ext cx="54864" cy="429768"/>
          </a:xfrm>
          <a:prstGeom prst="rect">
            <a:avLst/>
          </a:prstGeom>
          <a:solidFill>
            <a:srgbClr val="4F6BFF"/>
          </a:solidFill>
          <a:ln w="12700">
            <a:solidFill>
              <a:srgbClr val="4F6BFF"/>
            </a:solidFill>
            <a:prstDash val="solid"/>
          </a:ln>
        </p:spPr>
      </p:sp>
      <p:pic>
        <p:nvPicPr>
          <p:cNvPr id="80" name="Image 20" descr="build icon">    </p:cNvPr>
          <p:cNvPicPr>
            <a:picLocks noChangeAspect="1"/>
          </p:cNvPicPr>
          <p:nvPr/>
        </p:nvPicPr>
        <p:blipFill>
          <a:blip r:embed="rId21"/>
          <a:stretch>
            <a:fillRect/>
          </a:stretch>
        </p:blipFill>
        <p:spPr>
          <a:xfrm>
            <a:off x="8375904" y="5733288"/>
            <a:ext cx="301752" cy="301752"/>
          </a:xfrm>
          <a:prstGeom prst="rect">
            <a:avLst/>
          </a:prstGeom>
        </p:spPr>
      </p:pic>
      <p:sp>
        <p:nvSpPr>
          <p:cNvPr id="81" name="Text 57"/>
          <p:cNvSpPr txBox="1"/>
          <p:nvPr/>
        </p:nvSpPr>
        <p:spPr>
          <a:xfrm>
            <a:off x="8778240" y="5669280"/>
            <a:ext cx="2788920" cy="429768"/>
          </a:xfrm>
          <a:prstGeom prst="rect">
            <a:avLst/>
          </a:prstGeom>
          <a:noFill/>
          <a:ln/>
        </p:spPr>
        <p:txBody>
          <a:bodyPr wrap="square" lIns="0" tIns="0" rIns="0" bIns="0" rtlCol="0" anchor="ctr"/>
          <a:lstStyle/>
          <a:p>
            <a:pPr indent="0" marL="0">
              <a:buNone/>
            </a:pPr>
            <a:r>
              <a:rPr lang="en-US" sz="1500" b="1" dirty="0">
                <a:solidFill>
                  <a:srgbClr val="1A2033"/>
                </a:solidFill>
                <a:latin typeface="Calibri" pitchFamily="34" charset="0"/>
                <a:ea typeface="Calibri" pitchFamily="34" charset="-122"/>
                <a:cs typeface="Calibri" pitchFamily="34" charset="-120"/>
              </a:rPr>
              <a:t>Modernisation</a:t>
            </a:r>
            <a:endParaRPr lang="en-US" sz="15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THEIR TECHNOLOGY · REAL ALLBIRDS RUN</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We read their network traffic like a flight recorder</a:t>
            </a:r>
            <a:endParaRPr lang="en-US" sz="3400" dirty="0"/>
          </a:p>
        </p:txBody>
      </p:sp>
      <p:sp>
        <p:nvSpPr>
          <p:cNvPr id="5" name="Shape 2"/>
          <p:cNvSpPr/>
          <p:nvPr/>
        </p:nvSpPr>
        <p:spPr>
          <a:xfrm>
            <a:off x="548640" y="1783080"/>
            <a:ext cx="2602154"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Text 3"/>
          <p:cNvSpPr txBox="1"/>
          <p:nvPr/>
        </p:nvSpPr>
        <p:spPr>
          <a:xfrm>
            <a:off x="777240" y="1920240"/>
            <a:ext cx="2144954" cy="653796"/>
          </a:xfrm>
          <a:prstGeom prst="rect">
            <a:avLst/>
          </a:prstGeom>
          <a:noFill/>
          <a:ln/>
        </p:spPr>
        <p:txBody>
          <a:bodyPr wrap="square" lIns="0" tIns="0" rIns="0" bIns="0" rtlCol="0" anchor="ctr"/>
          <a:lstStyle/>
          <a:p>
            <a:pPr indent="0" marL="0">
              <a:buNone/>
            </a:pPr>
            <a:r>
              <a:rPr lang="en-US" sz="3600" b="1" dirty="0">
                <a:solidFill>
                  <a:srgbClr val="1A2033"/>
                </a:solidFill>
                <a:latin typeface="Calibri" pitchFamily="34" charset="0"/>
                <a:ea typeface="Calibri" pitchFamily="34" charset="-122"/>
                <a:cs typeface="Calibri" pitchFamily="34" charset="-120"/>
              </a:rPr>
              <a:t>389</a:t>
            </a:r>
            <a:endParaRPr lang="en-US" sz="3600" dirty="0"/>
          </a:p>
        </p:txBody>
      </p:sp>
      <p:sp>
        <p:nvSpPr>
          <p:cNvPr id="7" name="Text 4"/>
          <p:cNvSpPr txBox="1"/>
          <p:nvPr/>
        </p:nvSpPr>
        <p:spPr>
          <a:xfrm>
            <a:off x="777240" y="2520086"/>
            <a:ext cx="2144954" cy="39227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requests</a:t>
            </a:r>
            <a:endParaRPr lang="en-US" sz="1300" dirty="0"/>
          </a:p>
        </p:txBody>
      </p:sp>
      <p:sp>
        <p:nvSpPr>
          <p:cNvPr id="8" name="Shape 5"/>
          <p:cNvSpPr/>
          <p:nvPr/>
        </p:nvSpPr>
        <p:spPr>
          <a:xfrm>
            <a:off x="3379394" y="1783080"/>
            <a:ext cx="2602154"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9" name="Text 6"/>
          <p:cNvSpPr txBox="1"/>
          <p:nvPr/>
        </p:nvSpPr>
        <p:spPr>
          <a:xfrm>
            <a:off x="3607994" y="1920240"/>
            <a:ext cx="2144954" cy="653796"/>
          </a:xfrm>
          <a:prstGeom prst="rect">
            <a:avLst/>
          </a:prstGeom>
          <a:noFill/>
          <a:ln/>
        </p:spPr>
        <p:txBody>
          <a:bodyPr wrap="square" lIns="0" tIns="0" rIns="0" bIns="0" rtlCol="0" anchor="ctr"/>
          <a:lstStyle/>
          <a:p>
            <a:pPr indent="0" marL="0">
              <a:buNone/>
            </a:pPr>
            <a:r>
              <a:rPr lang="en-US" sz="3600" b="1" dirty="0">
                <a:solidFill>
                  <a:srgbClr val="1A2033"/>
                </a:solidFill>
                <a:latin typeface="Calibri" pitchFamily="34" charset="0"/>
                <a:ea typeface="Calibri" pitchFamily="34" charset="-122"/>
                <a:cs typeface="Calibri" pitchFamily="34" charset="-120"/>
              </a:rPr>
              <a:t>9</a:t>
            </a:r>
            <a:endParaRPr lang="en-US" sz="3600" dirty="0"/>
          </a:p>
        </p:txBody>
      </p:sp>
      <p:sp>
        <p:nvSpPr>
          <p:cNvPr id="10" name="Text 7"/>
          <p:cNvSpPr txBox="1"/>
          <p:nvPr/>
        </p:nvSpPr>
        <p:spPr>
          <a:xfrm>
            <a:off x="3607994" y="2520086"/>
            <a:ext cx="2144954" cy="39227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technologies</a:t>
            </a:r>
            <a:endParaRPr lang="en-US" sz="1300" dirty="0"/>
          </a:p>
        </p:txBody>
      </p:sp>
      <p:sp>
        <p:nvSpPr>
          <p:cNvPr id="11" name="Shape 8"/>
          <p:cNvSpPr/>
          <p:nvPr/>
        </p:nvSpPr>
        <p:spPr>
          <a:xfrm>
            <a:off x="6210148" y="1783080"/>
            <a:ext cx="2602154"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2" name="Text 9"/>
          <p:cNvSpPr txBox="1"/>
          <p:nvPr/>
        </p:nvSpPr>
        <p:spPr>
          <a:xfrm>
            <a:off x="6438748" y="1920240"/>
            <a:ext cx="2144954" cy="653796"/>
          </a:xfrm>
          <a:prstGeom prst="rect">
            <a:avLst/>
          </a:prstGeom>
          <a:noFill/>
          <a:ln/>
        </p:spPr>
        <p:txBody>
          <a:bodyPr wrap="square" lIns="0" tIns="0" rIns="0" bIns="0" rtlCol="0" anchor="ctr"/>
          <a:lstStyle/>
          <a:p>
            <a:pPr indent="0" marL="0">
              <a:buNone/>
            </a:pPr>
            <a:r>
              <a:rPr lang="en-US" sz="3600" b="1" dirty="0">
                <a:solidFill>
                  <a:srgbClr val="1A2033"/>
                </a:solidFill>
                <a:latin typeface="Calibri" pitchFamily="34" charset="0"/>
                <a:ea typeface="Calibri" pitchFamily="34" charset="-122"/>
                <a:cs typeface="Calibri" pitchFamily="34" charset="-120"/>
              </a:rPr>
              <a:t>5</a:t>
            </a:r>
            <a:endParaRPr lang="en-US" sz="3600" dirty="0"/>
          </a:p>
        </p:txBody>
      </p:sp>
      <p:sp>
        <p:nvSpPr>
          <p:cNvPr id="13" name="Text 10"/>
          <p:cNvSpPr txBox="1"/>
          <p:nvPr/>
        </p:nvSpPr>
        <p:spPr>
          <a:xfrm>
            <a:off x="6438748" y="2520086"/>
            <a:ext cx="2144954" cy="39227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tools get customer data</a:t>
            </a:r>
            <a:endParaRPr lang="en-US" sz="1300" dirty="0"/>
          </a:p>
        </p:txBody>
      </p:sp>
      <p:sp>
        <p:nvSpPr>
          <p:cNvPr id="14" name="Shape 11"/>
          <p:cNvSpPr/>
          <p:nvPr/>
        </p:nvSpPr>
        <p:spPr>
          <a:xfrm>
            <a:off x="9040901" y="1783080"/>
            <a:ext cx="2602154"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5" name="Text 12"/>
          <p:cNvSpPr txBox="1"/>
          <p:nvPr/>
        </p:nvSpPr>
        <p:spPr>
          <a:xfrm>
            <a:off x="9269501" y="1920240"/>
            <a:ext cx="2144954" cy="653796"/>
          </a:xfrm>
          <a:prstGeom prst="rect">
            <a:avLst/>
          </a:prstGeom>
          <a:noFill/>
          <a:ln/>
        </p:spPr>
        <p:txBody>
          <a:bodyPr wrap="square" lIns="0" tIns="0" rIns="0" bIns="0" rtlCol="0" anchor="ctr"/>
          <a:lstStyle/>
          <a:p>
            <a:pPr indent="0" marL="0">
              <a:buNone/>
            </a:pPr>
            <a:r>
              <a:rPr lang="en-US" sz="3600" b="1" dirty="0">
                <a:solidFill>
                  <a:srgbClr val="1A2033"/>
                </a:solidFill>
                <a:latin typeface="Calibri" pitchFamily="34" charset="0"/>
                <a:ea typeface="Calibri" pitchFamily="34" charset="-122"/>
                <a:cs typeface="Calibri" pitchFamily="34" charset="-120"/>
              </a:rPr>
              <a:t>25</a:t>
            </a:r>
            <a:endParaRPr lang="en-US" sz="3600" dirty="0"/>
          </a:p>
        </p:txBody>
      </p:sp>
      <p:sp>
        <p:nvSpPr>
          <p:cNvPr id="16" name="Text 13"/>
          <p:cNvSpPr txBox="1"/>
          <p:nvPr/>
        </p:nvSpPr>
        <p:spPr>
          <a:xfrm>
            <a:off x="9269501" y="2520086"/>
            <a:ext cx="2144954" cy="39227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domains</a:t>
            </a:r>
            <a:endParaRPr lang="en-US" sz="1300" dirty="0"/>
          </a:p>
        </p:txBody>
      </p:sp>
      <p:sp>
        <p:nvSpPr>
          <p:cNvPr id="17" name="Shape 14"/>
          <p:cNvSpPr/>
          <p:nvPr/>
        </p:nvSpPr>
        <p:spPr>
          <a:xfrm>
            <a:off x="548640" y="3291840"/>
            <a:ext cx="912571" cy="365760"/>
          </a:xfrm>
          <a:prstGeom prst="roundRect">
            <a:avLst>
              <a:gd name="adj" fmla="val 50000"/>
            </a:avLst>
          </a:prstGeom>
          <a:solidFill>
            <a:srgbClr val="FFFFFF"/>
          </a:solidFill>
          <a:ln w="22225">
            <a:solidFill>
              <a:srgbClr val="B7791F"/>
            </a:solidFill>
            <a:prstDash val="solid"/>
          </a:ln>
        </p:spPr>
      </p:sp>
      <p:sp>
        <p:nvSpPr>
          <p:cNvPr id="18" name="Text 15"/>
          <p:cNvSpPr txBox="1"/>
          <p:nvPr/>
        </p:nvSpPr>
        <p:spPr>
          <a:xfrm>
            <a:off x="548640" y="3291840"/>
            <a:ext cx="912571" cy="365760"/>
          </a:xfrm>
          <a:prstGeom prst="rect">
            <a:avLst/>
          </a:prstGeom>
          <a:noFill/>
          <a:ln/>
        </p:spPr>
        <p:txBody>
          <a:bodyPr wrap="square" lIns="0" tIns="0" rIns="0" bIns="0" rtlCol="0" anchor="ctr"/>
          <a:lstStyle/>
          <a:p>
            <a:pPr algn="ctr" indent="0" marL="0">
              <a:buNone/>
            </a:pPr>
            <a:r>
              <a:rPr lang="en-US" sz="1500" b="1" dirty="0">
                <a:solidFill>
                  <a:srgbClr val="1A2033"/>
                </a:solidFill>
                <a:latin typeface="Calibri" pitchFamily="34" charset="0"/>
                <a:ea typeface="Calibri" pitchFamily="34" charset="-122"/>
                <a:cs typeface="Calibri" pitchFamily="34" charset="-120"/>
              </a:rPr>
              <a:t>Vue.js</a:t>
            </a:r>
            <a:endParaRPr lang="en-US" sz="1500" dirty="0"/>
          </a:p>
        </p:txBody>
      </p:sp>
      <p:sp>
        <p:nvSpPr>
          <p:cNvPr id="19" name="Shape 16"/>
          <p:cNvSpPr/>
          <p:nvPr/>
        </p:nvSpPr>
        <p:spPr>
          <a:xfrm>
            <a:off x="1570939" y="3291840"/>
            <a:ext cx="1011326" cy="365760"/>
          </a:xfrm>
          <a:prstGeom prst="roundRect">
            <a:avLst>
              <a:gd name="adj" fmla="val 50000"/>
            </a:avLst>
          </a:prstGeom>
          <a:solidFill>
            <a:srgbClr val="FFFFFF"/>
          </a:solidFill>
          <a:ln w="12700">
            <a:solidFill>
              <a:srgbClr val="DFE3EE"/>
            </a:solidFill>
            <a:prstDash val="solid"/>
          </a:ln>
        </p:spPr>
      </p:sp>
      <p:sp>
        <p:nvSpPr>
          <p:cNvPr id="20" name="Text 17"/>
          <p:cNvSpPr txBox="1"/>
          <p:nvPr/>
        </p:nvSpPr>
        <p:spPr>
          <a:xfrm>
            <a:off x="1570939" y="3291840"/>
            <a:ext cx="1011326" cy="365760"/>
          </a:xfrm>
          <a:prstGeom prst="rect">
            <a:avLst/>
          </a:prstGeom>
          <a:noFill/>
          <a:ln/>
        </p:spPr>
        <p:txBody>
          <a:bodyPr wrap="square" lIns="0" tIns="0" rIns="0" bIns="0" rtlCol="0" anchor="ctr"/>
          <a:lstStyle/>
          <a:p>
            <a:pPr algn="ctr" indent="0" marL="0">
              <a:buNone/>
            </a:pPr>
            <a:r>
              <a:rPr lang="en-US" sz="1500" b="1" dirty="0">
                <a:solidFill>
                  <a:srgbClr val="1A2033"/>
                </a:solidFill>
                <a:latin typeface="Calibri" pitchFamily="34" charset="0"/>
                <a:ea typeface="Calibri" pitchFamily="34" charset="-122"/>
                <a:cs typeface="Calibri" pitchFamily="34" charset="-120"/>
              </a:rPr>
              <a:t>Shopify</a:t>
            </a:r>
            <a:endParaRPr lang="en-US" sz="1500" dirty="0"/>
          </a:p>
        </p:txBody>
      </p:sp>
      <p:sp>
        <p:nvSpPr>
          <p:cNvPr id="21" name="Shape 18"/>
          <p:cNvSpPr/>
          <p:nvPr/>
        </p:nvSpPr>
        <p:spPr>
          <a:xfrm>
            <a:off x="2691994" y="3291840"/>
            <a:ext cx="2097634" cy="365760"/>
          </a:xfrm>
          <a:prstGeom prst="roundRect">
            <a:avLst>
              <a:gd name="adj" fmla="val 50000"/>
            </a:avLst>
          </a:prstGeom>
          <a:solidFill>
            <a:srgbClr val="FFFFFF"/>
          </a:solidFill>
          <a:ln w="22225">
            <a:solidFill>
              <a:srgbClr val="0F9D6B"/>
            </a:solidFill>
            <a:prstDash val="solid"/>
          </a:ln>
        </p:spPr>
      </p:sp>
      <p:sp>
        <p:nvSpPr>
          <p:cNvPr id="22" name="Text 19"/>
          <p:cNvSpPr txBox="1"/>
          <p:nvPr/>
        </p:nvSpPr>
        <p:spPr>
          <a:xfrm>
            <a:off x="2691994" y="3291840"/>
            <a:ext cx="2097634" cy="365760"/>
          </a:xfrm>
          <a:prstGeom prst="rect">
            <a:avLst/>
          </a:prstGeom>
          <a:noFill/>
          <a:ln/>
        </p:spPr>
        <p:txBody>
          <a:bodyPr wrap="square" lIns="0" tIns="0" rIns="0" bIns="0" rtlCol="0" anchor="ctr"/>
          <a:lstStyle/>
          <a:p>
            <a:pPr algn="ctr" indent="0" marL="0">
              <a:buNone/>
            </a:pPr>
            <a:r>
              <a:rPr lang="en-US" sz="1500" b="1" dirty="0">
                <a:solidFill>
                  <a:srgbClr val="1A2033"/>
                </a:solidFill>
                <a:latin typeface="Calibri" pitchFamily="34" charset="0"/>
                <a:ea typeface="Calibri" pitchFamily="34" charset="-122"/>
                <a:cs typeface="Calibri" pitchFamily="34" charset="-120"/>
              </a:rPr>
              <a:t>Google Analytics 4</a:t>
            </a:r>
            <a:endParaRPr lang="en-US" sz="1500" dirty="0"/>
          </a:p>
        </p:txBody>
      </p:sp>
      <p:sp>
        <p:nvSpPr>
          <p:cNvPr id="23" name="Shape 20"/>
          <p:cNvSpPr/>
          <p:nvPr/>
        </p:nvSpPr>
        <p:spPr>
          <a:xfrm>
            <a:off x="4899355" y="3291840"/>
            <a:ext cx="1998878" cy="365760"/>
          </a:xfrm>
          <a:prstGeom prst="roundRect">
            <a:avLst>
              <a:gd name="adj" fmla="val 50000"/>
            </a:avLst>
          </a:prstGeom>
          <a:solidFill>
            <a:srgbClr val="FFFFFF"/>
          </a:solidFill>
          <a:ln w="12700">
            <a:solidFill>
              <a:srgbClr val="DFE3EE"/>
            </a:solidFill>
            <a:prstDash val="solid"/>
          </a:ln>
        </p:spPr>
      </p:sp>
      <p:sp>
        <p:nvSpPr>
          <p:cNvPr id="24" name="Text 21"/>
          <p:cNvSpPr txBox="1"/>
          <p:nvPr/>
        </p:nvSpPr>
        <p:spPr>
          <a:xfrm>
            <a:off x="4899355" y="3291840"/>
            <a:ext cx="1998878" cy="365760"/>
          </a:xfrm>
          <a:prstGeom prst="rect">
            <a:avLst/>
          </a:prstGeom>
          <a:noFill/>
          <a:ln/>
        </p:spPr>
        <p:txBody>
          <a:bodyPr wrap="square" lIns="0" tIns="0" rIns="0" bIns="0" rtlCol="0" anchor="ctr"/>
          <a:lstStyle/>
          <a:p>
            <a:pPr algn="ctr" indent="0" marL="0">
              <a:buNone/>
            </a:pPr>
            <a:r>
              <a:rPr lang="en-US" sz="1500" b="1" dirty="0">
                <a:solidFill>
                  <a:srgbClr val="1A2033"/>
                </a:solidFill>
                <a:latin typeface="Calibri" pitchFamily="34" charset="0"/>
                <a:ea typeface="Calibri" pitchFamily="34" charset="-122"/>
                <a:cs typeface="Calibri" pitchFamily="34" charset="-120"/>
              </a:rPr>
              <a:t>Microsoft Clarity</a:t>
            </a:r>
            <a:endParaRPr lang="en-US" sz="1500" dirty="0"/>
          </a:p>
        </p:txBody>
      </p:sp>
      <p:sp>
        <p:nvSpPr>
          <p:cNvPr id="25" name="Shape 22"/>
          <p:cNvSpPr/>
          <p:nvPr/>
        </p:nvSpPr>
        <p:spPr>
          <a:xfrm>
            <a:off x="7007962" y="3291840"/>
            <a:ext cx="2097634" cy="365760"/>
          </a:xfrm>
          <a:prstGeom prst="roundRect">
            <a:avLst>
              <a:gd name="adj" fmla="val 50000"/>
            </a:avLst>
          </a:prstGeom>
          <a:solidFill>
            <a:srgbClr val="FFFFFF"/>
          </a:solidFill>
          <a:ln w="22225">
            <a:solidFill>
              <a:srgbClr val="0F9D6B"/>
            </a:solidFill>
            <a:prstDash val="solid"/>
          </a:ln>
        </p:spPr>
      </p:sp>
      <p:sp>
        <p:nvSpPr>
          <p:cNvPr id="26" name="Text 23"/>
          <p:cNvSpPr txBox="1"/>
          <p:nvPr/>
        </p:nvSpPr>
        <p:spPr>
          <a:xfrm>
            <a:off x="7007962" y="3291840"/>
            <a:ext cx="2097634" cy="365760"/>
          </a:xfrm>
          <a:prstGeom prst="rect">
            <a:avLst/>
          </a:prstGeom>
          <a:noFill/>
          <a:ln/>
        </p:spPr>
        <p:txBody>
          <a:bodyPr wrap="square" lIns="0" tIns="0" rIns="0" bIns="0" rtlCol="0" anchor="ctr"/>
          <a:lstStyle/>
          <a:p>
            <a:pPr algn="ctr" indent="0" marL="0">
              <a:buNone/>
            </a:pPr>
            <a:r>
              <a:rPr lang="en-US" sz="1500" b="1" dirty="0">
                <a:solidFill>
                  <a:srgbClr val="1A2033"/>
                </a:solidFill>
                <a:latin typeface="Calibri" pitchFamily="34" charset="0"/>
                <a:ea typeface="Calibri" pitchFamily="34" charset="-122"/>
                <a:cs typeface="Calibri" pitchFamily="34" charset="-120"/>
              </a:rPr>
              <a:t>Google Tag Manager</a:t>
            </a:r>
            <a:endParaRPr lang="en-US" sz="1500" dirty="0"/>
          </a:p>
        </p:txBody>
      </p:sp>
      <p:sp>
        <p:nvSpPr>
          <p:cNvPr id="27" name="Shape 24"/>
          <p:cNvSpPr/>
          <p:nvPr/>
        </p:nvSpPr>
        <p:spPr>
          <a:xfrm>
            <a:off x="9215323" y="3291840"/>
            <a:ext cx="1307592" cy="365760"/>
          </a:xfrm>
          <a:prstGeom prst="roundRect">
            <a:avLst>
              <a:gd name="adj" fmla="val 50000"/>
            </a:avLst>
          </a:prstGeom>
          <a:solidFill>
            <a:srgbClr val="FFFFFF"/>
          </a:solidFill>
          <a:ln w="12700">
            <a:solidFill>
              <a:srgbClr val="DFE3EE"/>
            </a:solidFill>
            <a:prstDash val="solid"/>
          </a:ln>
        </p:spPr>
      </p:sp>
      <p:sp>
        <p:nvSpPr>
          <p:cNvPr id="28" name="Text 25"/>
          <p:cNvSpPr txBox="1"/>
          <p:nvPr/>
        </p:nvSpPr>
        <p:spPr>
          <a:xfrm>
            <a:off x="9215323" y="3291840"/>
            <a:ext cx="1307592" cy="365760"/>
          </a:xfrm>
          <a:prstGeom prst="rect">
            <a:avLst/>
          </a:prstGeom>
          <a:noFill/>
          <a:ln/>
        </p:spPr>
        <p:txBody>
          <a:bodyPr wrap="square" lIns="0" tIns="0" rIns="0" bIns="0" rtlCol="0" anchor="ctr"/>
          <a:lstStyle/>
          <a:p>
            <a:pPr algn="ctr" indent="0" marL="0">
              <a:buNone/>
            </a:pPr>
            <a:r>
              <a:rPr lang="en-US" sz="1500" b="1" dirty="0">
                <a:solidFill>
                  <a:srgbClr val="1A2033"/>
                </a:solidFill>
                <a:latin typeface="Calibri" pitchFamily="34" charset="0"/>
                <a:ea typeface="Calibri" pitchFamily="34" charset="-122"/>
                <a:cs typeface="Calibri" pitchFamily="34" charset="-120"/>
              </a:rPr>
              <a:t>Meta Pixel</a:t>
            </a:r>
            <a:endParaRPr lang="en-US" sz="1500" dirty="0"/>
          </a:p>
        </p:txBody>
      </p:sp>
      <p:sp>
        <p:nvSpPr>
          <p:cNvPr id="29" name="Shape 26"/>
          <p:cNvSpPr/>
          <p:nvPr/>
        </p:nvSpPr>
        <p:spPr>
          <a:xfrm>
            <a:off x="548640" y="3767328"/>
            <a:ext cx="1307592" cy="365760"/>
          </a:xfrm>
          <a:prstGeom prst="roundRect">
            <a:avLst>
              <a:gd name="adj" fmla="val 50000"/>
            </a:avLst>
          </a:prstGeom>
          <a:solidFill>
            <a:srgbClr val="FFFFFF"/>
          </a:solidFill>
          <a:ln w="12700">
            <a:solidFill>
              <a:srgbClr val="DFE3EE"/>
            </a:solidFill>
            <a:prstDash val="solid"/>
          </a:ln>
        </p:spPr>
      </p:sp>
      <p:sp>
        <p:nvSpPr>
          <p:cNvPr id="30" name="Text 27"/>
          <p:cNvSpPr txBox="1"/>
          <p:nvPr/>
        </p:nvSpPr>
        <p:spPr>
          <a:xfrm>
            <a:off x="548640" y="3767328"/>
            <a:ext cx="1307592" cy="365760"/>
          </a:xfrm>
          <a:prstGeom prst="rect">
            <a:avLst/>
          </a:prstGeom>
          <a:noFill/>
          <a:ln/>
        </p:spPr>
        <p:txBody>
          <a:bodyPr wrap="square" lIns="0" tIns="0" rIns="0" bIns="0" rtlCol="0" anchor="ctr"/>
          <a:lstStyle/>
          <a:p>
            <a:pPr algn="ctr" indent="0" marL="0">
              <a:buNone/>
            </a:pPr>
            <a:r>
              <a:rPr lang="en-US" sz="1500" b="1" dirty="0">
                <a:solidFill>
                  <a:srgbClr val="1A2033"/>
                </a:solidFill>
                <a:latin typeface="Calibri" pitchFamily="34" charset="0"/>
                <a:ea typeface="Calibri" pitchFamily="34" charset="-122"/>
                <a:cs typeface="Calibri" pitchFamily="34" charset="-120"/>
              </a:rPr>
              <a:t>Google Ads</a:t>
            </a:r>
            <a:endParaRPr lang="en-US" sz="1500" dirty="0"/>
          </a:p>
        </p:txBody>
      </p:sp>
      <p:sp>
        <p:nvSpPr>
          <p:cNvPr id="31" name="Shape 28"/>
          <p:cNvSpPr/>
          <p:nvPr/>
        </p:nvSpPr>
        <p:spPr>
          <a:xfrm>
            <a:off x="1965960" y="3767328"/>
            <a:ext cx="1307592" cy="365760"/>
          </a:xfrm>
          <a:prstGeom prst="roundRect">
            <a:avLst>
              <a:gd name="adj" fmla="val 50000"/>
            </a:avLst>
          </a:prstGeom>
          <a:solidFill>
            <a:srgbClr val="FFFFFF"/>
          </a:solidFill>
          <a:ln w="22225">
            <a:solidFill>
              <a:srgbClr val="0F9D6B"/>
            </a:solidFill>
            <a:prstDash val="solid"/>
          </a:ln>
        </p:spPr>
      </p:sp>
      <p:sp>
        <p:nvSpPr>
          <p:cNvPr id="32" name="Text 29"/>
          <p:cNvSpPr txBox="1"/>
          <p:nvPr/>
        </p:nvSpPr>
        <p:spPr>
          <a:xfrm>
            <a:off x="1965960" y="3767328"/>
            <a:ext cx="1307592" cy="365760"/>
          </a:xfrm>
          <a:prstGeom prst="rect">
            <a:avLst/>
          </a:prstGeom>
          <a:noFill/>
          <a:ln/>
        </p:spPr>
        <p:txBody>
          <a:bodyPr wrap="square" lIns="0" tIns="0" rIns="0" bIns="0" rtlCol="0" anchor="ctr"/>
          <a:lstStyle/>
          <a:p>
            <a:pPr algn="ctr" indent="0" marL="0">
              <a:buNone/>
            </a:pPr>
            <a:r>
              <a:rPr lang="en-US" sz="1500" b="1" dirty="0">
                <a:solidFill>
                  <a:srgbClr val="1A2033"/>
                </a:solidFill>
                <a:latin typeface="Calibri" pitchFamily="34" charset="0"/>
                <a:ea typeface="Calibri" pitchFamily="34" charset="-122"/>
                <a:cs typeface="Calibri" pitchFamily="34" charset="-120"/>
              </a:rPr>
              <a:t>Cloudflare</a:t>
            </a:r>
            <a:endParaRPr lang="en-US" sz="1500" dirty="0"/>
          </a:p>
        </p:txBody>
      </p:sp>
      <p:sp>
        <p:nvSpPr>
          <p:cNvPr id="33" name="Shape 30"/>
          <p:cNvSpPr/>
          <p:nvPr/>
        </p:nvSpPr>
        <p:spPr>
          <a:xfrm>
            <a:off x="3383280" y="3767328"/>
            <a:ext cx="1801368" cy="365760"/>
          </a:xfrm>
          <a:prstGeom prst="roundRect">
            <a:avLst>
              <a:gd name="adj" fmla="val 50000"/>
            </a:avLst>
          </a:prstGeom>
          <a:solidFill>
            <a:srgbClr val="FFFFFF"/>
          </a:solidFill>
          <a:ln w="22225">
            <a:solidFill>
              <a:srgbClr val="0F9D6B"/>
            </a:solidFill>
            <a:prstDash val="solid"/>
          </a:ln>
        </p:spPr>
      </p:sp>
      <p:sp>
        <p:nvSpPr>
          <p:cNvPr id="34" name="Text 31"/>
          <p:cNvSpPr txBox="1"/>
          <p:nvPr/>
        </p:nvSpPr>
        <p:spPr>
          <a:xfrm>
            <a:off x="3383280" y="3767328"/>
            <a:ext cx="1801368" cy="365760"/>
          </a:xfrm>
          <a:prstGeom prst="rect">
            <a:avLst/>
          </a:prstGeom>
          <a:noFill/>
          <a:ln/>
        </p:spPr>
        <p:txBody>
          <a:bodyPr wrap="square" lIns="0" tIns="0" rIns="0" bIns="0" rtlCol="0" anchor="ctr"/>
          <a:lstStyle/>
          <a:p>
            <a:pPr algn="ctr" indent="0" marL="0">
              <a:buNone/>
            </a:pPr>
            <a:r>
              <a:rPr lang="en-US" sz="1500" b="1" dirty="0">
                <a:solidFill>
                  <a:srgbClr val="1A2033"/>
                </a:solidFill>
                <a:latin typeface="Calibri" pitchFamily="34" charset="0"/>
                <a:ea typeface="Calibri" pitchFamily="34" charset="-122"/>
                <a:cs typeface="Calibri" pitchFamily="34" charset="-120"/>
              </a:rPr>
              <a:t>Microsoft Azure</a:t>
            </a:r>
            <a:endParaRPr lang="en-US" sz="1500" dirty="0"/>
          </a:p>
        </p:txBody>
      </p:sp>
      <p:sp>
        <p:nvSpPr>
          <p:cNvPr id="35" name="Shape 32"/>
          <p:cNvSpPr/>
          <p:nvPr/>
        </p:nvSpPr>
        <p:spPr>
          <a:xfrm>
            <a:off x="548640" y="4453128"/>
            <a:ext cx="11094415" cy="960120"/>
          </a:xfrm>
          <a:prstGeom prst="roundRect">
            <a:avLst>
              <a:gd name="adj" fmla="val 11429"/>
            </a:avLst>
          </a:prstGeom>
          <a:solidFill>
            <a:srgbClr val="EEF2FF"/>
          </a:solidFill>
          <a:ln w="12700">
            <a:solidFill>
              <a:srgbClr val="EEF2FF"/>
            </a:solidFill>
            <a:prstDash val="solid"/>
          </a:ln>
        </p:spPr>
      </p:sp>
      <p:sp>
        <p:nvSpPr>
          <p:cNvPr id="36" name="Text 33"/>
          <p:cNvSpPr txBox="1"/>
          <p:nvPr/>
        </p:nvSpPr>
        <p:spPr>
          <a:xfrm>
            <a:off x="822960" y="4453128"/>
            <a:ext cx="10545775" cy="960120"/>
          </a:xfrm>
          <a:prstGeom prst="rect">
            <a:avLst/>
          </a:prstGeom>
          <a:noFill/>
          <a:ln/>
        </p:spPr>
        <p:txBody>
          <a:bodyPr wrap="square" lIns="0" tIns="0" rIns="0" bIns="0" rtlCol="0" anchor="ctr"/>
          <a:lstStyle/>
          <a:p>
            <a:pPr indent="0" marL="0">
              <a:buNone/>
            </a:pPr>
            <a:r>
              <a:rPr lang="en-US" sz="1500" b="1" dirty="0">
                <a:solidFill>
                  <a:srgbClr val="1A2033"/>
                </a:solidFill>
                <a:latin typeface="Calibri" pitchFamily="34" charset="0"/>
                <a:ea typeface="Calibri" pitchFamily="34" charset="-122"/>
                <a:cs typeface="Calibri" pitchFamily="34" charset="-120"/>
              </a:rPr>
              <a:t>Every technology is a way into a conversation:</a:t>
            </a:r>
            <a:pPr indent="0" marL="0">
              <a:buNone/>
            </a:pPr>
            <a:r>
              <a:rPr lang="en-US" sz="1500" dirty="0">
                <a:solidFill>
                  <a:srgbClr val="1A2033"/>
                </a:solidFill>
                <a:latin typeface="Calibri" pitchFamily="34" charset="0"/>
                <a:ea typeface="Calibri" pitchFamily="34" charset="-122"/>
                <a:cs typeface="Calibri" pitchFamily="34" charset="-120"/>
              </a:rPr>
              <a:t> logistics, data, finance and cloud, mapped to our people and our in-house innovations.</a:t>
            </a:r>
            <a:endParaRPr lang="en-US" sz="15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REDESIGN · REAL ALLBIRDS RUN</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Their own site, improved, before they sign</a:t>
            </a:r>
            <a:endParaRPr lang="en-US" sz="3400" dirty="0"/>
          </a:p>
        </p:txBody>
      </p:sp>
      <p:pic>
        <p:nvPicPr>
          <p:cNvPr id="5" name="Image 0" descr="Current allbirds.com homepage">    </p:cNvPr>
          <p:cNvPicPr>
            <a:picLocks noChangeAspect="1"/>
          </p:cNvPicPr>
          <p:nvPr/>
        </p:nvPicPr>
        <p:blipFill>
          <a:blip r:embed="rId1"/>
          <a:stretch>
            <a:fillRect/>
          </a:stretch>
        </p:blipFill>
        <p:spPr>
          <a:xfrm>
            <a:off x="548640" y="1828800"/>
            <a:ext cx="3886200" cy="2258854"/>
          </a:xfrm>
          <a:prstGeom prst="rect">
            <a:avLst/>
          </a:prstGeom>
        </p:spPr>
      </p:pic>
      <p:sp>
        <p:nvSpPr>
          <p:cNvPr id="6" name="Shape 2"/>
          <p:cNvSpPr/>
          <p:nvPr/>
        </p:nvSpPr>
        <p:spPr>
          <a:xfrm>
            <a:off x="658368" y="1938528"/>
            <a:ext cx="960120" cy="310896"/>
          </a:xfrm>
          <a:prstGeom prst="roundRect">
            <a:avLst>
              <a:gd name="adj" fmla="val 50000"/>
            </a:avLst>
          </a:prstGeom>
          <a:solidFill>
            <a:srgbClr val="000000">
              <a:alpha val="65000"/>
            </a:srgbClr>
          </a:solidFill>
          <a:ln w="12700">
            <a:solidFill>
              <a:srgbClr val="000000">
                <a:alpha val="65000"/>
              </a:srgbClr>
            </a:solidFill>
            <a:prstDash val="solid"/>
          </a:ln>
        </p:spPr>
      </p:sp>
      <p:sp>
        <p:nvSpPr>
          <p:cNvPr id="7" name="Text 3"/>
          <p:cNvSpPr txBox="1"/>
          <p:nvPr/>
        </p:nvSpPr>
        <p:spPr>
          <a:xfrm>
            <a:off x="658368" y="1938528"/>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BEFORE</a:t>
            </a:r>
            <a:endParaRPr lang="en-US" sz="1100" dirty="0"/>
          </a:p>
        </p:txBody>
      </p:sp>
      <p:pic>
        <p:nvPicPr>
          <p:cNvPr id="8" name="Image 1" descr="Redesigned allbirds.com homepage">    </p:cNvPr>
          <p:cNvPicPr>
            <a:picLocks noChangeAspect="1"/>
          </p:cNvPicPr>
          <p:nvPr/>
        </p:nvPicPr>
        <p:blipFill>
          <a:blip r:embed="rId2"/>
          <a:stretch>
            <a:fillRect/>
          </a:stretch>
        </p:blipFill>
        <p:spPr>
          <a:xfrm>
            <a:off x="4663440" y="1828800"/>
            <a:ext cx="3886200" cy="2258854"/>
          </a:xfrm>
          <a:prstGeom prst="rect">
            <a:avLst/>
          </a:prstGeom>
        </p:spPr>
      </p:pic>
      <p:sp>
        <p:nvSpPr>
          <p:cNvPr id="9" name="Shape 4"/>
          <p:cNvSpPr/>
          <p:nvPr/>
        </p:nvSpPr>
        <p:spPr>
          <a:xfrm>
            <a:off x="4773168" y="1938528"/>
            <a:ext cx="960120" cy="310896"/>
          </a:xfrm>
          <a:prstGeom prst="roundRect">
            <a:avLst>
              <a:gd name="adj" fmla="val 50000"/>
            </a:avLst>
          </a:prstGeom>
          <a:solidFill>
            <a:srgbClr val="000000">
              <a:alpha val="65000"/>
            </a:srgbClr>
          </a:solidFill>
          <a:ln w="12700">
            <a:solidFill>
              <a:srgbClr val="000000">
                <a:alpha val="65000"/>
              </a:srgbClr>
            </a:solidFill>
            <a:prstDash val="solid"/>
          </a:ln>
        </p:spPr>
      </p:sp>
      <p:sp>
        <p:nvSpPr>
          <p:cNvPr id="10" name="Text 5"/>
          <p:cNvSpPr txBox="1"/>
          <p:nvPr/>
        </p:nvSpPr>
        <p:spPr>
          <a:xfrm>
            <a:off x="4773168" y="1938528"/>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AFTER</a:t>
            </a:r>
            <a:endParaRPr lang="en-US" sz="1100" dirty="0"/>
          </a:p>
        </p:txBody>
      </p:sp>
      <p:sp>
        <p:nvSpPr>
          <p:cNvPr id="11" name="Shape 6"/>
          <p:cNvSpPr/>
          <p:nvPr/>
        </p:nvSpPr>
        <p:spPr>
          <a:xfrm>
            <a:off x="8732520" y="1828800"/>
            <a:ext cx="2907792" cy="1234440"/>
          </a:xfrm>
          <a:prstGeom prst="roundRect">
            <a:avLst>
              <a:gd name="adj" fmla="val 8889"/>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2" name="Text 7"/>
          <p:cNvSpPr txBox="1"/>
          <p:nvPr/>
        </p:nvSpPr>
        <p:spPr>
          <a:xfrm>
            <a:off x="8961120" y="1965960"/>
            <a:ext cx="2450592" cy="678942"/>
          </a:xfrm>
          <a:prstGeom prst="rect">
            <a:avLst/>
          </a:prstGeom>
          <a:noFill/>
          <a:ln/>
        </p:spPr>
        <p:txBody>
          <a:bodyPr wrap="square" lIns="0" tIns="0" rIns="0" bIns="0" rtlCol="0" anchor="ctr"/>
          <a:lstStyle/>
          <a:p>
            <a:pPr indent="0" marL="0">
              <a:buNone/>
            </a:pPr>
            <a:r>
              <a:rPr lang="en-US" sz="3600" b="1" dirty="0">
                <a:solidFill>
                  <a:srgbClr val="0F9D6B"/>
                </a:solidFill>
                <a:latin typeface="Calibri" pitchFamily="34" charset="0"/>
                <a:ea typeface="Calibri" pitchFamily="34" charset="-122"/>
                <a:cs typeface="Calibri" pitchFamily="34" charset="-120"/>
              </a:rPr>
              <a:t>70 → 98</a:t>
            </a:r>
            <a:endParaRPr lang="en-US" sz="3600" dirty="0"/>
          </a:p>
        </p:txBody>
      </p:sp>
      <p:sp>
        <p:nvSpPr>
          <p:cNvPr id="13" name="Text 8"/>
          <p:cNvSpPr txBox="1"/>
          <p:nvPr/>
        </p:nvSpPr>
        <p:spPr>
          <a:xfrm>
            <a:off x="8961120" y="2594153"/>
            <a:ext cx="2450592" cy="407365"/>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accessibility score</a:t>
            </a:r>
            <a:endParaRPr lang="en-US" sz="1300" dirty="0"/>
          </a:p>
        </p:txBody>
      </p:sp>
      <p:sp>
        <p:nvSpPr>
          <p:cNvPr id="14" name="Shape 9"/>
          <p:cNvSpPr/>
          <p:nvPr/>
        </p:nvSpPr>
        <p:spPr>
          <a:xfrm>
            <a:off x="8732520" y="3246120"/>
            <a:ext cx="2907792" cy="1234440"/>
          </a:xfrm>
          <a:prstGeom prst="roundRect">
            <a:avLst>
              <a:gd name="adj" fmla="val 8889"/>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5" name="Text 10"/>
          <p:cNvSpPr txBox="1"/>
          <p:nvPr/>
        </p:nvSpPr>
        <p:spPr>
          <a:xfrm>
            <a:off x="8961120" y="3383280"/>
            <a:ext cx="2450592" cy="678942"/>
          </a:xfrm>
          <a:prstGeom prst="rect">
            <a:avLst/>
          </a:prstGeom>
          <a:noFill/>
          <a:ln/>
        </p:spPr>
        <p:txBody>
          <a:bodyPr wrap="square" lIns="0" tIns="0" rIns="0" bIns="0" rtlCol="0" anchor="ctr"/>
          <a:lstStyle/>
          <a:p>
            <a:pPr indent="0" marL="0">
              <a:buNone/>
            </a:pPr>
            <a:r>
              <a:rPr lang="en-US" sz="3600" b="1" dirty="0">
                <a:solidFill>
                  <a:srgbClr val="0F9D6B"/>
                </a:solidFill>
                <a:latin typeface="Calibri" pitchFamily="34" charset="0"/>
                <a:ea typeface="Calibri" pitchFamily="34" charset="-122"/>
                <a:cs typeface="Calibri" pitchFamily="34" charset="-120"/>
              </a:rPr>
              <a:t>87 → 100</a:t>
            </a:r>
            <a:endParaRPr lang="en-US" sz="3600" dirty="0"/>
          </a:p>
        </p:txBody>
      </p:sp>
      <p:sp>
        <p:nvSpPr>
          <p:cNvPr id="16" name="Text 11"/>
          <p:cNvSpPr txBox="1"/>
          <p:nvPr/>
        </p:nvSpPr>
        <p:spPr>
          <a:xfrm>
            <a:off x="8961120" y="4011473"/>
            <a:ext cx="2450592" cy="407365"/>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mobile score</a:t>
            </a:r>
            <a:endParaRPr lang="en-US" sz="1300" dirty="0"/>
          </a:p>
        </p:txBody>
      </p:sp>
      <p:sp>
        <p:nvSpPr>
          <p:cNvPr id="17" name="Text 12"/>
          <p:cNvSpPr txBox="1"/>
          <p:nvPr/>
        </p:nvSpPr>
        <p:spPr>
          <a:xfrm>
            <a:off x="548640" y="4343400"/>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18" name="Text 13"/>
          <p:cNvSpPr txBox="1"/>
          <p:nvPr/>
        </p:nvSpPr>
        <p:spPr>
          <a:xfrm>
            <a:off x="932688" y="4343400"/>
            <a:ext cx="7662672" cy="24765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Built from their real colours, fonts and content</a:t>
            </a:r>
            <a:endParaRPr lang="en-US" sz="1500" dirty="0"/>
          </a:p>
        </p:txBody>
      </p:sp>
      <p:sp>
        <p:nvSpPr>
          <p:cNvPr id="19" name="Text 14"/>
          <p:cNvSpPr txBox="1"/>
          <p:nvPr/>
        </p:nvSpPr>
        <p:spPr>
          <a:xfrm>
            <a:off x="548640" y="4695825"/>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20" name="Text 15"/>
          <p:cNvSpPr txBox="1"/>
          <p:nvPr/>
        </p:nvSpPr>
        <p:spPr>
          <a:xfrm>
            <a:off x="932688" y="4695825"/>
            <a:ext cx="7662672" cy="24765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Re-checked by the same inspectors</a:t>
            </a:r>
            <a:endParaRPr lang="en-US" sz="1500" dirty="0"/>
          </a:p>
        </p:txBody>
      </p:sp>
      <p:sp>
        <p:nvSpPr>
          <p:cNvPr id="21" name="Text 16"/>
          <p:cNvSpPr txBox="1"/>
          <p:nvPr/>
        </p:nvSpPr>
        <p:spPr>
          <a:xfrm>
            <a:off x="548640" y="5048250"/>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22" name="Text 17"/>
          <p:cNvSpPr txBox="1"/>
          <p:nvPr/>
        </p:nvSpPr>
        <p:spPr>
          <a:xfrm>
            <a:off x="932688" y="5048250"/>
            <a:ext cx="7662672" cy="24765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Real HTML, designed in about 40 seconds</a:t>
            </a:r>
            <a:endParaRPr lang="en-US" sz="15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PEOPLE · SAMPLE ROSTER</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Real developers who are free now</a:t>
            </a:r>
            <a:endParaRPr lang="en-US" sz="3400" dirty="0"/>
          </a:p>
        </p:txBody>
      </p:sp>
      <p:graphicFrame>
        <p:nvGraphicFramePr>
          <p:cNvPr id="5" name="Chart 0" descr=""/>
          <p:cNvGraphicFramePr/>
          <p:nvPr/>
        </p:nvGraphicFramePr>
        <p:xfrm>
          <a:off x="548640" y="1783080"/>
          <a:ext cx="2926080" cy="2926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2660904"/>
            <a:ext cx="2926080" cy="819302"/>
          </a:xfrm>
          <a:prstGeom prst="rect">
            <a:avLst/>
          </a:prstGeom>
          <a:noFill/>
          <a:ln/>
        </p:spPr>
        <p:txBody>
          <a:bodyPr wrap="square" lIns="0" tIns="0" rIns="0" bIns="0" rtlCol="0" anchor="ctr"/>
          <a:lstStyle/>
          <a:p>
            <a:pPr algn="ctr" indent="0" marL="0">
              <a:buNone/>
            </a:pPr>
            <a:r>
              <a:rPr lang="en-US" sz="4400" b="1" dirty="0">
                <a:solidFill>
                  <a:srgbClr val="1A2033"/>
                </a:solidFill>
                <a:latin typeface="Calibri" pitchFamily="34" charset="0"/>
                <a:ea typeface="Calibri" pitchFamily="34" charset="-122"/>
                <a:cs typeface="Calibri" pitchFamily="34" charset="-120"/>
              </a:rPr>
              <a:t>88</a:t>
            </a:r>
            <a:endParaRPr lang="en-US" sz="4400" dirty="0"/>
          </a:p>
        </p:txBody>
      </p:sp>
      <p:sp>
        <p:nvSpPr>
          <p:cNvPr id="7" name="Text 3"/>
          <p:cNvSpPr txBox="1"/>
          <p:nvPr/>
        </p:nvSpPr>
        <p:spPr>
          <a:xfrm>
            <a:off x="1426464" y="3450946"/>
            <a:ext cx="1170432" cy="351130"/>
          </a:xfrm>
          <a:prstGeom prst="rect">
            <a:avLst/>
          </a:prstGeom>
          <a:noFill/>
          <a:ln/>
        </p:spPr>
        <p:txBody>
          <a:bodyPr wrap="square" lIns="0" tIns="0" rIns="0" bIns="0" rtlCol="0" anchor="ctr"/>
          <a:lstStyle/>
          <a:p>
            <a:pPr algn="ctr" indent="0" marL="0">
              <a:buNone/>
            </a:pPr>
            <a:r>
              <a:rPr lang="en-US" sz="1200" dirty="0">
                <a:solidFill>
                  <a:srgbClr val="667089"/>
                </a:solidFill>
                <a:latin typeface="Calibri" pitchFamily="34" charset="0"/>
                <a:ea typeface="Calibri" pitchFamily="34" charset="-122"/>
                <a:cs typeface="Calibri" pitchFamily="34" charset="-120"/>
              </a:rPr>
              <a:t>org match</a:t>
            </a:r>
            <a:endParaRPr lang="en-US" sz="1200" dirty="0"/>
          </a:p>
        </p:txBody>
      </p:sp>
      <p:sp>
        <p:nvSpPr>
          <p:cNvPr id="8" name="Shape 4"/>
          <p:cNvSpPr/>
          <p:nvPr/>
        </p:nvSpPr>
        <p:spPr>
          <a:xfrm>
            <a:off x="3840480" y="1783080"/>
            <a:ext cx="1603858" cy="365760"/>
          </a:xfrm>
          <a:prstGeom prst="roundRect">
            <a:avLst>
              <a:gd name="adj" fmla="val 50000"/>
            </a:avLst>
          </a:prstGeom>
          <a:solidFill>
            <a:srgbClr val="FFFFFF"/>
          </a:solidFill>
          <a:ln w="22225">
            <a:solidFill>
              <a:srgbClr val="0F9D6B"/>
            </a:solidFill>
            <a:prstDash val="solid"/>
          </a:ln>
        </p:spPr>
      </p:sp>
      <p:sp>
        <p:nvSpPr>
          <p:cNvPr id="9" name="Text 5"/>
          <p:cNvSpPr txBox="1"/>
          <p:nvPr/>
        </p:nvSpPr>
        <p:spPr>
          <a:xfrm>
            <a:off x="3840480" y="1783080"/>
            <a:ext cx="1603858"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Next.js / React</a:t>
            </a:r>
            <a:endParaRPr lang="en-US" sz="1300" dirty="0"/>
          </a:p>
        </p:txBody>
      </p:sp>
      <p:sp>
        <p:nvSpPr>
          <p:cNvPr id="10" name="Shape 6"/>
          <p:cNvSpPr/>
          <p:nvPr/>
        </p:nvSpPr>
        <p:spPr>
          <a:xfrm>
            <a:off x="5554066" y="1783080"/>
            <a:ext cx="1518270" cy="365760"/>
          </a:xfrm>
          <a:prstGeom prst="roundRect">
            <a:avLst>
              <a:gd name="adj" fmla="val 50000"/>
            </a:avLst>
          </a:prstGeom>
          <a:solidFill>
            <a:srgbClr val="FFFFFF"/>
          </a:solidFill>
          <a:ln w="22225">
            <a:solidFill>
              <a:srgbClr val="0F9D6B"/>
            </a:solidFill>
            <a:prstDash val="solid"/>
          </a:ln>
        </p:spPr>
      </p:sp>
      <p:sp>
        <p:nvSpPr>
          <p:cNvPr id="11" name="Text 7"/>
          <p:cNvSpPr txBox="1"/>
          <p:nvPr/>
        </p:nvSpPr>
        <p:spPr>
          <a:xfrm>
            <a:off x="5554066" y="1783080"/>
            <a:ext cx="1518270"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UX / UI design</a:t>
            </a:r>
            <a:endParaRPr lang="en-US" sz="1300" dirty="0"/>
          </a:p>
        </p:txBody>
      </p:sp>
      <p:sp>
        <p:nvSpPr>
          <p:cNvPr id="12" name="Shape 8"/>
          <p:cNvSpPr/>
          <p:nvPr/>
        </p:nvSpPr>
        <p:spPr>
          <a:xfrm>
            <a:off x="7182063" y="1783080"/>
            <a:ext cx="1432682" cy="365760"/>
          </a:xfrm>
          <a:prstGeom prst="roundRect">
            <a:avLst>
              <a:gd name="adj" fmla="val 50000"/>
            </a:avLst>
          </a:prstGeom>
          <a:solidFill>
            <a:srgbClr val="FFFFFF"/>
          </a:solidFill>
          <a:ln w="22225">
            <a:solidFill>
              <a:srgbClr val="0F9D6B"/>
            </a:solidFill>
            <a:prstDash val="solid"/>
          </a:ln>
        </p:spPr>
      </p:sp>
      <p:sp>
        <p:nvSpPr>
          <p:cNvPr id="13" name="Text 9"/>
          <p:cNvSpPr txBox="1"/>
          <p:nvPr/>
        </p:nvSpPr>
        <p:spPr>
          <a:xfrm>
            <a:off x="7182063" y="1783080"/>
            <a:ext cx="1432682"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QA automation</a:t>
            </a:r>
            <a:endParaRPr lang="en-US" sz="1300" dirty="0"/>
          </a:p>
        </p:txBody>
      </p:sp>
      <p:sp>
        <p:nvSpPr>
          <p:cNvPr id="14" name="Shape 10"/>
          <p:cNvSpPr/>
          <p:nvPr/>
        </p:nvSpPr>
        <p:spPr>
          <a:xfrm>
            <a:off x="8724473" y="1783080"/>
            <a:ext cx="1603858" cy="365760"/>
          </a:xfrm>
          <a:prstGeom prst="roundRect">
            <a:avLst>
              <a:gd name="adj" fmla="val 50000"/>
            </a:avLst>
          </a:prstGeom>
          <a:solidFill>
            <a:srgbClr val="FFFFFF"/>
          </a:solidFill>
          <a:ln w="22225">
            <a:solidFill>
              <a:srgbClr val="0F9D6B"/>
            </a:solidFill>
            <a:prstDash val="solid"/>
          </a:ln>
        </p:spPr>
      </p:sp>
      <p:sp>
        <p:nvSpPr>
          <p:cNvPr id="15" name="Text 11"/>
          <p:cNvSpPr txBox="1"/>
          <p:nvPr/>
        </p:nvSpPr>
        <p:spPr>
          <a:xfrm>
            <a:off x="8724473" y="1783080"/>
            <a:ext cx="1603858"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Web performance</a:t>
            </a:r>
            <a:endParaRPr lang="en-US" sz="1300" dirty="0"/>
          </a:p>
        </p:txBody>
      </p:sp>
      <p:sp>
        <p:nvSpPr>
          <p:cNvPr id="16" name="Shape 12"/>
          <p:cNvSpPr/>
          <p:nvPr/>
        </p:nvSpPr>
        <p:spPr>
          <a:xfrm>
            <a:off x="3840480" y="2258568"/>
            <a:ext cx="2288560" cy="365760"/>
          </a:xfrm>
          <a:prstGeom prst="roundRect">
            <a:avLst>
              <a:gd name="adj" fmla="val 50000"/>
            </a:avLst>
          </a:prstGeom>
          <a:solidFill>
            <a:srgbClr val="FFFFFF"/>
          </a:solidFill>
          <a:ln w="22225">
            <a:solidFill>
              <a:srgbClr val="D64545"/>
            </a:solidFill>
            <a:prstDash val="solid"/>
          </a:ln>
        </p:spPr>
      </p:sp>
      <p:sp>
        <p:nvSpPr>
          <p:cNvPr id="17" name="Text 13"/>
          <p:cNvSpPr txBox="1"/>
          <p:nvPr/>
        </p:nvSpPr>
        <p:spPr>
          <a:xfrm>
            <a:off x="3840480" y="2258568"/>
            <a:ext cx="2288560"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Gap: Shopify / commerce</a:t>
            </a:r>
            <a:endParaRPr lang="en-US" sz="1300" dirty="0"/>
          </a:p>
        </p:txBody>
      </p:sp>
      <p:sp>
        <p:nvSpPr>
          <p:cNvPr id="18" name="Shape 14"/>
          <p:cNvSpPr/>
          <p:nvPr/>
        </p:nvSpPr>
        <p:spPr>
          <a:xfrm>
            <a:off x="3840480" y="2898648"/>
            <a:ext cx="3794760" cy="731520"/>
          </a:xfrm>
          <a:prstGeom prst="roundRect">
            <a:avLst>
              <a:gd name="adj" fmla="val 15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9" name="Image 0" descr="Speed Tester agent, pixel robot">    </p:cNvPr>
          <p:cNvPicPr>
            <a:picLocks noChangeAspect="1"/>
          </p:cNvPicPr>
          <p:nvPr/>
        </p:nvPicPr>
        <p:blipFill>
          <a:blip r:embed="rId2"/>
          <a:stretch>
            <a:fillRect/>
          </a:stretch>
        </p:blipFill>
        <p:spPr>
          <a:xfrm>
            <a:off x="3977640" y="3008376"/>
            <a:ext cx="374904" cy="512064"/>
          </a:xfrm>
          <a:prstGeom prst="rect">
            <a:avLst/>
          </a:prstGeom>
        </p:spPr>
      </p:pic>
      <p:sp>
        <p:nvSpPr>
          <p:cNvPr id="20" name="Text 15"/>
          <p:cNvSpPr txBox="1"/>
          <p:nvPr/>
        </p:nvSpPr>
        <p:spPr>
          <a:xfrm>
            <a:off x="4480560" y="2971800"/>
            <a:ext cx="2331720" cy="32004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Aarav Mehta</a:t>
            </a:r>
            <a:endParaRPr lang="en-US" sz="1400" dirty="0"/>
          </a:p>
        </p:txBody>
      </p:sp>
      <p:sp>
        <p:nvSpPr>
          <p:cNvPr id="21" name="Text 16"/>
          <p:cNvSpPr txBox="1"/>
          <p:nvPr/>
        </p:nvSpPr>
        <p:spPr>
          <a:xfrm>
            <a:off x="4480560" y="3282696"/>
            <a:ext cx="2331720" cy="27432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Senior Frontend Engineer</a:t>
            </a:r>
            <a:endParaRPr lang="en-US" sz="1100" dirty="0"/>
          </a:p>
        </p:txBody>
      </p:sp>
      <p:sp>
        <p:nvSpPr>
          <p:cNvPr id="22" name="Text 17"/>
          <p:cNvSpPr txBox="1"/>
          <p:nvPr/>
        </p:nvSpPr>
        <p:spPr>
          <a:xfrm>
            <a:off x="6766560" y="2898648"/>
            <a:ext cx="731520" cy="731520"/>
          </a:xfrm>
          <a:prstGeom prst="rect">
            <a:avLst/>
          </a:prstGeom>
          <a:noFill/>
          <a:ln/>
        </p:spPr>
        <p:txBody>
          <a:bodyPr wrap="square" lIns="0" tIns="0" rIns="0" bIns="0" rtlCol="0" anchor="ctr"/>
          <a:lstStyle/>
          <a:p>
            <a:pPr algn="r" indent="0" marL="0">
              <a:buNone/>
            </a:pPr>
            <a:r>
              <a:rPr lang="en-US" sz="1800" b="1" dirty="0">
                <a:solidFill>
                  <a:srgbClr val="4F6BFF"/>
                </a:solidFill>
                <a:latin typeface="Calibri" pitchFamily="34" charset="0"/>
                <a:ea typeface="Calibri" pitchFamily="34" charset="-122"/>
                <a:cs typeface="Calibri" pitchFamily="34" charset="-120"/>
              </a:rPr>
              <a:t>93%</a:t>
            </a:r>
            <a:endParaRPr lang="en-US" sz="1800" dirty="0"/>
          </a:p>
        </p:txBody>
      </p:sp>
      <p:sp>
        <p:nvSpPr>
          <p:cNvPr id="23" name="Shape 18"/>
          <p:cNvSpPr/>
          <p:nvPr/>
        </p:nvSpPr>
        <p:spPr>
          <a:xfrm>
            <a:off x="7818120" y="2898648"/>
            <a:ext cx="3794760" cy="731520"/>
          </a:xfrm>
          <a:prstGeom prst="roundRect">
            <a:avLst>
              <a:gd name="adj" fmla="val 15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4" name="Image 1" descr="Mobile Tester agent, pixel robot">    </p:cNvPr>
          <p:cNvPicPr>
            <a:picLocks noChangeAspect="1"/>
          </p:cNvPicPr>
          <p:nvPr/>
        </p:nvPicPr>
        <p:blipFill>
          <a:blip r:embed="rId3"/>
          <a:stretch>
            <a:fillRect/>
          </a:stretch>
        </p:blipFill>
        <p:spPr>
          <a:xfrm>
            <a:off x="7955280" y="3008376"/>
            <a:ext cx="374904" cy="512064"/>
          </a:xfrm>
          <a:prstGeom prst="rect">
            <a:avLst/>
          </a:prstGeom>
        </p:spPr>
      </p:pic>
      <p:sp>
        <p:nvSpPr>
          <p:cNvPr id="25" name="Text 19"/>
          <p:cNvSpPr txBox="1"/>
          <p:nvPr/>
        </p:nvSpPr>
        <p:spPr>
          <a:xfrm>
            <a:off x="8458200" y="2971800"/>
            <a:ext cx="2331720" cy="32004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Dev Malhotra</a:t>
            </a:r>
            <a:endParaRPr lang="en-US" sz="1400" dirty="0"/>
          </a:p>
        </p:txBody>
      </p:sp>
      <p:sp>
        <p:nvSpPr>
          <p:cNvPr id="26" name="Text 20"/>
          <p:cNvSpPr txBox="1"/>
          <p:nvPr/>
        </p:nvSpPr>
        <p:spPr>
          <a:xfrm>
            <a:off x="8458200" y="3282696"/>
            <a:ext cx="2331720" cy="27432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Senior Frontend Engineer</a:t>
            </a:r>
            <a:endParaRPr lang="en-US" sz="1100" dirty="0"/>
          </a:p>
        </p:txBody>
      </p:sp>
      <p:sp>
        <p:nvSpPr>
          <p:cNvPr id="27" name="Text 21"/>
          <p:cNvSpPr txBox="1"/>
          <p:nvPr/>
        </p:nvSpPr>
        <p:spPr>
          <a:xfrm>
            <a:off x="10744200" y="2898648"/>
            <a:ext cx="731520" cy="731520"/>
          </a:xfrm>
          <a:prstGeom prst="rect">
            <a:avLst/>
          </a:prstGeom>
          <a:noFill/>
          <a:ln/>
        </p:spPr>
        <p:txBody>
          <a:bodyPr wrap="square" lIns="0" tIns="0" rIns="0" bIns="0" rtlCol="0" anchor="ctr"/>
          <a:lstStyle/>
          <a:p>
            <a:pPr algn="r" indent="0" marL="0">
              <a:buNone/>
            </a:pPr>
            <a:r>
              <a:rPr lang="en-US" sz="1800" b="1" dirty="0">
                <a:solidFill>
                  <a:srgbClr val="4F6BFF"/>
                </a:solidFill>
                <a:latin typeface="Calibri" pitchFamily="34" charset="0"/>
                <a:ea typeface="Calibri" pitchFamily="34" charset="-122"/>
                <a:cs typeface="Calibri" pitchFamily="34" charset="-120"/>
              </a:rPr>
              <a:t>93%</a:t>
            </a:r>
            <a:endParaRPr lang="en-US" sz="1800" dirty="0"/>
          </a:p>
        </p:txBody>
      </p:sp>
      <p:sp>
        <p:nvSpPr>
          <p:cNvPr id="28" name="Shape 22"/>
          <p:cNvSpPr/>
          <p:nvPr/>
        </p:nvSpPr>
        <p:spPr>
          <a:xfrm>
            <a:off x="3840480" y="3767328"/>
            <a:ext cx="3794760" cy="731520"/>
          </a:xfrm>
          <a:prstGeom prst="roundRect">
            <a:avLst>
              <a:gd name="adj" fmla="val 15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9" name="Image 2" descr="UX Reviewer agent, pixel robot">    </p:cNvPr>
          <p:cNvPicPr>
            <a:picLocks noChangeAspect="1"/>
          </p:cNvPicPr>
          <p:nvPr/>
        </p:nvPicPr>
        <p:blipFill>
          <a:blip r:embed="rId4"/>
          <a:stretch>
            <a:fillRect/>
          </a:stretch>
        </p:blipFill>
        <p:spPr>
          <a:xfrm>
            <a:off x="3977640" y="3877056"/>
            <a:ext cx="374904" cy="512064"/>
          </a:xfrm>
          <a:prstGeom prst="rect">
            <a:avLst/>
          </a:prstGeom>
        </p:spPr>
      </p:pic>
      <p:sp>
        <p:nvSpPr>
          <p:cNvPr id="30" name="Text 23"/>
          <p:cNvSpPr txBox="1"/>
          <p:nvPr/>
        </p:nvSpPr>
        <p:spPr>
          <a:xfrm>
            <a:off x="4480560" y="3840480"/>
            <a:ext cx="2331720" cy="32004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Vikram Das</a:t>
            </a:r>
            <a:endParaRPr lang="en-US" sz="1400" dirty="0"/>
          </a:p>
        </p:txBody>
      </p:sp>
      <p:sp>
        <p:nvSpPr>
          <p:cNvPr id="31" name="Text 24"/>
          <p:cNvSpPr txBox="1"/>
          <p:nvPr/>
        </p:nvSpPr>
        <p:spPr>
          <a:xfrm>
            <a:off x="4480560" y="4151376"/>
            <a:ext cx="2331720" cy="27432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Design Systems Engineer</a:t>
            </a:r>
            <a:endParaRPr lang="en-US" sz="1100" dirty="0"/>
          </a:p>
        </p:txBody>
      </p:sp>
      <p:sp>
        <p:nvSpPr>
          <p:cNvPr id="32" name="Text 25"/>
          <p:cNvSpPr txBox="1"/>
          <p:nvPr/>
        </p:nvSpPr>
        <p:spPr>
          <a:xfrm>
            <a:off x="6766560" y="3767328"/>
            <a:ext cx="731520" cy="731520"/>
          </a:xfrm>
          <a:prstGeom prst="rect">
            <a:avLst/>
          </a:prstGeom>
          <a:noFill/>
          <a:ln/>
        </p:spPr>
        <p:txBody>
          <a:bodyPr wrap="square" lIns="0" tIns="0" rIns="0" bIns="0" rtlCol="0" anchor="ctr"/>
          <a:lstStyle/>
          <a:p>
            <a:pPr algn="r" indent="0" marL="0">
              <a:buNone/>
            </a:pPr>
            <a:r>
              <a:rPr lang="en-US" sz="1800" b="1" dirty="0">
                <a:solidFill>
                  <a:srgbClr val="4F6BFF"/>
                </a:solidFill>
                <a:latin typeface="Calibri" pitchFamily="34" charset="0"/>
                <a:ea typeface="Calibri" pitchFamily="34" charset="-122"/>
                <a:cs typeface="Calibri" pitchFamily="34" charset="-120"/>
              </a:rPr>
              <a:t>82%</a:t>
            </a:r>
            <a:endParaRPr lang="en-US" sz="1800" dirty="0"/>
          </a:p>
        </p:txBody>
      </p:sp>
      <p:sp>
        <p:nvSpPr>
          <p:cNvPr id="33" name="Shape 26"/>
          <p:cNvSpPr/>
          <p:nvPr/>
        </p:nvSpPr>
        <p:spPr>
          <a:xfrm>
            <a:off x="7818120" y="3767328"/>
            <a:ext cx="3794760" cy="731520"/>
          </a:xfrm>
          <a:prstGeom prst="roundRect">
            <a:avLst>
              <a:gd name="adj" fmla="val 15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4" name="Image 3" descr="Designer agent, pixel robot">    </p:cNvPr>
          <p:cNvPicPr>
            <a:picLocks noChangeAspect="1"/>
          </p:cNvPicPr>
          <p:nvPr/>
        </p:nvPicPr>
        <p:blipFill>
          <a:blip r:embed="rId5"/>
          <a:stretch>
            <a:fillRect/>
          </a:stretch>
        </p:blipFill>
        <p:spPr>
          <a:xfrm>
            <a:off x="7955280" y="3877056"/>
            <a:ext cx="374904" cy="512064"/>
          </a:xfrm>
          <a:prstGeom prst="rect">
            <a:avLst/>
          </a:prstGeom>
        </p:spPr>
      </p:pic>
      <p:sp>
        <p:nvSpPr>
          <p:cNvPr id="35" name="Text 27"/>
          <p:cNvSpPr txBox="1"/>
          <p:nvPr/>
        </p:nvSpPr>
        <p:spPr>
          <a:xfrm>
            <a:off x="8458200" y="3840480"/>
            <a:ext cx="2331720" cy="32004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Ananya Rao</a:t>
            </a:r>
            <a:endParaRPr lang="en-US" sz="1400" dirty="0"/>
          </a:p>
        </p:txBody>
      </p:sp>
      <p:sp>
        <p:nvSpPr>
          <p:cNvPr id="36" name="Text 28"/>
          <p:cNvSpPr txBox="1"/>
          <p:nvPr/>
        </p:nvSpPr>
        <p:spPr>
          <a:xfrm>
            <a:off x="8458200" y="4151376"/>
            <a:ext cx="2331720" cy="27432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UX Designer</a:t>
            </a:r>
            <a:endParaRPr lang="en-US" sz="1100" dirty="0"/>
          </a:p>
        </p:txBody>
      </p:sp>
      <p:sp>
        <p:nvSpPr>
          <p:cNvPr id="37" name="Text 29"/>
          <p:cNvSpPr txBox="1"/>
          <p:nvPr/>
        </p:nvSpPr>
        <p:spPr>
          <a:xfrm>
            <a:off x="10744200" y="3767328"/>
            <a:ext cx="731520" cy="731520"/>
          </a:xfrm>
          <a:prstGeom prst="rect">
            <a:avLst/>
          </a:prstGeom>
          <a:noFill/>
          <a:ln/>
        </p:spPr>
        <p:txBody>
          <a:bodyPr wrap="square" lIns="0" tIns="0" rIns="0" bIns="0" rtlCol="0" anchor="ctr"/>
          <a:lstStyle/>
          <a:p>
            <a:pPr algn="r" indent="0" marL="0">
              <a:buNone/>
            </a:pPr>
            <a:r>
              <a:rPr lang="en-US" sz="1800" b="1" dirty="0">
                <a:solidFill>
                  <a:srgbClr val="4F6BFF"/>
                </a:solidFill>
                <a:latin typeface="Calibri" pitchFamily="34" charset="0"/>
                <a:ea typeface="Calibri" pitchFamily="34" charset="-122"/>
                <a:cs typeface="Calibri" pitchFamily="34" charset="-120"/>
              </a:rPr>
              <a:t>72%</a:t>
            </a:r>
            <a:endParaRPr lang="en-US" sz="1800" dirty="0"/>
          </a:p>
        </p:txBody>
      </p:sp>
      <p:sp>
        <p:nvSpPr>
          <p:cNvPr id="38" name="Shape 30"/>
          <p:cNvSpPr/>
          <p:nvPr/>
        </p:nvSpPr>
        <p:spPr>
          <a:xfrm>
            <a:off x="3840480" y="4636008"/>
            <a:ext cx="3794760" cy="731520"/>
          </a:xfrm>
          <a:prstGeom prst="roundRect">
            <a:avLst>
              <a:gd name="adj" fmla="val 15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9" name="Image 4" descr="Accessibility Checker agent, pixel robot">    </p:cNvPr>
          <p:cNvPicPr>
            <a:picLocks noChangeAspect="1"/>
          </p:cNvPicPr>
          <p:nvPr/>
        </p:nvPicPr>
        <p:blipFill>
          <a:blip r:embed="rId6"/>
          <a:stretch>
            <a:fillRect/>
          </a:stretch>
        </p:blipFill>
        <p:spPr>
          <a:xfrm>
            <a:off x="3977640" y="4745736"/>
            <a:ext cx="374904" cy="512064"/>
          </a:xfrm>
          <a:prstGeom prst="rect">
            <a:avLst/>
          </a:prstGeom>
        </p:spPr>
      </p:pic>
      <p:sp>
        <p:nvSpPr>
          <p:cNvPr id="40" name="Text 31"/>
          <p:cNvSpPr txBox="1"/>
          <p:nvPr/>
        </p:nvSpPr>
        <p:spPr>
          <a:xfrm>
            <a:off x="4480560" y="4709160"/>
            <a:ext cx="2331720" cy="32004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Isha Patel</a:t>
            </a:r>
            <a:endParaRPr lang="en-US" sz="1400" dirty="0"/>
          </a:p>
        </p:txBody>
      </p:sp>
      <p:sp>
        <p:nvSpPr>
          <p:cNvPr id="41" name="Text 32"/>
          <p:cNvSpPr txBox="1"/>
          <p:nvPr/>
        </p:nvSpPr>
        <p:spPr>
          <a:xfrm>
            <a:off x="4480560" y="5020056"/>
            <a:ext cx="2331720" cy="27432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QA Automation Engineer</a:t>
            </a:r>
            <a:endParaRPr lang="en-US" sz="1100" dirty="0"/>
          </a:p>
        </p:txBody>
      </p:sp>
      <p:sp>
        <p:nvSpPr>
          <p:cNvPr id="42" name="Text 33"/>
          <p:cNvSpPr txBox="1"/>
          <p:nvPr/>
        </p:nvSpPr>
        <p:spPr>
          <a:xfrm>
            <a:off x="6766560" y="4636008"/>
            <a:ext cx="731520" cy="731520"/>
          </a:xfrm>
          <a:prstGeom prst="rect">
            <a:avLst/>
          </a:prstGeom>
          <a:noFill/>
          <a:ln/>
        </p:spPr>
        <p:txBody>
          <a:bodyPr wrap="square" lIns="0" tIns="0" rIns="0" bIns="0" rtlCol="0" anchor="ctr"/>
          <a:lstStyle/>
          <a:p>
            <a:pPr algn="r" indent="0" marL="0">
              <a:buNone/>
            </a:pPr>
            <a:r>
              <a:rPr lang="en-US" sz="1800" b="1" dirty="0">
                <a:solidFill>
                  <a:srgbClr val="4F6BFF"/>
                </a:solidFill>
                <a:latin typeface="Calibri" pitchFamily="34" charset="0"/>
                <a:ea typeface="Calibri" pitchFamily="34" charset="-122"/>
                <a:cs typeface="Calibri" pitchFamily="34" charset="-120"/>
              </a:rPr>
              <a:t>72%</a:t>
            </a:r>
            <a:endParaRPr lang="en-US" sz="1800" dirty="0"/>
          </a:p>
        </p:txBody>
      </p:sp>
      <p:sp>
        <p:nvSpPr>
          <p:cNvPr id="43" name="Shape 34"/>
          <p:cNvSpPr/>
          <p:nvPr/>
        </p:nvSpPr>
        <p:spPr>
          <a:xfrm>
            <a:off x="7818120" y="4636008"/>
            <a:ext cx="3794760" cy="731520"/>
          </a:xfrm>
          <a:prstGeom prst="roundRect">
            <a:avLst>
              <a:gd name="adj" fmla="val 15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44" name="Image 5" descr="AI-Search Checker agent, pixel robot">    </p:cNvPr>
          <p:cNvPicPr>
            <a:picLocks noChangeAspect="1"/>
          </p:cNvPicPr>
          <p:nvPr/>
        </p:nvPicPr>
        <p:blipFill>
          <a:blip r:embed="rId7"/>
          <a:stretch>
            <a:fillRect/>
          </a:stretch>
        </p:blipFill>
        <p:spPr>
          <a:xfrm>
            <a:off x="7955280" y="4745736"/>
            <a:ext cx="374904" cy="512064"/>
          </a:xfrm>
          <a:prstGeom prst="rect">
            <a:avLst/>
          </a:prstGeom>
        </p:spPr>
      </p:pic>
      <p:sp>
        <p:nvSpPr>
          <p:cNvPr id="45" name="Text 35"/>
          <p:cNvSpPr txBox="1"/>
          <p:nvPr/>
        </p:nvSpPr>
        <p:spPr>
          <a:xfrm>
            <a:off x="8458200" y="4709160"/>
            <a:ext cx="2331720" cy="320040"/>
          </a:xfrm>
          <a:prstGeom prst="rect">
            <a:avLst/>
          </a:prstGeom>
          <a:noFill/>
          <a:ln/>
        </p:spPr>
        <p:txBody>
          <a:bodyPr wrap="square" lIns="0" tIns="0" rIns="0" bIns="0" rtlCol="0" anchor="t"/>
          <a:lstStyle/>
          <a:p>
            <a:pPr indent="0" marL="0">
              <a:buNone/>
            </a:pPr>
            <a:r>
              <a:rPr lang="en-US" sz="1400" b="1" dirty="0">
                <a:solidFill>
                  <a:srgbClr val="1A2033"/>
                </a:solidFill>
                <a:latin typeface="Calibri" pitchFamily="34" charset="0"/>
                <a:ea typeface="Calibri" pitchFamily="34" charset="-122"/>
                <a:cs typeface="Calibri" pitchFamily="34" charset="-120"/>
              </a:rPr>
              <a:t>Zoya Ali</a:t>
            </a:r>
            <a:endParaRPr lang="en-US" sz="1400" dirty="0"/>
          </a:p>
        </p:txBody>
      </p:sp>
      <p:sp>
        <p:nvSpPr>
          <p:cNvPr id="46" name="Text 36"/>
          <p:cNvSpPr txBox="1"/>
          <p:nvPr/>
        </p:nvSpPr>
        <p:spPr>
          <a:xfrm>
            <a:off x="8458200" y="5020056"/>
            <a:ext cx="2331720" cy="274320"/>
          </a:xfrm>
          <a:prstGeom prst="rect">
            <a:avLst/>
          </a:prstGeom>
          <a:noFill/>
          <a:ln/>
        </p:spPr>
        <p:txBody>
          <a:bodyPr wrap="square" lIns="0" tIns="0" rIns="0" bIns="0" rtlCol="0" anchor="t"/>
          <a:lstStyle/>
          <a:p>
            <a:pPr indent="0" marL="0">
              <a:buNone/>
            </a:pPr>
            <a:r>
              <a:rPr lang="en-US" sz="1100" dirty="0">
                <a:solidFill>
                  <a:srgbClr val="667089"/>
                </a:solidFill>
                <a:latin typeface="Calibri" pitchFamily="34" charset="0"/>
                <a:ea typeface="Calibri" pitchFamily="34" charset="-122"/>
                <a:cs typeface="Calibri" pitchFamily="34" charset="-120"/>
              </a:rPr>
              <a:t>Accessibility Specialist</a:t>
            </a:r>
            <a:endParaRPr lang="en-US" sz="1100" dirty="0"/>
          </a:p>
        </p:txBody>
      </p:sp>
      <p:sp>
        <p:nvSpPr>
          <p:cNvPr id="47" name="Text 37"/>
          <p:cNvSpPr txBox="1"/>
          <p:nvPr/>
        </p:nvSpPr>
        <p:spPr>
          <a:xfrm>
            <a:off x="10744200" y="4636008"/>
            <a:ext cx="731520" cy="731520"/>
          </a:xfrm>
          <a:prstGeom prst="rect">
            <a:avLst/>
          </a:prstGeom>
          <a:noFill/>
          <a:ln/>
        </p:spPr>
        <p:txBody>
          <a:bodyPr wrap="square" lIns="0" tIns="0" rIns="0" bIns="0" rtlCol="0" anchor="ctr"/>
          <a:lstStyle/>
          <a:p>
            <a:pPr algn="r" indent="0" marL="0">
              <a:buNone/>
            </a:pPr>
            <a:r>
              <a:rPr lang="en-US" sz="1800" b="1" dirty="0">
                <a:solidFill>
                  <a:srgbClr val="4F6BFF"/>
                </a:solidFill>
                <a:latin typeface="Calibri" pitchFamily="34" charset="0"/>
                <a:ea typeface="Calibri" pitchFamily="34" charset="-122"/>
                <a:cs typeface="Calibri" pitchFamily="34" charset="-120"/>
              </a:rPr>
              <a:t>71%</a:t>
            </a:r>
            <a:endParaRPr lang="en-US" sz="1800" dirty="0"/>
          </a:p>
        </p:txBody>
      </p:sp>
      <p:sp>
        <p:nvSpPr>
          <p:cNvPr id="48" name="Text 38"/>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100" i="1" dirty="0">
                <a:solidFill>
                  <a:srgbClr val="667089"/>
                </a:solidFill>
                <a:latin typeface="Calibri" pitchFamily="34" charset="0"/>
                <a:ea typeface="Calibri" pitchFamily="34" charset="-122"/>
                <a:cs typeface="Calibri" pitchFamily="34" charset="-120"/>
              </a:rPr>
              <a:t>Names, skills and match scores come from a sample roster. With real HR data the match also gives effort and price.</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FROM THEIR STACK TO OUR PEOPLE · REAL ALLBIRDS RUN</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Every technology becomes a skill, a person and a plan</a:t>
            </a:r>
            <a:endParaRPr lang="en-US" sz="3400" dirty="0"/>
          </a:p>
        </p:txBody>
      </p:sp>
      <p:sp>
        <p:nvSpPr>
          <p:cNvPr id="5" name="Text 2"/>
          <p:cNvSpPr txBox="1"/>
          <p:nvPr/>
        </p:nvSpPr>
        <p:spPr>
          <a:xfrm>
            <a:off x="548640" y="1691640"/>
            <a:ext cx="3291840" cy="320040"/>
          </a:xfrm>
          <a:prstGeom prst="rect">
            <a:avLst/>
          </a:prstGeom>
          <a:noFill/>
          <a:ln/>
        </p:spPr>
        <p:txBody>
          <a:bodyPr wrap="square" lIns="0" tIns="0" rIns="0" bIns="0" rtlCol="0" anchor="t"/>
          <a:lstStyle/>
          <a:p>
            <a:pPr indent="0" marL="0">
              <a:buNone/>
            </a:pPr>
            <a:r>
              <a:rPr lang="en-US" sz="1100" b="1" spc="200" kern="0" dirty="0">
                <a:solidFill>
                  <a:srgbClr val="667089"/>
                </a:solidFill>
                <a:latin typeface="Calibri" pitchFamily="34" charset="0"/>
                <a:ea typeface="Calibri" pitchFamily="34" charset="-122"/>
                <a:cs typeface="Calibri" pitchFamily="34" charset="-120"/>
              </a:rPr>
              <a:t>FOUND ON THEIR SITE</a:t>
            </a:r>
            <a:endParaRPr lang="en-US" sz="1100" dirty="0"/>
          </a:p>
        </p:txBody>
      </p:sp>
      <p:sp>
        <p:nvSpPr>
          <p:cNvPr id="6" name="Shape 3"/>
          <p:cNvSpPr/>
          <p:nvPr/>
        </p:nvSpPr>
        <p:spPr>
          <a:xfrm>
            <a:off x="548640" y="2057400"/>
            <a:ext cx="3291840" cy="457200"/>
          </a:xfrm>
          <a:prstGeom prst="roundRect">
            <a:avLst>
              <a:gd name="adj" fmla="val 24000"/>
            </a:avLst>
          </a:prstGeom>
          <a:solidFill>
            <a:srgbClr val="FFFFFF"/>
          </a:solidFill>
          <a:ln w="12700">
            <a:solidFill>
              <a:srgbClr val="DFE3EE"/>
            </a:solidFill>
            <a:prstDash val="solid"/>
          </a:ln>
        </p:spPr>
      </p:sp>
      <p:sp>
        <p:nvSpPr>
          <p:cNvPr id="7" name="Text 4"/>
          <p:cNvSpPr txBox="1"/>
          <p:nvPr/>
        </p:nvSpPr>
        <p:spPr>
          <a:xfrm>
            <a:off x="685800" y="205740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Vue.js</a:t>
            </a:r>
            <a:endParaRPr lang="en-US" sz="1400" dirty="0"/>
          </a:p>
        </p:txBody>
      </p:sp>
      <p:sp>
        <p:nvSpPr>
          <p:cNvPr id="8" name="Text 5"/>
          <p:cNvSpPr txBox="1"/>
          <p:nvPr/>
        </p:nvSpPr>
        <p:spPr>
          <a:xfrm>
            <a:off x="2651760" y="205740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front end</a:t>
            </a:r>
            <a:endParaRPr lang="en-US" sz="1100" dirty="0"/>
          </a:p>
        </p:txBody>
      </p:sp>
      <p:sp>
        <p:nvSpPr>
          <p:cNvPr id="9" name="Shape 6"/>
          <p:cNvSpPr/>
          <p:nvPr/>
        </p:nvSpPr>
        <p:spPr>
          <a:xfrm>
            <a:off x="548640" y="2606040"/>
            <a:ext cx="3291840" cy="457200"/>
          </a:xfrm>
          <a:prstGeom prst="roundRect">
            <a:avLst>
              <a:gd name="adj" fmla="val 24000"/>
            </a:avLst>
          </a:prstGeom>
          <a:solidFill>
            <a:srgbClr val="FFFFFF"/>
          </a:solidFill>
          <a:ln w="12700">
            <a:solidFill>
              <a:srgbClr val="DFE3EE"/>
            </a:solidFill>
            <a:prstDash val="solid"/>
          </a:ln>
        </p:spPr>
      </p:sp>
      <p:sp>
        <p:nvSpPr>
          <p:cNvPr id="10" name="Text 7"/>
          <p:cNvSpPr txBox="1"/>
          <p:nvPr/>
        </p:nvSpPr>
        <p:spPr>
          <a:xfrm>
            <a:off x="685800" y="260604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Shopify</a:t>
            </a:r>
            <a:endParaRPr lang="en-US" sz="1400" dirty="0"/>
          </a:p>
        </p:txBody>
      </p:sp>
      <p:sp>
        <p:nvSpPr>
          <p:cNvPr id="11" name="Text 8"/>
          <p:cNvSpPr txBox="1"/>
          <p:nvPr/>
        </p:nvSpPr>
        <p:spPr>
          <a:xfrm>
            <a:off x="2651760" y="260604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commerce</a:t>
            </a:r>
            <a:endParaRPr lang="en-US" sz="1100" dirty="0"/>
          </a:p>
        </p:txBody>
      </p:sp>
      <p:sp>
        <p:nvSpPr>
          <p:cNvPr id="12" name="Shape 9"/>
          <p:cNvSpPr/>
          <p:nvPr/>
        </p:nvSpPr>
        <p:spPr>
          <a:xfrm>
            <a:off x="548640" y="3154680"/>
            <a:ext cx="3291840" cy="457200"/>
          </a:xfrm>
          <a:prstGeom prst="roundRect">
            <a:avLst>
              <a:gd name="adj" fmla="val 24000"/>
            </a:avLst>
          </a:prstGeom>
          <a:solidFill>
            <a:srgbClr val="FFFFFF"/>
          </a:solidFill>
          <a:ln w="12700">
            <a:solidFill>
              <a:srgbClr val="DFE3EE"/>
            </a:solidFill>
            <a:prstDash val="solid"/>
          </a:ln>
        </p:spPr>
      </p:sp>
      <p:sp>
        <p:nvSpPr>
          <p:cNvPr id="13" name="Text 10"/>
          <p:cNvSpPr txBox="1"/>
          <p:nvPr/>
        </p:nvSpPr>
        <p:spPr>
          <a:xfrm>
            <a:off x="685800" y="315468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GA4 + Tag Manager</a:t>
            </a:r>
            <a:endParaRPr lang="en-US" sz="1400" dirty="0"/>
          </a:p>
        </p:txBody>
      </p:sp>
      <p:sp>
        <p:nvSpPr>
          <p:cNvPr id="14" name="Text 11"/>
          <p:cNvSpPr txBox="1"/>
          <p:nvPr/>
        </p:nvSpPr>
        <p:spPr>
          <a:xfrm>
            <a:off x="2651760" y="315468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analytics</a:t>
            </a:r>
            <a:endParaRPr lang="en-US" sz="1100" dirty="0"/>
          </a:p>
        </p:txBody>
      </p:sp>
      <p:sp>
        <p:nvSpPr>
          <p:cNvPr id="15" name="Shape 12"/>
          <p:cNvSpPr/>
          <p:nvPr/>
        </p:nvSpPr>
        <p:spPr>
          <a:xfrm>
            <a:off x="548640" y="3703320"/>
            <a:ext cx="3291840" cy="457200"/>
          </a:xfrm>
          <a:prstGeom prst="roundRect">
            <a:avLst>
              <a:gd name="adj" fmla="val 24000"/>
            </a:avLst>
          </a:prstGeom>
          <a:solidFill>
            <a:srgbClr val="FFFFFF"/>
          </a:solidFill>
          <a:ln w="12700">
            <a:solidFill>
              <a:srgbClr val="DFE3EE"/>
            </a:solidFill>
            <a:prstDash val="solid"/>
          </a:ln>
        </p:spPr>
      </p:sp>
      <p:sp>
        <p:nvSpPr>
          <p:cNvPr id="16" name="Text 13"/>
          <p:cNvSpPr txBox="1"/>
          <p:nvPr/>
        </p:nvSpPr>
        <p:spPr>
          <a:xfrm>
            <a:off x="685800" y="370332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Cloudflare + Azure</a:t>
            </a:r>
            <a:endParaRPr lang="en-US" sz="1400" dirty="0"/>
          </a:p>
        </p:txBody>
      </p:sp>
      <p:sp>
        <p:nvSpPr>
          <p:cNvPr id="17" name="Text 14"/>
          <p:cNvSpPr txBox="1"/>
          <p:nvPr/>
        </p:nvSpPr>
        <p:spPr>
          <a:xfrm>
            <a:off x="2651760" y="370332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CDN, cloud</a:t>
            </a:r>
            <a:endParaRPr lang="en-US" sz="1100" dirty="0"/>
          </a:p>
        </p:txBody>
      </p:sp>
      <p:sp>
        <p:nvSpPr>
          <p:cNvPr id="18" name="Shape 15"/>
          <p:cNvSpPr/>
          <p:nvPr/>
        </p:nvSpPr>
        <p:spPr>
          <a:xfrm>
            <a:off x="3913632" y="3017520"/>
            <a:ext cx="463144" cy="0"/>
          </a:xfrm>
          <a:prstGeom prst="line">
            <a:avLst/>
          </a:prstGeom>
          <a:noFill/>
          <a:ln w="25400">
            <a:solidFill>
              <a:srgbClr val="4F6BFF"/>
            </a:solidFill>
            <a:prstDash val="dash"/>
            <a:tailEnd type="triangle"/>
          </a:ln>
        </p:spPr>
      </p:sp>
      <p:sp>
        <p:nvSpPr>
          <p:cNvPr id="19" name="Text 16"/>
          <p:cNvSpPr txBox="1"/>
          <p:nvPr/>
        </p:nvSpPr>
        <p:spPr>
          <a:xfrm>
            <a:off x="4449928" y="1691640"/>
            <a:ext cx="3291840" cy="320040"/>
          </a:xfrm>
          <a:prstGeom prst="rect">
            <a:avLst/>
          </a:prstGeom>
          <a:noFill/>
          <a:ln/>
        </p:spPr>
        <p:txBody>
          <a:bodyPr wrap="square" lIns="0" tIns="0" rIns="0" bIns="0" rtlCol="0" anchor="t"/>
          <a:lstStyle/>
          <a:p>
            <a:pPr indent="0" marL="0">
              <a:buNone/>
            </a:pPr>
            <a:r>
              <a:rPr lang="en-US" sz="1100" b="1" spc="200" kern="0" dirty="0">
                <a:solidFill>
                  <a:srgbClr val="667089"/>
                </a:solidFill>
                <a:latin typeface="Calibri" pitchFamily="34" charset="0"/>
                <a:ea typeface="Calibri" pitchFamily="34" charset="-122"/>
                <a:cs typeface="Calibri" pitchFamily="34" charset="-120"/>
              </a:rPr>
              <a:t>SKILL WE NEED · OUR COVERAGE</a:t>
            </a:r>
            <a:endParaRPr lang="en-US" sz="1100" dirty="0"/>
          </a:p>
        </p:txBody>
      </p:sp>
      <p:sp>
        <p:nvSpPr>
          <p:cNvPr id="20" name="Shape 17"/>
          <p:cNvSpPr/>
          <p:nvPr/>
        </p:nvSpPr>
        <p:spPr>
          <a:xfrm>
            <a:off x="4449928" y="2057400"/>
            <a:ext cx="3291840" cy="457200"/>
          </a:xfrm>
          <a:prstGeom prst="roundRect">
            <a:avLst>
              <a:gd name="adj" fmla="val 24000"/>
            </a:avLst>
          </a:prstGeom>
          <a:solidFill>
            <a:srgbClr val="FFFFFF"/>
          </a:solidFill>
          <a:ln w="22225">
            <a:solidFill>
              <a:srgbClr val="B7791F"/>
            </a:solidFill>
            <a:prstDash val="solid"/>
          </a:ln>
        </p:spPr>
      </p:sp>
      <p:sp>
        <p:nvSpPr>
          <p:cNvPr id="21" name="Text 18"/>
          <p:cNvSpPr txBox="1"/>
          <p:nvPr/>
        </p:nvSpPr>
        <p:spPr>
          <a:xfrm>
            <a:off x="4587088" y="205740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Vue / Nuxt</a:t>
            </a:r>
            <a:endParaRPr lang="en-US" sz="1400" dirty="0"/>
          </a:p>
        </p:txBody>
      </p:sp>
      <p:sp>
        <p:nvSpPr>
          <p:cNvPr id="22" name="Text 19"/>
          <p:cNvSpPr txBox="1"/>
          <p:nvPr/>
        </p:nvSpPr>
        <p:spPr>
          <a:xfrm>
            <a:off x="6553048" y="205740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partial</a:t>
            </a:r>
            <a:endParaRPr lang="en-US" sz="1100" dirty="0"/>
          </a:p>
        </p:txBody>
      </p:sp>
      <p:sp>
        <p:nvSpPr>
          <p:cNvPr id="23" name="Shape 20"/>
          <p:cNvSpPr/>
          <p:nvPr/>
        </p:nvSpPr>
        <p:spPr>
          <a:xfrm>
            <a:off x="4449928" y="2606040"/>
            <a:ext cx="3291840" cy="457200"/>
          </a:xfrm>
          <a:prstGeom prst="roundRect">
            <a:avLst>
              <a:gd name="adj" fmla="val 24000"/>
            </a:avLst>
          </a:prstGeom>
          <a:solidFill>
            <a:srgbClr val="FFFFFF"/>
          </a:solidFill>
          <a:ln w="22225">
            <a:solidFill>
              <a:srgbClr val="D64545"/>
            </a:solidFill>
            <a:prstDash val="solid"/>
          </a:ln>
        </p:spPr>
      </p:sp>
      <p:sp>
        <p:nvSpPr>
          <p:cNvPr id="24" name="Text 21"/>
          <p:cNvSpPr txBox="1"/>
          <p:nvPr/>
        </p:nvSpPr>
        <p:spPr>
          <a:xfrm>
            <a:off x="4587088" y="260604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Shopify / commerce</a:t>
            </a:r>
            <a:endParaRPr lang="en-US" sz="1400" dirty="0"/>
          </a:p>
        </p:txBody>
      </p:sp>
      <p:sp>
        <p:nvSpPr>
          <p:cNvPr id="25" name="Text 22"/>
          <p:cNvSpPr txBox="1"/>
          <p:nvPr/>
        </p:nvSpPr>
        <p:spPr>
          <a:xfrm>
            <a:off x="6553048" y="260604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gap</a:t>
            </a:r>
            <a:endParaRPr lang="en-US" sz="1100" dirty="0"/>
          </a:p>
        </p:txBody>
      </p:sp>
      <p:sp>
        <p:nvSpPr>
          <p:cNvPr id="26" name="Shape 23"/>
          <p:cNvSpPr/>
          <p:nvPr/>
        </p:nvSpPr>
        <p:spPr>
          <a:xfrm>
            <a:off x="4449928" y="3154680"/>
            <a:ext cx="3291840" cy="457200"/>
          </a:xfrm>
          <a:prstGeom prst="roundRect">
            <a:avLst>
              <a:gd name="adj" fmla="val 24000"/>
            </a:avLst>
          </a:prstGeom>
          <a:solidFill>
            <a:srgbClr val="FFFFFF"/>
          </a:solidFill>
          <a:ln w="22225">
            <a:solidFill>
              <a:srgbClr val="0F9D6B"/>
            </a:solidFill>
            <a:prstDash val="solid"/>
          </a:ln>
        </p:spPr>
      </p:sp>
      <p:sp>
        <p:nvSpPr>
          <p:cNvPr id="27" name="Text 24"/>
          <p:cNvSpPr txBox="1"/>
          <p:nvPr/>
        </p:nvSpPr>
        <p:spPr>
          <a:xfrm>
            <a:off x="4587088" y="315468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Web analytics</a:t>
            </a:r>
            <a:endParaRPr lang="en-US" sz="1400" dirty="0"/>
          </a:p>
        </p:txBody>
      </p:sp>
      <p:sp>
        <p:nvSpPr>
          <p:cNvPr id="28" name="Text 25"/>
          <p:cNvSpPr txBox="1"/>
          <p:nvPr/>
        </p:nvSpPr>
        <p:spPr>
          <a:xfrm>
            <a:off x="6553048" y="315468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strong</a:t>
            </a:r>
            <a:endParaRPr lang="en-US" sz="1100" dirty="0"/>
          </a:p>
        </p:txBody>
      </p:sp>
      <p:sp>
        <p:nvSpPr>
          <p:cNvPr id="29" name="Shape 26"/>
          <p:cNvSpPr/>
          <p:nvPr/>
        </p:nvSpPr>
        <p:spPr>
          <a:xfrm>
            <a:off x="4449928" y="3703320"/>
            <a:ext cx="3291840" cy="457200"/>
          </a:xfrm>
          <a:prstGeom prst="roundRect">
            <a:avLst>
              <a:gd name="adj" fmla="val 24000"/>
            </a:avLst>
          </a:prstGeom>
          <a:solidFill>
            <a:srgbClr val="FFFFFF"/>
          </a:solidFill>
          <a:ln w="22225">
            <a:solidFill>
              <a:srgbClr val="0F9D6B"/>
            </a:solidFill>
            <a:prstDash val="solid"/>
          </a:ln>
        </p:spPr>
      </p:sp>
      <p:sp>
        <p:nvSpPr>
          <p:cNvPr id="30" name="Text 27"/>
          <p:cNvSpPr txBox="1"/>
          <p:nvPr/>
        </p:nvSpPr>
        <p:spPr>
          <a:xfrm>
            <a:off x="4587088" y="370332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DevOps / CDN / cloud</a:t>
            </a:r>
            <a:endParaRPr lang="en-US" sz="1400" dirty="0"/>
          </a:p>
        </p:txBody>
      </p:sp>
      <p:sp>
        <p:nvSpPr>
          <p:cNvPr id="31" name="Text 28"/>
          <p:cNvSpPr txBox="1"/>
          <p:nvPr/>
        </p:nvSpPr>
        <p:spPr>
          <a:xfrm>
            <a:off x="6553048" y="370332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strong</a:t>
            </a:r>
            <a:endParaRPr lang="en-US" sz="1100" dirty="0"/>
          </a:p>
        </p:txBody>
      </p:sp>
      <p:sp>
        <p:nvSpPr>
          <p:cNvPr id="32" name="Shape 29"/>
          <p:cNvSpPr/>
          <p:nvPr/>
        </p:nvSpPr>
        <p:spPr>
          <a:xfrm>
            <a:off x="7814920" y="3017520"/>
            <a:ext cx="463144" cy="0"/>
          </a:xfrm>
          <a:prstGeom prst="line">
            <a:avLst/>
          </a:prstGeom>
          <a:noFill/>
          <a:ln w="25400">
            <a:solidFill>
              <a:srgbClr val="4F6BFF"/>
            </a:solidFill>
            <a:prstDash val="dash"/>
            <a:tailEnd type="triangle"/>
          </a:ln>
        </p:spPr>
      </p:sp>
      <p:sp>
        <p:nvSpPr>
          <p:cNvPr id="33" name="Text 30"/>
          <p:cNvSpPr txBox="1"/>
          <p:nvPr/>
        </p:nvSpPr>
        <p:spPr>
          <a:xfrm>
            <a:off x="8351215" y="1691640"/>
            <a:ext cx="3291840" cy="320040"/>
          </a:xfrm>
          <a:prstGeom prst="rect">
            <a:avLst/>
          </a:prstGeom>
          <a:noFill/>
          <a:ln/>
        </p:spPr>
        <p:txBody>
          <a:bodyPr wrap="square" lIns="0" tIns="0" rIns="0" bIns="0" rtlCol="0" anchor="t"/>
          <a:lstStyle/>
          <a:p>
            <a:pPr indent="0" marL="0">
              <a:buNone/>
            </a:pPr>
            <a:r>
              <a:rPr lang="en-US" sz="1100" b="1" spc="200" kern="0" dirty="0">
                <a:solidFill>
                  <a:srgbClr val="667089"/>
                </a:solidFill>
                <a:latin typeface="Calibri" pitchFamily="34" charset="0"/>
                <a:ea typeface="Calibri" pitchFamily="34" charset="-122"/>
                <a:cs typeface="Calibri" pitchFamily="34" charset="-120"/>
              </a:rPr>
              <a:t>WHO IS FREE · FROM PMS</a:t>
            </a:r>
            <a:endParaRPr lang="en-US" sz="1100" dirty="0"/>
          </a:p>
        </p:txBody>
      </p:sp>
      <p:sp>
        <p:nvSpPr>
          <p:cNvPr id="34" name="Shape 31"/>
          <p:cNvSpPr/>
          <p:nvPr/>
        </p:nvSpPr>
        <p:spPr>
          <a:xfrm>
            <a:off x="8351215" y="2057400"/>
            <a:ext cx="3291840" cy="457200"/>
          </a:xfrm>
          <a:prstGeom prst="roundRect">
            <a:avLst>
              <a:gd name="adj" fmla="val 24000"/>
            </a:avLst>
          </a:prstGeom>
          <a:solidFill>
            <a:srgbClr val="FFFFFF"/>
          </a:solidFill>
          <a:ln w="12700">
            <a:solidFill>
              <a:srgbClr val="DFE3EE"/>
            </a:solidFill>
            <a:prstDash val="solid"/>
          </a:ln>
        </p:spPr>
      </p:sp>
      <p:sp>
        <p:nvSpPr>
          <p:cNvPr id="35" name="Text 32"/>
          <p:cNvSpPr txBox="1"/>
          <p:nvPr/>
        </p:nvSpPr>
        <p:spPr>
          <a:xfrm>
            <a:off x="8488375" y="205740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Available experts</a:t>
            </a:r>
            <a:endParaRPr lang="en-US" sz="1400" dirty="0"/>
          </a:p>
        </p:txBody>
      </p:sp>
      <p:sp>
        <p:nvSpPr>
          <p:cNvPr id="36" name="Text 33"/>
          <p:cNvSpPr txBox="1"/>
          <p:nvPr/>
        </p:nvSpPr>
        <p:spPr>
          <a:xfrm>
            <a:off x="10454335" y="205740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named</a:t>
            </a:r>
            <a:endParaRPr lang="en-US" sz="1100" dirty="0"/>
          </a:p>
        </p:txBody>
      </p:sp>
      <p:sp>
        <p:nvSpPr>
          <p:cNvPr id="37" name="Shape 34"/>
          <p:cNvSpPr/>
          <p:nvPr/>
        </p:nvSpPr>
        <p:spPr>
          <a:xfrm>
            <a:off x="8351215" y="2606040"/>
            <a:ext cx="3291840" cy="457200"/>
          </a:xfrm>
          <a:prstGeom prst="roundRect">
            <a:avLst>
              <a:gd name="adj" fmla="val 24000"/>
            </a:avLst>
          </a:prstGeom>
          <a:solidFill>
            <a:srgbClr val="FFFFFF"/>
          </a:solidFill>
          <a:ln w="12700">
            <a:solidFill>
              <a:srgbClr val="DFE3EE"/>
            </a:solidFill>
            <a:prstDash val="solid"/>
          </a:ln>
        </p:spPr>
      </p:sp>
      <p:sp>
        <p:nvSpPr>
          <p:cNvPr id="38" name="Text 35"/>
          <p:cNvSpPr txBox="1"/>
          <p:nvPr/>
        </p:nvSpPr>
        <p:spPr>
          <a:xfrm>
            <a:off x="8488375" y="260604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Start dates</a:t>
            </a:r>
            <a:endParaRPr lang="en-US" sz="1400" dirty="0"/>
          </a:p>
        </p:txBody>
      </p:sp>
      <p:sp>
        <p:nvSpPr>
          <p:cNvPr id="39" name="Text 36"/>
          <p:cNvSpPr txBox="1"/>
          <p:nvPr/>
        </p:nvSpPr>
        <p:spPr>
          <a:xfrm>
            <a:off x="10454335" y="260604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from roster</a:t>
            </a:r>
            <a:endParaRPr lang="en-US" sz="1100" dirty="0"/>
          </a:p>
        </p:txBody>
      </p:sp>
      <p:sp>
        <p:nvSpPr>
          <p:cNvPr id="40" name="Shape 37"/>
          <p:cNvSpPr/>
          <p:nvPr/>
        </p:nvSpPr>
        <p:spPr>
          <a:xfrm>
            <a:off x="8351215" y="3154680"/>
            <a:ext cx="3291840" cy="457200"/>
          </a:xfrm>
          <a:prstGeom prst="roundRect">
            <a:avLst>
              <a:gd name="adj" fmla="val 24000"/>
            </a:avLst>
          </a:prstGeom>
          <a:solidFill>
            <a:srgbClr val="FFFFFF"/>
          </a:solidFill>
          <a:ln w="12700">
            <a:solidFill>
              <a:srgbClr val="DFE3EE"/>
            </a:solidFill>
            <a:prstDash val="solid"/>
          </a:ln>
        </p:spPr>
      </p:sp>
      <p:sp>
        <p:nvSpPr>
          <p:cNvPr id="41" name="Text 38"/>
          <p:cNvSpPr txBox="1"/>
          <p:nvPr/>
        </p:nvSpPr>
        <p:spPr>
          <a:xfrm>
            <a:off x="8488375" y="315468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Organisation match</a:t>
            </a:r>
            <a:endParaRPr lang="en-US" sz="1400" dirty="0"/>
          </a:p>
        </p:txBody>
      </p:sp>
      <p:sp>
        <p:nvSpPr>
          <p:cNvPr id="42" name="Text 39"/>
          <p:cNvSpPr txBox="1"/>
          <p:nvPr/>
        </p:nvSpPr>
        <p:spPr>
          <a:xfrm>
            <a:off x="10454335" y="315468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score</a:t>
            </a:r>
            <a:endParaRPr lang="en-US" sz="1100" dirty="0"/>
          </a:p>
        </p:txBody>
      </p:sp>
      <p:sp>
        <p:nvSpPr>
          <p:cNvPr id="43" name="Shape 40"/>
          <p:cNvSpPr/>
          <p:nvPr/>
        </p:nvSpPr>
        <p:spPr>
          <a:xfrm>
            <a:off x="8351215" y="3703320"/>
            <a:ext cx="3291840" cy="457200"/>
          </a:xfrm>
          <a:prstGeom prst="roundRect">
            <a:avLst>
              <a:gd name="adj" fmla="val 24000"/>
            </a:avLst>
          </a:prstGeom>
          <a:solidFill>
            <a:srgbClr val="FFFFFF"/>
          </a:solidFill>
          <a:ln w="22225">
            <a:solidFill>
              <a:srgbClr val="4F6BFF"/>
            </a:solidFill>
            <a:prstDash val="dash"/>
          </a:ln>
        </p:spPr>
      </p:sp>
      <p:sp>
        <p:nvSpPr>
          <p:cNvPr id="44" name="Text 41"/>
          <p:cNvSpPr txBox="1"/>
          <p:nvPr/>
        </p:nvSpPr>
        <p:spPr>
          <a:xfrm>
            <a:off x="8488375" y="3703320"/>
            <a:ext cx="2011680" cy="457200"/>
          </a:xfrm>
          <a:prstGeom prst="rect">
            <a:avLst/>
          </a:prstGeom>
          <a:noFill/>
          <a:ln/>
        </p:spPr>
        <p:txBody>
          <a:bodyPr wrap="square" lIns="0" tIns="0" rIns="0" bIns="0" rtlCol="0" anchor="ctr"/>
          <a:lstStyle/>
          <a:p>
            <a:pPr indent="0" marL="0">
              <a:buNone/>
            </a:pPr>
            <a:r>
              <a:rPr lang="en-US" sz="1400" b="1" dirty="0">
                <a:solidFill>
                  <a:srgbClr val="1A2033"/>
                </a:solidFill>
                <a:latin typeface="Calibri" pitchFamily="34" charset="0"/>
                <a:ea typeface="Calibri" pitchFamily="34" charset="-122"/>
                <a:cs typeface="Calibri" pitchFamily="34" charset="-120"/>
              </a:rPr>
              <a:t>Billing forecast</a:t>
            </a:r>
            <a:endParaRPr lang="en-US" sz="1400" dirty="0"/>
          </a:p>
        </p:txBody>
      </p:sp>
      <p:sp>
        <p:nvSpPr>
          <p:cNvPr id="45" name="Text 42"/>
          <p:cNvSpPr txBox="1"/>
          <p:nvPr/>
        </p:nvSpPr>
        <p:spPr>
          <a:xfrm>
            <a:off x="10454335" y="3703320"/>
            <a:ext cx="1051560" cy="457200"/>
          </a:xfrm>
          <a:prstGeom prst="rect">
            <a:avLst/>
          </a:prstGeom>
          <a:noFill/>
          <a:ln/>
        </p:spPr>
        <p:txBody>
          <a:bodyPr wrap="square" lIns="0" tIns="0" rIns="0" bIns="0" rtlCol="0" anchor="ctr"/>
          <a:lstStyle/>
          <a:p>
            <a:pPr algn="r" indent="0" marL="0">
              <a:buNone/>
            </a:pPr>
            <a:r>
              <a:rPr lang="en-US" sz="1100" dirty="0">
                <a:solidFill>
                  <a:srgbClr val="667089"/>
                </a:solidFill>
                <a:latin typeface="Calibri" pitchFamily="34" charset="0"/>
                <a:ea typeface="Calibri" pitchFamily="34" charset="-122"/>
                <a:cs typeface="Calibri" pitchFamily="34" charset="-120"/>
              </a:rPr>
              <a:t>next</a:t>
            </a:r>
            <a:endParaRPr lang="en-US" sz="1100" dirty="0"/>
          </a:p>
        </p:txBody>
      </p:sp>
      <p:sp>
        <p:nvSpPr>
          <p:cNvPr id="46" name="Shape 43"/>
          <p:cNvSpPr/>
          <p:nvPr/>
        </p:nvSpPr>
        <p:spPr>
          <a:xfrm>
            <a:off x="548640" y="4434840"/>
            <a:ext cx="11094415" cy="1143000"/>
          </a:xfrm>
          <a:prstGeom prst="roundRect">
            <a:avLst>
              <a:gd name="adj" fmla="val 96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47" name="Image 0" descr="plug icon">    </p:cNvPr>
          <p:cNvPicPr>
            <a:picLocks noChangeAspect="1"/>
          </p:cNvPicPr>
          <p:nvPr/>
        </p:nvPicPr>
        <p:blipFill>
          <a:blip r:embed="rId1"/>
          <a:stretch>
            <a:fillRect/>
          </a:stretch>
        </p:blipFill>
        <p:spPr>
          <a:xfrm>
            <a:off x="822960" y="4709160"/>
            <a:ext cx="548640" cy="548640"/>
          </a:xfrm>
          <a:prstGeom prst="rect">
            <a:avLst/>
          </a:prstGeom>
        </p:spPr>
      </p:pic>
      <p:sp>
        <p:nvSpPr>
          <p:cNvPr id="48" name="Text 44"/>
          <p:cNvSpPr txBox="1"/>
          <p:nvPr/>
        </p:nvSpPr>
        <p:spPr>
          <a:xfrm>
            <a:off x="1600200" y="4544568"/>
            <a:ext cx="9814255" cy="365760"/>
          </a:xfrm>
          <a:prstGeom prst="rect">
            <a:avLst/>
          </a:prstGeom>
          <a:noFill/>
          <a:ln/>
        </p:spPr>
        <p:txBody>
          <a:bodyPr wrap="square" lIns="0" tIns="0" rIns="0" bIns="0" rtlCol="0" anchor="t"/>
          <a:lstStyle/>
          <a:p>
            <a:pPr indent="0" marL="0">
              <a:buNone/>
            </a:pPr>
            <a:r>
              <a:rPr lang="en-US" sz="1700" b="1" dirty="0">
                <a:solidFill>
                  <a:srgbClr val="1A2033"/>
                </a:solidFill>
                <a:latin typeface="Calibri" pitchFamily="34" charset="0"/>
                <a:ea typeface="Calibri" pitchFamily="34" charset="-122"/>
                <a:cs typeface="Calibri" pitchFamily="34" charset="-120"/>
              </a:rPr>
              <a:t>Integrating with our project management system (PMS)</a:t>
            </a:r>
            <a:endParaRPr lang="en-US" sz="1700" dirty="0"/>
          </a:p>
        </p:txBody>
      </p:sp>
      <p:sp>
        <p:nvSpPr>
          <p:cNvPr id="49" name="Text 45"/>
          <p:cNvSpPr txBox="1"/>
          <p:nvPr/>
        </p:nvSpPr>
        <p:spPr>
          <a:xfrm>
            <a:off x="1600200" y="4919472"/>
            <a:ext cx="9814255" cy="594360"/>
          </a:xfrm>
          <a:prstGeom prst="rect">
            <a:avLst/>
          </a:prstGeom>
          <a:noFill/>
          <a:ln/>
        </p:spPr>
        <p:txBody>
          <a:bodyPr wrap="square" lIns="0" tIns="0" rIns="0" bIns="0" rtlCol="0" anchor="t"/>
          <a:lstStyle/>
          <a:p>
            <a:pPr indent="0" marL="0">
              <a:buNone/>
            </a:pPr>
            <a:r>
              <a:rPr lang="en-US" sz="1300" dirty="0">
                <a:solidFill>
                  <a:srgbClr val="44506B"/>
                </a:solidFill>
                <a:latin typeface="Calibri" pitchFamily="34" charset="0"/>
                <a:ea typeface="Calibri" pitchFamily="34" charset="-122"/>
                <a:cs typeface="Calibri" pitchFamily="34" charset="-120"/>
              </a:rPr>
              <a:t>Live availability, skills and rates in; billing visible in advance, upcoming projects and staffing plans out. Today the roster is sample data behind an adapter, ready for PMS.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WHAT IT GENERATES</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A report and a pitch, ready for review</a:t>
            </a:r>
            <a:endParaRPr lang="en-US" sz="3400" dirty="0"/>
          </a:p>
        </p:txBody>
      </p:sp>
      <p:sp>
        <p:nvSpPr>
          <p:cNvPr id="5" name="Shape 2"/>
          <p:cNvSpPr/>
          <p:nvPr/>
        </p:nvSpPr>
        <p:spPr>
          <a:xfrm>
            <a:off x="548640" y="1737360"/>
            <a:ext cx="3545738" cy="2788920"/>
          </a:xfrm>
          <a:prstGeom prst="roundRect">
            <a:avLst>
              <a:gd name="adj" fmla="val 393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Text 3"/>
          <p:cNvSpPr txBox="1"/>
          <p:nvPr/>
        </p:nvSpPr>
        <p:spPr>
          <a:xfrm>
            <a:off x="777240" y="1874520"/>
            <a:ext cx="3545738" cy="320040"/>
          </a:xfrm>
          <a:prstGeom prst="rect">
            <a:avLst/>
          </a:prstGeom>
          <a:noFill/>
          <a:ln/>
        </p:spPr>
        <p:txBody>
          <a:bodyPr wrap="square" lIns="0" tIns="0" rIns="0" bIns="0" rtlCol="0" anchor="t"/>
          <a:lstStyle/>
          <a:p>
            <a:pPr indent="0" marL="0">
              <a:buNone/>
            </a:pPr>
            <a:r>
              <a:rPr lang="en-US" sz="1200" b="1" spc="200" kern="0" dirty="0">
                <a:solidFill>
                  <a:srgbClr val="667089"/>
                </a:solidFill>
                <a:latin typeface="Calibri" pitchFamily="34" charset="0"/>
                <a:ea typeface="Calibri" pitchFamily="34" charset="-122"/>
                <a:cs typeface="Calibri" pitchFamily="34" charset="-120"/>
              </a:rPr>
              <a:t>AUDIT</a:t>
            </a:r>
            <a:endParaRPr lang="en-US" sz="1200" dirty="0"/>
          </a:p>
        </p:txBody>
      </p:sp>
      <p:graphicFrame>
        <p:nvGraphicFramePr>
          <p:cNvPr id="7" name="Chart 0" descr=""/>
          <p:cNvGraphicFramePr/>
          <p:nvPr/>
        </p:nvGraphicFramePr>
        <p:xfrm>
          <a:off x="685800" y="2194560"/>
          <a:ext cx="1828800" cy="18288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685800" y="2743200"/>
            <a:ext cx="1828800" cy="512064"/>
          </a:xfrm>
          <a:prstGeom prst="rect">
            <a:avLst/>
          </a:prstGeom>
          <a:noFill/>
          <a:ln/>
        </p:spPr>
        <p:txBody>
          <a:bodyPr wrap="square" lIns="0" tIns="0" rIns="0" bIns="0" rtlCol="0" anchor="ctr"/>
          <a:lstStyle/>
          <a:p>
            <a:pPr algn="ctr" indent="0" marL="0">
              <a:buNone/>
            </a:pPr>
            <a:r>
              <a:rPr lang="en-US" sz="4400" b="1" dirty="0">
                <a:solidFill>
                  <a:srgbClr val="1A2033"/>
                </a:solidFill>
                <a:latin typeface="Calibri" pitchFamily="34" charset="0"/>
                <a:ea typeface="Calibri" pitchFamily="34" charset="-122"/>
                <a:cs typeface="Calibri" pitchFamily="34" charset="-120"/>
              </a:rPr>
              <a:t>64</a:t>
            </a:r>
            <a:endParaRPr lang="en-US" sz="4400" dirty="0"/>
          </a:p>
        </p:txBody>
      </p:sp>
      <p:sp>
        <p:nvSpPr>
          <p:cNvPr id="9" name="Text 5"/>
          <p:cNvSpPr txBox="1"/>
          <p:nvPr/>
        </p:nvSpPr>
        <p:spPr>
          <a:xfrm>
            <a:off x="1234440" y="3236976"/>
            <a:ext cx="731520" cy="219456"/>
          </a:xfrm>
          <a:prstGeom prst="rect">
            <a:avLst/>
          </a:prstGeom>
          <a:noFill/>
          <a:ln/>
        </p:spPr>
        <p:txBody>
          <a:bodyPr wrap="square" lIns="0" tIns="0" rIns="0" bIns="0" rtlCol="0" anchor="ctr"/>
          <a:lstStyle/>
          <a:p>
            <a:pPr algn="ctr" indent="0" marL="0">
              <a:buNone/>
            </a:pPr>
            <a:r>
              <a:rPr lang="en-US" sz="1200" dirty="0">
                <a:solidFill>
                  <a:srgbClr val="667089"/>
                </a:solidFill>
                <a:latin typeface="Calibri" pitchFamily="34" charset="0"/>
                <a:ea typeface="Calibri" pitchFamily="34" charset="-122"/>
                <a:cs typeface="Calibri" pitchFamily="34" charset="-120"/>
              </a:rPr>
              <a:t>grade D</a:t>
            </a:r>
            <a:endParaRPr lang="en-US" sz="1200" dirty="0"/>
          </a:p>
        </p:txBody>
      </p:sp>
      <p:sp>
        <p:nvSpPr>
          <p:cNvPr id="10" name="Text 6"/>
          <p:cNvSpPr txBox="1"/>
          <p:nvPr/>
        </p:nvSpPr>
        <p:spPr>
          <a:xfrm>
            <a:off x="2560320" y="2423160"/>
            <a:ext cx="1351178" cy="1463040"/>
          </a:xfrm>
          <a:prstGeom prst="rect">
            <a:avLst/>
          </a:prstGeom>
          <a:noFill/>
          <a:ln/>
        </p:spPr>
        <p:txBody>
          <a:bodyPr wrap="square" lIns="0" tIns="0" rIns="0" bIns="0" rtlCol="0" anchor="t"/>
          <a:lstStyle/>
          <a:p>
            <a:pPr indent="0" marL="0">
              <a:buNone/>
            </a:pPr>
            <a:r>
              <a:rPr lang="en-US" sz="1300" dirty="0">
                <a:solidFill>
                  <a:srgbClr val="44506B"/>
                </a:solidFill>
                <a:latin typeface="Calibri" pitchFamily="34" charset="0"/>
                <a:ea typeface="Calibri" pitchFamily="34" charset="-122"/>
                <a:cs typeface="Calibri" pitchFamily="34" charset="-120"/>
              </a:rPr>
              <a:t>Speed, mobile, accessibility, UX and AI search, each with evidence and ranked fixes.</a:t>
            </a:r>
            <a:endParaRPr lang="en-US" sz="1300" dirty="0"/>
          </a:p>
        </p:txBody>
      </p:sp>
      <p:sp>
        <p:nvSpPr>
          <p:cNvPr id="11" name="Shape 7"/>
          <p:cNvSpPr/>
          <p:nvPr/>
        </p:nvSpPr>
        <p:spPr>
          <a:xfrm>
            <a:off x="4322978" y="1737360"/>
            <a:ext cx="3545738" cy="2788920"/>
          </a:xfrm>
          <a:prstGeom prst="roundRect">
            <a:avLst>
              <a:gd name="adj" fmla="val 393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2" name="Text 8"/>
          <p:cNvSpPr txBox="1"/>
          <p:nvPr/>
        </p:nvSpPr>
        <p:spPr>
          <a:xfrm>
            <a:off x="4551578" y="1874520"/>
            <a:ext cx="3545738" cy="320040"/>
          </a:xfrm>
          <a:prstGeom prst="rect">
            <a:avLst/>
          </a:prstGeom>
          <a:noFill/>
          <a:ln/>
        </p:spPr>
        <p:txBody>
          <a:bodyPr wrap="square" lIns="0" tIns="0" rIns="0" bIns="0" rtlCol="0" anchor="t"/>
          <a:lstStyle/>
          <a:p>
            <a:pPr indent="0" marL="0">
              <a:buNone/>
            </a:pPr>
            <a:r>
              <a:rPr lang="en-US" sz="1200" b="1" spc="200" kern="0" dirty="0">
                <a:solidFill>
                  <a:srgbClr val="667089"/>
                </a:solidFill>
                <a:latin typeface="Calibri" pitchFamily="34" charset="0"/>
                <a:ea typeface="Calibri" pitchFamily="34" charset="-122"/>
                <a:cs typeface="Calibri" pitchFamily="34" charset="-120"/>
              </a:rPr>
              <a:t>REDESIGN</a:t>
            </a:r>
            <a:endParaRPr lang="en-US" sz="1200" dirty="0"/>
          </a:p>
        </p:txBody>
      </p:sp>
      <p:pic>
        <p:nvPicPr>
          <p:cNvPr id="13" name="Image 0" descr="Allbirds homepage before">    </p:cNvPr>
          <p:cNvPicPr>
            <a:picLocks noChangeAspect="1"/>
          </p:cNvPicPr>
          <p:nvPr/>
        </p:nvPicPr>
        <p:blipFill>
          <a:blip r:embed="rId2"/>
          <a:stretch>
            <a:fillRect/>
          </a:stretch>
        </p:blipFill>
        <p:spPr>
          <a:xfrm>
            <a:off x="4505858" y="2286000"/>
            <a:ext cx="1498549" cy="936593"/>
          </a:xfrm>
          <a:prstGeom prst="rect">
            <a:avLst/>
          </a:prstGeom>
        </p:spPr>
      </p:pic>
      <p:pic>
        <p:nvPicPr>
          <p:cNvPr id="14" name="Image 1" descr="Allbirds homepage after the redesign">    </p:cNvPr>
          <p:cNvPicPr>
            <a:picLocks noChangeAspect="1"/>
          </p:cNvPicPr>
          <p:nvPr/>
        </p:nvPicPr>
        <p:blipFill>
          <a:blip r:embed="rId3"/>
          <a:stretch>
            <a:fillRect/>
          </a:stretch>
        </p:blipFill>
        <p:spPr>
          <a:xfrm>
            <a:off x="6187288" y="2286000"/>
            <a:ext cx="1498549" cy="936593"/>
          </a:xfrm>
          <a:prstGeom prst="rect">
            <a:avLst/>
          </a:prstGeom>
        </p:spPr>
      </p:pic>
      <p:sp>
        <p:nvSpPr>
          <p:cNvPr id="15" name="Text 9"/>
          <p:cNvSpPr txBox="1"/>
          <p:nvPr/>
        </p:nvSpPr>
        <p:spPr>
          <a:xfrm>
            <a:off x="4551578" y="3359753"/>
            <a:ext cx="3088538" cy="73152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Accessibility 70 → 98</a:t>
            </a:r>
            <a:endParaRPr lang="en-US" sz="1500" dirty="0"/>
          </a:p>
          <a:p>
            <a:pPr indent="0" marL="0">
              <a:buNone/>
            </a:pPr>
            <a:r>
              <a:rPr lang="en-US" sz="1500" b="1" dirty="0">
                <a:solidFill>
                  <a:srgbClr val="0F9D6B"/>
                </a:solidFill>
                <a:latin typeface="Calibri" pitchFamily="34" charset="0"/>
                <a:ea typeface="Calibri" pitchFamily="34" charset="-122"/>
                <a:cs typeface="Calibri" pitchFamily="34" charset="-120"/>
              </a:rPr>
              <a:t>Mobile 87 → 100</a:t>
            </a:r>
            <a:endParaRPr lang="en-US" sz="1500" dirty="0"/>
          </a:p>
        </p:txBody>
      </p:sp>
      <p:sp>
        <p:nvSpPr>
          <p:cNvPr id="16" name="Shape 10"/>
          <p:cNvSpPr/>
          <p:nvPr/>
        </p:nvSpPr>
        <p:spPr>
          <a:xfrm>
            <a:off x="8097317" y="1737360"/>
            <a:ext cx="3545738" cy="2788920"/>
          </a:xfrm>
          <a:prstGeom prst="roundRect">
            <a:avLst>
              <a:gd name="adj" fmla="val 393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7" name="Text 11"/>
          <p:cNvSpPr txBox="1"/>
          <p:nvPr/>
        </p:nvSpPr>
        <p:spPr>
          <a:xfrm>
            <a:off x="8325917" y="1874520"/>
            <a:ext cx="3545738" cy="320040"/>
          </a:xfrm>
          <a:prstGeom prst="rect">
            <a:avLst/>
          </a:prstGeom>
          <a:noFill/>
          <a:ln/>
        </p:spPr>
        <p:txBody>
          <a:bodyPr wrap="square" lIns="0" tIns="0" rIns="0" bIns="0" rtlCol="0" anchor="t"/>
          <a:lstStyle/>
          <a:p>
            <a:pPr indent="0" marL="0">
              <a:buNone/>
            </a:pPr>
            <a:r>
              <a:rPr lang="en-US" sz="1200" b="1" spc="200" kern="0" dirty="0">
                <a:solidFill>
                  <a:srgbClr val="667089"/>
                </a:solidFill>
                <a:latin typeface="Calibri" pitchFamily="34" charset="0"/>
                <a:ea typeface="Calibri" pitchFamily="34" charset="-122"/>
                <a:cs typeface="Calibri" pitchFamily="34" charset="-120"/>
              </a:rPr>
              <a:t>ESTIMATE</a:t>
            </a:r>
            <a:endParaRPr lang="en-US" sz="1200" dirty="0"/>
          </a:p>
        </p:txBody>
      </p:sp>
      <p:sp>
        <p:nvSpPr>
          <p:cNvPr id="18" name="Text 12"/>
          <p:cNvSpPr txBox="1"/>
          <p:nvPr/>
        </p:nvSpPr>
        <p:spPr>
          <a:xfrm>
            <a:off x="8325917" y="2286000"/>
            <a:ext cx="1371600" cy="320040"/>
          </a:xfrm>
          <a:prstGeom prst="rect">
            <a:avLst/>
          </a:prstGeom>
          <a:noFill/>
          <a:ln/>
        </p:spPr>
        <p:txBody>
          <a:bodyPr wrap="square" lIns="0" tIns="0" rIns="0" bIns="0" rtlCol="0" anchor="t"/>
          <a:lstStyle/>
          <a:p>
            <a:pPr indent="0" marL="0">
              <a:buNone/>
            </a:pPr>
            <a:r>
              <a:rPr lang="en-US" sz="1400" dirty="0">
                <a:solidFill>
                  <a:srgbClr val="1A2033"/>
                </a:solidFill>
                <a:latin typeface="Calibri" pitchFamily="34" charset="0"/>
                <a:ea typeface="Calibri" pitchFamily="34" charset="-122"/>
                <a:cs typeface="Calibri" pitchFamily="34" charset="-120"/>
              </a:rPr>
              <a:t>Team</a:t>
            </a:r>
            <a:endParaRPr lang="en-US" sz="1400" dirty="0"/>
          </a:p>
        </p:txBody>
      </p:sp>
      <p:sp>
        <p:nvSpPr>
          <p:cNvPr id="19" name="Text 13"/>
          <p:cNvSpPr txBox="1"/>
          <p:nvPr/>
        </p:nvSpPr>
        <p:spPr>
          <a:xfrm>
            <a:off x="9560357" y="2286000"/>
            <a:ext cx="1854098" cy="320040"/>
          </a:xfrm>
          <a:prstGeom prst="rect">
            <a:avLst/>
          </a:prstGeom>
          <a:noFill/>
          <a:ln/>
        </p:spPr>
        <p:txBody>
          <a:bodyPr wrap="square" lIns="0" tIns="0" rIns="0" bIns="0" rtlCol="0" anchor="t"/>
          <a:lstStyle/>
          <a:p>
            <a:pPr algn="r" indent="0" marL="0">
              <a:buNone/>
            </a:pPr>
            <a:r>
              <a:rPr lang="en-US" sz="1400" b="1" dirty="0">
                <a:solidFill>
                  <a:srgbClr val="4F6BFF"/>
                </a:solidFill>
                <a:latin typeface="Calibri" pitchFamily="34" charset="0"/>
                <a:ea typeface="Calibri" pitchFamily="34" charset="-122"/>
                <a:cs typeface="Calibri" pitchFamily="34" charset="-120"/>
              </a:rPr>
              <a:t>named experts</a:t>
            </a:r>
            <a:endParaRPr lang="en-US" sz="1400" dirty="0"/>
          </a:p>
        </p:txBody>
      </p:sp>
      <p:sp>
        <p:nvSpPr>
          <p:cNvPr id="20" name="Text 14"/>
          <p:cNvSpPr txBox="1"/>
          <p:nvPr/>
        </p:nvSpPr>
        <p:spPr>
          <a:xfrm>
            <a:off x="8325917" y="2651760"/>
            <a:ext cx="1371600" cy="320040"/>
          </a:xfrm>
          <a:prstGeom prst="rect">
            <a:avLst/>
          </a:prstGeom>
          <a:noFill/>
          <a:ln/>
        </p:spPr>
        <p:txBody>
          <a:bodyPr wrap="square" lIns="0" tIns="0" rIns="0" bIns="0" rtlCol="0" anchor="t"/>
          <a:lstStyle/>
          <a:p>
            <a:pPr indent="0" marL="0">
              <a:buNone/>
            </a:pPr>
            <a:r>
              <a:rPr lang="en-US" sz="1400" dirty="0">
                <a:solidFill>
                  <a:srgbClr val="1A2033"/>
                </a:solidFill>
                <a:latin typeface="Calibri" pitchFamily="34" charset="0"/>
                <a:ea typeface="Calibri" pitchFamily="34" charset="-122"/>
                <a:cs typeface="Calibri" pitchFamily="34" charset="-120"/>
              </a:rPr>
              <a:t>Effort</a:t>
            </a:r>
            <a:endParaRPr lang="en-US" sz="1400" dirty="0"/>
          </a:p>
        </p:txBody>
      </p:sp>
      <p:sp>
        <p:nvSpPr>
          <p:cNvPr id="21" name="Text 15"/>
          <p:cNvSpPr txBox="1"/>
          <p:nvPr/>
        </p:nvSpPr>
        <p:spPr>
          <a:xfrm>
            <a:off x="9560357" y="2651760"/>
            <a:ext cx="1854098" cy="320040"/>
          </a:xfrm>
          <a:prstGeom prst="rect">
            <a:avLst/>
          </a:prstGeom>
          <a:noFill/>
          <a:ln/>
        </p:spPr>
        <p:txBody>
          <a:bodyPr wrap="square" lIns="0" tIns="0" rIns="0" bIns="0" rtlCol="0" anchor="t"/>
          <a:lstStyle/>
          <a:p>
            <a:pPr algn="r" indent="0" marL="0">
              <a:buNone/>
            </a:pPr>
            <a:r>
              <a:rPr lang="en-US" sz="1400" b="1" dirty="0">
                <a:solidFill>
                  <a:srgbClr val="4F6BFF"/>
                </a:solidFill>
                <a:latin typeface="Calibri" pitchFamily="34" charset="0"/>
                <a:ea typeface="Calibri" pitchFamily="34" charset="-122"/>
                <a:cs typeface="Calibri" pitchFamily="34" charset="-120"/>
              </a:rPr>
              <a:t>person-days</a:t>
            </a:r>
            <a:endParaRPr lang="en-US" sz="1400" dirty="0"/>
          </a:p>
        </p:txBody>
      </p:sp>
      <p:sp>
        <p:nvSpPr>
          <p:cNvPr id="22" name="Text 16"/>
          <p:cNvSpPr txBox="1"/>
          <p:nvPr/>
        </p:nvSpPr>
        <p:spPr>
          <a:xfrm>
            <a:off x="8325917" y="3017520"/>
            <a:ext cx="1371600" cy="320040"/>
          </a:xfrm>
          <a:prstGeom prst="rect">
            <a:avLst/>
          </a:prstGeom>
          <a:noFill/>
          <a:ln/>
        </p:spPr>
        <p:txBody>
          <a:bodyPr wrap="square" lIns="0" tIns="0" rIns="0" bIns="0" rtlCol="0" anchor="t"/>
          <a:lstStyle/>
          <a:p>
            <a:pPr indent="0" marL="0">
              <a:buNone/>
            </a:pPr>
            <a:r>
              <a:rPr lang="en-US" sz="1400" dirty="0">
                <a:solidFill>
                  <a:srgbClr val="1A2033"/>
                </a:solidFill>
                <a:latin typeface="Calibri" pitchFamily="34" charset="0"/>
                <a:ea typeface="Calibri" pitchFamily="34" charset="-122"/>
                <a:cs typeface="Calibri" pitchFamily="34" charset="-120"/>
              </a:rPr>
              <a:t>Hours</a:t>
            </a:r>
            <a:endParaRPr lang="en-US" sz="1400" dirty="0"/>
          </a:p>
        </p:txBody>
      </p:sp>
      <p:sp>
        <p:nvSpPr>
          <p:cNvPr id="23" name="Text 17"/>
          <p:cNvSpPr txBox="1"/>
          <p:nvPr/>
        </p:nvSpPr>
        <p:spPr>
          <a:xfrm>
            <a:off x="9560357" y="3017520"/>
            <a:ext cx="1854098" cy="320040"/>
          </a:xfrm>
          <a:prstGeom prst="rect">
            <a:avLst/>
          </a:prstGeom>
          <a:noFill/>
          <a:ln/>
        </p:spPr>
        <p:txBody>
          <a:bodyPr wrap="square" lIns="0" tIns="0" rIns="0" bIns="0" rtlCol="0" anchor="t"/>
          <a:lstStyle/>
          <a:p>
            <a:pPr algn="r" indent="0" marL="0">
              <a:buNone/>
            </a:pPr>
            <a:r>
              <a:rPr lang="en-US" sz="1400" b="1" dirty="0">
                <a:solidFill>
                  <a:srgbClr val="4F6BFF"/>
                </a:solidFill>
                <a:latin typeface="Calibri" pitchFamily="34" charset="0"/>
                <a:ea typeface="Calibri" pitchFamily="34" charset="-122"/>
                <a:cs typeface="Calibri" pitchFamily="34" charset="-120"/>
              </a:rPr>
              <a:t>per skill</a:t>
            </a:r>
            <a:endParaRPr lang="en-US" sz="1400" dirty="0"/>
          </a:p>
        </p:txBody>
      </p:sp>
      <p:sp>
        <p:nvSpPr>
          <p:cNvPr id="24" name="Text 18"/>
          <p:cNvSpPr txBox="1"/>
          <p:nvPr/>
        </p:nvSpPr>
        <p:spPr>
          <a:xfrm>
            <a:off x="8325917" y="3383280"/>
            <a:ext cx="1371600" cy="320040"/>
          </a:xfrm>
          <a:prstGeom prst="rect">
            <a:avLst/>
          </a:prstGeom>
          <a:noFill/>
          <a:ln/>
        </p:spPr>
        <p:txBody>
          <a:bodyPr wrap="square" lIns="0" tIns="0" rIns="0" bIns="0" rtlCol="0" anchor="t"/>
          <a:lstStyle/>
          <a:p>
            <a:pPr indent="0" marL="0">
              <a:buNone/>
            </a:pPr>
            <a:r>
              <a:rPr lang="en-US" sz="1400" dirty="0">
                <a:solidFill>
                  <a:srgbClr val="1A2033"/>
                </a:solidFill>
                <a:latin typeface="Calibri" pitchFamily="34" charset="0"/>
                <a:ea typeface="Calibri" pitchFamily="34" charset="-122"/>
                <a:cs typeface="Calibri" pitchFamily="34" charset="-120"/>
              </a:rPr>
              <a:t>Timeline</a:t>
            </a:r>
            <a:endParaRPr lang="en-US" sz="1400" dirty="0"/>
          </a:p>
        </p:txBody>
      </p:sp>
      <p:sp>
        <p:nvSpPr>
          <p:cNvPr id="25" name="Text 19"/>
          <p:cNvSpPr txBox="1"/>
          <p:nvPr/>
        </p:nvSpPr>
        <p:spPr>
          <a:xfrm>
            <a:off x="9560357" y="3383280"/>
            <a:ext cx="1854098" cy="320040"/>
          </a:xfrm>
          <a:prstGeom prst="rect">
            <a:avLst/>
          </a:prstGeom>
          <a:noFill/>
          <a:ln/>
        </p:spPr>
        <p:txBody>
          <a:bodyPr wrap="square" lIns="0" tIns="0" rIns="0" bIns="0" rtlCol="0" anchor="t"/>
          <a:lstStyle/>
          <a:p>
            <a:pPr algn="r" indent="0" marL="0">
              <a:buNone/>
            </a:pPr>
            <a:r>
              <a:rPr lang="en-US" sz="1400" b="1" dirty="0">
                <a:solidFill>
                  <a:srgbClr val="4F6BFF"/>
                </a:solidFill>
                <a:latin typeface="Calibri" pitchFamily="34" charset="0"/>
                <a:ea typeface="Calibri" pitchFamily="34" charset="-122"/>
                <a:cs typeface="Calibri" pitchFamily="34" charset="-120"/>
              </a:rPr>
              <a:t>weeks</a:t>
            </a:r>
            <a:endParaRPr lang="en-US" sz="1400" dirty="0"/>
          </a:p>
        </p:txBody>
      </p:sp>
      <p:sp>
        <p:nvSpPr>
          <p:cNvPr id="26" name="Text 20"/>
          <p:cNvSpPr txBox="1"/>
          <p:nvPr/>
        </p:nvSpPr>
        <p:spPr>
          <a:xfrm>
            <a:off x="8325917" y="3749040"/>
            <a:ext cx="1371600" cy="320040"/>
          </a:xfrm>
          <a:prstGeom prst="rect">
            <a:avLst/>
          </a:prstGeom>
          <a:noFill/>
          <a:ln/>
        </p:spPr>
        <p:txBody>
          <a:bodyPr wrap="square" lIns="0" tIns="0" rIns="0" bIns="0" rtlCol="0" anchor="t"/>
          <a:lstStyle/>
          <a:p>
            <a:pPr indent="0" marL="0">
              <a:buNone/>
            </a:pPr>
            <a:r>
              <a:rPr lang="en-US" sz="1400" dirty="0">
                <a:solidFill>
                  <a:srgbClr val="1A2033"/>
                </a:solidFill>
                <a:latin typeface="Calibri" pitchFamily="34" charset="0"/>
                <a:ea typeface="Calibri" pitchFamily="34" charset="-122"/>
                <a:cs typeface="Calibri" pitchFamily="34" charset="-120"/>
              </a:rPr>
              <a:t>Cost</a:t>
            </a:r>
            <a:endParaRPr lang="en-US" sz="1400" dirty="0"/>
          </a:p>
        </p:txBody>
      </p:sp>
      <p:sp>
        <p:nvSpPr>
          <p:cNvPr id="27" name="Text 21"/>
          <p:cNvSpPr txBox="1"/>
          <p:nvPr/>
        </p:nvSpPr>
        <p:spPr>
          <a:xfrm>
            <a:off x="9560357" y="3749040"/>
            <a:ext cx="1854098" cy="320040"/>
          </a:xfrm>
          <a:prstGeom prst="rect">
            <a:avLst/>
          </a:prstGeom>
          <a:noFill/>
          <a:ln/>
        </p:spPr>
        <p:txBody>
          <a:bodyPr wrap="square" lIns="0" tIns="0" rIns="0" bIns="0" rtlCol="0" anchor="t"/>
          <a:lstStyle/>
          <a:p>
            <a:pPr algn="r" indent="0" marL="0">
              <a:buNone/>
            </a:pPr>
            <a:r>
              <a:rPr lang="en-US" sz="1400" b="1" dirty="0">
                <a:solidFill>
                  <a:srgbClr val="4F6BFF"/>
                </a:solidFill>
                <a:latin typeface="Calibri" pitchFamily="34" charset="0"/>
                <a:ea typeface="Calibri" pitchFamily="34" charset="-122"/>
                <a:cs typeface="Calibri" pitchFamily="34" charset="-120"/>
              </a:rPr>
              <a:t>price range</a:t>
            </a:r>
            <a:endParaRPr lang="en-US" sz="1400" dirty="0"/>
          </a:p>
        </p:txBody>
      </p:sp>
      <p:sp>
        <p:nvSpPr>
          <p:cNvPr id="28" name="Text 22"/>
          <p:cNvSpPr txBox="1"/>
          <p:nvPr/>
        </p:nvSpPr>
        <p:spPr>
          <a:xfrm>
            <a:off x="8325917" y="4160520"/>
            <a:ext cx="3088538" cy="274320"/>
          </a:xfrm>
          <a:prstGeom prst="rect">
            <a:avLst/>
          </a:prstGeom>
          <a:noFill/>
          <a:ln/>
        </p:spPr>
        <p:txBody>
          <a:bodyPr wrap="square" lIns="0" tIns="0" rIns="0" bIns="0" rtlCol="0" anchor="t"/>
          <a:lstStyle/>
          <a:p>
            <a:pPr indent="0" marL="0">
              <a:buNone/>
            </a:pPr>
            <a:r>
              <a:rPr lang="en-US" sz="1000" i="1" dirty="0">
                <a:solidFill>
                  <a:srgbClr val="667089"/>
                </a:solidFill>
                <a:latin typeface="Calibri" pitchFamily="34" charset="0"/>
                <a:ea typeface="Calibri" pitchFamily="34" charset="-122"/>
                <a:cs typeface="Calibri" pitchFamily="34" charset="-120"/>
              </a:rPr>
              <a:t>Computed from the findings and the rate card.</a:t>
            </a:r>
            <a:endParaRPr lang="en-US" sz="1000" dirty="0"/>
          </a:p>
        </p:txBody>
      </p:sp>
      <p:sp>
        <p:nvSpPr>
          <p:cNvPr id="29" name="Shape 23"/>
          <p:cNvSpPr/>
          <p:nvPr/>
        </p:nvSpPr>
        <p:spPr>
          <a:xfrm>
            <a:off x="548640" y="4754880"/>
            <a:ext cx="3545738"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0" name="Image 2" descr="chart icon">    </p:cNvPr>
          <p:cNvPicPr>
            <a:picLocks noChangeAspect="1"/>
          </p:cNvPicPr>
          <p:nvPr/>
        </p:nvPicPr>
        <p:blipFill>
          <a:blip r:embed="rId4"/>
          <a:stretch>
            <a:fillRect/>
          </a:stretch>
        </p:blipFill>
        <p:spPr>
          <a:xfrm>
            <a:off x="777240" y="4956048"/>
            <a:ext cx="384048" cy="384048"/>
          </a:xfrm>
          <a:prstGeom prst="rect">
            <a:avLst/>
          </a:prstGeom>
        </p:spPr>
      </p:pic>
      <p:sp>
        <p:nvSpPr>
          <p:cNvPr id="31" name="Text 24"/>
          <p:cNvSpPr txBox="1"/>
          <p:nvPr/>
        </p:nvSpPr>
        <p:spPr>
          <a:xfrm>
            <a:off x="1280160" y="49377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Pitch deck</a:t>
            </a:r>
            <a:endParaRPr lang="en-US" sz="1700" dirty="0"/>
          </a:p>
        </p:txBody>
      </p:sp>
      <p:sp>
        <p:nvSpPr>
          <p:cNvPr id="32" name="Text 25"/>
          <p:cNvSpPr txBox="1"/>
          <p:nvPr/>
        </p:nvSpPr>
        <p:spPr>
          <a:xfrm>
            <a:off x="777240" y="5468112"/>
            <a:ext cx="3088538" cy="365760"/>
          </a:xfrm>
          <a:prstGeom prst="rect">
            <a:avLst/>
          </a:prstGeom>
          <a:noFill/>
          <a:ln/>
        </p:spPr>
        <p:txBody>
          <a:bodyPr wrap="square" lIns="0" tIns="0" rIns="0" bIns="0" rtlCol="0" anchor="t"/>
          <a:lstStyle/>
          <a:p>
            <a:pPr indent="0" marL="0">
              <a:buNone/>
            </a:pPr>
            <a:r>
              <a:rPr lang="en-US" sz="1300" dirty="0">
                <a:solidFill>
                  <a:srgbClr val="44506B"/>
                </a:solidFill>
                <a:latin typeface="Calibri" pitchFamily="34" charset="0"/>
                <a:ea typeface="Calibri" pitchFamily="34" charset="-122"/>
                <a:cs typeface="Calibri" pitchFamily="34" charset="-120"/>
              </a:rPr>
              <a:t>PowerPoint, personalised to their site.</a:t>
            </a:r>
            <a:endParaRPr lang="en-US" sz="1300" dirty="0"/>
          </a:p>
        </p:txBody>
      </p:sp>
      <p:sp>
        <p:nvSpPr>
          <p:cNvPr id="33" name="Shape 26"/>
          <p:cNvSpPr/>
          <p:nvPr/>
        </p:nvSpPr>
        <p:spPr>
          <a:xfrm>
            <a:off x="4322978" y="4754880"/>
            <a:ext cx="3545738"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4" name="Image 3" descr="memo icon">    </p:cNvPr>
          <p:cNvPicPr>
            <a:picLocks noChangeAspect="1"/>
          </p:cNvPicPr>
          <p:nvPr/>
        </p:nvPicPr>
        <p:blipFill>
          <a:blip r:embed="rId5"/>
          <a:stretch>
            <a:fillRect/>
          </a:stretch>
        </p:blipFill>
        <p:spPr>
          <a:xfrm>
            <a:off x="4551578" y="4956048"/>
            <a:ext cx="384048" cy="384048"/>
          </a:xfrm>
          <a:prstGeom prst="rect">
            <a:avLst/>
          </a:prstGeom>
        </p:spPr>
      </p:pic>
      <p:sp>
        <p:nvSpPr>
          <p:cNvPr id="35" name="Text 27"/>
          <p:cNvSpPr txBox="1"/>
          <p:nvPr/>
        </p:nvSpPr>
        <p:spPr>
          <a:xfrm>
            <a:off x="5054498" y="49377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Proposal</a:t>
            </a:r>
            <a:endParaRPr lang="en-US" sz="1700" dirty="0"/>
          </a:p>
        </p:txBody>
      </p:sp>
      <p:sp>
        <p:nvSpPr>
          <p:cNvPr id="36" name="Text 28"/>
          <p:cNvSpPr txBox="1"/>
          <p:nvPr/>
        </p:nvSpPr>
        <p:spPr>
          <a:xfrm>
            <a:off x="4551578" y="5468112"/>
            <a:ext cx="3088538" cy="365760"/>
          </a:xfrm>
          <a:prstGeom prst="rect">
            <a:avLst/>
          </a:prstGeom>
          <a:noFill/>
          <a:ln/>
        </p:spPr>
        <p:txBody>
          <a:bodyPr wrap="square" lIns="0" tIns="0" rIns="0" bIns="0" rtlCol="0" anchor="t"/>
          <a:lstStyle/>
          <a:p>
            <a:pPr indent="0" marL="0">
              <a:buNone/>
            </a:pPr>
            <a:r>
              <a:rPr lang="en-US" sz="1300" dirty="0">
                <a:solidFill>
                  <a:srgbClr val="44506B"/>
                </a:solidFill>
                <a:latin typeface="Calibri" pitchFamily="34" charset="0"/>
                <a:ea typeface="Calibri" pitchFamily="34" charset="-122"/>
                <a:cs typeface="Calibri" pitchFamily="34" charset="-120"/>
              </a:rPr>
              <a:t>Written, with scope and team.</a:t>
            </a:r>
            <a:endParaRPr lang="en-US" sz="1300" dirty="0"/>
          </a:p>
        </p:txBody>
      </p:sp>
      <p:sp>
        <p:nvSpPr>
          <p:cNvPr id="37" name="Shape 29"/>
          <p:cNvSpPr/>
          <p:nvPr/>
        </p:nvSpPr>
        <p:spPr>
          <a:xfrm>
            <a:off x="8097317" y="4754880"/>
            <a:ext cx="3545738"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8" name="Image 4" descr="person icon">    </p:cNvPr>
          <p:cNvPicPr>
            <a:picLocks noChangeAspect="1"/>
          </p:cNvPicPr>
          <p:nvPr/>
        </p:nvPicPr>
        <p:blipFill>
          <a:blip r:embed="rId6"/>
          <a:stretch>
            <a:fillRect/>
          </a:stretch>
        </p:blipFill>
        <p:spPr>
          <a:xfrm>
            <a:off x="8325917" y="4956048"/>
            <a:ext cx="384048" cy="384048"/>
          </a:xfrm>
          <a:prstGeom prst="rect">
            <a:avLst/>
          </a:prstGeom>
        </p:spPr>
      </p:pic>
      <p:sp>
        <p:nvSpPr>
          <p:cNvPr id="39" name="Text 30"/>
          <p:cNvSpPr txBox="1"/>
          <p:nvPr/>
        </p:nvSpPr>
        <p:spPr>
          <a:xfrm>
            <a:off x="8828837" y="49377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Human review</a:t>
            </a:r>
            <a:endParaRPr lang="en-US" sz="1700" dirty="0"/>
          </a:p>
        </p:txBody>
      </p:sp>
      <p:sp>
        <p:nvSpPr>
          <p:cNvPr id="40" name="Text 31"/>
          <p:cNvSpPr txBox="1"/>
          <p:nvPr/>
        </p:nvSpPr>
        <p:spPr>
          <a:xfrm>
            <a:off x="8325917" y="5468112"/>
            <a:ext cx="3088538" cy="365760"/>
          </a:xfrm>
          <a:prstGeom prst="rect">
            <a:avLst/>
          </a:prstGeom>
          <a:noFill/>
          <a:ln/>
        </p:spPr>
        <p:txBody>
          <a:bodyPr wrap="square" lIns="0" tIns="0" rIns="0" bIns="0" rtlCol="0" anchor="t"/>
          <a:lstStyle/>
          <a:p>
            <a:pPr indent="0" marL="0">
              <a:buNone/>
            </a:pPr>
            <a:r>
              <a:rPr lang="en-US" sz="1300" dirty="0">
                <a:solidFill>
                  <a:srgbClr val="44506B"/>
                </a:solidFill>
                <a:latin typeface="Calibri" pitchFamily="34" charset="0"/>
                <a:ea typeface="Calibri" pitchFamily="34" charset="-122"/>
                <a:cs typeface="Calibri" pitchFamily="34" charset="-120"/>
              </a:rPr>
              <a:t>Nothing is sent without approval.</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WHAT ONE ANALYSIS COSTS</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Only the AI model costs money. Everything else is free.</a:t>
            </a:r>
            <a:endParaRPr lang="en-US" sz="3400" dirty="0"/>
          </a:p>
        </p:txBody>
      </p:sp>
      <p:sp>
        <p:nvSpPr>
          <p:cNvPr id="5" name="Shape 2"/>
          <p:cNvSpPr/>
          <p:nvPr/>
        </p:nvSpPr>
        <p:spPr>
          <a:xfrm>
            <a:off x="548640" y="1737360"/>
            <a:ext cx="5410048" cy="2743200"/>
          </a:xfrm>
          <a:prstGeom prst="roundRect">
            <a:avLst>
              <a:gd name="adj" fmla="val 4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card icon">    </p:cNvPr>
          <p:cNvPicPr>
            <a:picLocks noChangeAspect="1"/>
          </p:cNvPicPr>
          <p:nvPr/>
        </p:nvPicPr>
        <p:blipFill>
          <a:blip r:embed="rId1"/>
          <a:stretch>
            <a:fillRect/>
          </a:stretch>
        </p:blipFill>
        <p:spPr>
          <a:xfrm>
            <a:off x="777240" y="1874520"/>
            <a:ext cx="384048" cy="384048"/>
          </a:xfrm>
          <a:prstGeom prst="rect">
            <a:avLst/>
          </a:prstGeom>
        </p:spPr>
      </p:pic>
      <p:sp>
        <p:nvSpPr>
          <p:cNvPr id="7" name="Text 3"/>
          <p:cNvSpPr txBox="1"/>
          <p:nvPr/>
        </p:nvSpPr>
        <p:spPr>
          <a:xfrm>
            <a:off x="1280160" y="1856232"/>
            <a:ext cx="4495648" cy="411480"/>
          </a:xfrm>
          <a:prstGeom prst="rect">
            <a:avLst/>
          </a:prstGeom>
          <a:noFill/>
          <a:ln/>
        </p:spPr>
        <p:txBody>
          <a:bodyPr wrap="square" lIns="0" tIns="0" rIns="0" bIns="0" rtlCol="0" anchor="ctr"/>
          <a:lstStyle/>
          <a:p>
            <a:pPr indent="0" marL="0">
              <a:buNone/>
            </a:pPr>
            <a:r>
              <a:rPr lang="en-US" sz="1800" b="1" dirty="0">
                <a:solidFill>
                  <a:srgbClr val="1A2033"/>
                </a:solidFill>
                <a:latin typeface="Calibri" pitchFamily="34" charset="0"/>
                <a:ea typeface="Calibri" pitchFamily="34" charset="-122"/>
                <a:cs typeface="Calibri" pitchFamily="34" charset="-120"/>
              </a:rPr>
              <a:t>Paid: model tokens</a:t>
            </a:r>
            <a:endParaRPr lang="en-US" sz="1800" dirty="0"/>
          </a:p>
        </p:txBody>
      </p:sp>
      <p:sp>
        <p:nvSpPr>
          <p:cNvPr id="8" name="Text 4"/>
          <p:cNvSpPr txBox="1"/>
          <p:nvPr/>
        </p:nvSpPr>
        <p:spPr>
          <a:xfrm>
            <a:off x="822960" y="2377440"/>
            <a:ext cx="4952848" cy="685800"/>
          </a:xfrm>
          <a:prstGeom prst="rect">
            <a:avLst/>
          </a:prstGeom>
          <a:noFill/>
          <a:ln/>
        </p:spPr>
        <p:txBody>
          <a:bodyPr wrap="square" lIns="0" tIns="0" rIns="0" bIns="0" rtlCol="0" anchor="ctr"/>
          <a:lstStyle/>
          <a:p>
            <a:pPr indent="0" marL="0">
              <a:buNone/>
            </a:pPr>
            <a:r>
              <a:rPr lang="en-US" sz="4000" b="1" dirty="0">
                <a:solidFill>
                  <a:srgbClr val="1A2033"/>
                </a:solidFill>
                <a:latin typeface="Calibri" pitchFamily="34" charset="0"/>
                <a:ea typeface="Calibri" pitchFamily="34" charset="-122"/>
                <a:cs typeface="Calibri" pitchFamily="34" charset="-120"/>
              </a:rPr>
              <a:t>$2</a:t>
            </a:r>
            <a:pPr indent="0" marL="0">
              <a:buNone/>
            </a:pPr>
            <a:r>
              <a:rPr lang="en-US" sz="1400" dirty="0">
                <a:solidFill>
                  <a:srgbClr val="667089"/>
                </a:solidFill>
                <a:latin typeface="Calibri" pitchFamily="34" charset="0"/>
                <a:ea typeface="Calibri" pitchFamily="34" charset="-122"/>
                <a:cs typeface="Calibri" pitchFamily="34" charset="-120"/>
              </a:rPr>
              <a:t>  per 1M input tokens</a:t>
            </a:r>
            <a:endParaRPr lang="en-US" sz="1400" dirty="0"/>
          </a:p>
        </p:txBody>
      </p:sp>
      <p:sp>
        <p:nvSpPr>
          <p:cNvPr id="9" name="Text 5"/>
          <p:cNvSpPr txBox="1"/>
          <p:nvPr/>
        </p:nvSpPr>
        <p:spPr>
          <a:xfrm>
            <a:off x="822960" y="3063240"/>
            <a:ext cx="4952848" cy="685800"/>
          </a:xfrm>
          <a:prstGeom prst="rect">
            <a:avLst/>
          </a:prstGeom>
          <a:noFill/>
          <a:ln/>
        </p:spPr>
        <p:txBody>
          <a:bodyPr wrap="square" lIns="0" tIns="0" rIns="0" bIns="0" rtlCol="0" anchor="ctr"/>
          <a:lstStyle/>
          <a:p>
            <a:pPr indent="0" marL="0">
              <a:buNone/>
            </a:pPr>
            <a:r>
              <a:rPr lang="en-US" sz="4000" b="1" dirty="0">
                <a:solidFill>
                  <a:srgbClr val="1A2033"/>
                </a:solidFill>
                <a:latin typeface="Calibri" pitchFamily="34" charset="0"/>
                <a:ea typeface="Calibri" pitchFamily="34" charset="-122"/>
                <a:cs typeface="Calibri" pitchFamily="34" charset="-120"/>
              </a:rPr>
              <a:t>$10</a:t>
            </a:r>
            <a:pPr indent="0" marL="0">
              <a:buNone/>
            </a:pPr>
            <a:r>
              <a:rPr lang="en-US" sz="1400" dirty="0">
                <a:solidFill>
                  <a:srgbClr val="667089"/>
                </a:solidFill>
                <a:latin typeface="Calibri" pitchFamily="34" charset="0"/>
                <a:ea typeface="Calibri" pitchFamily="34" charset="-122"/>
                <a:cs typeface="Calibri" pitchFamily="34" charset="-120"/>
              </a:rPr>
              <a:t>  per 1M output tokens</a:t>
            </a:r>
            <a:endParaRPr lang="en-US" sz="1400" dirty="0"/>
          </a:p>
        </p:txBody>
      </p:sp>
      <p:sp>
        <p:nvSpPr>
          <p:cNvPr id="10" name="Text 6"/>
          <p:cNvSpPr txBox="1"/>
          <p:nvPr/>
        </p:nvSpPr>
        <p:spPr>
          <a:xfrm>
            <a:off x="822960" y="3794760"/>
            <a:ext cx="4861408" cy="594360"/>
          </a:xfrm>
          <a:prstGeom prst="rect">
            <a:avLst/>
          </a:prstGeom>
          <a:noFill/>
          <a:ln/>
        </p:spPr>
        <p:txBody>
          <a:bodyPr wrap="square" lIns="0" tIns="0" rIns="0" bIns="0" rtlCol="0" anchor="t"/>
          <a:lstStyle/>
          <a:p>
            <a:pPr indent="0" marL="0">
              <a:buNone/>
            </a:pPr>
            <a:r>
              <a:rPr lang="en-US" sz="1200" dirty="0">
                <a:solidFill>
                  <a:srgbClr val="44506B"/>
                </a:solidFill>
                <a:latin typeface="Calibri" pitchFamily="34" charset="0"/>
                <a:ea typeface="Calibri" pitchFamily="34" charset="-122"/>
                <a:cs typeface="Calibri" pitchFamily="34" charset="-120"/>
              </a:rPr>
              <a:t>Claude Sonnet 5.5. The dashboard now shows the tokens and cost of every agent, and the total for each run.</a:t>
            </a:r>
            <a:endParaRPr lang="en-US" sz="1200" dirty="0"/>
          </a:p>
        </p:txBody>
      </p:sp>
      <p:sp>
        <p:nvSpPr>
          <p:cNvPr id="11" name="Shape 7"/>
          <p:cNvSpPr/>
          <p:nvPr/>
        </p:nvSpPr>
        <p:spPr>
          <a:xfrm>
            <a:off x="6233008" y="1737360"/>
            <a:ext cx="5410048" cy="2743200"/>
          </a:xfrm>
          <a:prstGeom prst="roundRect">
            <a:avLst>
              <a:gd name="adj" fmla="val 4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2" name="Image 1" descr="free icon">    </p:cNvPr>
          <p:cNvPicPr>
            <a:picLocks noChangeAspect="1"/>
          </p:cNvPicPr>
          <p:nvPr/>
        </p:nvPicPr>
        <p:blipFill>
          <a:blip r:embed="rId2"/>
          <a:stretch>
            <a:fillRect/>
          </a:stretch>
        </p:blipFill>
        <p:spPr>
          <a:xfrm>
            <a:off x="6461608" y="1874520"/>
            <a:ext cx="384048" cy="384048"/>
          </a:xfrm>
          <a:prstGeom prst="rect">
            <a:avLst/>
          </a:prstGeom>
        </p:spPr>
      </p:pic>
      <p:sp>
        <p:nvSpPr>
          <p:cNvPr id="13" name="Text 8"/>
          <p:cNvSpPr txBox="1"/>
          <p:nvPr/>
        </p:nvSpPr>
        <p:spPr>
          <a:xfrm>
            <a:off x="6964528" y="1856232"/>
            <a:ext cx="4495648" cy="411480"/>
          </a:xfrm>
          <a:prstGeom prst="rect">
            <a:avLst/>
          </a:prstGeom>
          <a:noFill/>
          <a:ln/>
        </p:spPr>
        <p:txBody>
          <a:bodyPr wrap="square" lIns="0" tIns="0" rIns="0" bIns="0" rtlCol="0" anchor="ctr"/>
          <a:lstStyle/>
          <a:p>
            <a:pPr indent="0" marL="0">
              <a:buNone/>
            </a:pPr>
            <a:r>
              <a:rPr lang="en-US" sz="1800" b="1" dirty="0">
                <a:solidFill>
                  <a:srgbClr val="1A2033"/>
                </a:solidFill>
                <a:latin typeface="Calibri" pitchFamily="34" charset="0"/>
                <a:ea typeface="Calibri" pitchFamily="34" charset="-122"/>
                <a:cs typeface="Calibri" pitchFamily="34" charset="-120"/>
              </a:rPr>
              <a:t>Free: everything else</a:t>
            </a:r>
            <a:endParaRPr lang="en-US" sz="1800" dirty="0"/>
          </a:p>
        </p:txBody>
      </p:sp>
      <p:sp>
        <p:nvSpPr>
          <p:cNvPr id="14" name="Text 9"/>
          <p:cNvSpPr txBox="1"/>
          <p:nvPr/>
        </p:nvSpPr>
        <p:spPr>
          <a:xfrm>
            <a:off x="6507328" y="2468880"/>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15" name="Text 10"/>
          <p:cNvSpPr txBox="1"/>
          <p:nvPr/>
        </p:nvSpPr>
        <p:spPr>
          <a:xfrm>
            <a:off x="6891376" y="2468880"/>
            <a:ext cx="4477360" cy="49530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Lighthouse, Playwright and axe-core are open source</a:t>
            </a:r>
            <a:endParaRPr lang="en-US" sz="1500" dirty="0"/>
          </a:p>
        </p:txBody>
      </p:sp>
      <p:sp>
        <p:nvSpPr>
          <p:cNvPr id="16" name="Text 11"/>
          <p:cNvSpPr txBox="1"/>
          <p:nvPr/>
        </p:nvSpPr>
        <p:spPr>
          <a:xfrm>
            <a:off x="6507328" y="3068955"/>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17" name="Text 12"/>
          <p:cNvSpPr txBox="1"/>
          <p:nvPr/>
        </p:nvSpPr>
        <p:spPr>
          <a:xfrm>
            <a:off x="6891376" y="3068955"/>
            <a:ext cx="4477360" cy="24765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Tech detection reads network traffic locally</a:t>
            </a:r>
            <a:endParaRPr lang="en-US" sz="1500" dirty="0"/>
          </a:p>
        </p:txBody>
      </p:sp>
      <p:sp>
        <p:nvSpPr>
          <p:cNvPr id="18" name="Text 13"/>
          <p:cNvSpPr txBox="1"/>
          <p:nvPr/>
        </p:nvSpPr>
        <p:spPr>
          <a:xfrm>
            <a:off x="6507328" y="3421380"/>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19" name="Text 14"/>
          <p:cNvSpPr txBox="1"/>
          <p:nvPr/>
        </p:nvSpPr>
        <p:spPr>
          <a:xfrm>
            <a:off x="6891376" y="3421380"/>
            <a:ext cx="4477360" cy="24765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Replay of any past run costs nothing</a:t>
            </a:r>
            <a:endParaRPr lang="en-US" sz="1500" dirty="0"/>
          </a:p>
        </p:txBody>
      </p:sp>
      <p:sp>
        <p:nvSpPr>
          <p:cNvPr id="20" name="Text 15"/>
          <p:cNvSpPr txBox="1"/>
          <p:nvPr/>
        </p:nvSpPr>
        <p:spPr>
          <a:xfrm>
            <a:off x="6507328" y="3773805"/>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21" name="Text 16"/>
          <p:cNvSpPr txBox="1"/>
          <p:nvPr/>
        </p:nvSpPr>
        <p:spPr>
          <a:xfrm>
            <a:off x="6891376" y="3773805"/>
            <a:ext cx="4477360" cy="24765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Offline mode runs with no model at all</a:t>
            </a:r>
            <a:endParaRPr lang="en-US" sz="1500" dirty="0"/>
          </a:p>
        </p:txBody>
      </p:sp>
      <p:sp>
        <p:nvSpPr>
          <p:cNvPr id="22" name="Shape 17"/>
          <p:cNvSpPr/>
          <p:nvPr/>
        </p:nvSpPr>
        <p:spPr>
          <a:xfrm>
            <a:off x="548640" y="4709160"/>
            <a:ext cx="3545738"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3" name="Text 18"/>
          <p:cNvSpPr txBox="1"/>
          <p:nvPr/>
        </p:nvSpPr>
        <p:spPr>
          <a:xfrm>
            <a:off x="777240" y="4846320"/>
            <a:ext cx="3088538" cy="653796"/>
          </a:xfrm>
          <a:prstGeom prst="rect">
            <a:avLst/>
          </a:prstGeom>
          <a:noFill/>
          <a:ln/>
        </p:spPr>
        <p:txBody>
          <a:bodyPr wrap="square" lIns="0" tIns="0" rIns="0" bIns="0" rtlCol="0" anchor="ctr"/>
          <a:lstStyle/>
          <a:p>
            <a:pPr indent="0" marL="0">
              <a:buNone/>
            </a:pPr>
            <a:r>
              <a:rPr lang="en-US" sz="3600" b="1" dirty="0">
                <a:solidFill>
                  <a:srgbClr val="1A2033"/>
                </a:solidFill>
                <a:latin typeface="Calibri" pitchFamily="34" charset="0"/>
                <a:ea typeface="Calibri" pitchFamily="34" charset="-122"/>
                <a:cs typeface="Calibri" pitchFamily="34" charset="-120"/>
              </a:rPr>
              <a:t>1.5–3 min</a:t>
            </a:r>
            <a:endParaRPr lang="en-US" sz="3600" dirty="0"/>
          </a:p>
        </p:txBody>
      </p:sp>
      <p:sp>
        <p:nvSpPr>
          <p:cNvPr id="24" name="Text 19"/>
          <p:cNvSpPr txBox="1"/>
          <p:nvPr/>
        </p:nvSpPr>
        <p:spPr>
          <a:xfrm>
            <a:off x="777240" y="5446166"/>
            <a:ext cx="3088538" cy="39227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per run in our tests</a:t>
            </a:r>
            <a:endParaRPr lang="en-US" sz="1300" dirty="0"/>
          </a:p>
        </p:txBody>
      </p:sp>
      <p:sp>
        <p:nvSpPr>
          <p:cNvPr id="25" name="Shape 20"/>
          <p:cNvSpPr/>
          <p:nvPr/>
        </p:nvSpPr>
        <p:spPr>
          <a:xfrm>
            <a:off x="4322978" y="4709160"/>
            <a:ext cx="3545738"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6" name="Text 21"/>
          <p:cNvSpPr txBox="1"/>
          <p:nvPr/>
        </p:nvSpPr>
        <p:spPr>
          <a:xfrm>
            <a:off x="4551578" y="4846320"/>
            <a:ext cx="3088538" cy="653796"/>
          </a:xfrm>
          <a:prstGeom prst="rect">
            <a:avLst/>
          </a:prstGeom>
          <a:noFill/>
          <a:ln/>
        </p:spPr>
        <p:txBody>
          <a:bodyPr wrap="square" lIns="0" tIns="0" rIns="0" bIns="0" rtlCol="0" anchor="ctr"/>
          <a:lstStyle/>
          <a:p>
            <a:pPr indent="0" marL="0">
              <a:buNone/>
            </a:pPr>
            <a:r>
              <a:rPr lang="en-US" sz="3600" b="1" dirty="0">
                <a:solidFill>
                  <a:srgbClr val="1A2033"/>
                </a:solidFill>
                <a:latin typeface="Calibri" pitchFamily="34" charset="0"/>
                <a:ea typeface="Calibri" pitchFamily="34" charset="-122"/>
                <a:cs typeface="Calibri" pitchFamily="34" charset="-120"/>
              </a:rPr>
              <a:t>4</a:t>
            </a:r>
            <a:endParaRPr lang="en-US" sz="3600" dirty="0"/>
          </a:p>
        </p:txBody>
      </p:sp>
      <p:sp>
        <p:nvSpPr>
          <p:cNvPr id="27" name="Text 22"/>
          <p:cNvSpPr txBox="1"/>
          <p:nvPr/>
        </p:nvSpPr>
        <p:spPr>
          <a:xfrm>
            <a:off x="4551578" y="5446166"/>
            <a:ext cx="3088538" cy="39227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agents call the model; 7 use only tools</a:t>
            </a:r>
            <a:endParaRPr lang="en-US" sz="1300" dirty="0"/>
          </a:p>
        </p:txBody>
      </p:sp>
      <p:sp>
        <p:nvSpPr>
          <p:cNvPr id="28" name="Shape 23"/>
          <p:cNvSpPr/>
          <p:nvPr/>
        </p:nvSpPr>
        <p:spPr>
          <a:xfrm>
            <a:off x="8097317" y="4709160"/>
            <a:ext cx="3545738"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9" name="Text 24"/>
          <p:cNvSpPr txBox="1"/>
          <p:nvPr/>
        </p:nvSpPr>
        <p:spPr>
          <a:xfrm>
            <a:off x="8325917" y="4846320"/>
            <a:ext cx="3088538" cy="653796"/>
          </a:xfrm>
          <a:prstGeom prst="rect">
            <a:avLst/>
          </a:prstGeom>
          <a:noFill/>
          <a:ln/>
        </p:spPr>
        <p:txBody>
          <a:bodyPr wrap="square" lIns="0" tIns="0" rIns="0" bIns="0" rtlCol="0" anchor="ctr"/>
          <a:lstStyle/>
          <a:p>
            <a:pPr indent="0" marL="0">
              <a:buNone/>
            </a:pPr>
            <a:r>
              <a:rPr lang="en-US" sz="3600" b="1" dirty="0">
                <a:solidFill>
                  <a:srgbClr val="0F9D6B"/>
                </a:solidFill>
                <a:latin typeface="Calibri" pitchFamily="34" charset="0"/>
                <a:ea typeface="Calibri" pitchFamily="34" charset="-122"/>
                <a:cs typeface="Calibri" pitchFamily="34" charset="-120"/>
              </a:rPr>
              <a:t>$0</a:t>
            </a:r>
            <a:endParaRPr lang="en-US" sz="3600" dirty="0"/>
          </a:p>
        </p:txBody>
      </p:sp>
      <p:sp>
        <p:nvSpPr>
          <p:cNvPr id="30" name="Text 25"/>
          <p:cNvSpPr txBox="1"/>
          <p:nvPr/>
        </p:nvSpPr>
        <p:spPr>
          <a:xfrm>
            <a:off x="8325917" y="5446166"/>
            <a:ext cx="3088538" cy="39227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to replay a saved run</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PITCH</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A deck ready for their CMO</a:t>
            </a:r>
            <a:endParaRPr lang="en-US" sz="3400" dirty="0"/>
          </a:p>
        </p:txBody>
      </p:sp>
      <p:sp>
        <p:nvSpPr>
          <p:cNvPr id="5" name="Shape 2"/>
          <p:cNvSpPr/>
          <p:nvPr/>
        </p:nvSpPr>
        <p:spPr>
          <a:xfrm>
            <a:off x="548640" y="2002536"/>
            <a:ext cx="2057400" cy="2743200"/>
          </a:xfrm>
          <a:prstGeom prst="roundRect">
            <a:avLst>
              <a:gd name="adj" fmla="val 5333"/>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Shape 3"/>
          <p:cNvSpPr/>
          <p:nvPr/>
        </p:nvSpPr>
        <p:spPr>
          <a:xfrm>
            <a:off x="548640" y="2002536"/>
            <a:ext cx="2057400" cy="685800"/>
          </a:xfrm>
          <a:prstGeom prst="roundRect">
            <a:avLst>
              <a:gd name="adj" fmla="val 16000"/>
            </a:avLst>
          </a:prstGeom>
          <a:solidFill>
            <a:srgbClr val="4F6BFF"/>
          </a:solidFill>
          <a:ln w="12700">
            <a:solidFill>
              <a:srgbClr val="4F6BFF"/>
            </a:solidFill>
            <a:prstDash val="solid"/>
          </a:ln>
        </p:spPr>
      </p:sp>
      <p:sp>
        <p:nvSpPr>
          <p:cNvPr id="7" name="Shape 4"/>
          <p:cNvSpPr/>
          <p:nvPr/>
        </p:nvSpPr>
        <p:spPr>
          <a:xfrm>
            <a:off x="548640" y="2414016"/>
            <a:ext cx="2057400" cy="274320"/>
          </a:xfrm>
          <a:prstGeom prst="rect">
            <a:avLst/>
          </a:prstGeom>
          <a:solidFill>
            <a:srgbClr val="4F6BFF"/>
          </a:solidFill>
          <a:ln w="12700">
            <a:solidFill>
              <a:srgbClr val="4F6BFF"/>
            </a:solidFill>
            <a:prstDash val="solid"/>
          </a:ln>
        </p:spPr>
      </p:sp>
      <p:sp>
        <p:nvSpPr>
          <p:cNvPr id="8" name="Text 5"/>
          <p:cNvSpPr txBox="1"/>
          <p:nvPr/>
        </p:nvSpPr>
        <p:spPr>
          <a:xfrm>
            <a:off x="685800" y="2048256"/>
            <a:ext cx="1783080" cy="6217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  Your site today</a:t>
            </a:r>
            <a:endParaRPr lang="en-US" sz="1200" dirty="0"/>
          </a:p>
        </p:txBody>
      </p:sp>
      <p:sp>
        <p:nvSpPr>
          <p:cNvPr id="9" name="Text 6"/>
          <p:cNvSpPr txBox="1"/>
          <p:nvPr/>
        </p:nvSpPr>
        <p:spPr>
          <a:xfrm>
            <a:off x="731520" y="2962656"/>
            <a:ext cx="1691640" cy="914400"/>
          </a:xfrm>
          <a:prstGeom prst="rect">
            <a:avLst/>
          </a:prstGeom>
          <a:noFill/>
          <a:ln/>
        </p:spPr>
        <p:txBody>
          <a:bodyPr wrap="square" lIns="0" tIns="0" rIns="0" bIns="0" rtlCol="0" anchor="t"/>
          <a:lstStyle/>
          <a:p>
            <a:pPr algn="ctr" indent="0" marL="0">
              <a:buNone/>
            </a:pPr>
            <a:r>
              <a:rPr lang="en-US" sz="5400" b="1" dirty="0">
                <a:solidFill>
                  <a:srgbClr val="D64545"/>
                </a:solidFill>
                <a:latin typeface="Calibri" pitchFamily="34" charset="0"/>
                <a:ea typeface="Calibri" pitchFamily="34" charset="-122"/>
                <a:cs typeface="Calibri" pitchFamily="34" charset="-120"/>
              </a:rPr>
              <a:t>64</a:t>
            </a:r>
            <a:endParaRPr lang="en-US" sz="5400" dirty="0"/>
          </a:p>
        </p:txBody>
      </p:sp>
      <p:sp>
        <p:nvSpPr>
          <p:cNvPr id="10" name="Text 7"/>
          <p:cNvSpPr txBox="1"/>
          <p:nvPr/>
        </p:nvSpPr>
        <p:spPr>
          <a:xfrm>
            <a:off x="731520" y="3968496"/>
            <a:ext cx="1691640" cy="320040"/>
          </a:xfrm>
          <a:prstGeom prst="rect">
            <a:avLst/>
          </a:prstGeom>
          <a:noFill/>
          <a:ln/>
        </p:spPr>
        <p:txBody>
          <a:bodyPr wrap="square" lIns="0" tIns="0" rIns="0" bIns="0" rtlCol="0" anchor="t"/>
          <a:lstStyle/>
          <a:p>
            <a:pPr algn="ctr" indent="0" marL="0">
              <a:buNone/>
            </a:pPr>
            <a:r>
              <a:rPr lang="en-US" sz="1100" dirty="0">
                <a:solidFill>
                  <a:srgbClr val="667089"/>
                </a:solidFill>
                <a:latin typeface="Calibri" pitchFamily="34" charset="0"/>
                <a:ea typeface="Calibri" pitchFamily="34" charset="-122"/>
                <a:cs typeface="Calibri" pitchFamily="34" charset="-120"/>
              </a:rPr>
              <a:t>/ 100 · grade D</a:t>
            </a:r>
            <a:endParaRPr lang="en-US" sz="1100" dirty="0"/>
          </a:p>
        </p:txBody>
      </p:sp>
      <p:sp>
        <p:nvSpPr>
          <p:cNvPr id="11" name="Shape 8"/>
          <p:cNvSpPr/>
          <p:nvPr/>
        </p:nvSpPr>
        <p:spPr>
          <a:xfrm>
            <a:off x="2807208" y="1892808"/>
            <a:ext cx="2057400" cy="2743200"/>
          </a:xfrm>
          <a:prstGeom prst="roundRect">
            <a:avLst>
              <a:gd name="adj" fmla="val 5333"/>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2" name="Shape 9"/>
          <p:cNvSpPr/>
          <p:nvPr/>
        </p:nvSpPr>
        <p:spPr>
          <a:xfrm>
            <a:off x="2807208" y="1892808"/>
            <a:ext cx="2057400" cy="685800"/>
          </a:xfrm>
          <a:prstGeom prst="roundRect">
            <a:avLst>
              <a:gd name="adj" fmla="val 16000"/>
            </a:avLst>
          </a:prstGeom>
          <a:solidFill>
            <a:srgbClr val="4F6BFF"/>
          </a:solidFill>
          <a:ln w="12700">
            <a:solidFill>
              <a:srgbClr val="4F6BFF"/>
            </a:solidFill>
            <a:prstDash val="solid"/>
          </a:ln>
        </p:spPr>
      </p:sp>
      <p:sp>
        <p:nvSpPr>
          <p:cNvPr id="13" name="Shape 10"/>
          <p:cNvSpPr/>
          <p:nvPr/>
        </p:nvSpPr>
        <p:spPr>
          <a:xfrm>
            <a:off x="2807208" y="2304288"/>
            <a:ext cx="2057400" cy="274320"/>
          </a:xfrm>
          <a:prstGeom prst="rect">
            <a:avLst/>
          </a:prstGeom>
          <a:solidFill>
            <a:srgbClr val="4F6BFF"/>
          </a:solidFill>
          <a:ln w="12700">
            <a:solidFill>
              <a:srgbClr val="4F6BFF"/>
            </a:solidFill>
            <a:prstDash val="solid"/>
          </a:ln>
        </p:spPr>
      </p:sp>
      <p:sp>
        <p:nvSpPr>
          <p:cNvPr id="14" name="Text 11"/>
          <p:cNvSpPr txBox="1"/>
          <p:nvPr/>
        </p:nvSpPr>
        <p:spPr>
          <a:xfrm>
            <a:off x="2944368" y="1938528"/>
            <a:ext cx="1783080" cy="6217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  What is costing you customers</a:t>
            </a:r>
            <a:endParaRPr lang="en-US" sz="1200" dirty="0"/>
          </a:p>
        </p:txBody>
      </p:sp>
      <p:sp>
        <p:nvSpPr>
          <p:cNvPr id="15" name="Text 12"/>
          <p:cNvSpPr txBox="1"/>
          <p:nvPr/>
        </p:nvSpPr>
        <p:spPr>
          <a:xfrm>
            <a:off x="2990088" y="2898648"/>
            <a:ext cx="777240" cy="274320"/>
          </a:xfrm>
          <a:prstGeom prst="rect">
            <a:avLst/>
          </a:prstGeom>
          <a:noFill/>
          <a:ln/>
        </p:spPr>
        <p:txBody>
          <a:bodyPr wrap="square" lIns="0" tIns="0" rIns="0" bIns="0" rtlCol="0" anchor="t"/>
          <a:lstStyle/>
          <a:p>
            <a:pPr indent="0" marL="0">
              <a:buNone/>
            </a:pPr>
            <a:r>
              <a:rPr lang="en-US" sz="1000" dirty="0">
                <a:solidFill>
                  <a:srgbClr val="1A2033"/>
                </a:solidFill>
                <a:latin typeface="Calibri" pitchFamily="34" charset="0"/>
                <a:ea typeface="Calibri" pitchFamily="34" charset="-122"/>
                <a:cs typeface="Calibri" pitchFamily="34" charset="-120"/>
              </a:rPr>
              <a:t>Speed</a:t>
            </a:r>
            <a:endParaRPr lang="en-US" sz="1000" dirty="0"/>
          </a:p>
        </p:txBody>
      </p:sp>
      <p:sp>
        <p:nvSpPr>
          <p:cNvPr id="16" name="Shape 13"/>
          <p:cNvSpPr/>
          <p:nvPr/>
        </p:nvSpPr>
        <p:spPr>
          <a:xfrm>
            <a:off x="3767328" y="2971800"/>
            <a:ext cx="347472" cy="146304"/>
          </a:xfrm>
          <a:prstGeom prst="roundRect">
            <a:avLst>
              <a:gd name="adj" fmla="val 50000"/>
            </a:avLst>
          </a:prstGeom>
          <a:solidFill>
            <a:srgbClr val="D64545"/>
          </a:solidFill>
          <a:ln w="12700">
            <a:solidFill>
              <a:srgbClr val="D64545"/>
            </a:solidFill>
            <a:prstDash val="solid"/>
          </a:ln>
        </p:spPr>
      </p:sp>
      <p:sp>
        <p:nvSpPr>
          <p:cNvPr id="17" name="Text 14"/>
          <p:cNvSpPr txBox="1"/>
          <p:nvPr/>
        </p:nvSpPr>
        <p:spPr>
          <a:xfrm>
            <a:off x="4407408" y="2898648"/>
            <a:ext cx="274320" cy="274320"/>
          </a:xfrm>
          <a:prstGeom prst="rect">
            <a:avLst/>
          </a:prstGeom>
          <a:noFill/>
          <a:ln/>
        </p:spPr>
        <p:txBody>
          <a:bodyPr wrap="square" lIns="0" tIns="0" rIns="0" bIns="0" rtlCol="0" anchor="t"/>
          <a:lstStyle/>
          <a:p>
            <a:pPr algn="r" indent="0" marL="0">
              <a:buNone/>
            </a:pPr>
            <a:r>
              <a:rPr lang="en-US" sz="1000" b="1" dirty="0">
                <a:solidFill>
                  <a:srgbClr val="1A2033"/>
                </a:solidFill>
                <a:latin typeface="Calibri" pitchFamily="34" charset="0"/>
                <a:ea typeface="Calibri" pitchFamily="34" charset="-122"/>
                <a:cs typeface="Calibri" pitchFamily="34" charset="-120"/>
              </a:rPr>
              <a:t>40</a:t>
            </a:r>
            <a:endParaRPr lang="en-US" sz="1000" dirty="0"/>
          </a:p>
        </p:txBody>
      </p:sp>
      <p:sp>
        <p:nvSpPr>
          <p:cNvPr id="18" name="Text 15"/>
          <p:cNvSpPr txBox="1"/>
          <p:nvPr/>
        </p:nvSpPr>
        <p:spPr>
          <a:xfrm>
            <a:off x="2990088" y="3355848"/>
            <a:ext cx="777240" cy="274320"/>
          </a:xfrm>
          <a:prstGeom prst="rect">
            <a:avLst/>
          </a:prstGeom>
          <a:noFill/>
          <a:ln/>
        </p:spPr>
        <p:txBody>
          <a:bodyPr wrap="square" lIns="0" tIns="0" rIns="0" bIns="0" rtlCol="0" anchor="t"/>
          <a:lstStyle/>
          <a:p>
            <a:pPr indent="0" marL="0">
              <a:buNone/>
            </a:pPr>
            <a:r>
              <a:rPr lang="en-US" sz="1000" dirty="0">
                <a:solidFill>
                  <a:srgbClr val="1A2033"/>
                </a:solidFill>
                <a:latin typeface="Calibri" pitchFamily="34" charset="0"/>
                <a:ea typeface="Calibri" pitchFamily="34" charset="-122"/>
                <a:cs typeface="Calibri" pitchFamily="34" charset="-120"/>
              </a:rPr>
              <a:t>UX</a:t>
            </a:r>
            <a:endParaRPr lang="en-US" sz="1000" dirty="0"/>
          </a:p>
        </p:txBody>
      </p:sp>
      <p:sp>
        <p:nvSpPr>
          <p:cNvPr id="19" name="Shape 16"/>
          <p:cNvSpPr/>
          <p:nvPr/>
        </p:nvSpPr>
        <p:spPr>
          <a:xfrm>
            <a:off x="3767328" y="3429000"/>
            <a:ext cx="521208" cy="146304"/>
          </a:xfrm>
          <a:prstGeom prst="roundRect">
            <a:avLst>
              <a:gd name="adj" fmla="val 50000"/>
            </a:avLst>
          </a:prstGeom>
          <a:solidFill>
            <a:srgbClr val="D64545"/>
          </a:solidFill>
          <a:ln w="12700">
            <a:solidFill>
              <a:srgbClr val="D64545"/>
            </a:solidFill>
            <a:prstDash val="solid"/>
          </a:ln>
        </p:spPr>
      </p:sp>
      <p:sp>
        <p:nvSpPr>
          <p:cNvPr id="20" name="Text 17"/>
          <p:cNvSpPr txBox="1"/>
          <p:nvPr/>
        </p:nvSpPr>
        <p:spPr>
          <a:xfrm>
            <a:off x="4407408" y="3355848"/>
            <a:ext cx="274320" cy="274320"/>
          </a:xfrm>
          <a:prstGeom prst="rect">
            <a:avLst/>
          </a:prstGeom>
          <a:noFill/>
          <a:ln/>
        </p:spPr>
        <p:txBody>
          <a:bodyPr wrap="square" lIns="0" tIns="0" rIns="0" bIns="0" rtlCol="0" anchor="t"/>
          <a:lstStyle/>
          <a:p>
            <a:pPr algn="r" indent="0" marL="0">
              <a:buNone/>
            </a:pPr>
            <a:r>
              <a:rPr lang="en-US" sz="1000" b="1" dirty="0">
                <a:solidFill>
                  <a:srgbClr val="1A2033"/>
                </a:solidFill>
                <a:latin typeface="Calibri" pitchFamily="34" charset="0"/>
                <a:ea typeface="Calibri" pitchFamily="34" charset="-122"/>
                <a:cs typeface="Calibri" pitchFamily="34" charset="-120"/>
              </a:rPr>
              <a:t>60</a:t>
            </a:r>
            <a:endParaRPr lang="en-US" sz="1000" dirty="0"/>
          </a:p>
        </p:txBody>
      </p:sp>
      <p:sp>
        <p:nvSpPr>
          <p:cNvPr id="21" name="Text 18"/>
          <p:cNvSpPr txBox="1"/>
          <p:nvPr/>
        </p:nvSpPr>
        <p:spPr>
          <a:xfrm>
            <a:off x="2990088" y="3813048"/>
            <a:ext cx="777240" cy="274320"/>
          </a:xfrm>
          <a:prstGeom prst="rect">
            <a:avLst/>
          </a:prstGeom>
          <a:noFill/>
          <a:ln/>
        </p:spPr>
        <p:txBody>
          <a:bodyPr wrap="square" lIns="0" tIns="0" rIns="0" bIns="0" rtlCol="0" anchor="t"/>
          <a:lstStyle/>
          <a:p>
            <a:pPr indent="0" marL="0">
              <a:buNone/>
            </a:pPr>
            <a:r>
              <a:rPr lang="en-US" sz="1000" dirty="0">
                <a:solidFill>
                  <a:srgbClr val="1A2033"/>
                </a:solidFill>
                <a:latin typeface="Calibri" pitchFamily="34" charset="0"/>
                <a:ea typeface="Calibri" pitchFamily="34" charset="-122"/>
                <a:cs typeface="Calibri" pitchFamily="34" charset="-120"/>
              </a:rPr>
              <a:t>AI search</a:t>
            </a:r>
            <a:endParaRPr lang="en-US" sz="1000" dirty="0"/>
          </a:p>
        </p:txBody>
      </p:sp>
      <p:sp>
        <p:nvSpPr>
          <p:cNvPr id="22" name="Shape 19"/>
          <p:cNvSpPr/>
          <p:nvPr/>
        </p:nvSpPr>
        <p:spPr>
          <a:xfrm>
            <a:off x="3767328" y="3886200"/>
            <a:ext cx="538582" cy="146304"/>
          </a:xfrm>
          <a:prstGeom prst="roundRect">
            <a:avLst>
              <a:gd name="adj" fmla="val 50000"/>
            </a:avLst>
          </a:prstGeom>
          <a:solidFill>
            <a:srgbClr val="D64545"/>
          </a:solidFill>
          <a:ln w="12700">
            <a:solidFill>
              <a:srgbClr val="D64545"/>
            </a:solidFill>
            <a:prstDash val="solid"/>
          </a:ln>
        </p:spPr>
      </p:sp>
      <p:sp>
        <p:nvSpPr>
          <p:cNvPr id="23" name="Text 20"/>
          <p:cNvSpPr txBox="1"/>
          <p:nvPr/>
        </p:nvSpPr>
        <p:spPr>
          <a:xfrm>
            <a:off x="4407408" y="3813048"/>
            <a:ext cx="274320" cy="274320"/>
          </a:xfrm>
          <a:prstGeom prst="rect">
            <a:avLst/>
          </a:prstGeom>
          <a:noFill/>
          <a:ln/>
        </p:spPr>
        <p:txBody>
          <a:bodyPr wrap="square" lIns="0" tIns="0" rIns="0" bIns="0" rtlCol="0" anchor="t"/>
          <a:lstStyle/>
          <a:p>
            <a:pPr algn="r" indent="0" marL="0">
              <a:buNone/>
            </a:pPr>
            <a:r>
              <a:rPr lang="en-US" sz="1000" b="1" dirty="0">
                <a:solidFill>
                  <a:srgbClr val="1A2033"/>
                </a:solidFill>
                <a:latin typeface="Calibri" pitchFamily="34" charset="0"/>
                <a:ea typeface="Calibri" pitchFamily="34" charset="-122"/>
                <a:cs typeface="Calibri" pitchFamily="34" charset="-120"/>
              </a:rPr>
              <a:t>62</a:t>
            </a:r>
            <a:endParaRPr lang="en-US" sz="1000" dirty="0"/>
          </a:p>
        </p:txBody>
      </p:sp>
      <p:sp>
        <p:nvSpPr>
          <p:cNvPr id="24" name="Shape 21"/>
          <p:cNvSpPr/>
          <p:nvPr/>
        </p:nvSpPr>
        <p:spPr>
          <a:xfrm>
            <a:off x="5065776" y="1783080"/>
            <a:ext cx="2057400" cy="2743200"/>
          </a:xfrm>
          <a:prstGeom prst="roundRect">
            <a:avLst>
              <a:gd name="adj" fmla="val 5333"/>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5" name="Shape 22"/>
          <p:cNvSpPr/>
          <p:nvPr/>
        </p:nvSpPr>
        <p:spPr>
          <a:xfrm>
            <a:off x="5065776" y="1783080"/>
            <a:ext cx="2057400" cy="685800"/>
          </a:xfrm>
          <a:prstGeom prst="roundRect">
            <a:avLst>
              <a:gd name="adj" fmla="val 16000"/>
            </a:avLst>
          </a:prstGeom>
          <a:solidFill>
            <a:srgbClr val="4F6BFF"/>
          </a:solidFill>
          <a:ln w="12700">
            <a:solidFill>
              <a:srgbClr val="4F6BFF"/>
            </a:solidFill>
            <a:prstDash val="solid"/>
          </a:ln>
        </p:spPr>
      </p:sp>
      <p:sp>
        <p:nvSpPr>
          <p:cNvPr id="26" name="Shape 23"/>
          <p:cNvSpPr/>
          <p:nvPr/>
        </p:nvSpPr>
        <p:spPr>
          <a:xfrm>
            <a:off x="5065776" y="2194560"/>
            <a:ext cx="2057400" cy="274320"/>
          </a:xfrm>
          <a:prstGeom prst="rect">
            <a:avLst/>
          </a:prstGeom>
          <a:solidFill>
            <a:srgbClr val="4F6BFF"/>
          </a:solidFill>
          <a:ln w="12700">
            <a:solidFill>
              <a:srgbClr val="4F6BFF"/>
            </a:solidFill>
            <a:prstDash val="solid"/>
          </a:ln>
        </p:spPr>
      </p:sp>
      <p:sp>
        <p:nvSpPr>
          <p:cNvPr id="27" name="Text 24"/>
          <p:cNvSpPr txBox="1"/>
          <p:nvPr/>
        </p:nvSpPr>
        <p:spPr>
          <a:xfrm>
            <a:off x="5202936" y="1828800"/>
            <a:ext cx="1783080" cy="6217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  Before and after</a:t>
            </a:r>
            <a:endParaRPr lang="en-US" sz="1200" dirty="0"/>
          </a:p>
        </p:txBody>
      </p:sp>
      <p:pic>
        <p:nvPicPr>
          <p:cNvPr id="28" name="Image 0" descr="Allbirds homepage before">    </p:cNvPr>
          <p:cNvPicPr>
            <a:picLocks noChangeAspect="1"/>
          </p:cNvPicPr>
          <p:nvPr/>
        </p:nvPicPr>
        <p:blipFill>
          <a:blip r:embed="rId1"/>
          <a:stretch>
            <a:fillRect/>
          </a:stretch>
        </p:blipFill>
        <p:spPr>
          <a:xfrm>
            <a:off x="5248656" y="2697480"/>
            <a:ext cx="800100" cy="1000125"/>
          </a:xfrm>
          <a:prstGeom prst="rect">
            <a:avLst/>
          </a:prstGeom>
        </p:spPr>
      </p:pic>
      <p:pic>
        <p:nvPicPr>
          <p:cNvPr id="29" name="Image 1" descr="Allbirds homepage after">    </p:cNvPr>
          <p:cNvPicPr>
            <a:picLocks noChangeAspect="1"/>
          </p:cNvPicPr>
          <p:nvPr/>
        </p:nvPicPr>
        <p:blipFill>
          <a:blip r:embed="rId2"/>
          <a:stretch>
            <a:fillRect/>
          </a:stretch>
        </p:blipFill>
        <p:spPr>
          <a:xfrm>
            <a:off x="6140196" y="2697480"/>
            <a:ext cx="800100" cy="1000125"/>
          </a:xfrm>
          <a:prstGeom prst="rect">
            <a:avLst/>
          </a:prstGeom>
        </p:spPr>
      </p:pic>
      <p:sp>
        <p:nvSpPr>
          <p:cNvPr id="30" name="Text 25"/>
          <p:cNvSpPr txBox="1"/>
          <p:nvPr/>
        </p:nvSpPr>
        <p:spPr>
          <a:xfrm>
            <a:off x="5248656" y="4023360"/>
            <a:ext cx="1691640" cy="274320"/>
          </a:xfrm>
          <a:prstGeom prst="rect">
            <a:avLst/>
          </a:prstGeom>
          <a:noFill/>
          <a:ln/>
        </p:spPr>
        <p:txBody>
          <a:bodyPr wrap="square" lIns="0" tIns="0" rIns="0" bIns="0" rtlCol="0" anchor="t"/>
          <a:lstStyle/>
          <a:p>
            <a:pPr algn="ctr" indent="0" marL="0">
              <a:buNone/>
            </a:pPr>
            <a:r>
              <a:rPr lang="en-US" sz="1000" dirty="0">
                <a:solidFill>
                  <a:srgbClr val="667089"/>
                </a:solidFill>
                <a:latin typeface="Calibri" pitchFamily="34" charset="0"/>
                <a:ea typeface="Calibri" pitchFamily="34" charset="-122"/>
                <a:cs typeface="Calibri" pitchFamily="34" charset="-120"/>
              </a:rPr>
              <a:t>Accessibility 70 → 98</a:t>
            </a:r>
            <a:endParaRPr lang="en-US" sz="1000" dirty="0"/>
          </a:p>
        </p:txBody>
      </p:sp>
      <p:sp>
        <p:nvSpPr>
          <p:cNvPr id="31" name="Shape 26"/>
          <p:cNvSpPr/>
          <p:nvPr/>
        </p:nvSpPr>
        <p:spPr>
          <a:xfrm>
            <a:off x="7324344" y="1892808"/>
            <a:ext cx="2057400" cy="2743200"/>
          </a:xfrm>
          <a:prstGeom prst="roundRect">
            <a:avLst>
              <a:gd name="adj" fmla="val 5333"/>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2" name="Shape 27"/>
          <p:cNvSpPr/>
          <p:nvPr/>
        </p:nvSpPr>
        <p:spPr>
          <a:xfrm>
            <a:off x="7324344" y="1892808"/>
            <a:ext cx="2057400" cy="685800"/>
          </a:xfrm>
          <a:prstGeom prst="roundRect">
            <a:avLst>
              <a:gd name="adj" fmla="val 16000"/>
            </a:avLst>
          </a:prstGeom>
          <a:solidFill>
            <a:srgbClr val="4F6BFF"/>
          </a:solidFill>
          <a:ln w="12700">
            <a:solidFill>
              <a:srgbClr val="4F6BFF"/>
            </a:solidFill>
            <a:prstDash val="solid"/>
          </a:ln>
        </p:spPr>
      </p:sp>
      <p:sp>
        <p:nvSpPr>
          <p:cNvPr id="33" name="Shape 28"/>
          <p:cNvSpPr/>
          <p:nvPr/>
        </p:nvSpPr>
        <p:spPr>
          <a:xfrm>
            <a:off x="7324344" y="2304288"/>
            <a:ext cx="2057400" cy="274320"/>
          </a:xfrm>
          <a:prstGeom prst="rect">
            <a:avLst/>
          </a:prstGeom>
          <a:solidFill>
            <a:srgbClr val="4F6BFF"/>
          </a:solidFill>
          <a:ln w="12700">
            <a:solidFill>
              <a:srgbClr val="4F6BFF"/>
            </a:solidFill>
            <a:prstDash val="solid"/>
          </a:ln>
        </p:spPr>
      </p:sp>
      <p:sp>
        <p:nvSpPr>
          <p:cNvPr id="34" name="Text 29"/>
          <p:cNvSpPr txBox="1"/>
          <p:nvPr/>
        </p:nvSpPr>
        <p:spPr>
          <a:xfrm>
            <a:off x="7461504" y="1938528"/>
            <a:ext cx="1783080" cy="6217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4  Why us</a:t>
            </a:r>
            <a:endParaRPr lang="en-US" sz="1200" dirty="0"/>
          </a:p>
        </p:txBody>
      </p:sp>
      <p:pic>
        <p:nvPicPr>
          <p:cNvPr id="35" name="Image 2" descr="Speed Tester agent, pixel robot">    </p:cNvPr>
          <p:cNvPicPr>
            <a:picLocks noChangeAspect="1"/>
          </p:cNvPicPr>
          <p:nvPr/>
        </p:nvPicPr>
        <p:blipFill>
          <a:blip r:embed="rId3"/>
          <a:stretch>
            <a:fillRect/>
          </a:stretch>
        </p:blipFill>
        <p:spPr>
          <a:xfrm>
            <a:off x="7616952" y="2852928"/>
            <a:ext cx="329184" cy="457200"/>
          </a:xfrm>
          <a:prstGeom prst="rect">
            <a:avLst/>
          </a:prstGeom>
        </p:spPr>
      </p:pic>
      <p:pic>
        <p:nvPicPr>
          <p:cNvPr id="36" name="Image 3" descr="Mobile Tester agent, pixel robot">    </p:cNvPr>
          <p:cNvPicPr>
            <a:picLocks noChangeAspect="1"/>
          </p:cNvPicPr>
          <p:nvPr/>
        </p:nvPicPr>
        <p:blipFill>
          <a:blip r:embed="rId4"/>
          <a:stretch>
            <a:fillRect/>
          </a:stretch>
        </p:blipFill>
        <p:spPr>
          <a:xfrm>
            <a:off x="8001000" y="2852928"/>
            <a:ext cx="329184" cy="457200"/>
          </a:xfrm>
          <a:prstGeom prst="rect">
            <a:avLst/>
          </a:prstGeom>
        </p:spPr>
      </p:pic>
      <p:pic>
        <p:nvPicPr>
          <p:cNvPr id="37" name="Image 4" descr="UX Reviewer agent, pixel robot">    </p:cNvPr>
          <p:cNvPicPr>
            <a:picLocks noChangeAspect="1"/>
          </p:cNvPicPr>
          <p:nvPr/>
        </p:nvPicPr>
        <p:blipFill>
          <a:blip r:embed="rId5"/>
          <a:stretch>
            <a:fillRect/>
          </a:stretch>
        </p:blipFill>
        <p:spPr>
          <a:xfrm>
            <a:off x="8385048" y="2852928"/>
            <a:ext cx="329184" cy="457200"/>
          </a:xfrm>
          <a:prstGeom prst="rect">
            <a:avLst/>
          </a:prstGeom>
        </p:spPr>
      </p:pic>
      <p:pic>
        <p:nvPicPr>
          <p:cNvPr id="38" name="Image 5" descr="Designer agent, pixel robot">    </p:cNvPr>
          <p:cNvPicPr>
            <a:picLocks noChangeAspect="1"/>
          </p:cNvPicPr>
          <p:nvPr/>
        </p:nvPicPr>
        <p:blipFill>
          <a:blip r:embed="rId6"/>
          <a:stretch>
            <a:fillRect/>
          </a:stretch>
        </p:blipFill>
        <p:spPr>
          <a:xfrm>
            <a:off x="8769096" y="2852928"/>
            <a:ext cx="329184" cy="457200"/>
          </a:xfrm>
          <a:prstGeom prst="rect">
            <a:avLst/>
          </a:prstGeom>
        </p:spPr>
      </p:pic>
      <p:sp>
        <p:nvSpPr>
          <p:cNvPr id="39" name="Text 30"/>
          <p:cNvSpPr txBox="1"/>
          <p:nvPr/>
        </p:nvSpPr>
        <p:spPr>
          <a:xfrm>
            <a:off x="7507224" y="3447288"/>
            <a:ext cx="1691640" cy="457200"/>
          </a:xfrm>
          <a:prstGeom prst="rect">
            <a:avLst/>
          </a:prstGeom>
          <a:noFill/>
          <a:ln/>
        </p:spPr>
        <p:txBody>
          <a:bodyPr wrap="square" lIns="0" tIns="0" rIns="0" bIns="0" rtlCol="0" anchor="t"/>
          <a:lstStyle/>
          <a:p>
            <a:pPr algn="ctr" indent="0" marL="0">
              <a:buNone/>
            </a:pPr>
            <a:r>
              <a:rPr lang="en-US" sz="2200" b="1" dirty="0">
                <a:solidFill>
                  <a:srgbClr val="0F9D6B"/>
                </a:solidFill>
                <a:latin typeface="Calibri" pitchFamily="34" charset="0"/>
                <a:ea typeface="Calibri" pitchFamily="34" charset="-122"/>
                <a:cs typeface="Calibri" pitchFamily="34" charset="-120"/>
              </a:rPr>
              <a:t>88/100</a:t>
            </a:r>
            <a:endParaRPr lang="en-US" sz="2200" dirty="0"/>
          </a:p>
        </p:txBody>
      </p:sp>
      <p:sp>
        <p:nvSpPr>
          <p:cNvPr id="40" name="Text 31"/>
          <p:cNvSpPr txBox="1"/>
          <p:nvPr/>
        </p:nvSpPr>
        <p:spPr>
          <a:xfrm>
            <a:off x="7507224" y="3904488"/>
            <a:ext cx="1691640" cy="274320"/>
          </a:xfrm>
          <a:prstGeom prst="rect">
            <a:avLst/>
          </a:prstGeom>
          <a:noFill/>
          <a:ln/>
        </p:spPr>
        <p:txBody>
          <a:bodyPr wrap="square" lIns="0" tIns="0" rIns="0" bIns="0" rtlCol="0" anchor="t"/>
          <a:lstStyle/>
          <a:p>
            <a:pPr algn="ctr" indent="0" marL="0">
              <a:buNone/>
            </a:pPr>
            <a:r>
              <a:rPr lang="en-US" sz="1000" dirty="0">
                <a:solidFill>
                  <a:srgbClr val="667089"/>
                </a:solidFill>
                <a:latin typeface="Calibri" pitchFamily="34" charset="0"/>
                <a:ea typeface="Calibri" pitchFamily="34" charset="-122"/>
                <a:cs typeface="Calibri" pitchFamily="34" charset="-120"/>
              </a:rPr>
              <a:t>organisation match</a:t>
            </a:r>
            <a:endParaRPr lang="en-US" sz="1000" dirty="0"/>
          </a:p>
        </p:txBody>
      </p:sp>
      <p:sp>
        <p:nvSpPr>
          <p:cNvPr id="41" name="Shape 32"/>
          <p:cNvSpPr/>
          <p:nvPr/>
        </p:nvSpPr>
        <p:spPr>
          <a:xfrm>
            <a:off x="9582912" y="2002536"/>
            <a:ext cx="2057400" cy="2743200"/>
          </a:xfrm>
          <a:prstGeom prst="roundRect">
            <a:avLst>
              <a:gd name="adj" fmla="val 5333"/>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42" name="Shape 33"/>
          <p:cNvSpPr/>
          <p:nvPr/>
        </p:nvSpPr>
        <p:spPr>
          <a:xfrm>
            <a:off x="9582912" y="2002536"/>
            <a:ext cx="2057400" cy="685800"/>
          </a:xfrm>
          <a:prstGeom prst="roundRect">
            <a:avLst>
              <a:gd name="adj" fmla="val 16000"/>
            </a:avLst>
          </a:prstGeom>
          <a:solidFill>
            <a:srgbClr val="4F6BFF"/>
          </a:solidFill>
          <a:ln w="12700">
            <a:solidFill>
              <a:srgbClr val="4F6BFF"/>
            </a:solidFill>
            <a:prstDash val="solid"/>
          </a:ln>
        </p:spPr>
      </p:sp>
      <p:sp>
        <p:nvSpPr>
          <p:cNvPr id="43" name="Shape 34"/>
          <p:cNvSpPr/>
          <p:nvPr/>
        </p:nvSpPr>
        <p:spPr>
          <a:xfrm>
            <a:off x="9582912" y="2414016"/>
            <a:ext cx="2057400" cy="274320"/>
          </a:xfrm>
          <a:prstGeom prst="rect">
            <a:avLst/>
          </a:prstGeom>
          <a:solidFill>
            <a:srgbClr val="4F6BFF"/>
          </a:solidFill>
          <a:ln w="12700">
            <a:solidFill>
              <a:srgbClr val="4F6BFF"/>
            </a:solidFill>
            <a:prstDash val="solid"/>
          </a:ln>
        </p:spPr>
      </p:sp>
      <p:sp>
        <p:nvSpPr>
          <p:cNvPr id="44" name="Text 35"/>
          <p:cNvSpPr txBox="1"/>
          <p:nvPr/>
        </p:nvSpPr>
        <p:spPr>
          <a:xfrm>
            <a:off x="9720072" y="2048256"/>
            <a:ext cx="1783080" cy="6217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5  The plan</a:t>
            </a:r>
            <a:endParaRPr lang="en-US" sz="1200" dirty="0"/>
          </a:p>
        </p:txBody>
      </p:sp>
      <p:sp>
        <p:nvSpPr>
          <p:cNvPr id="45" name="Text 36"/>
          <p:cNvSpPr txBox="1"/>
          <p:nvPr/>
        </p:nvSpPr>
        <p:spPr>
          <a:xfrm>
            <a:off x="9765792" y="2871216"/>
            <a:ext cx="822960" cy="320040"/>
          </a:xfrm>
          <a:prstGeom prst="rect">
            <a:avLst/>
          </a:prstGeom>
          <a:noFill/>
          <a:ln/>
        </p:spPr>
        <p:txBody>
          <a:bodyPr wrap="square" lIns="0" tIns="0" rIns="0" bIns="0" rtlCol="0" anchor="t"/>
          <a:lstStyle/>
          <a:p>
            <a:pPr indent="0" marL="0">
              <a:buNone/>
            </a:pPr>
            <a:r>
              <a:rPr lang="en-US" sz="1100" dirty="0">
                <a:solidFill>
                  <a:srgbClr val="1A2033"/>
                </a:solidFill>
                <a:latin typeface="Calibri" pitchFamily="34" charset="0"/>
                <a:ea typeface="Calibri" pitchFamily="34" charset="-122"/>
                <a:cs typeface="Calibri" pitchFamily="34" charset="-120"/>
              </a:rPr>
              <a:t>Team</a:t>
            </a:r>
            <a:endParaRPr lang="en-US" sz="1100" dirty="0"/>
          </a:p>
        </p:txBody>
      </p:sp>
      <p:sp>
        <p:nvSpPr>
          <p:cNvPr id="46" name="Text 37"/>
          <p:cNvSpPr txBox="1"/>
          <p:nvPr/>
        </p:nvSpPr>
        <p:spPr>
          <a:xfrm>
            <a:off x="10497312" y="2871216"/>
            <a:ext cx="960120" cy="320040"/>
          </a:xfrm>
          <a:prstGeom prst="rect">
            <a:avLst/>
          </a:prstGeom>
          <a:noFill/>
          <a:ln/>
        </p:spPr>
        <p:txBody>
          <a:bodyPr wrap="square" lIns="0" tIns="0" rIns="0" bIns="0" rtlCol="0" anchor="t"/>
          <a:lstStyle/>
          <a:p>
            <a:pPr algn="r" indent="0" marL="0">
              <a:buNone/>
            </a:pPr>
            <a:r>
              <a:rPr lang="en-US" sz="1100" b="1" dirty="0">
                <a:solidFill>
                  <a:srgbClr val="4F6BFF"/>
                </a:solidFill>
                <a:latin typeface="Calibri" pitchFamily="34" charset="0"/>
                <a:ea typeface="Calibri" pitchFamily="34" charset="-122"/>
                <a:cs typeface="Calibri" pitchFamily="34" charset="-120"/>
              </a:rPr>
              <a:t>named</a:t>
            </a:r>
            <a:endParaRPr lang="en-US" sz="1100" dirty="0"/>
          </a:p>
        </p:txBody>
      </p:sp>
      <p:sp>
        <p:nvSpPr>
          <p:cNvPr id="47" name="Text 38"/>
          <p:cNvSpPr txBox="1"/>
          <p:nvPr/>
        </p:nvSpPr>
        <p:spPr>
          <a:xfrm>
            <a:off x="9765792" y="3255264"/>
            <a:ext cx="822960" cy="320040"/>
          </a:xfrm>
          <a:prstGeom prst="rect">
            <a:avLst/>
          </a:prstGeom>
          <a:noFill/>
          <a:ln/>
        </p:spPr>
        <p:txBody>
          <a:bodyPr wrap="square" lIns="0" tIns="0" rIns="0" bIns="0" rtlCol="0" anchor="t"/>
          <a:lstStyle/>
          <a:p>
            <a:pPr indent="0" marL="0">
              <a:buNone/>
            </a:pPr>
            <a:r>
              <a:rPr lang="en-US" sz="1100" dirty="0">
                <a:solidFill>
                  <a:srgbClr val="1A2033"/>
                </a:solidFill>
                <a:latin typeface="Calibri" pitchFamily="34" charset="0"/>
                <a:ea typeface="Calibri" pitchFamily="34" charset="-122"/>
                <a:cs typeface="Calibri" pitchFamily="34" charset="-120"/>
              </a:rPr>
              <a:t>Effort</a:t>
            </a:r>
            <a:endParaRPr lang="en-US" sz="1100" dirty="0"/>
          </a:p>
        </p:txBody>
      </p:sp>
      <p:sp>
        <p:nvSpPr>
          <p:cNvPr id="48" name="Text 39"/>
          <p:cNvSpPr txBox="1"/>
          <p:nvPr/>
        </p:nvSpPr>
        <p:spPr>
          <a:xfrm>
            <a:off x="10497312" y="3255264"/>
            <a:ext cx="960120" cy="320040"/>
          </a:xfrm>
          <a:prstGeom prst="rect">
            <a:avLst/>
          </a:prstGeom>
          <a:noFill/>
          <a:ln/>
        </p:spPr>
        <p:txBody>
          <a:bodyPr wrap="square" lIns="0" tIns="0" rIns="0" bIns="0" rtlCol="0" anchor="t"/>
          <a:lstStyle/>
          <a:p>
            <a:pPr algn="r" indent="0" marL="0">
              <a:buNone/>
            </a:pPr>
            <a:r>
              <a:rPr lang="en-US" sz="1100" b="1" dirty="0">
                <a:solidFill>
                  <a:srgbClr val="4F6BFF"/>
                </a:solidFill>
                <a:latin typeface="Calibri" pitchFamily="34" charset="0"/>
                <a:ea typeface="Calibri" pitchFamily="34" charset="-122"/>
                <a:cs typeface="Calibri" pitchFamily="34" charset="-120"/>
              </a:rPr>
              <a:t>person-days</a:t>
            </a:r>
            <a:endParaRPr lang="en-US" sz="1100" dirty="0"/>
          </a:p>
        </p:txBody>
      </p:sp>
      <p:sp>
        <p:nvSpPr>
          <p:cNvPr id="49" name="Text 40"/>
          <p:cNvSpPr txBox="1"/>
          <p:nvPr/>
        </p:nvSpPr>
        <p:spPr>
          <a:xfrm>
            <a:off x="9765792" y="3639312"/>
            <a:ext cx="822960" cy="320040"/>
          </a:xfrm>
          <a:prstGeom prst="rect">
            <a:avLst/>
          </a:prstGeom>
          <a:noFill/>
          <a:ln/>
        </p:spPr>
        <p:txBody>
          <a:bodyPr wrap="square" lIns="0" tIns="0" rIns="0" bIns="0" rtlCol="0" anchor="t"/>
          <a:lstStyle/>
          <a:p>
            <a:pPr indent="0" marL="0">
              <a:buNone/>
            </a:pPr>
            <a:r>
              <a:rPr lang="en-US" sz="1100" dirty="0">
                <a:solidFill>
                  <a:srgbClr val="1A2033"/>
                </a:solidFill>
                <a:latin typeface="Calibri" pitchFamily="34" charset="0"/>
                <a:ea typeface="Calibri" pitchFamily="34" charset="-122"/>
                <a:cs typeface="Calibri" pitchFamily="34" charset="-120"/>
              </a:rPr>
              <a:t>Timeline</a:t>
            </a:r>
            <a:endParaRPr lang="en-US" sz="1100" dirty="0"/>
          </a:p>
        </p:txBody>
      </p:sp>
      <p:sp>
        <p:nvSpPr>
          <p:cNvPr id="50" name="Text 41"/>
          <p:cNvSpPr txBox="1"/>
          <p:nvPr/>
        </p:nvSpPr>
        <p:spPr>
          <a:xfrm>
            <a:off x="10497312" y="3639312"/>
            <a:ext cx="960120" cy="320040"/>
          </a:xfrm>
          <a:prstGeom prst="rect">
            <a:avLst/>
          </a:prstGeom>
          <a:noFill/>
          <a:ln/>
        </p:spPr>
        <p:txBody>
          <a:bodyPr wrap="square" lIns="0" tIns="0" rIns="0" bIns="0" rtlCol="0" anchor="t"/>
          <a:lstStyle/>
          <a:p>
            <a:pPr algn="r" indent="0" marL="0">
              <a:buNone/>
            </a:pPr>
            <a:r>
              <a:rPr lang="en-US" sz="1100" b="1" dirty="0">
                <a:solidFill>
                  <a:srgbClr val="4F6BFF"/>
                </a:solidFill>
                <a:latin typeface="Calibri" pitchFamily="34" charset="0"/>
                <a:ea typeface="Calibri" pitchFamily="34" charset="-122"/>
                <a:cs typeface="Calibri" pitchFamily="34" charset="-120"/>
              </a:rPr>
              <a:t>weeks</a:t>
            </a:r>
            <a:endParaRPr lang="en-US" sz="1100" dirty="0"/>
          </a:p>
        </p:txBody>
      </p:sp>
      <p:sp>
        <p:nvSpPr>
          <p:cNvPr id="51" name="Text 42"/>
          <p:cNvSpPr txBox="1"/>
          <p:nvPr/>
        </p:nvSpPr>
        <p:spPr>
          <a:xfrm>
            <a:off x="9765792" y="4023360"/>
            <a:ext cx="822960" cy="320040"/>
          </a:xfrm>
          <a:prstGeom prst="rect">
            <a:avLst/>
          </a:prstGeom>
          <a:noFill/>
          <a:ln/>
        </p:spPr>
        <p:txBody>
          <a:bodyPr wrap="square" lIns="0" tIns="0" rIns="0" bIns="0" rtlCol="0" anchor="t"/>
          <a:lstStyle/>
          <a:p>
            <a:pPr indent="0" marL="0">
              <a:buNone/>
            </a:pPr>
            <a:r>
              <a:rPr lang="en-US" sz="1100" dirty="0">
                <a:solidFill>
                  <a:srgbClr val="1A2033"/>
                </a:solidFill>
                <a:latin typeface="Calibri" pitchFamily="34" charset="0"/>
                <a:ea typeface="Calibri" pitchFamily="34" charset="-122"/>
                <a:cs typeface="Calibri" pitchFamily="34" charset="-120"/>
              </a:rPr>
              <a:t>Price</a:t>
            </a:r>
            <a:endParaRPr lang="en-US" sz="1100" dirty="0"/>
          </a:p>
        </p:txBody>
      </p:sp>
      <p:sp>
        <p:nvSpPr>
          <p:cNvPr id="52" name="Text 43"/>
          <p:cNvSpPr txBox="1"/>
          <p:nvPr/>
        </p:nvSpPr>
        <p:spPr>
          <a:xfrm>
            <a:off x="10497312" y="4023360"/>
            <a:ext cx="960120" cy="320040"/>
          </a:xfrm>
          <a:prstGeom prst="rect">
            <a:avLst/>
          </a:prstGeom>
          <a:noFill/>
          <a:ln/>
        </p:spPr>
        <p:txBody>
          <a:bodyPr wrap="square" lIns="0" tIns="0" rIns="0" bIns="0" rtlCol="0" anchor="t"/>
          <a:lstStyle/>
          <a:p>
            <a:pPr algn="r" indent="0" marL="0">
              <a:buNone/>
            </a:pPr>
            <a:r>
              <a:rPr lang="en-US" sz="1100" b="1" dirty="0">
                <a:solidFill>
                  <a:srgbClr val="4F6BFF"/>
                </a:solidFill>
                <a:latin typeface="Calibri" pitchFamily="34" charset="0"/>
                <a:ea typeface="Calibri" pitchFamily="34" charset="-122"/>
                <a:cs typeface="Calibri" pitchFamily="34" charset="-120"/>
              </a:rPr>
              <a:t>range</a:t>
            </a:r>
            <a:endParaRPr lang="en-US" sz="1100" dirty="0"/>
          </a:p>
        </p:txBody>
      </p:sp>
      <p:sp>
        <p:nvSpPr>
          <p:cNvPr id="53" name="Text 44"/>
          <p:cNvSpPr txBox="1"/>
          <p:nvPr/>
        </p:nvSpPr>
        <p:spPr>
          <a:xfrm>
            <a:off x="548640" y="4983480"/>
            <a:ext cx="11094415" cy="822960"/>
          </a:xfrm>
          <a:prstGeom prst="rect">
            <a:avLst/>
          </a:prstGeom>
          <a:noFill/>
          <a:ln/>
        </p:spPr>
        <p:txBody>
          <a:bodyPr wrap="square" lIns="0" tIns="0" rIns="0" bIns="0" rtlCol="0" anchor="t"/>
          <a:lstStyle/>
          <a:p>
            <a:pPr algn="ctr" indent="0" marL="0">
              <a:buNone/>
            </a:pPr>
            <a:r>
              <a:rPr lang="en-US" sz="1800" dirty="0">
                <a:solidFill>
                  <a:srgbClr val="667089"/>
                </a:solidFill>
                <a:latin typeface="Calibri" pitchFamily="34" charset="0"/>
                <a:ea typeface="Calibri" pitchFamily="34" charset="-122"/>
                <a:cs typeface="Calibri" pitchFamily="34" charset="-120"/>
              </a:rPr>
              <a:t>9 slides plus a written proposal. Every number is read from the audit, the redesign and the match. </a:t>
            </a:r>
            <a:pPr algn="ctr" indent="0" marL="0">
              <a:buNone/>
            </a:pPr>
            <a:r>
              <a:rPr lang="en-US" sz="1800" b="1" dirty="0">
                <a:solidFill>
                  <a:srgbClr val="667089"/>
                </a:solidFill>
                <a:latin typeface="Calibri" pitchFamily="34" charset="0"/>
                <a:ea typeface="Calibri" pitchFamily="34" charset="-122"/>
                <a:cs typeface="Calibri" pitchFamily="34" charset="-120"/>
              </a:rPr>
              <a:t>Nothing is sent until a human approves.</a:t>
            </a:r>
            <a:endParaRPr lang="en-US" sz="18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10698480" cy="411480"/>
          </a:xfrm>
          <a:prstGeom prst="rect">
            <a:avLst/>
          </a:prstGeom>
          <a:noFill/>
          <a:ln/>
        </p:spPr>
        <p:txBody>
          <a:bodyPr wrap="square" lIns="0" tIns="0" rIns="0" bIns="0" rtlCol="0"/>
          <a:lstStyle/>
          <a:p>
            <a:pPr indent="0" marL="0">
              <a:buNone/>
            </a:pPr>
            <a:r>
              <a:rPr lang="en-US" sz="1400" b="1" spc="400" kern="0" dirty="0">
                <a:solidFill>
                  <a:srgbClr val="8FA5FF"/>
                </a:solidFill>
                <a:latin typeface="Calibri" pitchFamily="34" charset="0"/>
                <a:ea typeface="Calibri" pitchFamily="34" charset="-122"/>
                <a:cs typeface="Calibri" pitchFamily="34" charset="-120"/>
              </a:rPr>
              <a:t>NITRO</a:t>
            </a:r>
            <a:endParaRPr lang="en-US" sz="1400" dirty="0"/>
          </a:p>
        </p:txBody>
      </p:sp>
      <p:sp>
        <p:nvSpPr>
          <p:cNvPr id="3" name="Text 0"/>
          <p:cNvSpPr/>
          <p:nvPr>
            <p:ph idx="101" type="title" hasCustomPrompt="1"/>
          </p:nvPr>
        </p:nvSpPr>
        <p:spPr>
          <a:xfrm>
            <a:off x="731520" y="1874520"/>
            <a:ext cx="10698480" cy="1600200"/>
          </a:xfrm>
          <a:prstGeom prst="rect">
            <a:avLst/>
          </a:prstGeom>
          <a:noFill/>
          <a:ln/>
        </p:spPr>
        <p:txBody>
          <a:bodyPr wrap="square" lIns="0" tIns="0" rIns="0" bIns="0" rtlCol="0" anchor="t"/>
          <a:lstStyle/>
          <a:p>
            <a:pPr algn="l" indent="0" marL="0">
              <a:buNone/>
            </a:pPr>
            <a:r>
              <a:rPr lang="en-US" sz="4800" b="1" dirty="0">
                <a:solidFill>
                  <a:srgbClr val="F1F4FF"/>
                </a:solidFill>
                <a:latin typeface="Calibri" pitchFamily="34" charset="0"/>
                <a:ea typeface="Calibri" pitchFamily="34" charset="-122"/>
                <a:cs typeface="Calibri" pitchFamily="34" charset="-120"/>
              </a:rPr>
              <a:t>Great developers, in front of every client.</a:t>
            </a:r>
            <a:endParaRPr lang="en-US" sz="4800" dirty="0"/>
          </a:p>
        </p:txBody>
      </p:sp>
      <p:sp>
        <p:nvSpPr>
          <p:cNvPr id="5" name="Text 0"/>
          <p:cNvSpPr/>
          <p:nvPr>
            <p:ph idx="102" type="body" hasCustomPrompt="1"/>
          </p:nvPr>
        </p:nvSpPr>
        <p:spPr>
          <a:xfrm>
            <a:off x="731520" y="3429000"/>
            <a:ext cx="10698480" cy="1645920"/>
          </a:xfrm>
          <a:prstGeom prst="rect">
            <a:avLst/>
          </a:prstGeom>
          <a:noFill/>
          <a:ln/>
        </p:spPr>
        <p:txBody>
          <a:bodyPr wrap="square" lIns="0" tIns="0" rIns="0" bIns="0" rtlCol="0" anchor="t"/>
          <a:lstStyle/>
          <a:p>
            <a:pPr indent="0" marL="0">
              <a:buNone/>
            </a:pPr>
            <a:r>
              <a:rPr lang="en-US" sz="2000" b="1" dirty="0">
                <a:solidFill>
                  <a:srgbClr val="A9B8FF"/>
                </a:solidFill>
                <a:latin typeface="Calibri" pitchFamily="34" charset="0"/>
                <a:ea typeface="Calibri" pitchFamily="34" charset="-122"/>
                <a:cs typeface="Calibri" pitchFamily="34" charset="-120"/>
              </a:rPr>
              <a:t>Every prospect sees their better website before they sign.</a:t>
            </a:r>
            <a:endParaRPr lang="en-US" sz="2000" dirty="0"/>
          </a:p>
          <a:p>
            <a:pPr indent="0" marL="0">
              <a:buNone/>
            </a:pPr>
            <a:r>
              <a:rPr lang="en-US" sz="1600" dirty="0">
                <a:solidFill>
                  <a:srgbClr val="A9B4D6"/>
                </a:solidFill>
                <a:latin typeface="Calibri" pitchFamily="34" charset="0"/>
                <a:ea typeface="Calibri" pitchFamily="34" charset="-122"/>
                <a:cs typeface="Calibri" pitchFamily="34" charset="-120"/>
              </a:rPr>
              <a:t>Watch it work, live: npm start → localhost:3000</a:t>
            </a:r>
            <a:endParaRPr lang="en-US" sz="2000" dirty="0"/>
          </a:p>
        </p:txBody>
      </p:sp>
      <p:pic>
        <p:nvPicPr>
          <p:cNvPr id="6" name="Image 0" descr="Coordinator agent, pixel robot">    </p:cNvPr>
          <p:cNvPicPr>
            <a:picLocks noChangeAspect="1"/>
          </p:cNvPicPr>
          <p:nvPr/>
        </p:nvPicPr>
        <p:blipFill>
          <a:blip r:embed="rId1"/>
          <a:stretch>
            <a:fillRect/>
          </a:stretch>
        </p:blipFill>
        <p:spPr>
          <a:xfrm>
            <a:off x="1886407" y="5166360"/>
            <a:ext cx="566928" cy="779526"/>
          </a:xfrm>
          <a:prstGeom prst="rect">
            <a:avLst/>
          </a:prstGeom>
        </p:spPr>
      </p:pic>
      <p:pic>
        <p:nvPicPr>
          <p:cNvPr id="7" name="Image 1" descr="Site Auditor agent, pixel robot">    </p:cNvPr>
          <p:cNvPicPr>
            <a:picLocks noChangeAspect="1"/>
          </p:cNvPicPr>
          <p:nvPr/>
        </p:nvPicPr>
        <p:blipFill>
          <a:blip r:embed="rId2"/>
          <a:stretch>
            <a:fillRect/>
          </a:stretch>
        </p:blipFill>
        <p:spPr>
          <a:xfrm>
            <a:off x="2651760" y="5166360"/>
            <a:ext cx="566928" cy="779526"/>
          </a:xfrm>
          <a:prstGeom prst="rect">
            <a:avLst/>
          </a:prstGeom>
        </p:spPr>
      </p:pic>
      <p:pic>
        <p:nvPicPr>
          <p:cNvPr id="8" name="Image 2" descr="Tech Detector agent, pixel robot">    </p:cNvPr>
          <p:cNvPicPr>
            <a:picLocks noChangeAspect="1"/>
          </p:cNvPicPr>
          <p:nvPr/>
        </p:nvPicPr>
        <p:blipFill>
          <a:blip r:embed="rId3"/>
          <a:stretch>
            <a:fillRect/>
          </a:stretch>
        </p:blipFill>
        <p:spPr>
          <a:xfrm>
            <a:off x="3417113" y="5166360"/>
            <a:ext cx="566928" cy="779526"/>
          </a:xfrm>
          <a:prstGeom prst="rect">
            <a:avLst/>
          </a:prstGeom>
        </p:spPr>
      </p:pic>
      <p:pic>
        <p:nvPicPr>
          <p:cNvPr id="9" name="Image 3" descr="Speed Tester agent, pixel robot">    </p:cNvPr>
          <p:cNvPicPr>
            <a:picLocks noChangeAspect="1"/>
          </p:cNvPicPr>
          <p:nvPr/>
        </p:nvPicPr>
        <p:blipFill>
          <a:blip r:embed="rId4"/>
          <a:stretch>
            <a:fillRect/>
          </a:stretch>
        </p:blipFill>
        <p:spPr>
          <a:xfrm>
            <a:off x="4182466" y="5166360"/>
            <a:ext cx="566928" cy="779526"/>
          </a:xfrm>
          <a:prstGeom prst="rect">
            <a:avLst/>
          </a:prstGeom>
        </p:spPr>
      </p:pic>
      <p:pic>
        <p:nvPicPr>
          <p:cNvPr id="10" name="Image 4" descr="Mobile Tester agent, pixel robot">    </p:cNvPr>
          <p:cNvPicPr>
            <a:picLocks noChangeAspect="1"/>
          </p:cNvPicPr>
          <p:nvPr/>
        </p:nvPicPr>
        <p:blipFill>
          <a:blip r:embed="rId5"/>
          <a:stretch>
            <a:fillRect/>
          </a:stretch>
        </p:blipFill>
        <p:spPr>
          <a:xfrm>
            <a:off x="4947818" y="5166360"/>
            <a:ext cx="566928" cy="779526"/>
          </a:xfrm>
          <a:prstGeom prst="rect">
            <a:avLst/>
          </a:prstGeom>
        </p:spPr>
      </p:pic>
      <p:pic>
        <p:nvPicPr>
          <p:cNvPr id="11" name="Image 5" descr="Accessibility Checker agent, pixel robot">    </p:cNvPr>
          <p:cNvPicPr>
            <a:picLocks noChangeAspect="1"/>
          </p:cNvPicPr>
          <p:nvPr/>
        </p:nvPicPr>
        <p:blipFill>
          <a:blip r:embed="rId6"/>
          <a:stretch>
            <a:fillRect/>
          </a:stretch>
        </p:blipFill>
        <p:spPr>
          <a:xfrm>
            <a:off x="5713171" y="5166360"/>
            <a:ext cx="566928" cy="779526"/>
          </a:xfrm>
          <a:prstGeom prst="rect">
            <a:avLst/>
          </a:prstGeom>
        </p:spPr>
      </p:pic>
      <p:pic>
        <p:nvPicPr>
          <p:cNvPr id="12" name="Image 6" descr="UX Reviewer agent, pixel robot">    </p:cNvPr>
          <p:cNvPicPr>
            <a:picLocks noChangeAspect="1"/>
          </p:cNvPicPr>
          <p:nvPr/>
        </p:nvPicPr>
        <p:blipFill>
          <a:blip r:embed="rId7"/>
          <a:stretch>
            <a:fillRect/>
          </a:stretch>
        </p:blipFill>
        <p:spPr>
          <a:xfrm>
            <a:off x="6478524" y="5166360"/>
            <a:ext cx="566928" cy="779526"/>
          </a:xfrm>
          <a:prstGeom prst="rect">
            <a:avLst/>
          </a:prstGeom>
        </p:spPr>
      </p:pic>
      <p:pic>
        <p:nvPicPr>
          <p:cNvPr id="13" name="Image 7" descr="AI-Search Checker agent, pixel robot">    </p:cNvPr>
          <p:cNvPicPr>
            <a:picLocks noChangeAspect="1"/>
          </p:cNvPicPr>
          <p:nvPr/>
        </p:nvPicPr>
        <p:blipFill>
          <a:blip r:embed="rId8"/>
          <a:stretch>
            <a:fillRect/>
          </a:stretch>
        </p:blipFill>
        <p:spPr>
          <a:xfrm>
            <a:off x="7243877" y="5166360"/>
            <a:ext cx="566928" cy="779526"/>
          </a:xfrm>
          <a:prstGeom prst="rect">
            <a:avLst/>
          </a:prstGeom>
        </p:spPr>
      </p:pic>
      <p:pic>
        <p:nvPicPr>
          <p:cNvPr id="14" name="Image 8" descr="Designer agent, pixel robot">    </p:cNvPr>
          <p:cNvPicPr>
            <a:picLocks noChangeAspect="1"/>
          </p:cNvPicPr>
          <p:nvPr/>
        </p:nvPicPr>
        <p:blipFill>
          <a:blip r:embed="rId9"/>
          <a:stretch>
            <a:fillRect/>
          </a:stretch>
        </p:blipFill>
        <p:spPr>
          <a:xfrm>
            <a:off x="8009230" y="5166360"/>
            <a:ext cx="566928" cy="779526"/>
          </a:xfrm>
          <a:prstGeom prst="rect">
            <a:avLst/>
          </a:prstGeom>
        </p:spPr>
      </p:pic>
      <p:pic>
        <p:nvPicPr>
          <p:cNvPr id="15" name="Image 9" descr="Team Matcher agent, pixel robot">    </p:cNvPr>
          <p:cNvPicPr>
            <a:picLocks noChangeAspect="1"/>
          </p:cNvPicPr>
          <p:nvPr/>
        </p:nvPicPr>
        <p:blipFill>
          <a:blip r:embed="rId10"/>
          <a:stretch>
            <a:fillRect/>
          </a:stretch>
        </p:blipFill>
        <p:spPr>
          <a:xfrm>
            <a:off x="8774582" y="5166360"/>
            <a:ext cx="566928" cy="779526"/>
          </a:xfrm>
          <a:prstGeom prst="rect">
            <a:avLst/>
          </a:prstGeom>
        </p:spPr>
      </p:pic>
      <p:pic>
        <p:nvPicPr>
          <p:cNvPr id="16" name="Image 10" descr="Deck Writer agent, pixel robot">    </p:cNvPr>
          <p:cNvPicPr>
            <a:picLocks noChangeAspect="1"/>
          </p:cNvPicPr>
          <p:nvPr/>
        </p:nvPicPr>
        <p:blipFill>
          <a:blip r:embed="rId11"/>
          <a:stretch>
            <a:fillRect/>
          </a:stretch>
        </p:blipFill>
        <p:spPr>
          <a:xfrm>
            <a:off x="9539935" y="5166360"/>
            <a:ext cx="566928" cy="779526"/>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4D6"/>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10698480" cy="411480"/>
          </a:xfrm>
          <a:prstGeom prst="rect">
            <a:avLst/>
          </a:prstGeom>
          <a:noFill/>
          <a:ln/>
        </p:spPr>
        <p:txBody>
          <a:bodyPr wrap="square" lIns="0" tIns="0" rIns="0" bIns="0" rtlCol="0"/>
          <a:lstStyle/>
          <a:p>
            <a:pPr indent="0" marL="0">
              <a:buNone/>
            </a:pPr>
            <a:r>
              <a:rPr lang="en-US" sz="1400" b="1" spc="400" kern="0" dirty="0">
                <a:solidFill>
                  <a:srgbClr val="8FA5FF"/>
                </a:solidFill>
                <a:latin typeface="Calibri" pitchFamily="34" charset="0"/>
                <a:ea typeface="Calibri" pitchFamily="34" charset="-122"/>
                <a:cs typeface="Calibri" pitchFamily="34" charset="-120"/>
              </a:rPr>
              <a:t>APPENDIX</a:t>
            </a:r>
            <a:endParaRPr lang="en-US" sz="1400" dirty="0"/>
          </a:p>
        </p:txBody>
      </p:sp>
      <p:sp>
        <p:nvSpPr>
          <p:cNvPr id="3" name="Text 0"/>
          <p:cNvSpPr/>
          <p:nvPr>
            <p:ph idx="101" type="title" hasCustomPrompt="1"/>
          </p:nvPr>
        </p:nvSpPr>
        <p:spPr>
          <a:xfrm>
            <a:off x="731520" y="1874520"/>
            <a:ext cx="10698480" cy="1600200"/>
          </a:xfrm>
          <a:prstGeom prst="rect">
            <a:avLst/>
          </a:prstGeom>
          <a:noFill/>
          <a:ln/>
        </p:spPr>
        <p:txBody>
          <a:bodyPr wrap="square" lIns="0" tIns="0" rIns="0" bIns="0" rtlCol="0" anchor="t"/>
          <a:lstStyle/>
          <a:p>
            <a:pPr algn="l" indent="0" marL="0">
              <a:buNone/>
            </a:pPr>
            <a:r>
              <a:rPr lang="en-US" sz="4800" b="1" dirty="0">
                <a:solidFill>
                  <a:srgbClr val="F1F4FF"/>
                </a:solidFill>
                <a:latin typeface="Calibri" pitchFamily="34" charset="0"/>
                <a:ea typeface="Calibri" pitchFamily="34" charset="-122"/>
                <a:cs typeface="Calibri" pitchFamily="34" charset="-120"/>
              </a:rPr>
              <a:t>More detail</a:t>
            </a:r>
            <a:endParaRPr lang="en-US" sz="4800" dirty="0"/>
          </a:p>
        </p:txBody>
      </p:sp>
      <p:sp>
        <p:nvSpPr>
          <p:cNvPr id="5" name="Text 0"/>
          <p:cNvSpPr/>
          <p:nvPr>
            <p:ph idx="102" type="body" hasCustomPrompt="1"/>
          </p:nvPr>
        </p:nvSpPr>
        <p:spPr>
          <a:xfrm>
            <a:off x="731520" y="3429000"/>
            <a:ext cx="10698480" cy="1645920"/>
          </a:xfrm>
          <a:prstGeom prst="rect">
            <a:avLst/>
          </a:prstGeom>
          <a:noFill/>
          <a:ln/>
        </p:spPr>
        <p:txBody>
          <a:bodyPr wrap="square" lIns="0" tIns="0" rIns="0" bIns="0" rtlCol="0" anchor="t"/>
          <a:lstStyle/>
          <a:p>
            <a:pPr indent="0" marL="0">
              <a:buNone/>
            </a:pPr>
            <a:r>
              <a:rPr lang="en-US" sz="2000" dirty="0">
                <a:solidFill>
                  <a:srgbClr val="A9B4D6"/>
                </a:solidFill>
                <a:latin typeface="Calibri" pitchFamily="34" charset="0"/>
                <a:ea typeface="Calibri" pitchFamily="34" charset="-122"/>
                <a:cs typeface="Calibri" pitchFamily="34" charset="-120"/>
              </a:rPr>
              <a:t>Every pain point, each step of the run, the agent marketplace, the technology, trust, the roadmap and a one-slide recap.</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4D6"/>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PROBLEM · 1 OF 6</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Our best people are waiting for their next project</a:t>
            </a:r>
            <a:endParaRPr lang="en-US" sz="3400" dirty="0"/>
          </a:p>
        </p:txBody>
      </p:sp>
      <p:sp>
        <p:nvSpPr>
          <p:cNvPr id="5" name="Text 2"/>
          <p:cNvSpPr txBox="1"/>
          <p:nvPr/>
        </p:nvSpPr>
        <p:spPr>
          <a:xfrm>
            <a:off x="548640" y="1828800"/>
            <a:ext cx="5303520" cy="1463040"/>
          </a:xfrm>
          <a:prstGeom prst="rect">
            <a:avLst/>
          </a:prstGeom>
          <a:noFill/>
          <a:ln/>
        </p:spPr>
        <p:txBody>
          <a:bodyPr wrap="square" lIns="0" tIns="0" rIns="0" bIns="0" rtlCol="0" anchor="t"/>
          <a:lstStyle/>
          <a:p>
            <a:pPr indent="0" marL="0">
              <a:buNone/>
            </a:pPr>
            <a:r>
              <a:rPr lang="en-US" sz="2000" dirty="0">
                <a:solidFill>
                  <a:srgbClr val="667089"/>
                </a:solidFill>
                <a:latin typeface="Calibri" pitchFamily="34" charset="0"/>
                <a:ea typeface="Calibri" pitchFamily="34" charset="-122"/>
                <a:cs typeface="Calibri" pitchFamily="34" charset="-120"/>
              </a:rPr>
              <a:t>Skilled developers between projects wait for work. That time is a </a:t>
            </a:r>
            <a:pPr indent="0" marL="0">
              <a:buNone/>
            </a:pPr>
            <a:r>
              <a:rPr lang="en-US" sz="2000" b="1" dirty="0">
                <a:solidFill>
                  <a:srgbClr val="667089"/>
                </a:solidFill>
                <a:latin typeface="Calibri" pitchFamily="34" charset="0"/>
                <a:ea typeface="Calibri" pitchFamily="34" charset="-122"/>
                <a:cs typeface="Calibri" pitchFamily="34" charset="-120"/>
              </a:rPr>
              <a:t>real cost</a:t>
            </a:r>
            <a:pPr indent="0" marL="0">
              <a:buNone/>
            </a:pPr>
            <a:r>
              <a:rPr lang="en-US" sz="2000" dirty="0">
                <a:solidFill>
                  <a:srgbClr val="667089"/>
                </a:solidFill>
                <a:latin typeface="Calibri" pitchFamily="34" charset="0"/>
                <a:ea typeface="Calibri" pitchFamily="34" charset="-122"/>
                <a:cs typeface="Calibri" pitchFamily="34" charset="-120"/>
              </a:rPr>
              <a:t>, and clients never see what these people can do.</a:t>
            </a:r>
            <a:endParaRPr lang="en-US" sz="2000" dirty="0"/>
          </a:p>
        </p:txBody>
      </p:sp>
      <p:sp>
        <p:nvSpPr>
          <p:cNvPr id="6" name="Text 3"/>
          <p:cNvSpPr txBox="1"/>
          <p:nvPr/>
        </p:nvSpPr>
        <p:spPr>
          <a:xfrm>
            <a:off x="548640" y="3566160"/>
            <a:ext cx="320040" cy="297180"/>
          </a:xfrm>
          <a:prstGeom prst="rect">
            <a:avLst/>
          </a:prstGeom>
          <a:noFill/>
          <a:ln/>
        </p:spPr>
        <p:txBody>
          <a:bodyPr wrap="square" lIns="0" tIns="0" rIns="0" bIns="0" rtlCol="0" anchor="t"/>
          <a:lstStyle/>
          <a:p>
            <a:pPr indent="0" marL="0">
              <a:buNone/>
            </a:pPr>
            <a:r>
              <a:rPr lang="en-US" sz="1800" b="1" dirty="0">
                <a:solidFill>
                  <a:srgbClr val="D64545"/>
                </a:solidFill>
                <a:latin typeface="Calibri" pitchFamily="34" charset="0"/>
                <a:ea typeface="Calibri" pitchFamily="34" charset="-122"/>
                <a:cs typeface="Calibri" pitchFamily="34" charset="-120"/>
              </a:rPr>
              <a:t>✕</a:t>
            </a:r>
            <a:endParaRPr lang="en-US" sz="1800" dirty="0"/>
          </a:p>
        </p:txBody>
      </p:sp>
      <p:sp>
        <p:nvSpPr>
          <p:cNvPr id="7" name="Text 4"/>
          <p:cNvSpPr txBox="1"/>
          <p:nvPr/>
        </p:nvSpPr>
        <p:spPr>
          <a:xfrm>
            <a:off x="932688" y="3566160"/>
            <a:ext cx="4919472"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Skilled people wait instead of building</a:t>
            </a:r>
            <a:endParaRPr lang="en-US" sz="1800" dirty="0"/>
          </a:p>
        </p:txBody>
      </p:sp>
      <p:sp>
        <p:nvSpPr>
          <p:cNvPr id="8" name="Text 5"/>
          <p:cNvSpPr txBox="1"/>
          <p:nvPr/>
        </p:nvSpPr>
        <p:spPr>
          <a:xfrm>
            <a:off x="548640" y="3989070"/>
            <a:ext cx="320040" cy="297180"/>
          </a:xfrm>
          <a:prstGeom prst="rect">
            <a:avLst/>
          </a:prstGeom>
          <a:noFill/>
          <a:ln/>
        </p:spPr>
        <p:txBody>
          <a:bodyPr wrap="square" lIns="0" tIns="0" rIns="0" bIns="0" rtlCol="0" anchor="t"/>
          <a:lstStyle/>
          <a:p>
            <a:pPr indent="0" marL="0">
              <a:buNone/>
            </a:pPr>
            <a:r>
              <a:rPr lang="en-US" sz="1800" b="1" dirty="0">
                <a:solidFill>
                  <a:srgbClr val="D64545"/>
                </a:solidFill>
                <a:latin typeface="Calibri" pitchFamily="34" charset="0"/>
                <a:ea typeface="Calibri" pitchFamily="34" charset="-122"/>
                <a:cs typeface="Calibri" pitchFamily="34" charset="-120"/>
              </a:rPr>
              <a:t>✕</a:t>
            </a:r>
            <a:endParaRPr lang="en-US" sz="1800" dirty="0"/>
          </a:p>
        </p:txBody>
      </p:sp>
      <p:sp>
        <p:nvSpPr>
          <p:cNvPr id="9" name="Text 6"/>
          <p:cNvSpPr txBox="1"/>
          <p:nvPr/>
        </p:nvSpPr>
        <p:spPr>
          <a:xfrm>
            <a:off x="932688" y="3989070"/>
            <a:ext cx="4919472"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Nothing they do is visible to clients</a:t>
            </a:r>
            <a:endParaRPr lang="en-US" sz="1800" dirty="0"/>
          </a:p>
        </p:txBody>
      </p:sp>
      <p:sp>
        <p:nvSpPr>
          <p:cNvPr id="10" name="Text 7"/>
          <p:cNvSpPr txBox="1"/>
          <p:nvPr/>
        </p:nvSpPr>
        <p:spPr>
          <a:xfrm>
            <a:off x="548640" y="4411980"/>
            <a:ext cx="320040" cy="297180"/>
          </a:xfrm>
          <a:prstGeom prst="rect">
            <a:avLst/>
          </a:prstGeom>
          <a:noFill/>
          <a:ln/>
        </p:spPr>
        <p:txBody>
          <a:bodyPr wrap="square" lIns="0" tIns="0" rIns="0" bIns="0" rtlCol="0" anchor="t"/>
          <a:lstStyle/>
          <a:p>
            <a:pPr indent="0" marL="0">
              <a:buNone/>
            </a:pPr>
            <a:r>
              <a:rPr lang="en-US" sz="1800" b="1" dirty="0">
                <a:solidFill>
                  <a:srgbClr val="D64545"/>
                </a:solidFill>
                <a:latin typeface="Calibri" pitchFamily="34" charset="0"/>
                <a:ea typeface="Calibri" pitchFamily="34" charset="-122"/>
                <a:cs typeface="Calibri" pitchFamily="34" charset="-120"/>
              </a:rPr>
              <a:t>✕</a:t>
            </a:r>
            <a:endParaRPr lang="en-US" sz="1800" dirty="0"/>
          </a:p>
        </p:txBody>
      </p:sp>
      <p:sp>
        <p:nvSpPr>
          <p:cNvPr id="11" name="Text 8"/>
          <p:cNvSpPr txBox="1"/>
          <p:nvPr/>
        </p:nvSpPr>
        <p:spPr>
          <a:xfrm>
            <a:off x="932688" y="4411980"/>
            <a:ext cx="4919472" cy="59436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Every week of waiting is cost we never recover</a:t>
            </a:r>
            <a:endParaRPr lang="en-US" sz="1800" dirty="0"/>
          </a:p>
        </p:txBody>
      </p:sp>
      <p:pic>
        <p:nvPicPr>
          <p:cNvPr id="12" name="Image 0" descr="Coordinator agent, pixel robot">    </p:cNvPr>
          <p:cNvPicPr>
            <a:picLocks noChangeAspect="1"/>
          </p:cNvPicPr>
          <p:nvPr/>
        </p:nvPicPr>
        <p:blipFill>
          <a:blip r:embed="rId1">
            <a:alphaModFix amt="75000"/>
          </a:blip>
          <a:stretch>
            <a:fillRect/>
          </a:stretch>
        </p:blipFill>
        <p:spPr>
          <a:xfrm>
            <a:off x="6309360" y="1920240"/>
            <a:ext cx="640080" cy="877824"/>
          </a:xfrm>
          <a:prstGeom prst="rect">
            <a:avLst/>
          </a:prstGeom>
        </p:spPr>
      </p:pic>
      <p:sp>
        <p:nvSpPr>
          <p:cNvPr id="13" name="Text 9"/>
          <p:cNvSpPr txBox="1"/>
          <p:nvPr/>
        </p:nvSpPr>
        <p:spPr>
          <a:xfrm>
            <a:off x="6912864" y="16916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pic>
        <p:nvPicPr>
          <p:cNvPr id="14" name="Image 1" descr="Site Auditor agent, pixel robot">    </p:cNvPr>
          <p:cNvPicPr>
            <a:picLocks noChangeAspect="1"/>
          </p:cNvPicPr>
          <p:nvPr/>
        </p:nvPicPr>
        <p:blipFill>
          <a:blip r:embed="rId2">
            <a:alphaModFix amt="75000"/>
          </a:blip>
          <a:stretch>
            <a:fillRect/>
          </a:stretch>
        </p:blipFill>
        <p:spPr>
          <a:xfrm>
            <a:off x="7178040" y="1920240"/>
            <a:ext cx="640080" cy="877824"/>
          </a:xfrm>
          <a:prstGeom prst="rect">
            <a:avLst/>
          </a:prstGeom>
        </p:spPr>
      </p:pic>
      <p:sp>
        <p:nvSpPr>
          <p:cNvPr id="15" name="Text 10"/>
          <p:cNvSpPr txBox="1"/>
          <p:nvPr/>
        </p:nvSpPr>
        <p:spPr>
          <a:xfrm>
            <a:off x="7781544" y="16916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pic>
        <p:nvPicPr>
          <p:cNvPr id="16" name="Image 2" descr="Tech Detector agent, pixel robot">    </p:cNvPr>
          <p:cNvPicPr>
            <a:picLocks noChangeAspect="1"/>
          </p:cNvPicPr>
          <p:nvPr/>
        </p:nvPicPr>
        <p:blipFill>
          <a:blip r:embed="rId3">
            <a:alphaModFix amt="75000"/>
          </a:blip>
          <a:stretch>
            <a:fillRect/>
          </a:stretch>
        </p:blipFill>
        <p:spPr>
          <a:xfrm>
            <a:off x="8046720" y="1920240"/>
            <a:ext cx="640080" cy="877824"/>
          </a:xfrm>
          <a:prstGeom prst="rect">
            <a:avLst/>
          </a:prstGeom>
        </p:spPr>
      </p:pic>
      <p:sp>
        <p:nvSpPr>
          <p:cNvPr id="17" name="Text 11"/>
          <p:cNvSpPr txBox="1"/>
          <p:nvPr/>
        </p:nvSpPr>
        <p:spPr>
          <a:xfrm>
            <a:off x="8650224" y="16916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pic>
        <p:nvPicPr>
          <p:cNvPr id="18" name="Image 3" descr="Speed Tester agent, pixel robot">    </p:cNvPr>
          <p:cNvPicPr>
            <a:picLocks noChangeAspect="1"/>
          </p:cNvPicPr>
          <p:nvPr/>
        </p:nvPicPr>
        <p:blipFill>
          <a:blip r:embed="rId4">
            <a:alphaModFix amt="75000"/>
          </a:blip>
          <a:stretch>
            <a:fillRect/>
          </a:stretch>
        </p:blipFill>
        <p:spPr>
          <a:xfrm>
            <a:off x="8915400" y="1920240"/>
            <a:ext cx="640080" cy="877824"/>
          </a:xfrm>
          <a:prstGeom prst="rect">
            <a:avLst/>
          </a:prstGeom>
        </p:spPr>
      </p:pic>
      <p:sp>
        <p:nvSpPr>
          <p:cNvPr id="19" name="Text 12"/>
          <p:cNvSpPr txBox="1"/>
          <p:nvPr/>
        </p:nvSpPr>
        <p:spPr>
          <a:xfrm>
            <a:off x="9518904" y="16916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pic>
        <p:nvPicPr>
          <p:cNvPr id="20" name="Image 4" descr="Mobile Tester agent, pixel robot">    </p:cNvPr>
          <p:cNvPicPr>
            <a:picLocks noChangeAspect="1"/>
          </p:cNvPicPr>
          <p:nvPr/>
        </p:nvPicPr>
        <p:blipFill>
          <a:blip r:embed="rId5">
            <a:alphaModFix amt="75000"/>
          </a:blip>
          <a:stretch>
            <a:fillRect/>
          </a:stretch>
        </p:blipFill>
        <p:spPr>
          <a:xfrm>
            <a:off x="9784080" y="1920240"/>
            <a:ext cx="640080" cy="877824"/>
          </a:xfrm>
          <a:prstGeom prst="rect">
            <a:avLst/>
          </a:prstGeom>
        </p:spPr>
      </p:pic>
      <p:sp>
        <p:nvSpPr>
          <p:cNvPr id="21" name="Text 13"/>
          <p:cNvSpPr txBox="1"/>
          <p:nvPr/>
        </p:nvSpPr>
        <p:spPr>
          <a:xfrm>
            <a:off x="10387584" y="16916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pic>
        <p:nvPicPr>
          <p:cNvPr id="22" name="Image 5" descr="Accessibility Checker agent, pixel robot">    </p:cNvPr>
          <p:cNvPicPr>
            <a:picLocks noChangeAspect="1"/>
          </p:cNvPicPr>
          <p:nvPr/>
        </p:nvPicPr>
        <p:blipFill>
          <a:blip r:embed="rId6">
            <a:alphaModFix amt="75000"/>
          </a:blip>
          <a:stretch>
            <a:fillRect/>
          </a:stretch>
        </p:blipFill>
        <p:spPr>
          <a:xfrm>
            <a:off x="10652760" y="1920240"/>
            <a:ext cx="640080" cy="877824"/>
          </a:xfrm>
          <a:prstGeom prst="rect">
            <a:avLst/>
          </a:prstGeom>
        </p:spPr>
      </p:pic>
      <p:sp>
        <p:nvSpPr>
          <p:cNvPr id="23" name="Text 14"/>
          <p:cNvSpPr txBox="1"/>
          <p:nvPr/>
        </p:nvSpPr>
        <p:spPr>
          <a:xfrm>
            <a:off x="11256264" y="16916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pic>
        <p:nvPicPr>
          <p:cNvPr id="24" name="Image 6" descr="UX Reviewer agent, pixel robot">    </p:cNvPr>
          <p:cNvPicPr>
            <a:picLocks noChangeAspect="1"/>
          </p:cNvPicPr>
          <p:nvPr/>
        </p:nvPicPr>
        <p:blipFill>
          <a:blip r:embed="rId7">
            <a:alphaModFix amt="75000"/>
          </a:blip>
          <a:stretch>
            <a:fillRect/>
          </a:stretch>
        </p:blipFill>
        <p:spPr>
          <a:xfrm>
            <a:off x="6309360" y="3520440"/>
            <a:ext cx="640080" cy="877824"/>
          </a:xfrm>
          <a:prstGeom prst="rect">
            <a:avLst/>
          </a:prstGeom>
        </p:spPr>
      </p:pic>
      <p:sp>
        <p:nvSpPr>
          <p:cNvPr id="25" name="Text 15"/>
          <p:cNvSpPr txBox="1"/>
          <p:nvPr/>
        </p:nvSpPr>
        <p:spPr>
          <a:xfrm>
            <a:off x="6912864" y="32918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pic>
        <p:nvPicPr>
          <p:cNvPr id="26" name="Image 7" descr="AI-Search Checker agent, pixel robot">    </p:cNvPr>
          <p:cNvPicPr>
            <a:picLocks noChangeAspect="1"/>
          </p:cNvPicPr>
          <p:nvPr/>
        </p:nvPicPr>
        <p:blipFill>
          <a:blip r:embed="rId8">
            <a:alphaModFix amt="75000"/>
          </a:blip>
          <a:stretch>
            <a:fillRect/>
          </a:stretch>
        </p:blipFill>
        <p:spPr>
          <a:xfrm>
            <a:off x="7178040" y="3520440"/>
            <a:ext cx="640080" cy="877824"/>
          </a:xfrm>
          <a:prstGeom prst="rect">
            <a:avLst/>
          </a:prstGeom>
        </p:spPr>
      </p:pic>
      <p:sp>
        <p:nvSpPr>
          <p:cNvPr id="27" name="Text 16"/>
          <p:cNvSpPr txBox="1"/>
          <p:nvPr/>
        </p:nvSpPr>
        <p:spPr>
          <a:xfrm>
            <a:off x="7781544" y="32918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pic>
        <p:nvPicPr>
          <p:cNvPr id="28" name="Image 8" descr="Designer agent, pixel robot">    </p:cNvPr>
          <p:cNvPicPr>
            <a:picLocks noChangeAspect="1"/>
          </p:cNvPicPr>
          <p:nvPr/>
        </p:nvPicPr>
        <p:blipFill>
          <a:blip r:embed="rId9">
            <a:alphaModFix amt="75000"/>
          </a:blip>
          <a:stretch>
            <a:fillRect/>
          </a:stretch>
        </p:blipFill>
        <p:spPr>
          <a:xfrm>
            <a:off x="8046720" y="3520440"/>
            <a:ext cx="640080" cy="877824"/>
          </a:xfrm>
          <a:prstGeom prst="rect">
            <a:avLst/>
          </a:prstGeom>
        </p:spPr>
      </p:pic>
      <p:sp>
        <p:nvSpPr>
          <p:cNvPr id="29" name="Text 17"/>
          <p:cNvSpPr txBox="1"/>
          <p:nvPr/>
        </p:nvSpPr>
        <p:spPr>
          <a:xfrm>
            <a:off x="8650224" y="32918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pic>
        <p:nvPicPr>
          <p:cNvPr id="30" name="Image 9" descr="Team Matcher agent, pixel robot">    </p:cNvPr>
          <p:cNvPicPr>
            <a:picLocks noChangeAspect="1"/>
          </p:cNvPicPr>
          <p:nvPr/>
        </p:nvPicPr>
        <p:blipFill>
          <a:blip r:embed="rId10">
            <a:alphaModFix amt="75000"/>
          </a:blip>
          <a:stretch>
            <a:fillRect/>
          </a:stretch>
        </p:blipFill>
        <p:spPr>
          <a:xfrm>
            <a:off x="8915400" y="3520440"/>
            <a:ext cx="640080" cy="877824"/>
          </a:xfrm>
          <a:prstGeom prst="rect">
            <a:avLst/>
          </a:prstGeom>
        </p:spPr>
      </p:pic>
      <p:sp>
        <p:nvSpPr>
          <p:cNvPr id="31" name="Text 18"/>
          <p:cNvSpPr txBox="1"/>
          <p:nvPr/>
        </p:nvSpPr>
        <p:spPr>
          <a:xfrm>
            <a:off x="9518904" y="32918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pic>
        <p:nvPicPr>
          <p:cNvPr id="32" name="Image 10" descr="Deck Writer agent, pixel robot">    </p:cNvPr>
          <p:cNvPicPr>
            <a:picLocks noChangeAspect="1"/>
          </p:cNvPicPr>
          <p:nvPr/>
        </p:nvPicPr>
        <p:blipFill>
          <a:blip r:embed="rId11">
            <a:alphaModFix amt="75000"/>
          </a:blip>
          <a:stretch>
            <a:fillRect/>
          </a:stretch>
        </p:blipFill>
        <p:spPr>
          <a:xfrm>
            <a:off x="9784080" y="3520440"/>
            <a:ext cx="640080" cy="877824"/>
          </a:xfrm>
          <a:prstGeom prst="rect">
            <a:avLst/>
          </a:prstGeom>
        </p:spPr>
      </p:pic>
      <p:sp>
        <p:nvSpPr>
          <p:cNvPr id="33" name="Text 19"/>
          <p:cNvSpPr txBox="1"/>
          <p:nvPr/>
        </p:nvSpPr>
        <p:spPr>
          <a:xfrm>
            <a:off x="10387584" y="32918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pic>
        <p:nvPicPr>
          <p:cNvPr id="34" name="Image 11" descr="Coordinator agent, pixel robot">    </p:cNvPr>
          <p:cNvPicPr>
            <a:picLocks noChangeAspect="1"/>
          </p:cNvPicPr>
          <p:nvPr/>
        </p:nvPicPr>
        <p:blipFill>
          <a:blip r:embed="rId12">
            <a:alphaModFix amt="75000"/>
          </a:blip>
          <a:stretch>
            <a:fillRect/>
          </a:stretch>
        </p:blipFill>
        <p:spPr>
          <a:xfrm>
            <a:off x="10652760" y="3520440"/>
            <a:ext cx="640080" cy="877824"/>
          </a:xfrm>
          <a:prstGeom prst="rect">
            <a:avLst/>
          </a:prstGeom>
        </p:spPr>
      </p:pic>
      <p:sp>
        <p:nvSpPr>
          <p:cNvPr id="35" name="Text 20"/>
          <p:cNvSpPr txBox="1"/>
          <p:nvPr/>
        </p:nvSpPr>
        <p:spPr>
          <a:xfrm>
            <a:off x="11256264" y="3291840"/>
            <a:ext cx="274320" cy="320040"/>
          </a:xfrm>
          <a:prstGeom prst="rect">
            <a:avLst/>
          </a:prstGeom>
          <a:noFill/>
          <a:ln/>
        </p:spPr>
        <p:txBody>
          <a:bodyPr wrap="square" lIns="0" tIns="0" rIns="0" bIns="0" rtlCol="0" anchor="t"/>
          <a:lstStyle/>
          <a:p>
            <a:pPr indent="0" marL="0">
              <a:buNone/>
            </a:pPr>
            <a:r>
              <a:rPr lang="en-US" sz="1800" b="1" dirty="0">
                <a:solidFill>
                  <a:srgbClr val="4F6BFF"/>
                </a:solidFill>
                <a:latin typeface="Calibri" pitchFamily="34" charset="0"/>
                <a:ea typeface="Calibri" pitchFamily="34" charset="-122"/>
                <a:cs typeface="Calibri" pitchFamily="34" charset="-120"/>
              </a:rPr>
              <a:t>z</a:t>
            </a:r>
            <a:endParaRPr lang="en-US" sz="1800" dirty="0"/>
          </a:p>
        </p:txBody>
      </p:sp>
      <p:sp>
        <p:nvSpPr>
          <p:cNvPr id="36" name="Text 21"/>
          <p:cNvSpPr txBox="1"/>
          <p:nvPr/>
        </p:nvSpPr>
        <p:spPr>
          <a:xfrm>
            <a:off x="6309360" y="5212080"/>
            <a:ext cx="5212080" cy="365760"/>
          </a:xfrm>
          <a:prstGeom prst="rect">
            <a:avLst/>
          </a:prstGeom>
          <a:noFill/>
          <a:ln/>
        </p:spPr>
        <p:txBody>
          <a:bodyPr wrap="square" lIns="0" tIns="0" rIns="0" bIns="0" rtlCol="0" anchor="t"/>
          <a:lstStyle/>
          <a:p>
            <a:pPr algn="ctr" indent="0" marL="0">
              <a:buNone/>
            </a:pPr>
            <a:r>
              <a:rPr lang="en-US" sz="1400" dirty="0">
                <a:solidFill>
                  <a:srgbClr val="667089"/>
                </a:solidFill>
                <a:latin typeface="Calibri" pitchFamily="34" charset="0"/>
                <a:ea typeface="Calibri" pitchFamily="34" charset="-122"/>
                <a:cs typeface="Calibri" pitchFamily="34" charset="-120"/>
              </a:rPr>
              <a:t>Developers waiting for their next project</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PROBLEM · 2 OF 6</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Proposals are slow, generic and rarely convert</a:t>
            </a:r>
            <a:endParaRPr lang="en-US" sz="3400" dirty="0"/>
          </a:p>
        </p:txBody>
      </p:sp>
      <p:sp>
        <p:nvSpPr>
          <p:cNvPr id="5" name="Shape 2"/>
          <p:cNvSpPr/>
          <p:nvPr/>
        </p:nvSpPr>
        <p:spPr>
          <a:xfrm>
            <a:off x="548640" y="1828800"/>
            <a:ext cx="1234440"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Text 3"/>
          <p:cNvSpPr txBox="1"/>
          <p:nvPr/>
        </p:nvSpPr>
        <p:spPr>
          <a:xfrm>
            <a:off x="548640" y="1938528"/>
            <a:ext cx="1234440" cy="502920"/>
          </a:xfrm>
          <a:prstGeom prst="rect">
            <a:avLst/>
          </a:prstGeom>
          <a:noFill/>
          <a:ln/>
        </p:spPr>
        <p:txBody>
          <a:bodyPr wrap="square" lIns="0" tIns="0" rIns="0" bIns="0" rtlCol="0" anchor="t"/>
          <a:lstStyle/>
          <a:p>
            <a:pPr algn="ctr" indent="0" marL="0">
              <a:buNone/>
            </a:pPr>
            <a:r>
              <a:rPr lang="en-US" sz="2200" b="1" dirty="0">
                <a:solidFill>
                  <a:srgbClr val="4F6BFF"/>
                </a:solidFill>
                <a:latin typeface="Calibri" pitchFamily="34" charset="0"/>
                <a:ea typeface="Calibri" pitchFamily="34" charset="-122"/>
                <a:cs typeface="Calibri" pitchFamily="34" charset="-120"/>
              </a:rPr>
              <a:t>1</a:t>
            </a:r>
            <a:endParaRPr lang="en-US" sz="2200" dirty="0"/>
          </a:p>
        </p:txBody>
      </p:sp>
      <p:sp>
        <p:nvSpPr>
          <p:cNvPr id="7" name="Text 4"/>
          <p:cNvSpPr txBox="1"/>
          <p:nvPr/>
        </p:nvSpPr>
        <p:spPr>
          <a:xfrm>
            <a:off x="548640" y="2468880"/>
            <a:ext cx="1234440" cy="411480"/>
          </a:xfrm>
          <a:prstGeom prst="rect">
            <a:avLst/>
          </a:prstGeom>
          <a:noFill/>
          <a:ln/>
        </p:spPr>
        <p:txBody>
          <a:bodyPr wrap="square" lIns="0" tIns="0" rIns="0" bIns="0" rtlCol="0" anchor="t"/>
          <a:lstStyle/>
          <a:p>
            <a:pPr algn="ctr" indent="0" marL="0">
              <a:buNone/>
            </a:pPr>
            <a:r>
              <a:rPr lang="en-US" sz="1400" b="1" dirty="0">
                <a:solidFill>
                  <a:srgbClr val="1A2033"/>
                </a:solidFill>
                <a:latin typeface="Calibri" pitchFamily="34" charset="0"/>
                <a:ea typeface="Calibri" pitchFamily="34" charset="-122"/>
                <a:cs typeface="Calibri" pitchFamily="34" charset="-120"/>
              </a:rPr>
              <a:t>Find a lead</a:t>
            </a:r>
            <a:endParaRPr lang="en-US" sz="1400" dirty="0"/>
          </a:p>
        </p:txBody>
      </p:sp>
      <p:sp>
        <p:nvSpPr>
          <p:cNvPr id="8" name="Shape 5"/>
          <p:cNvSpPr/>
          <p:nvPr/>
        </p:nvSpPr>
        <p:spPr>
          <a:xfrm>
            <a:off x="1965960" y="1828800"/>
            <a:ext cx="1234440"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9" name="Text 6"/>
          <p:cNvSpPr txBox="1"/>
          <p:nvPr/>
        </p:nvSpPr>
        <p:spPr>
          <a:xfrm>
            <a:off x="1965960" y="1938528"/>
            <a:ext cx="1234440" cy="502920"/>
          </a:xfrm>
          <a:prstGeom prst="rect">
            <a:avLst/>
          </a:prstGeom>
          <a:noFill/>
          <a:ln/>
        </p:spPr>
        <p:txBody>
          <a:bodyPr wrap="square" lIns="0" tIns="0" rIns="0" bIns="0" rtlCol="0" anchor="t"/>
          <a:lstStyle/>
          <a:p>
            <a:pPr algn="ctr" indent="0" marL="0">
              <a:buNone/>
            </a:pPr>
            <a:r>
              <a:rPr lang="en-US" sz="2200" b="1" dirty="0">
                <a:solidFill>
                  <a:srgbClr val="4F6BFF"/>
                </a:solidFill>
                <a:latin typeface="Calibri" pitchFamily="34" charset="0"/>
                <a:ea typeface="Calibri" pitchFamily="34" charset="-122"/>
                <a:cs typeface="Calibri" pitchFamily="34" charset="-120"/>
              </a:rPr>
              <a:t>2</a:t>
            </a:r>
            <a:endParaRPr lang="en-US" sz="2200" dirty="0"/>
          </a:p>
        </p:txBody>
      </p:sp>
      <p:sp>
        <p:nvSpPr>
          <p:cNvPr id="10" name="Text 7"/>
          <p:cNvSpPr txBox="1"/>
          <p:nvPr/>
        </p:nvSpPr>
        <p:spPr>
          <a:xfrm>
            <a:off x="1965960" y="2468880"/>
            <a:ext cx="1234440" cy="411480"/>
          </a:xfrm>
          <a:prstGeom prst="rect">
            <a:avLst/>
          </a:prstGeom>
          <a:noFill/>
          <a:ln/>
        </p:spPr>
        <p:txBody>
          <a:bodyPr wrap="square" lIns="0" tIns="0" rIns="0" bIns="0" rtlCol="0" anchor="t"/>
          <a:lstStyle/>
          <a:p>
            <a:pPr algn="ctr" indent="0" marL="0">
              <a:buNone/>
            </a:pPr>
            <a:r>
              <a:rPr lang="en-US" sz="1400" b="1" dirty="0">
                <a:solidFill>
                  <a:srgbClr val="1A2033"/>
                </a:solidFill>
                <a:latin typeface="Calibri" pitchFamily="34" charset="0"/>
                <a:ea typeface="Calibri" pitchFamily="34" charset="-122"/>
                <a:cs typeface="Calibri" pitchFamily="34" charset="-120"/>
              </a:rPr>
              <a:t>Research</a:t>
            </a:r>
            <a:endParaRPr lang="en-US" sz="1400" dirty="0"/>
          </a:p>
        </p:txBody>
      </p:sp>
      <p:sp>
        <p:nvSpPr>
          <p:cNvPr id="11" name="Shape 8"/>
          <p:cNvSpPr/>
          <p:nvPr/>
        </p:nvSpPr>
        <p:spPr>
          <a:xfrm>
            <a:off x="3383280" y="1828800"/>
            <a:ext cx="1234440"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2" name="Text 9"/>
          <p:cNvSpPr txBox="1"/>
          <p:nvPr/>
        </p:nvSpPr>
        <p:spPr>
          <a:xfrm>
            <a:off x="3383280" y="1938528"/>
            <a:ext cx="1234440" cy="502920"/>
          </a:xfrm>
          <a:prstGeom prst="rect">
            <a:avLst/>
          </a:prstGeom>
          <a:noFill/>
          <a:ln/>
        </p:spPr>
        <p:txBody>
          <a:bodyPr wrap="square" lIns="0" tIns="0" rIns="0" bIns="0" rtlCol="0" anchor="t"/>
          <a:lstStyle/>
          <a:p>
            <a:pPr algn="ctr" indent="0" marL="0">
              <a:buNone/>
            </a:pPr>
            <a:r>
              <a:rPr lang="en-US" sz="2200" b="1" dirty="0">
                <a:solidFill>
                  <a:srgbClr val="4F6BFF"/>
                </a:solidFill>
                <a:latin typeface="Calibri" pitchFamily="34" charset="0"/>
                <a:ea typeface="Calibri" pitchFamily="34" charset="-122"/>
                <a:cs typeface="Calibri" pitchFamily="34" charset="-120"/>
              </a:rPr>
              <a:t>3</a:t>
            </a:r>
            <a:endParaRPr lang="en-US" sz="2200" dirty="0"/>
          </a:p>
        </p:txBody>
      </p:sp>
      <p:sp>
        <p:nvSpPr>
          <p:cNvPr id="13" name="Text 10"/>
          <p:cNvSpPr txBox="1"/>
          <p:nvPr/>
        </p:nvSpPr>
        <p:spPr>
          <a:xfrm>
            <a:off x="3383280" y="2468880"/>
            <a:ext cx="1234440" cy="411480"/>
          </a:xfrm>
          <a:prstGeom prst="rect">
            <a:avLst/>
          </a:prstGeom>
          <a:noFill/>
          <a:ln/>
        </p:spPr>
        <p:txBody>
          <a:bodyPr wrap="square" lIns="0" tIns="0" rIns="0" bIns="0" rtlCol="0" anchor="t"/>
          <a:lstStyle/>
          <a:p>
            <a:pPr algn="ctr" indent="0" marL="0">
              <a:buNone/>
            </a:pPr>
            <a:r>
              <a:rPr lang="en-US" sz="1400" b="1" dirty="0">
                <a:solidFill>
                  <a:srgbClr val="1A2033"/>
                </a:solidFill>
                <a:latin typeface="Calibri" pitchFamily="34" charset="0"/>
                <a:ea typeface="Calibri" pitchFamily="34" charset="-122"/>
                <a:cs typeface="Calibri" pitchFamily="34" charset="-120"/>
              </a:rPr>
              <a:t>Draft</a:t>
            </a:r>
            <a:endParaRPr lang="en-US" sz="1400" dirty="0"/>
          </a:p>
        </p:txBody>
      </p:sp>
      <p:sp>
        <p:nvSpPr>
          <p:cNvPr id="14" name="Shape 11"/>
          <p:cNvSpPr/>
          <p:nvPr/>
        </p:nvSpPr>
        <p:spPr>
          <a:xfrm>
            <a:off x="4800600" y="1828800"/>
            <a:ext cx="1234440"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5" name="Text 12"/>
          <p:cNvSpPr txBox="1"/>
          <p:nvPr/>
        </p:nvSpPr>
        <p:spPr>
          <a:xfrm>
            <a:off x="4800600" y="1938528"/>
            <a:ext cx="1234440" cy="502920"/>
          </a:xfrm>
          <a:prstGeom prst="rect">
            <a:avLst/>
          </a:prstGeom>
          <a:noFill/>
          <a:ln/>
        </p:spPr>
        <p:txBody>
          <a:bodyPr wrap="square" lIns="0" tIns="0" rIns="0" bIns="0" rtlCol="0" anchor="t"/>
          <a:lstStyle/>
          <a:p>
            <a:pPr algn="ctr" indent="0" marL="0">
              <a:buNone/>
            </a:pPr>
            <a:r>
              <a:rPr lang="en-US" sz="2200" b="1" dirty="0">
                <a:solidFill>
                  <a:srgbClr val="4F6BFF"/>
                </a:solidFill>
                <a:latin typeface="Calibri" pitchFamily="34" charset="0"/>
                <a:ea typeface="Calibri" pitchFamily="34" charset="-122"/>
                <a:cs typeface="Calibri" pitchFamily="34" charset="-120"/>
              </a:rPr>
              <a:t>4</a:t>
            </a:r>
            <a:endParaRPr lang="en-US" sz="2200" dirty="0"/>
          </a:p>
        </p:txBody>
      </p:sp>
      <p:sp>
        <p:nvSpPr>
          <p:cNvPr id="16" name="Text 13"/>
          <p:cNvSpPr txBox="1"/>
          <p:nvPr/>
        </p:nvSpPr>
        <p:spPr>
          <a:xfrm>
            <a:off x="4800600" y="2468880"/>
            <a:ext cx="1234440" cy="411480"/>
          </a:xfrm>
          <a:prstGeom prst="rect">
            <a:avLst/>
          </a:prstGeom>
          <a:noFill/>
          <a:ln/>
        </p:spPr>
        <p:txBody>
          <a:bodyPr wrap="square" lIns="0" tIns="0" rIns="0" bIns="0" rtlCol="0" anchor="t"/>
          <a:lstStyle/>
          <a:p>
            <a:pPr algn="ctr" indent="0" marL="0">
              <a:buNone/>
            </a:pPr>
            <a:r>
              <a:rPr lang="en-US" sz="1400" b="1" dirty="0">
                <a:solidFill>
                  <a:srgbClr val="1A2033"/>
                </a:solidFill>
                <a:latin typeface="Calibri" pitchFamily="34" charset="0"/>
                <a:ea typeface="Calibri" pitchFamily="34" charset="-122"/>
                <a:cs typeface="Calibri" pitchFamily="34" charset="-120"/>
              </a:rPr>
              <a:t>Review</a:t>
            </a:r>
            <a:endParaRPr lang="en-US" sz="1400" dirty="0"/>
          </a:p>
        </p:txBody>
      </p:sp>
      <p:sp>
        <p:nvSpPr>
          <p:cNvPr id="17" name="Shape 14"/>
          <p:cNvSpPr/>
          <p:nvPr/>
        </p:nvSpPr>
        <p:spPr>
          <a:xfrm>
            <a:off x="6217920" y="1828800"/>
            <a:ext cx="1234440"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8" name="Text 15"/>
          <p:cNvSpPr txBox="1"/>
          <p:nvPr/>
        </p:nvSpPr>
        <p:spPr>
          <a:xfrm>
            <a:off x="6217920" y="1938528"/>
            <a:ext cx="1234440" cy="502920"/>
          </a:xfrm>
          <a:prstGeom prst="rect">
            <a:avLst/>
          </a:prstGeom>
          <a:noFill/>
          <a:ln/>
        </p:spPr>
        <p:txBody>
          <a:bodyPr wrap="square" lIns="0" tIns="0" rIns="0" bIns="0" rtlCol="0" anchor="t"/>
          <a:lstStyle/>
          <a:p>
            <a:pPr algn="ctr" indent="0" marL="0">
              <a:buNone/>
            </a:pPr>
            <a:r>
              <a:rPr lang="en-US" sz="2200" b="1" dirty="0">
                <a:solidFill>
                  <a:srgbClr val="4F6BFF"/>
                </a:solidFill>
                <a:latin typeface="Calibri" pitchFamily="34" charset="0"/>
                <a:ea typeface="Calibri" pitchFamily="34" charset="-122"/>
                <a:cs typeface="Calibri" pitchFamily="34" charset="-120"/>
              </a:rPr>
              <a:t>5</a:t>
            </a:r>
            <a:endParaRPr lang="en-US" sz="2200" dirty="0"/>
          </a:p>
        </p:txBody>
      </p:sp>
      <p:sp>
        <p:nvSpPr>
          <p:cNvPr id="19" name="Text 16"/>
          <p:cNvSpPr txBox="1"/>
          <p:nvPr/>
        </p:nvSpPr>
        <p:spPr>
          <a:xfrm>
            <a:off x="6217920" y="2468880"/>
            <a:ext cx="1234440" cy="411480"/>
          </a:xfrm>
          <a:prstGeom prst="rect">
            <a:avLst/>
          </a:prstGeom>
          <a:noFill/>
          <a:ln/>
        </p:spPr>
        <p:txBody>
          <a:bodyPr wrap="square" lIns="0" tIns="0" rIns="0" bIns="0" rtlCol="0" anchor="t"/>
          <a:lstStyle/>
          <a:p>
            <a:pPr algn="ctr" indent="0" marL="0">
              <a:buNone/>
            </a:pPr>
            <a:r>
              <a:rPr lang="en-US" sz="1400" b="1" dirty="0">
                <a:solidFill>
                  <a:srgbClr val="1A2033"/>
                </a:solidFill>
                <a:latin typeface="Calibri" pitchFamily="34" charset="0"/>
                <a:ea typeface="Calibri" pitchFamily="34" charset="-122"/>
                <a:cs typeface="Calibri" pitchFamily="34" charset="-120"/>
              </a:rPr>
              <a:t>Send</a:t>
            </a:r>
            <a:endParaRPr lang="en-US" sz="1400" dirty="0"/>
          </a:p>
        </p:txBody>
      </p:sp>
      <p:sp>
        <p:nvSpPr>
          <p:cNvPr id="20" name="Text 17"/>
          <p:cNvSpPr txBox="1"/>
          <p:nvPr/>
        </p:nvSpPr>
        <p:spPr>
          <a:xfrm>
            <a:off x="7772400" y="2011680"/>
            <a:ext cx="3840480" cy="914400"/>
          </a:xfrm>
          <a:prstGeom prst="rect">
            <a:avLst/>
          </a:prstGeom>
          <a:noFill/>
          <a:ln/>
        </p:spPr>
        <p:txBody>
          <a:bodyPr wrap="square" lIns="0" tIns="0" rIns="0" bIns="0" rtlCol="0" anchor="t"/>
          <a:lstStyle/>
          <a:p>
            <a:pPr indent="0" marL="0">
              <a:buNone/>
            </a:pPr>
            <a:r>
              <a:rPr lang="en-US" sz="2000" dirty="0">
                <a:solidFill>
                  <a:srgbClr val="667089"/>
                </a:solidFill>
                <a:latin typeface="Calibri" pitchFamily="34" charset="0"/>
                <a:ea typeface="Calibri" pitchFamily="34" charset="-122"/>
                <a:cs typeface="Calibri" pitchFamily="34" charset="-120"/>
              </a:rPr>
              <a:t>Days of senior time for </a:t>
            </a:r>
            <a:pPr indent="0" marL="0">
              <a:buNone/>
            </a:pPr>
            <a:r>
              <a:rPr lang="en-US" sz="2000" b="1" dirty="0">
                <a:solidFill>
                  <a:srgbClr val="667089"/>
                </a:solidFill>
                <a:latin typeface="Calibri" pitchFamily="34" charset="0"/>
                <a:ea typeface="Calibri" pitchFamily="34" charset="-122"/>
                <a:cs typeface="Calibri" pitchFamily="34" charset="-120"/>
              </a:rPr>
              <a:t>one</a:t>
            </a:r>
            <a:pPr indent="0" marL="0">
              <a:buNone/>
            </a:pPr>
            <a:r>
              <a:rPr lang="en-US" sz="2000" dirty="0">
                <a:solidFill>
                  <a:srgbClr val="667089"/>
                </a:solidFill>
                <a:latin typeface="Calibri" pitchFamily="34" charset="0"/>
                <a:ea typeface="Calibri" pitchFamily="34" charset="-122"/>
                <a:cs typeface="Calibri" pitchFamily="34" charset="-120"/>
              </a:rPr>
              <a:t> pitch.</a:t>
            </a:r>
            <a:endParaRPr lang="en-US" sz="2000" dirty="0"/>
          </a:p>
        </p:txBody>
      </p:sp>
      <p:sp>
        <p:nvSpPr>
          <p:cNvPr id="21" name="Shape 18"/>
          <p:cNvSpPr/>
          <p:nvPr/>
        </p:nvSpPr>
        <p:spPr>
          <a:xfrm>
            <a:off x="548640" y="3429000"/>
            <a:ext cx="3545738" cy="1371600"/>
          </a:xfrm>
          <a:prstGeom prst="roundRect">
            <a:avLst>
              <a:gd name="adj" fmla="val 8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2" name="Text 19"/>
          <p:cNvSpPr txBox="1"/>
          <p:nvPr/>
        </p:nvSpPr>
        <p:spPr>
          <a:xfrm>
            <a:off x="777240" y="3566160"/>
            <a:ext cx="3088538" cy="754380"/>
          </a:xfrm>
          <a:prstGeom prst="rect">
            <a:avLst/>
          </a:prstGeom>
          <a:noFill/>
          <a:ln/>
        </p:spPr>
        <p:txBody>
          <a:bodyPr wrap="square" lIns="0" tIns="0" rIns="0" bIns="0" rtlCol="0" anchor="ctr"/>
          <a:lstStyle/>
          <a:p>
            <a:pPr indent="0" marL="0">
              <a:buNone/>
            </a:pPr>
            <a:r>
              <a:rPr lang="en-US" sz="3600" b="1" dirty="0">
                <a:solidFill>
                  <a:srgbClr val="1A2033"/>
                </a:solidFill>
                <a:latin typeface="Calibri" pitchFamily="34" charset="0"/>
                <a:ea typeface="Calibri" pitchFamily="34" charset="-122"/>
                <a:cs typeface="Calibri" pitchFamily="34" charset="-120"/>
              </a:rPr>
              <a:t>Days</a:t>
            </a:r>
            <a:endParaRPr lang="en-US" sz="3600" dirty="0"/>
          </a:p>
        </p:txBody>
      </p:sp>
      <p:sp>
        <p:nvSpPr>
          <p:cNvPr id="23" name="Text 20"/>
          <p:cNvSpPr txBox="1"/>
          <p:nvPr/>
        </p:nvSpPr>
        <p:spPr>
          <a:xfrm>
            <a:off x="777240" y="4279392"/>
            <a:ext cx="3088538" cy="45262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of senior time per proposal</a:t>
            </a:r>
            <a:endParaRPr lang="en-US" sz="1300" dirty="0"/>
          </a:p>
        </p:txBody>
      </p:sp>
      <p:sp>
        <p:nvSpPr>
          <p:cNvPr id="24" name="Shape 21"/>
          <p:cNvSpPr/>
          <p:nvPr/>
        </p:nvSpPr>
        <p:spPr>
          <a:xfrm>
            <a:off x="4322978" y="3429000"/>
            <a:ext cx="3545738" cy="1371600"/>
          </a:xfrm>
          <a:prstGeom prst="roundRect">
            <a:avLst>
              <a:gd name="adj" fmla="val 8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5" name="Text 22"/>
          <p:cNvSpPr txBox="1"/>
          <p:nvPr/>
        </p:nvSpPr>
        <p:spPr>
          <a:xfrm>
            <a:off x="4551578" y="3566160"/>
            <a:ext cx="3088538" cy="754380"/>
          </a:xfrm>
          <a:prstGeom prst="rect">
            <a:avLst/>
          </a:prstGeom>
          <a:noFill/>
          <a:ln/>
        </p:spPr>
        <p:txBody>
          <a:bodyPr wrap="square" lIns="0" tIns="0" rIns="0" bIns="0" rtlCol="0" anchor="ctr"/>
          <a:lstStyle/>
          <a:p>
            <a:pPr indent="0" marL="0">
              <a:buNone/>
            </a:pPr>
            <a:r>
              <a:rPr lang="en-US" sz="3600" b="1" dirty="0">
                <a:solidFill>
                  <a:srgbClr val="1A2033"/>
                </a:solidFill>
                <a:latin typeface="Calibri" pitchFamily="34" charset="0"/>
                <a:ea typeface="Calibri" pitchFamily="34" charset="-122"/>
                <a:cs typeface="Calibri" pitchFamily="34" charset="-120"/>
              </a:rPr>
              <a:t>Few</a:t>
            </a:r>
            <a:endParaRPr lang="en-US" sz="3600" dirty="0"/>
          </a:p>
        </p:txBody>
      </p:sp>
      <p:sp>
        <p:nvSpPr>
          <p:cNvPr id="26" name="Text 23"/>
          <p:cNvSpPr txBox="1"/>
          <p:nvPr/>
        </p:nvSpPr>
        <p:spPr>
          <a:xfrm>
            <a:off x="4551578" y="4279392"/>
            <a:ext cx="3088538" cy="45262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proposals actually sent</a:t>
            </a:r>
            <a:endParaRPr lang="en-US" sz="1300" dirty="0"/>
          </a:p>
        </p:txBody>
      </p:sp>
      <p:sp>
        <p:nvSpPr>
          <p:cNvPr id="27" name="Shape 24"/>
          <p:cNvSpPr/>
          <p:nvPr/>
        </p:nvSpPr>
        <p:spPr>
          <a:xfrm>
            <a:off x="8097317" y="3429000"/>
            <a:ext cx="3545738" cy="1371600"/>
          </a:xfrm>
          <a:prstGeom prst="roundRect">
            <a:avLst>
              <a:gd name="adj" fmla="val 8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8" name="Text 25"/>
          <p:cNvSpPr txBox="1"/>
          <p:nvPr/>
        </p:nvSpPr>
        <p:spPr>
          <a:xfrm>
            <a:off x="8325917" y="3566160"/>
            <a:ext cx="3088538" cy="754380"/>
          </a:xfrm>
          <a:prstGeom prst="rect">
            <a:avLst/>
          </a:prstGeom>
          <a:noFill/>
          <a:ln/>
        </p:spPr>
        <p:txBody>
          <a:bodyPr wrap="square" lIns="0" tIns="0" rIns="0" bIns="0" rtlCol="0" anchor="ctr"/>
          <a:lstStyle/>
          <a:p>
            <a:pPr indent="0" marL="0">
              <a:buNone/>
            </a:pPr>
            <a:r>
              <a:rPr lang="en-US" sz="3600" b="1" dirty="0">
                <a:solidFill>
                  <a:srgbClr val="D64545"/>
                </a:solidFill>
                <a:latin typeface="Calibri" pitchFamily="34" charset="0"/>
                <a:ea typeface="Calibri" pitchFamily="34" charset="-122"/>
                <a:cs typeface="Calibri" pitchFamily="34" charset="-120"/>
              </a:rPr>
              <a:t>Rare</a:t>
            </a:r>
            <a:endParaRPr lang="en-US" sz="3600" dirty="0"/>
          </a:p>
        </p:txBody>
      </p:sp>
      <p:sp>
        <p:nvSpPr>
          <p:cNvPr id="29" name="Text 26"/>
          <p:cNvSpPr txBox="1"/>
          <p:nvPr/>
        </p:nvSpPr>
        <p:spPr>
          <a:xfrm>
            <a:off x="8325917" y="4279392"/>
            <a:ext cx="3088538" cy="45262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conversions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PROBLEM · 3 OF 6</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Reaching out is slow, and nobody knows where to aim</a:t>
            </a:r>
            <a:endParaRPr lang="en-US" sz="3400" dirty="0"/>
          </a:p>
        </p:txBody>
      </p:sp>
      <p:sp>
        <p:nvSpPr>
          <p:cNvPr id="5" name="Shape 2"/>
          <p:cNvSpPr/>
          <p:nvPr/>
        </p:nvSpPr>
        <p:spPr>
          <a:xfrm>
            <a:off x="548640" y="1828800"/>
            <a:ext cx="3545738" cy="2560320"/>
          </a:xfrm>
          <a:prstGeom prst="roundRect">
            <a:avLst>
              <a:gd name="adj" fmla="val 4286"/>
            </a:avLst>
          </a:prstGeom>
          <a:solidFill>
            <a:srgbClr val="FFFFFF"/>
          </a:solidFill>
          <a:ln w="12700">
            <a:solidFill>
              <a:srgbClr val="D64545"/>
            </a:solidFill>
            <a:prstDash val="solid"/>
          </a:ln>
          <a:effectLst>
            <a:outerShdw sx="100000" sy="100000" kx="0" ky="0" algn="bl" rotWithShape="0" blurRad="101600" dist="25400" dir="5400000">
              <a:srgbClr val="1E2850">
                <a:alpha val="8000"/>
              </a:srgbClr>
            </a:outerShdw>
          </a:effectLst>
        </p:spPr>
      </p:sp>
      <p:pic>
        <p:nvPicPr>
          <p:cNvPr id="6" name="Image 0" descr="mail icon">    </p:cNvPr>
          <p:cNvPicPr>
            <a:picLocks noChangeAspect="1"/>
          </p:cNvPicPr>
          <p:nvPr/>
        </p:nvPicPr>
        <p:blipFill>
          <a:blip r:embed="rId1"/>
          <a:stretch>
            <a:fillRect/>
          </a:stretch>
        </p:blipFill>
        <p:spPr>
          <a:xfrm>
            <a:off x="777240" y="2029968"/>
            <a:ext cx="384048" cy="384048"/>
          </a:xfrm>
          <a:prstGeom prst="rect">
            <a:avLst/>
          </a:prstGeom>
        </p:spPr>
      </p:pic>
      <p:sp>
        <p:nvSpPr>
          <p:cNvPr id="7" name="Text 3"/>
          <p:cNvSpPr txBox="1"/>
          <p:nvPr/>
        </p:nvSpPr>
        <p:spPr>
          <a:xfrm>
            <a:off x="1280160" y="201168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No contacts</a:t>
            </a:r>
            <a:endParaRPr lang="en-US" sz="1700" dirty="0"/>
          </a:p>
        </p:txBody>
      </p:sp>
      <p:sp>
        <p:nvSpPr>
          <p:cNvPr id="8" name="Text 4"/>
          <p:cNvSpPr txBox="1"/>
          <p:nvPr/>
        </p:nvSpPr>
        <p:spPr>
          <a:xfrm>
            <a:off x="777240" y="2542032"/>
            <a:ext cx="3088538" cy="173736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Who is the CTO? Who owns the website budget? Finding the right person takes days of digging, and the list is never ready.</a:t>
            </a:r>
            <a:endParaRPr lang="en-US" sz="1400" dirty="0"/>
          </a:p>
        </p:txBody>
      </p:sp>
      <p:sp>
        <p:nvSpPr>
          <p:cNvPr id="9" name="Shape 5"/>
          <p:cNvSpPr/>
          <p:nvPr/>
        </p:nvSpPr>
        <p:spPr>
          <a:xfrm>
            <a:off x="4322978" y="1828800"/>
            <a:ext cx="3545738" cy="2560320"/>
          </a:xfrm>
          <a:prstGeom prst="roundRect">
            <a:avLst>
              <a:gd name="adj" fmla="val 4286"/>
            </a:avLst>
          </a:prstGeom>
          <a:solidFill>
            <a:srgbClr val="FFFFFF"/>
          </a:solidFill>
          <a:ln w="12700">
            <a:solidFill>
              <a:srgbClr val="D64545"/>
            </a:solidFill>
            <a:prstDash val="solid"/>
          </a:ln>
          <a:effectLst>
            <a:outerShdw sx="100000" sy="100000" kx="0" ky="0" algn="bl" rotWithShape="0" blurRad="101600" dist="25400" dir="5400000">
              <a:srgbClr val="1E2850">
                <a:alpha val="8000"/>
              </a:srgbClr>
            </a:outerShdw>
          </a:effectLst>
        </p:spPr>
      </p:sp>
      <p:pic>
        <p:nvPicPr>
          <p:cNvPr id="10" name="Image 1" descr="compass icon">    </p:cNvPr>
          <p:cNvPicPr>
            <a:picLocks noChangeAspect="1"/>
          </p:cNvPicPr>
          <p:nvPr/>
        </p:nvPicPr>
        <p:blipFill>
          <a:blip r:embed="rId2"/>
          <a:stretch>
            <a:fillRect/>
          </a:stretch>
        </p:blipFill>
        <p:spPr>
          <a:xfrm>
            <a:off x="4551578" y="2029968"/>
            <a:ext cx="384048" cy="384048"/>
          </a:xfrm>
          <a:prstGeom prst="rect">
            <a:avLst/>
          </a:prstGeom>
        </p:spPr>
      </p:pic>
      <p:sp>
        <p:nvSpPr>
          <p:cNvPr id="11" name="Text 6"/>
          <p:cNvSpPr txBox="1"/>
          <p:nvPr/>
        </p:nvSpPr>
        <p:spPr>
          <a:xfrm>
            <a:off x="5054498" y="201168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No direction</a:t>
            </a:r>
            <a:endParaRPr lang="en-US" sz="1700" dirty="0"/>
          </a:p>
        </p:txBody>
      </p:sp>
      <p:sp>
        <p:nvSpPr>
          <p:cNvPr id="12" name="Text 7"/>
          <p:cNvSpPr txBox="1"/>
          <p:nvPr/>
        </p:nvSpPr>
        <p:spPr>
          <a:xfrm>
            <a:off x="4551578" y="2542032"/>
            <a:ext cx="3088538" cy="173736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Which companies? Which angle? Every seller invents their own approach, with no shared playbook for what to say.</a:t>
            </a:r>
            <a:endParaRPr lang="en-US" sz="1400" dirty="0"/>
          </a:p>
        </p:txBody>
      </p:sp>
      <p:sp>
        <p:nvSpPr>
          <p:cNvPr id="13" name="Shape 8"/>
          <p:cNvSpPr/>
          <p:nvPr/>
        </p:nvSpPr>
        <p:spPr>
          <a:xfrm>
            <a:off x="8097317" y="1828800"/>
            <a:ext cx="3545738" cy="2560320"/>
          </a:xfrm>
          <a:prstGeom prst="roundRect">
            <a:avLst>
              <a:gd name="adj" fmla="val 4286"/>
            </a:avLst>
          </a:prstGeom>
          <a:solidFill>
            <a:srgbClr val="FFFFFF"/>
          </a:solidFill>
          <a:ln w="12700">
            <a:solidFill>
              <a:srgbClr val="D64545"/>
            </a:solidFill>
            <a:prstDash val="solid"/>
          </a:ln>
          <a:effectLst>
            <a:outerShdw sx="100000" sy="100000" kx="0" ky="0" algn="bl" rotWithShape="0" blurRad="101600" dist="25400" dir="5400000">
              <a:srgbClr val="1E2850">
                <a:alpha val="8000"/>
              </a:srgbClr>
            </a:outerShdw>
          </a:effectLst>
        </p:spPr>
      </p:sp>
      <p:pic>
        <p:nvPicPr>
          <p:cNvPr id="14" name="Image 2" descr="turtle icon">    </p:cNvPr>
          <p:cNvPicPr>
            <a:picLocks noChangeAspect="1"/>
          </p:cNvPicPr>
          <p:nvPr/>
        </p:nvPicPr>
        <p:blipFill>
          <a:blip r:embed="rId3"/>
          <a:stretch>
            <a:fillRect/>
          </a:stretch>
        </p:blipFill>
        <p:spPr>
          <a:xfrm>
            <a:off x="8325917" y="2029968"/>
            <a:ext cx="384048" cy="384048"/>
          </a:xfrm>
          <a:prstGeom prst="rect">
            <a:avLst/>
          </a:prstGeom>
        </p:spPr>
      </p:pic>
      <p:sp>
        <p:nvSpPr>
          <p:cNvPr id="15" name="Text 9"/>
          <p:cNvSpPr txBox="1"/>
          <p:nvPr/>
        </p:nvSpPr>
        <p:spPr>
          <a:xfrm>
            <a:off x="8828837" y="201168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Slow reach-out</a:t>
            </a:r>
            <a:endParaRPr lang="en-US" sz="1700" dirty="0"/>
          </a:p>
        </p:txBody>
      </p:sp>
      <p:sp>
        <p:nvSpPr>
          <p:cNvPr id="16" name="Text 10"/>
          <p:cNvSpPr txBox="1"/>
          <p:nvPr/>
        </p:nvSpPr>
        <p:spPr>
          <a:xfrm>
            <a:off x="8325917" y="2542032"/>
            <a:ext cx="3088538" cy="173736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By the time the research, the deck and the first email are done, the moment has passed and the prospect has moved on.</a:t>
            </a:r>
            <a:endParaRPr lang="en-US" sz="1400" dirty="0"/>
          </a:p>
        </p:txBody>
      </p:sp>
      <p:sp>
        <p:nvSpPr>
          <p:cNvPr id="17" name="Shape 11"/>
          <p:cNvSpPr/>
          <p:nvPr/>
        </p:nvSpPr>
        <p:spPr>
          <a:xfrm>
            <a:off x="548640" y="4937760"/>
            <a:ext cx="11094415" cy="502920"/>
          </a:xfrm>
          <a:prstGeom prst="roundRect">
            <a:avLst>
              <a:gd name="adj" fmla="val 18182"/>
            </a:avLst>
          </a:prstGeom>
          <a:solidFill>
            <a:srgbClr val="FDE4E4"/>
          </a:solidFill>
          <a:ln w="12700">
            <a:solidFill>
              <a:srgbClr val="FDE4E4"/>
            </a:solidFill>
            <a:prstDash val="solid"/>
          </a:ln>
        </p:spPr>
      </p:sp>
      <p:sp>
        <p:nvSpPr>
          <p:cNvPr id="18" name="Text 12"/>
          <p:cNvSpPr txBox="1"/>
          <p:nvPr/>
        </p:nvSpPr>
        <p:spPr>
          <a:xfrm>
            <a:off x="822960" y="4937760"/>
            <a:ext cx="10545775" cy="502920"/>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Result: the right person is rarely reached at the right moment.</a:t>
            </a:r>
            <a:endParaRPr lang="en-US" sz="17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PROBLEM · 5 OF 6</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We rarely match the skills we have to the work we chase</a:t>
            </a:r>
            <a:endParaRPr lang="en-US" sz="3400" dirty="0"/>
          </a:p>
        </p:txBody>
      </p:sp>
      <p:sp>
        <p:nvSpPr>
          <p:cNvPr id="5" name="Text 2"/>
          <p:cNvSpPr txBox="1"/>
          <p:nvPr/>
        </p:nvSpPr>
        <p:spPr>
          <a:xfrm>
            <a:off x="548640" y="1783080"/>
            <a:ext cx="4114800" cy="274320"/>
          </a:xfrm>
          <a:prstGeom prst="rect">
            <a:avLst/>
          </a:prstGeom>
          <a:noFill/>
          <a:ln/>
        </p:spPr>
        <p:txBody>
          <a:bodyPr wrap="square" lIns="0" tIns="0" rIns="0" bIns="0" rtlCol="0" anchor="t"/>
          <a:lstStyle/>
          <a:p>
            <a:pPr indent="0" marL="0">
              <a:buNone/>
            </a:pPr>
            <a:r>
              <a:rPr lang="en-US" sz="1200" b="1" spc="200" kern="0" dirty="0">
                <a:solidFill>
                  <a:srgbClr val="667089"/>
                </a:solidFill>
                <a:latin typeface="Calibri" pitchFamily="34" charset="0"/>
                <a:ea typeface="Calibri" pitchFamily="34" charset="-122"/>
                <a:cs typeface="Calibri" pitchFamily="34" charset="-120"/>
              </a:rPr>
              <a:t>WHAT THE CLIENT NEEDS</a:t>
            </a:r>
            <a:endParaRPr lang="en-US" sz="1200" dirty="0"/>
          </a:p>
        </p:txBody>
      </p:sp>
      <p:sp>
        <p:nvSpPr>
          <p:cNvPr id="6" name="Text 3"/>
          <p:cNvSpPr txBox="1"/>
          <p:nvPr/>
        </p:nvSpPr>
        <p:spPr>
          <a:xfrm>
            <a:off x="7589520" y="1783080"/>
            <a:ext cx="4114800" cy="274320"/>
          </a:xfrm>
          <a:prstGeom prst="rect">
            <a:avLst/>
          </a:prstGeom>
          <a:noFill/>
          <a:ln/>
        </p:spPr>
        <p:txBody>
          <a:bodyPr wrap="square" lIns="0" tIns="0" rIns="0" bIns="0" rtlCol="0" anchor="t"/>
          <a:lstStyle/>
          <a:p>
            <a:pPr indent="0" marL="0">
              <a:buNone/>
            </a:pPr>
            <a:r>
              <a:rPr lang="en-US" sz="1200" b="1" spc="200" kern="0" dirty="0">
                <a:solidFill>
                  <a:srgbClr val="667089"/>
                </a:solidFill>
                <a:latin typeface="Calibri" pitchFamily="34" charset="0"/>
                <a:ea typeface="Calibri" pitchFamily="34" charset="-122"/>
                <a:cs typeface="Calibri" pitchFamily="34" charset="-120"/>
              </a:rPr>
              <a:t>WHO IS AVAILABLE WITH THOSE SKILLS</a:t>
            </a:r>
            <a:endParaRPr lang="en-US" sz="1200" dirty="0"/>
          </a:p>
        </p:txBody>
      </p:sp>
      <p:sp>
        <p:nvSpPr>
          <p:cNvPr id="7" name="Shape 4"/>
          <p:cNvSpPr/>
          <p:nvPr/>
        </p:nvSpPr>
        <p:spPr>
          <a:xfrm>
            <a:off x="548640" y="2194560"/>
            <a:ext cx="919155" cy="365760"/>
          </a:xfrm>
          <a:prstGeom prst="roundRect">
            <a:avLst>
              <a:gd name="adj" fmla="val 50000"/>
            </a:avLst>
          </a:prstGeom>
          <a:solidFill>
            <a:srgbClr val="FFFFFF"/>
          </a:solidFill>
          <a:ln w="22225">
            <a:solidFill>
              <a:srgbClr val="D64545"/>
            </a:solidFill>
            <a:prstDash val="solid"/>
          </a:ln>
        </p:spPr>
      </p:sp>
      <p:sp>
        <p:nvSpPr>
          <p:cNvPr id="8" name="Text 5"/>
          <p:cNvSpPr txBox="1"/>
          <p:nvPr/>
        </p:nvSpPr>
        <p:spPr>
          <a:xfrm>
            <a:off x="548640" y="2194560"/>
            <a:ext cx="919155"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Shopify</a:t>
            </a:r>
            <a:endParaRPr lang="en-US" sz="1300" dirty="0"/>
          </a:p>
        </p:txBody>
      </p:sp>
      <p:sp>
        <p:nvSpPr>
          <p:cNvPr id="9" name="Shape 6"/>
          <p:cNvSpPr/>
          <p:nvPr/>
        </p:nvSpPr>
        <p:spPr>
          <a:xfrm>
            <a:off x="1577523" y="2194560"/>
            <a:ext cx="1432682" cy="365760"/>
          </a:xfrm>
          <a:prstGeom prst="roundRect">
            <a:avLst>
              <a:gd name="adj" fmla="val 50000"/>
            </a:avLst>
          </a:prstGeom>
          <a:solidFill>
            <a:srgbClr val="FFFFFF"/>
          </a:solidFill>
          <a:ln w="22225">
            <a:solidFill>
              <a:srgbClr val="D64545"/>
            </a:solidFill>
            <a:prstDash val="solid"/>
          </a:ln>
        </p:spPr>
      </p:sp>
      <p:sp>
        <p:nvSpPr>
          <p:cNvPr id="10" name="Text 7"/>
          <p:cNvSpPr txBox="1"/>
          <p:nvPr/>
        </p:nvSpPr>
        <p:spPr>
          <a:xfrm>
            <a:off x="1577523" y="2194560"/>
            <a:ext cx="1432682"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Accessibility</a:t>
            </a:r>
            <a:endParaRPr lang="en-US" sz="1300" dirty="0"/>
          </a:p>
        </p:txBody>
      </p:sp>
      <p:sp>
        <p:nvSpPr>
          <p:cNvPr id="11" name="Shape 8"/>
          <p:cNvSpPr/>
          <p:nvPr/>
        </p:nvSpPr>
        <p:spPr>
          <a:xfrm>
            <a:off x="3119933" y="2194560"/>
            <a:ext cx="1603858" cy="365760"/>
          </a:xfrm>
          <a:prstGeom prst="roundRect">
            <a:avLst>
              <a:gd name="adj" fmla="val 50000"/>
            </a:avLst>
          </a:prstGeom>
          <a:solidFill>
            <a:srgbClr val="FFFFFF"/>
          </a:solidFill>
          <a:ln w="22225">
            <a:solidFill>
              <a:srgbClr val="D64545"/>
            </a:solidFill>
            <a:prstDash val="solid"/>
          </a:ln>
        </p:spPr>
      </p:sp>
      <p:sp>
        <p:nvSpPr>
          <p:cNvPr id="12" name="Text 9"/>
          <p:cNvSpPr txBox="1"/>
          <p:nvPr/>
        </p:nvSpPr>
        <p:spPr>
          <a:xfrm>
            <a:off x="3119933" y="2194560"/>
            <a:ext cx="1603858"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Web performance</a:t>
            </a:r>
            <a:endParaRPr lang="en-US" sz="1300" dirty="0"/>
          </a:p>
        </p:txBody>
      </p:sp>
      <p:sp>
        <p:nvSpPr>
          <p:cNvPr id="13" name="Shape 10"/>
          <p:cNvSpPr/>
          <p:nvPr/>
        </p:nvSpPr>
        <p:spPr>
          <a:xfrm>
            <a:off x="548640" y="2670048"/>
            <a:ext cx="1603858" cy="365760"/>
          </a:xfrm>
          <a:prstGeom prst="roundRect">
            <a:avLst>
              <a:gd name="adj" fmla="val 50000"/>
            </a:avLst>
          </a:prstGeom>
          <a:solidFill>
            <a:srgbClr val="FFFFFF"/>
          </a:solidFill>
          <a:ln w="22225">
            <a:solidFill>
              <a:srgbClr val="D64545"/>
            </a:solidFill>
            <a:prstDash val="solid"/>
          </a:ln>
        </p:spPr>
      </p:sp>
      <p:sp>
        <p:nvSpPr>
          <p:cNvPr id="14" name="Text 11"/>
          <p:cNvSpPr txBox="1"/>
          <p:nvPr/>
        </p:nvSpPr>
        <p:spPr>
          <a:xfrm>
            <a:off x="548640" y="2670048"/>
            <a:ext cx="1603858"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Adobe Analytics</a:t>
            </a:r>
            <a:endParaRPr lang="en-US" sz="1300" dirty="0"/>
          </a:p>
        </p:txBody>
      </p:sp>
      <p:sp>
        <p:nvSpPr>
          <p:cNvPr id="15" name="Shape 12"/>
          <p:cNvSpPr/>
          <p:nvPr/>
        </p:nvSpPr>
        <p:spPr>
          <a:xfrm>
            <a:off x="7589520" y="2194560"/>
            <a:ext cx="662391" cy="365760"/>
          </a:xfrm>
          <a:prstGeom prst="roundRect">
            <a:avLst>
              <a:gd name="adj" fmla="val 50000"/>
            </a:avLst>
          </a:prstGeom>
          <a:solidFill>
            <a:srgbClr val="FFFFFF"/>
          </a:solidFill>
          <a:ln w="12700">
            <a:solidFill>
              <a:srgbClr val="DFE3EE"/>
            </a:solidFill>
            <a:prstDash val="solid"/>
          </a:ln>
        </p:spPr>
      </p:sp>
      <p:sp>
        <p:nvSpPr>
          <p:cNvPr id="16" name="Text 13"/>
          <p:cNvSpPr txBox="1"/>
          <p:nvPr/>
        </p:nvSpPr>
        <p:spPr>
          <a:xfrm>
            <a:off x="7589520" y="2194560"/>
            <a:ext cx="662391"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Java</a:t>
            </a:r>
            <a:endParaRPr lang="en-US" sz="1300" dirty="0"/>
          </a:p>
        </p:txBody>
      </p:sp>
      <p:sp>
        <p:nvSpPr>
          <p:cNvPr id="17" name="Shape 14"/>
          <p:cNvSpPr/>
          <p:nvPr/>
        </p:nvSpPr>
        <p:spPr>
          <a:xfrm>
            <a:off x="8361639" y="2194560"/>
            <a:ext cx="833567" cy="365760"/>
          </a:xfrm>
          <a:prstGeom prst="roundRect">
            <a:avLst>
              <a:gd name="adj" fmla="val 50000"/>
            </a:avLst>
          </a:prstGeom>
          <a:solidFill>
            <a:srgbClr val="FFFFFF"/>
          </a:solidFill>
          <a:ln w="12700">
            <a:solidFill>
              <a:srgbClr val="DFE3EE"/>
            </a:solidFill>
            <a:prstDash val="solid"/>
          </a:ln>
        </p:spPr>
      </p:sp>
      <p:sp>
        <p:nvSpPr>
          <p:cNvPr id="18" name="Text 15"/>
          <p:cNvSpPr txBox="1"/>
          <p:nvPr/>
        </p:nvSpPr>
        <p:spPr>
          <a:xfrm>
            <a:off x="8361639" y="2194560"/>
            <a:ext cx="833567"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Python</a:t>
            </a:r>
            <a:endParaRPr lang="en-US" sz="1300" dirty="0"/>
          </a:p>
        </p:txBody>
      </p:sp>
      <p:sp>
        <p:nvSpPr>
          <p:cNvPr id="19" name="Shape 16"/>
          <p:cNvSpPr/>
          <p:nvPr/>
        </p:nvSpPr>
        <p:spPr>
          <a:xfrm>
            <a:off x="9304934" y="2194560"/>
            <a:ext cx="919155" cy="365760"/>
          </a:xfrm>
          <a:prstGeom prst="roundRect">
            <a:avLst>
              <a:gd name="adj" fmla="val 50000"/>
            </a:avLst>
          </a:prstGeom>
          <a:solidFill>
            <a:srgbClr val="FFFFFF"/>
          </a:solidFill>
          <a:ln w="12700">
            <a:solidFill>
              <a:srgbClr val="DFE3EE"/>
            </a:solidFill>
            <a:prstDash val="solid"/>
          </a:ln>
        </p:spPr>
      </p:sp>
      <p:sp>
        <p:nvSpPr>
          <p:cNvPr id="20" name="Text 17"/>
          <p:cNvSpPr txBox="1"/>
          <p:nvPr/>
        </p:nvSpPr>
        <p:spPr>
          <a:xfrm>
            <a:off x="9304934" y="2194560"/>
            <a:ext cx="919155"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Next.js</a:t>
            </a:r>
            <a:endParaRPr lang="en-US" sz="1300" dirty="0"/>
          </a:p>
        </p:txBody>
      </p:sp>
      <p:sp>
        <p:nvSpPr>
          <p:cNvPr id="21" name="Shape 18"/>
          <p:cNvSpPr/>
          <p:nvPr/>
        </p:nvSpPr>
        <p:spPr>
          <a:xfrm>
            <a:off x="10333817" y="2194560"/>
            <a:ext cx="1090331" cy="365760"/>
          </a:xfrm>
          <a:prstGeom prst="roundRect">
            <a:avLst>
              <a:gd name="adj" fmla="val 50000"/>
            </a:avLst>
          </a:prstGeom>
          <a:solidFill>
            <a:srgbClr val="FFFFFF"/>
          </a:solidFill>
          <a:ln w="12700">
            <a:solidFill>
              <a:srgbClr val="DFE3EE"/>
            </a:solidFill>
            <a:prstDash val="solid"/>
          </a:ln>
        </p:spPr>
      </p:sp>
      <p:sp>
        <p:nvSpPr>
          <p:cNvPr id="22" name="Text 19"/>
          <p:cNvSpPr txBox="1"/>
          <p:nvPr/>
        </p:nvSpPr>
        <p:spPr>
          <a:xfrm>
            <a:off x="10333817" y="2194560"/>
            <a:ext cx="1090331"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Manual QA</a:t>
            </a:r>
            <a:endParaRPr lang="en-US" sz="1300" dirty="0"/>
          </a:p>
        </p:txBody>
      </p:sp>
      <p:sp>
        <p:nvSpPr>
          <p:cNvPr id="23" name="Text 20"/>
          <p:cNvSpPr txBox="1"/>
          <p:nvPr/>
        </p:nvSpPr>
        <p:spPr>
          <a:xfrm>
            <a:off x="4937760" y="1828800"/>
            <a:ext cx="2286000" cy="1645920"/>
          </a:xfrm>
          <a:prstGeom prst="rect">
            <a:avLst/>
          </a:prstGeom>
          <a:noFill/>
          <a:ln/>
        </p:spPr>
        <p:txBody>
          <a:bodyPr wrap="square" lIns="0" tIns="0" rIns="0" bIns="0" rtlCol="0" anchor="t"/>
          <a:lstStyle/>
          <a:p>
            <a:pPr algn="ctr" indent="0" marL="0">
              <a:buNone/>
            </a:pPr>
            <a:r>
              <a:rPr lang="en-US" sz="9000" b="1" dirty="0">
                <a:solidFill>
                  <a:srgbClr val="D64545"/>
                </a:solidFill>
                <a:latin typeface="Calibri" pitchFamily="34" charset="0"/>
                <a:ea typeface="Calibri" pitchFamily="34" charset="-122"/>
                <a:cs typeface="Calibri" pitchFamily="34" charset="-120"/>
              </a:rPr>
              <a:t>?</a:t>
            </a:r>
            <a:endParaRPr lang="en-US" sz="9000" dirty="0"/>
          </a:p>
        </p:txBody>
      </p:sp>
      <p:sp>
        <p:nvSpPr>
          <p:cNvPr id="24" name="Shape 21"/>
          <p:cNvSpPr/>
          <p:nvPr/>
        </p:nvSpPr>
        <p:spPr>
          <a:xfrm>
            <a:off x="548640" y="3931920"/>
            <a:ext cx="3545738" cy="1463040"/>
          </a:xfrm>
          <a:prstGeom prst="roundRect">
            <a:avLst>
              <a:gd name="adj" fmla="val 7500"/>
            </a:avLst>
          </a:prstGeom>
          <a:solidFill>
            <a:srgbClr val="FFFFFF"/>
          </a:solidFill>
          <a:ln w="12700">
            <a:solidFill>
              <a:srgbClr val="D64545"/>
            </a:solidFill>
            <a:prstDash val="solid"/>
          </a:ln>
          <a:effectLst>
            <a:outerShdw sx="100000" sy="100000" kx="0" ky="0" algn="bl" rotWithShape="0" blurRad="101600" dist="25400" dir="5400000">
              <a:srgbClr val="1E2850">
                <a:alpha val="8000"/>
              </a:srgbClr>
            </a:outerShdw>
          </a:effectLst>
        </p:spPr>
      </p:sp>
      <p:sp>
        <p:nvSpPr>
          <p:cNvPr id="25" name="Text 22"/>
          <p:cNvSpPr txBox="1"/>
          <p:nvPr/>
        </p:nvSpPr>
        <p:spPr>
          <a:xfrm>
            <a:off x="777240" y="4114800"/>
            <a:ext cx="313425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No live view</a:t>
            </a:r>
            <a:endParaRPr lang="en-US" sz="1700" dirty="0"/>
          </a:p>
        </p:txBody>
      </p:sp>
      <p:sp>
        <p:nvSpPr>
          <p:cNvPr id="26" name="Text 23"/>
          <p:cNvSpPr txBox="1"/>
          <p:nvPr/>
        </p:nvSpPr>
        <p:spPr>
          <a:xfrm>
            <a:off x="777240" y="4645152"/>
            <a:ext cx="3088538" cy="6400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Of who is available, with which skills.</a:t>
            </a:r>
            <a:endParaRPr lang="en-US" sz="1400" dirty="0"/>
          </a:p>
        </p:txBody>
      </p:sp>
      <p:sp>
        <p:nvSpPr>
          <p:cNvPr id="27" name="Shape 24"/>
          <p:cNvSpPr/>
          <p:nvPr/>
        </p:nvSpPr>
        <p:spPr>
          <a:xfrm>
            <a:off x="4322978" y="3931920"/>
            <a:ext cx="3545738" cy="1463040"/>
          </a:xfrm>
          <a:prstGeom prst="roundRect">
            <a:avLst>
              <a:gd name="adj" fmla="val 7500"/>
            </a:avLst>
          </a:prstGeom>
          <a:solidFill>
            <a:srgbClr val="FFFFFF"/>
          </a:solidFill>
          <a:ln w="12700">
            <a:solidFill>
              <a:srgbClr val="D64545"/>
            </a:solidFill>
            <a:prstDash val="solid"/>
          </a:ln>
          <a:effectLst>
            <a:outerShdw sx="100000" sy="100000" kx="0" ky="0" algn="bl" rotWithShape="0" blurRad="101600" dist="25400" dir="5400000">
              <a:srgbClr val="1E2850">
                <a:alpha val="8000"/>
              </a:srgbClr>
            </a:outerShdw>
          </a:effectLst>
        </p:spPr>
      </p:sp>
      <p:sp>
        <p:nvSpPr>
          <p:cNvPr id="28" name="Text 25"/>
          <p:cNvSpPr txBox="1"/>
          <p:nvPr/>
        </p:nvSpPr>
        <p:spPr>
          <a:xfrm>
            <a:off x="4551578" y="4114800"/>
            <a:ext cx="313425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Deals chased blind</a:t>
            </a:r>
            <a:endParaRPr lang="en-US" sz="1700" dirty="0"/>
          </a:p>
        </p:txBody>
      </p:sp>
      <p:sp>
        <p:nvSpPr>
          <p:cNvPr id="29" name="Text 26"/>
          <p:cNvSpPr txBox="1"/>
          <p:nvPr/>
        </p:nvSpPr>
        <p:spPr>
          <a:xfrm>
            <a:off x="4551578" y="4645152"/>
            <a:ext cx="3088538" cy="6400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Without knowing whether we can staff them.</a:t>
            </a:r>
            <a:endParaRPr lang="en-US" sz="1400" dirty="0"/>
          </a:p>
        </p:txBody>
      </p:sp>
      <p:sp>
        <p:nvSpPr>
          <p:cNvPr id="30" name="Shape 27"/>
          <p:cNvSpPr/>
          <p:nvPr/>
        </p:nvSpPr>
        <p:spPr>
          <a:xfrm>
            <a:off x="8097317" y="3931920"/>
            <a:ext cx="3545738" cy="1463040"/>
          </a:xfrm>
          <a:prstGeom prst="roundRect">
            <a:avLst>
              <a:gd name="adj" fmla="val 7500"/>
            </a:avLst>
          </a:prstGeom>
          <a:solidFill>
            <a:srgbClr val="FFFFFF"/>
          </a:solidFill>
          <a:ln w="12700">
            <a:solidFill>
              <a:srgbClr val="D64545"/>
            </a:solidFill>
            <a:prstDash val="solid"/>
          </a:ln>
          <a:effectLst>
            <a:outerShdw sx="100000" sy="100000" kx="0" ky="0" algn="bl" rotWithShape="0" blurRad="101600" dist="25400" dir="5400000">
              <a:srgbClr val="1E2850">
                <a:alpha val="8000"/>
              </a:srgbClr>
            </a:outerShdw>
          </a:effectLst>
        </p:spPr>
      </p:sp>
      <p:sp>
        <p:nvSpPr>
          <p:cNvPr id="31" name="Text 28"/>
          <p:cNvSpPr txBox="1"/>
          <p:nvPr/>
        </p:nvSpPr>
        <p:spPr>
          <a:xfrm>
            <a:off x="8325917" y="4114800"/>
            <a:ext cx="313425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The right people wait</a:t>
            </a:r>
            <a:endParaRPr lang="en-US" sz="1700" dirty="0"/>
          </a:p>
        </p:txBody>
      </p:sp>
      <p:sp>
        <p:nvSpPr>
          <p:cNvPr id="32" name="Text 29"/>
          <p:cNvSpPr txBox="1"/>
          <p:nvPr/>
        </p:nvSpPr>
        <p:spPr>
          <a:xfrm>
            <a:off x="8325917" y="4645152"/>
            <a:ext cx="3088538" cy="6400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While the right deals go elsewhere.</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PROBLEM · IN SHORT</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Pre-sales today is slow, costly and not personal</a:t>
            </a:r>
            <a:endParaRPr lang="en-US" sz="3400" dirty="0"/>
          </a:p>
        </p:txBody>
      </p:sp>
      <p:sp>
        <p:nvSpPr>
          <p:cNvPr id="5" name="Shape 2"/>
          <p:cNvSpPr/>
          <p:nvPr/>
        </p:nvSpPr>
        <p:spPr>
          <a:xfrm>
            <a:off x="548640" y="173736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turtle icon">    </p:cNvPr>
          <p:cNvPicPr>
            <a:picLocks noChangeAspect="1"/>
          </p:cNvPicPr>
          <p:nvPr/>
        </p:nvPicPr>
        <p:blipFill>
          <a:blip r:embed="rId1"/>
          <a:stretch>
            <a:fillRect/>
          </a:stretch>
        </p:blipFill>
        <p:spPr>
          <a:xfrm>
            <a:off x="777240" y="1938528"/>
            <a:ext cx="384048" cy="384048"/>
          </a:xfrm>
          <a:prstGeom prst="rect">
            <a:avLst/>
          </a:prstGeom>
        </p:spPr>
      </p:pic>
      <p:sp>
        <p:nvSpPr>
          <p:cNvPr id="7" name="Text 3"/>
          <p:cNvSpPr txBox="1"/>
          <p:nvPr/>
        </p:nvSpPr>
        <p:spPr>
          <a:xfrm>
            <a:off x="1280160" y="192024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Slow reach</a:t>
            </a:r>
            <a:endParaRPr lang="en-US" sz="1700" dirty="0"/>
          </a:p>
        </p:txBody>
      </p:sp>
      <p:sp>
        <p:nvSpPr>
          <p:cNvPr id="8" name="Text 4"/>
          <p:cNvSpPr txBox="1"/>
          <p:nvPr/>
        </p:nvSpPr>
        <p:spPr>
          <a:xfrm>
            <a:off x="777240" y="245059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Finding a lead, researching and writing takes days. We reach only a few CTOs a month.</a:t>
            </a:r>
            <a:endParaRPr lang="en-US" sz="1400" dirty="0"/>
          </a:p>
        </p:txBody>
      </p:sp>
      <p:sp>
        <p:nvSpPr>
          <p:cNvPr id="9" name="Shape 5"/>
          <p:cNvSpPr/>
          <p:nvPr/>
        </p:nvSpPr>
        <p:spPr>
          <a:xfrm>
            <a:off x="4322978" y="173736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0" name="Image 1" descr="money icon">    </p:cNvPr>
          <p:cNvPicPr>
            <a:picLocks noChangeAspect="1"/>
          </p:cNvPicPr>
          <p:nvPr/>
        </p:nvPicPr>
        <p:blipFill>
          <a:blip r:embed="rId2"/>
          <a:stretch>
            <a:fillRect/>
          </a:stretch>
        </p:blipFill>
        <p:spPr>
          <a:xfrm>
            <a:off x="4551578" y="1938528"/>
            <a:ext cx="384048" cy="384048"/>
          </a:xfrm>
          <a:prstGeom prst="rect">
            <a:avLst/>
          </a:prstGeom>
        </p:spPr>
      </p:pic>
      <p:sp>
        <p:nvSpPr>
          <p:cNvPr id="11" name="Text 6"/>
          <p:cNvSpPr txBox="1"/>
          <p:nvPr/>
        </p:nvSpPr>
        <p:spPr>
          <a:xfrm>
            <a:off x="5054498" y="192024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Expensive</a:t>
            </a:r>
            <a:endParaRPr lang="en-US" sz="1700" dirty="0"/>
          </a:p>
        </p:txBody>
      </p:sp>
      <p:sp>
        <p:nvSpPr>
          <p:cNvPr id="12" name="Text 7"/>
          <p:cNvSpPr txBox="1"/>
          <p:nvPr/>
        </p:nvSpPr>
        <p:spPr>
          <a:xfrm>
            <a:off x="4551578" y="245059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Senior architects spend days on each pitch. Most pitches lose, and that time is never recovered.</a:t>
            </a:r>
            <a:endParaRPr lang="en-US" sz="1400" dirty="0"/>
          </a:p>
        </p:txBody>
      </p:sp>
      <p:sp>
        <p:nvSpPr>
          <p:cNvPr id="13" name="Shape 8"/>
          <p:cNvSpPr/>
          <p:nvPr/>
        </p:nvSpPr>
        <p:spPr>
          <a:xfrm>
            <a:off x="8097317" y="173736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4" name="Image 2" descr="chair icon">    </p:cNvPr>
          <p:cNvPicPr>
            <a:picLocks noChangeAspect="1"/>
          </p:cNvPicPr>
          <p:nvPr/>
        </p:nvPicPr>
        <p:blipFill>
          <a:blip r:embed="rId3"/>
          <a:stretch>
            <a:fillRect/>
          </a:stretch>
        </p:blipFill>
        <p:spPr>
          <a:xfrm>
            <a:off x="8325917" y="1938528"/>
            <a:ext cx="384048" cy="384048"/>
          </a:xfrm>
          <a:prstGeom prst="rect">
            <a:avLst/>
          </a:prstGeom>
        </p:spPr>
      </p:pic>
      <p:sp>
        <p:nvSpPr>
          <p:cNvPr id="15" name="Text 9"/>
          <p:cNvSpPr txBox="1"/>
          <p:nvPr/>
        </p:nvSpPr>
        <p:spPr>
          <a:xfrm>
            <a:off x="8828837" y="192024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Talent not used well</a:t>
            </a:r>
            <a:endParaRPr lang="en-US" sz="1700" dirty="0"/>
          </a:p>
        </p:txBody>
      </p:sp>
      <p:sp>
        <p:nvSpPr>
          <p:cNvPr id="16" name="Text 10"/>
          <p:cNvSpPr txBox="1"/>
          <p:nvPr/>
        </p:nvSpPr>
        <p:spPr>
          <a:xfrm>
            <a:off x="8325917" y="245059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Developers between projects wait instead of building proof for the next client.</a:t>
            </a:r>
            <a:endParaRPr lang="en-US" sz="1400" dirty="0"/>
          </a:p>
        </p:txBody>
      </p:sp>
      <p:sp>
        <p:nvSpPr>
          <p:cNvPr id="17" name="Shape 11"/>
          <p:cNvSpPr/>
          <p:nvPr/>
        </p:nvSpPr>
        <p:spPr>
          <a:xfrm>
            <a:off x="548640" y="365760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8" name="Image 3" descr="doc icon">    </p:cNvPr>
          <p:cNvPicPr>
            <a:picLocks noChangeAspect="1"/>
          </p:cNvPicPr>
          <p:nvPr/>
        </p:nvPicPr>
        <p:blipFill>
          <a:blip r:embed="rId4"/>
          <a:stretch>
            <a:fillRect/>
          </a:stretch>
        </p:blipFill>
        <p:spPr>
          <a:xfrm>
            <a:off x="777240" y="3858768"/>
            <a:ext cx="384048" cy="384048"/>
          </a:xfrm>
          <a:prstGeom prst="rect">
            <a:avLst/>
          </a:prstGeom>
        </p:spPr>
      </p:pic>
      <p:sp>
        <p:nvSpPr>
          <p:cNvPr id="19" name="Text 12"/>
          <p:cNvSpPr txBox="1"/>
          <p:nvPr/>
        </p:nvSpPr>
        <p:spPr>
          <a:xfrm>
            <a:off x="1280160" y="384048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Not personalised</a:t>
            </a:r>
            <a:endParaRPr lang="en-US" sz="1700" dirty="0"/>
          </a:p>
        </p:txBody>
      </p:sp>
      <p:sp>
        <p:nvSpPr>
          <p:cNvPr id="20" name="Text 13"/>
          <p:cNvSpPr txBox="1"/>
          <p:nvPr/>
        </p:nvSpPr>
        <p:spPr>
          <a:xfrm>
            <a:off x="777240" y="437083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The same slides go to every client. Nothing about their site, their stack or their customers.</a:t>
            </a:r>
            <a:endParaRPr lang="en-US" sz="1400" dirty="0"/>
          </a:p>
        </p:txBody>
      </p:sp>
      <p:sp>
        <p:nvSpPr>
          <p:cNvPr id="21" name="Shape 14"/>
          <p:cNvSpPr/>
          <p:nvPr/>
        </p:nvSpPr>
        <p:spPr>
          <a:xfrm>
            <a:off x="4322978" y="365760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2" name="Image 4" descr="repeat icon">    </p:cNvPr>
          <p:cNvPicPr>
            <a:picLocks noChangeAspect="1"/>
          </p:cNvPicPr>
          <p:nvPr/>
        </p:nvPicPr>
        <p:blipFill>
          <a:blip r:embed="rId5"/>
          <a:stretch>
            <a:fillRect/>
          </a:stretch>
        </p:blipFill>
        <p:spPr>
          <a:xfrm>
            <a:off x="4551578" y="3858768"/>
            <a:ext cx="384048" cy="384048"/>
          </a:xfrm>
          <a:prstGeom prst="rect">
            <a:avLst/>
          </a:prstGeom>
        </p:spPr>
      </p:pic>
      <p:sp>
        <p:nvSpPr>
          <p:cNvPr id="23" name="Text 15"/>
          <p:cNvSpPr txBox="1"/>
          <p:nvPr/>
        </p:nvSpPr>
        <p:spPr>
          <a:xfrm>
            <a:off x="5054498" y="384048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Does not scale</a:t>
            </a:r>
            <a:endParaRPr lang="en-US" sz="1700" dirty="0"/>
          </a:p>
        </p:txBody>
      </p:sp>
      <p:sp>
        <p:nvSpPr>
          <p:cNvPr id="24" name="Text 16"/>
          <p:cNvSpPr txBox="1"/>
          <p:nvPr/>
        </p:nvSpPr>
        <p:spPr>
          <a:xfrm>
            <a:off x="4551578" y="437083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Manual research means very few proposals go out, however many leads we have.</a:t>
            </a:r>
            <a:endParaRPr lang="en-US" sz="1400" dirty="0"/>
          </a:p>
        </p:txBody>
      </p:sp>
      <p:sp>
        <p:nvSpPr>
          <p:cNvPr id="25" name="Shape 17"/>
          <p:cNvSpPr/>
          <p:nvPr/>
        </p:nvSpPr>
        <p:spPr>
          <a:xfrm>
            <a:off x="8097317" y="365760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6" name="Image 5" descr="handshake icon">    </p:cNvPr>
          <p:cNvPicPr>
            <a:picLocks noChangeAspect="1"/>
          </p:cNvPicPr>
          <p:nvPr/>
        </p:nvPicPr>
        <p:blipFill>
          <a:blip r:embed="rId6"/>
          <a:stretch>
            <a:fillRect/>
          </a:stretch>
        </p:blipFill>
        <p:spPr>
          <a:xfrm>
            <a:off x="8325917" y="3858768"/>
            <a:ext cx="384048" cy="384048"/>
          </a:xfrm>
          <a:prstGeom prst="rect">
            <a:avLst/>
          </a:prstGeom>
        </p:spPr>
      </p:pic>
      <p:sp>
        <p:nvSpPr>
          <p:cNvPr id="27" name="Text 18"/>
          <p:cNvSpPr txBox="1"/>
          <p:nvPr/>
        </p:nvSpPr>
        <p:spPr>
          <a:xfrm>
            <a:off x="8828837" y="384048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No proof in the room</a:t>
            </a:r>
            <a:endParaRPr lang="en-US" sz="1700" dirty="0"/>
          </a:p>
        </p:txBody>
      </p:sp>
      <p:sp>
        <p:nvSpPr>
          <p:cNvPr id="28" name="Text 19"/>
          <p:cNvSpPr txBox="1"/>
          <p:nvPr/>
        </p:nvSpPr>
        <p:spPr>
          <a:xfrm>
            <a:off x="8325917" y="437083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In a CTO meeting we talk about skills. We cannot show what we would fix on their site.</a:t>
            </a:r>
            <a:endParaRPr lang="en-US" sz="1400" dirty="0"/>
          </a:p>
        </p:txBody>
      </p:sp>
      <p:sp>
        <p:nvSpPr>
          <p:cNvPr id="29" name="Shape 20"/>
          <p:cNvSpPr/>
          <p:nvPr/>
        </p:nvSpPr>
        <p:spPr>
          <a:xfrm>
            <a:off x="548640" y="5623560"/>
            <a:ext cx="11094415" cy="502920"/>
          </a:xfrm>
          <a:prstGeom prst="roundRect">
            <a:avLst>
              <a:gd name="adj" fmla="val 18182"/>
            </a:avLst>
          </a:prstGeom>
          <a:solidFill>
            <a:srgbClr val="FDE4E4"/>
          </a:solidFill>
          <a:ln w="12700">
            <a:solidFill>
              <a:srgbClr val="FDE4E4"/>
            </a:solidFill>
            <a:prstDash val="solid"/>
          </a:ln>
        </p:spPr>
      </p:sp>
      <p:sp>
        <p:nvSpPr>
          <p:cNvPr id="30" name="Text 21"/>
          <p:cNvSpPr txBox="1"/>
          <p:nvPr/>
        </p:nvSpPr>
        <p:spPr>
          <a:xfrm>
            <a:off x="822960" y="5623560"/>
            <a:ext cx="10545775" cy="502920"/>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Result: fewer meetings, lower win rates, and unallocated capacity that keeps costing money.</a:t>
            </a:r>
            <a:endParaRPr lang="en-US" sz="17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One URL in. A send-ready pitch out.</a:t>
            </a:r>
            <a:endParaRPr lang="en-US" sz="3400" dirty="0"/>
          </a:p>
        </p:txBody>
      </p:sp>
      <p:sp>
        <p:nvSpPr>
          <p:cNvPr id="5" name="Shape 2"/>
          <p:cNvSpPr/>
          <p:nvPr/>
        </p:nvSpPr>
        <p:spPr>
          <a:xfrm>
            <a:off x="548640" y="1920240"/>
            <a:ext cx="1582369" cy="1828800"/>
          </a:xfrm>
          <a:prstGeom prst="roundRect">
            <a:avLst>
              <a:gd name="adj" fmla="val 693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globe icon">    </p:cNvPr>
          <p:cNvPicPr>
            <a:picLocks noChangeAspect="1"/>
          </p:cNvPicPr>
          <p:nvPr/>
        </p:nvPicPr>
        <p:blipFill>
          <a:blip r:embed="rId1"/>
          <a:stretch>
            <a:fillRect/>
          </a:stretch>
        </p:blipFill>
        <p:spPr>
          <a:xfrm>
            <a:off x="1111225" y="2103120"/>
            <a:ext cx="457200" cy="457200"/>
          </a:xfrm>
          <a:prstGeom prst="rect">
            <a:avLst/>
          </a:prstGeom>
        </p:spPr>
      </p:pic>
      <p:sp>
        <p:nvSpPr>
          <p:cNvPr id="7" name="Text 3"/>
          <p:cNvSpPr txBox="1"/>
          <p:nvPr/>
        </p:nvSpPr>
        <p:spPr>
          <a:xfrm>
            <a:off x="640080" y="2670048"/>
            <a:ext cx="1399489"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1 · Paste URL</a:t>
            </a:r>
            <a:endParaRPr lang="en-US" sz="1500" dirty="0"/>
          </a:p>
        </p:txBody>
      </p:sp>
      <p:sp>
        <p:nvSpPr>
          <p:cNvPr id="8" name="Text 4"/>
          <p:cNvSpPr txBox="1"/>
          <p:nvPr/>
        </p:nvSpPr>
        <p:spPr>
          <a:xfrm>
            <a:off x="658368" y="2999232"/>
            <a:ext cx="1362913" cy="68580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Checked to be a public site</a:t>
            </a:r>
            <a:endParaRPr lang="en-US" sz="1200" dirty="0"/>
          </a:p>
        </p:txBody>
      </p:sp>
      <p:sp>
        <p:nvSpPr>
          <p:cNvPr id="9" name="Shape 5"/>
          <p:cNvSpPr/>
          <p:nvPr/>
        </p:nvSpPr>
        <p:spPr>
          <a:xfrm>
            <a:off x="2158441" y="2834640"/>
            <a:ext cx="265176" cy="0"/>
          </a:xfrm>
          <a:prstGeom prst="line">
            <a:avLst/>
          </a:prstGeom>
          <a:noFill/>
          <a:ln w="25400">
            <a:solidFill>
              <a:srgbClr val="4F6BFF"/>
            </a:solidFill>
            <a:prstDash val="dash"/>
            <a:tailEnd type="triangle"/>
          </a:ln>
        </p:spPr>
      </p:sp>
      <p:sp>
        <p:nvSpPr>
          <p:cNvPr id="10" name="Shape 6"/>
          <p:cNvSpPr/>
          <p:nvPr/>
        </p:nvSpPr>
        <p:spPr>
          <a:xfrm>
            <a:off x="2451049" y="1920240"/>
            <a:ext cx="1582369" cy="1828800"/>
          </a:xfrm>
          <a:prstGeom prst="roundRect">
            <a:avLst>
              <a:gd name="adj" fmla="val 693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1" name="Image 1" descr="Coordinator agent, pixel robot">    </p:cNvPr>
          <p:cNvPicPr>
            <a:picLocks noChangeAspect="1"/>
          </p:cNvPicPr>
          <p:nvPr/>
        </p:nvPicPr>
        <p:blipFill>
          <a:blip r:embed="rId2"/>
          <a:stretch>
            <a:fillRect/>
          </a:stretch>
        </p:blipFill>
        <p:spPr>
          <a:xfrm>
            <a:off x="3050210" y="2084832"/>
            <a:ext cx="345643" cy="475259"/>
          </a:xfrm>
          <a:prstGeom prst="rect">
            <a:avLst/>
          </a:prstGeom>
        </p:spPr>
      </p:pic>
      <p:sp>
        <p:nvSpPr>
          <p:cNvPr id="12" name="Text 7"/>
          <p:cNvSpPr txBox="1"/>
          <p:nvPr/>
        </p:nvSpPr>
        <p:spPr>
          <a:xfrm>
            <a:off x="2542489" y="2670048"/>
            <a:ext cx="1399489"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2 · Plan</a:t>
            </a:r>
            <a:endParaRPr lang="en-US" sz="1500" dirty="0"/>
          </a:p>
        </p:txBody>
      </p:sp>
      <p:sp>
        <p:nvSpPr>
          <p:cNvPr id="13" name="Text 8"/>
          <p:cNvSpPr txBox="1"/>
          <p:nvPr/>
        </p:nvSpPr>
        <p:spPr>
          <a:xfrm>
            <a:off x="2560777" y="2999232"/>
            <a:ext cx="1362913" cy="68580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Coordinator picks the next step</a:t>
            </a:r>
            <a:endParaRPr lang="en-US" sz="1200" dirty="0"/>
          </a:p>
        </p:txBody>
      </p:sp>
      <p:sp>
        <p:nvSpPr>
          <p:cNvPr id="14" name="Shape 9"/>
          <p:cNvSpPr/>
          <p:nvPr/>
        </p:nvSpPr>
        <p:spPr>
          <a:xfrm>
            <a:off x="4060850" y="2834640"/>
            <a:ext cx="265176" cy="0"/>
          </a:xfrm>
          <a:prstGeom prst="line">
            <a:avLst/>
          </a:prstGeom>
          <a:noFill/>
          <a:ln w="25400">
            <a:solidFill>
              <a:srgbClr val="4F6BFF"/>
            </a:solidFill>
            <a:prstDash val="dash"/>
            <a:tailEnd type="triangle"/>
          </a:ln>
        </p:spPr>
      </p:sp>
      <p:sp>
        <p:nvSpPr>
          <p:cNvPr id="15" name="Shape 10"/>
          <p:cNvSpPr/>
          <p:nvPr/>
        </p:nvSpPr>
        <p:spPr>
          <a:xfrm>
            <a:off x="4353458" y="1920240"/>
            <a:ext cx="1582369" cy="1828800"/>
          </a:xfrm>
          <a:prstGeom prst="roundRect">
            <a:avLst>
              <a:gd name="adj" fmla="val 693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6" name="Image 2" descr="Site Auditor agent, pixel robot">    </p:cNvPr>
          <p:cNvPicPr>
            <a:picLocks noChangeAspect="1"/>
          </p:cNvPicPr>
          <p:nvPr/>
        </p:nvPicPr>
        <p:blipFill>
          <a:blip r:embed="rId3"/>
          <a:stretch>
            <a:fillRect/>
          </a:stretch>
        </p:blipFill>
        <p:spPr>
          <a:xfrm>
            <a:off x="4490618" y="2084832"/>
            <a:ext cx="168178" cy="231244"/>
          </a:xfrm>
          <a:prstGeom prst="rect">
            <a:avLst/>
          </a:prstGeom>
        </p:spPr>
      </p:pic>
      <p:pic>
        <p:nvPicPr>
          <p:cNvPr id="17" name="Image 3" descr="Tech Detector agent, pixel robot">    </p:cNvPr>
          <p:cNvPicPr>
            <a:picLocks noChangeAspect="1"/>
          </p:cNvPicPr>
          <p:nvPr/>
        </p:nvPicPr>
        <p:blipFill>
          <a:blip r:embed="rId4"/>
          <a:stretch>
            <a:fillRect/>
          </a:stretch>
        </p:blipFill>
        <p:spPr>
          <a:xfrm>
            <a:off x="4677483" y="2084832"/>
            <a:ext cx="168178" cy="231244"/>
          </a:xfrm>
          <a:prstGeom prst="rect">
            <a:avLst/>
          </a:prstGeom>
        </p:spPr>
      </p:pic>
      <p:pic>
        <p:nvPicPr>
          <p:cNvPr id="18" name="Image 4" descr="Speed Tester agent, pixel robot">    </p:cNvPr>
          <p:cNvPicPr>
            <a:picLocks noChangeAspect="1"/>
          </p:cNvPicPr>
          <p:nvPr/>
        </p:nvPicPr>
        <p:blipFill>
          <a:blip r:embed="rId5"/>
          <a:stretch>
            <a:fillRect/>
          </a:stretch>
        </p:blipFill>
        <p:spPr>
          <a:xfrm>
            <a:off x="4864347" y="2084832"/>
            <a:ext cx="168178" cy="231244"/>
          </a:xfrm>
          <a:prstGeom prst="rect">
            <a:avLst/>
          </a:prstGeom>
        </p:spPr>
      </p:pic>
      <p:pic>
        <p:nvPicPr>
          <p:cNvPr id="19" name="Image 5" descr="Mobile Tester agent, pixel robot">    </p:cNvPr>
          <p:cNvPicPr>
            <a:picLocks noChangeAspect="1"/>
          </p:cNvPicPr>
          <p:nvPr/>
        </p:nvPicPr>
        <p:blipFill>
          <a:blip r:embed="rId6"/>
          <a:stretch>
            <a:fillRect/>
          </a:stretch>
        </p:blipFill>
        <p:spPr>
          <a:xfrm>
            <a:off x="5051211" y="2084832"/>
            <a:ext cx="168178" cy="231244"/>
          </a:xfrm>
          <a:prstGeom prst="rect">
            <a:avLst/>
          </a:prstGeom>
        </p:spPr>
      </p:pic>
      <p:pic>
        <p:nvPicPr>
          <p:cNvPr id="20" name="Image 6" descr="Accessibility Checker agent, pixel robot">    </p:cNvPr>
          <p:cNvPicPr>
            <a:picLocks noChangeAspect="1"/>
          </p:cNvPicPr>
          <p:nvPr/>
        </p:nvPicPr>
        <p:blipFill>
          <a:blip r:embed="rId7"/>
          <a:stretch>
            <a:fillRect/>
          </a:stretch>
        </p:blipFill>
        <p:spPr>
          <a:xfrm>
            <a:off x="5238075" y="2084832"/>
            <a:ext cx="168178" cy="231244"/>
          </a:xfrm>
          <a:prstGeom prst="rect">
            <a:avLst/>
          </a:prstGeom>
        </p:spPr>
      </p:pic>
      <p:pic>
        <p:nvPicPr>
          <p:cNvPr id="21" name="Image 7" descr="UX Reviewer agent, pixel robot">    </p:cNvPr>
          <p:cNvPicPr>
            <a:picLocks noChangeAspect="1"/>
          </p:cNvPicPr>
          <p:nvPr/>
        </p:nvPicPr>
        <p:blipFill>
          <a:blip r:embed="rId8"/>
          <a:stretch>
            <a:fillRect/>
          </a:stretch>
        </p:blipFill>
        <p:spPr>
          <a:xfrm>
            <a:off x="5424939" y="2084832"/>
            <a:ext cx="168178" cy="231244"/>
          </a:xfrm>
          <a:prstGeom prst="rect">
            <a:avLst/>
          </a:prstGeom>
        </p:spPr>
      </p:pic>
      <p:pic>
        <p:nvPicPr>
          <p:cNvPr id="22" name="Image 8" descr="AI-Search Checker agent, pixel robot">    </p:cNvPr>
          <p:cNvPicPr>
            <a:picLocks noChangeAspect="1"/>
          </p:cNvPicPr>
          <p:nvPr/>
        </p:nvPicPr>
        <p:blipFill>
          <a:blip r:embed="rId9"/>
          <a:stretch>
            <a:fillRect/>
          </a:stretch>
        </p:blipFill>
        <p:spPr>
          <a:xfrm>
            <a:off x="5611803" y="2084832"/>
            <a:ext cx="168178" cy="231244"/>
          </a:xfrm>
          <a:prstGeom prst="rect">
            <a:avLst/>
          </a:prstGeom>
        </p:spPr>
      </p:pic>
      <p:sp>
        <p:nvSpPr>
          <p:cNvPr id="23" name="Text 11"/>
          <p:cNvSpPr txBox="1"/>
          <p:nvPr/>
        </p:nvSpPr>
        <p:spPr>
          <a:xfrm>
            <a:off x="4444898" y="2670048"/>
            <a:ext cx="1399489"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3 · Audit</a:t>
            </a:r>
            <a:endParaRPr lang="en-US" sz="1500" dirty="0"/>
          </a:p>
        </p:txBody>
      </p:sp>
      <p:sp>
        <p:nvSpPr>
          <p:cNvPr id="24" name="Text 12"/>
          <p:cNvSpPr txBox="1"/>
          <p:nvPr/>
        </p:nvSpPr>
        <p:spPr>
          <a:xfrm>
            <a:off x="4463186" y="2999232"/>
            <a:ext cx="1362913" cy="68580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Seven checks in parallel</a:t>
            </a:r>
            <a:endParaRPr lang="en-US" sz="1200" dirty="0"/>
          </a:p>
        </p:txBody>
      </p:sp>
      <p:sp>
        <p:nvSpPr>
          <p:cNvPr id="25" name="Shape 13"/>
          <p:cNvSpPr/>
          <p:nvPr/>
        </p:nvSpPr>
        <p:spPr>
          <a:xfrm>
            <a:off x="5963260" y="2834640"/>
            <a:ext cx="265176" cy="0"/>
          </a:xfrm>
          <a:prstGeom prst="line">
            <a:avLst/>
          </a:prstGeom>
          <a:noFill/>
          <a:ln w="25400">
            <a:solidFill>
              <a:srgbClr val="4F6BFF"/>
            </a:solidFill>
            <a:prstDash val="dash"/>
            <a:tailEnd type="triangle"/>
          </a:ln>
        </p:spPr>
      </p:sp>
      <p:sp>
        <p:nvSpPr>
          <p:cNvPr id="26" name="Shape 14"/>
          <p:cNvSpPr/>
          <p:nvPr/>
        </p:nvSpPr>
        <p:spPr>
          <a:xfrm>
            <a:off x="6255868" y="1920240"/>
            <a:ext cx="1582369" cy="1828800"/>
          </a:xfrm>
          <a:prstGeom prst="roundRect">
            <a:avLst>
              <a:gd name="adj" fmla="val 693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7" name="Image 9" descr="Designer agent, pixel robot">    </p:cNvPr>
          <p:cNvPicPr>
            <a:picLocks noChangeAspect="1"/>
          </p:cNvPicPr>
          <p:nvPr/>
        </p:nvPicPr>
        <p:blipFill>
          <a:blip r:embed="rId10"/>
          <a:stretch>
            <a:fillRect/>
          </a:stretch>
        </p:blipFill>
        <p:spPr>
          <a:xfrm>
            <a:off x="6663004" y="2084832"/>
            <a:ext cx="345643" cy="475259"/>
          </a:xfrm>
          <a:prstGeom prst="rect">
            <a:avLst/>
          </a:prstGeom>
        </p:spPr>
      </p:pic>
      <p:pic>
        <p:nvPicPr>
          <p:cNvPr id="28" name="Image 10" descr="Team Matcher agent, pixel robot">    </p:cNvPr>
          <p:cNvPicPr>
            <a:picLocks noChangeAspect="1"/>
          </p:cNvPicPr>
          <p:nvPr/>
        </p:nvPicPr>
        <p:blipFill>
          <a:blip r:embed="rId11"/>
          <a:stretch>
            <a:fillRect/>
          </a:stretch>
        </p:blipFill>
        <p:spPr>
          <a:xfrm>
            <a:off x="7047052" y="2084832"/>
            <a:ext cx="345643" cy="475259"/>
          </a:xfrm>
          <a:prstGeom prst="rect">
            <a:avLst/>
          </a:prstGeom>
        </p:spPr>
      </p:pic>
      <p:sp>
        <p:nvSpPr>
          <p:cNvPr id="29" name="Text 15"/>
          <p:cNvSpPr txBox="1"/>
          <p:nvPr/>
        </p:nvSpPr>
        <p:spPr>
          <a:xfrm>
            <a:off x="6347308" y="2670048"/>
            <a:ext cx="1399489"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4 · Build</a:t>
            </a:r>
            <a:endParaRPr lang="en-US" sz="1500" dirty="0"/>
          </a:p>
        </p:txBody>
      </p:sp>
      <p:sp>
        <p:nvSpPr>
          <p:cNvPr id="30" name="Text 16"/>
          <p:cNvSpPr txBox="1"/>
          <p:nvPr/>
        </p:nvSpPr>
        <p:spPr>
          <a:xfrm>
            <a:off x="6365596" y="2999232"/>
            <a:ext cx="1362913" cy="68580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Redesign + team match</a:t>
            </a:r>
            <a:endParaRPr lang="en-US" sz="1200" dirty="0"/>
          </a:p>
        </p:txBody>
      </p:sp>
      <p:sp>
        <p:nvSpPr>
          <p:cNvPr id="31" name="Shape 17"/>
          <p:cNvSpPr/>
          <p:nvPr/>
        </p:nvSpPr>
        <p:spPr>
          <a:xfrm>
            <a:off x="7865669" y="2834640"/>
            <a:ext cx="265176" cy="0"/>
          </a:xfrm>
          <a:prstGeom prst="line">
            <a:avLst/>
          </a:prstGeom>
          <a:noFill/>
          <a:ln w="25400">
            <a:solidFill>
              <a:srgbClr val="4F6BFF"/>
            </a:solidFill>
            <a:prstDash val="dash"/>
            <a:tailEnd type="triangle"/>
          </a:ln>
        </p:spPr>
      </p:sp>
      <p:sp>
        <p:nvSpPr>
          <p:cNvPr id="32" name="Shape 18"/>
          <p:cNvSpPr/>
          <p:nvPr/>
        </p:nvSpPr>
        <p:spPr>
          <a:xfrm>
            <a:off x="8158277" y="1920240"/>
            <a:ext cx="1582369" cy="1828800"/>
          </a:xfrm>
          <a:prstGeom prst="roundRect">
            <a:avLst>
              <a:gd name="adj" fmla="val 693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3" name="Image 11" descr="Deck Writer agent, pixel robot">    </p:cNvPr>
          <p:cNvPicPr>
            <a:picLocks noChangeAspect="1"/>
          </p:cNvPicPr>
          <p:nvPr/>
        </p:nvPicPr>
        <p:blipFill>
          <a:blip r:embed="rId12"/>
          <a:stretch>
            <a:fillRect/>
          </a:stretch>
        </p:blipFill>
        <p:spPr>
          <a:xfrm>
            <a:off x="8757437" y="2084832"/>
            <a:ext cx="345643" cy="475259"/>
          </a:xfrm>
          <a:prstGeom prst="rect">
            <a:avLst/>
          </a:prstGeom>
        </p:spPr>
      </p:pic>
      <p:sp>
        <p:nvSpPr>
          <p:cNvPr id="34" name="Text 19"/>
          <p:cNvSpPr txBox="1"/>
          <p:nvPr/>
        </p:nvSpPr>
        <p:spPr>
          <a:xfrm>
            <a:off x="8249717" y="2670048"/>
            <a:ext cx="1399489"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5 · Write</a:t>
            </a:r>
            <a:endParaRPr lang="en-US" sz="1500" dirty="0"/>
          </a:p>
        </p:txBody>
      </p:sp>
      <p:sp>
        <p:nvSpPr>
          <p:cNvPr id="35" name="Text 20"/>
          <p:cNvSpPr txBox="1"/>
          <p:nvPr/>
        </p:nvSpPr>
        <p:spPr>
          <a:xfrm>
            <a:off x="8268005" y="2999232"/>
            <a:ext cx="1362913" cy="68580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Deck and proposal</a:t>
            </a:r>
            <a:endParaRPr lang="en-US" sz="1200" dirty="0"/>
          </a:p>
        </p:txBody>
      </p:sp>
      <p:sp>
        <p:nvSpPr>
          <p:cNvPr id="36" name="Shape 21"/>
          <p:cNvSpPr/>
          <p:nvPr/>
        </p:nvSpPr>
        <p:spPr>
          <a:xfrm>
            <a:off x="9768078" y="2834640"/>
            <a:ext cx="265176" cy="0"/>
          </a:xfrm>
          <a:prstGeom prst="line">
            <a:avLst/>
          </a:prstGeom>
          <a:noFill/>
          <a:ln w="25400">
            <a:solidFill>
              <a:srgbClr val="4F6BFF"/>
            </a:solidFill>
            <a:prstDash val="dash"/>
            <a:tailEnd type="triangle"/>
          </a:ln>
        </p:spPr>
      </p:sp>
      <p:sp>
        <p:nvSpPr>
          <p:cNvPr id="37" name="Shape 22"/>
          <p:cNvSpPr/>
          <p:nvPr/>
        </p:nvSpPr>
        <p:spPr>
          <a:xfrm>
            <a:off x="10060686" y="1920240"/>
            <a:ext cx="1582369" cy="1828800"/>
          </a:xfrm>
          <a:prstGeom prst="roundRect">
            <a:avLst>
              <a:gd name="adj" fmla="val 6934"/>
            </a:avLst>
          </a:prstGeom>
          <a:solidFill>
            <a:srgbClr val="FFFFFF"/>
          </a:solidFill>
          <a:ln w="22225">
            <a:solidFill>
              <a:srgbClr val="0F9D6B"/>
            </a:solidFill>
            <a:prstDash val="solid"/>
          </a:ln>
          <a:effectLst>
            <a:outerShdw sx="100000" sy="100000" kx="0" ky="0" algn="bl" rotWithShape="0" blurRad="101600" dist="25400" dir="5400000">
              <a:srgbClr val="1E2850">
                <a:alpha val="8000"/>
              </a:srgbClr>
            </a:outerShdw>
          </a:effectLst>
        </p:spPr>
      </p:sp>
      <p:pic>
        <p:nvPicPr>
          <p:cNvPr id="38" name="Image 12" descr="person icon">    </p:cNvPr>
          <p:cNvPicPr>
            <a:picLocks noChangeAspect="1"/>
          </p:cNvPicPr>
          <p:nvPr/>
        </p:nvPicPr>
        <p:blipFill>
          <a:blip r:embed="rId13"/>
          <a:stretch>
            <a:fillRect/>
          </a:stretch>
        </p:blipFill>
        <p:spPr>
          <a:xfrm>
            <a:off x="10623271" y="2103120"/>
            <a:ext cx="457200" cy="457200"/>
          </a:xfrm>
          <a:prstGeom prst="rect">
            <a:avLst/>
          </a:prstGeom>
        </p:spPr>
      </p:pic>
      <p:sp>
        <p:nvSpPr>
          <p:cNvPr id="39" name="Text 23"/>
          <p:cNvSpPr txBox="1"/>
          <p:nvPr/>
        </p:nvSpPr>
        <p:spPr>
          <a:xfrm>
            <a:off x="10152126" y="2670048"/>
            <a:ext cx="1399489"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6 · You review</a:t>
            </a:r>
            <a:endParaRPr lang="en-US" sz="1500" dirty="0"/>
          </a:p>
        </p:txBody>
      </p:sp>
      <p:sp>
        <p:nvSpPr>
          <p:cNvPr id="40" name="Text 24"/>
          <p:cNvSpPr txBox="1"/>
          <p:nvPr/>
        </p:nvSpPr>
        <p:spPr>
          <a:xfrm>
            <a:off x="10170414" y="2999232"/>
            <a:ext cx="1362913" cy="68580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Nothing is sent without a human</a:t>
            </a:r>
            <a:endParaRPr lang="en-US" sz="1200" dirty="0"/>
          </a:p>
        </p:txBody>
      </p:sp>
      <p:sp>
        <p:nvSpPr>
          <p:cNvPr id="41" name="Text 25"/>
          <p:cNvSpPr txBox="1"/>
          <p:nvPr/>
        </p:nvSpPr>
        <p:spPr>
          <a:xfrm>
            <a:off x="548640" y="4206240"/>
            <a:ext cx="11094415" cy="548640"/>
          </a:xfrm>
          <a:prstGeom prst="rect">
            <a:avLst/>
          </a:prstGeom>
          <a:noFill/>
          <a:ln/>
        </p:spPr>
        <p:txBody>
          <a:bodyPr wrap="square" lIns="0" tIns="0" rIns="0" bIns="0" rtlCol="0" anchor="t"/>
          <a:lstStyle/>
          <a:p>
            <a:pPr indent="0" marL="0">
              <a:buNone/>
            </a:pPr>
            <a:r>
              <a:rPr lang="en-US" sz="2000" dirty="0">
                <a:solidFill>
                  <a:srgbClr val="667089"/>
                </a:solidFill>
                <a:latin typeface="Calibri" pitchFamily="34" charset="0"/>
                <a:ea typeface="Calibri" pitchFamily="34" charset="-122"/>
                <a:cs typeface="Calibri" pitchFamily="34" charset="-120"/>
              </a:rPr>
              <a:t>A full run takes about </a:t>
            </a:r>
            <a:pPr indent="0" marL="0">
              <a:buNone/>
            </a:pPr>
            <a:r>
              <a:rPr lang="en-US" sz="2000" b="1" dirty="0">
                <a:solidFill>
                  <a:srgbClr val="667089"/>
                </a:solidFill>
                <a:latin typeface="Calibri" pitchFamily="34" charset="0"/>
                <a:ea typeface="Calibri" pitchFamily="34" charset="-122"/>
                <a:cs typeface="Calibri" pitchFamily="34" charset="-120"/>
              </a:rPr>
              <a:t>1.5 to 3 minutes</a:t>
            </a:r>
            <a:pPr indent="0" marL="0">
              <a:buNone/>
            </a:pPr>
            <a:r>
              <a:rPr lang="en-US" sz="2000" dirty="0">
                <a:solidFill>
                  <a:srgbClr val="667089"/>
                </a:solidFill>
                <a:latin typeface="Calibri" pitchFamily="34" charset="0"/>
                <a:ea typeface="Calibri" pitchFamily="34" charset="-122"/>
                <a:cs typeface="Calibri" pitchFamily="34" charset="-120"/>
              </a:rPr>
              <a:t>. Every step streams live to the screen.</a:t>
            </a:r>
            <a:endParaRPr lang="en-US" sz="2000" dirty="0"/>
          </a:p>
        </p:txBody>
      </p:sp>
      <p:sp>
        <p:nvSpPr>
          <p:cNvPr id="42" name="Text 26"/>
          <p:cNvSpPr txBox="1"/>
          <p:nvPr/>
        </p:nvSpPr>
        <p:spPr>
          <a:xfrm>
            <a:off x="548640" y="4800600"/>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43" name="Text 27"/>
          <p:cNvSpPr txBox="1"/>
          <p:nvPr/>
        </p:nvSpPr>
        <p:spPr>
          <a:xfrm>
            <a:off x="932688" y="4800600"/>
            <a:ext cx="10710367" cy="24765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Tools measure: Lighthouse, axe-core, Playwright, Chrome DevTools Protocol</a:t>
            </a:r>
            <a:endParaRPr lang="en-US" sz="1500" dirty="0"/>
          </a:p>
        </p:txBody>
      </p:sp>
      <p:sp>
        <p:nvSpPr>
          <p:cNvPr id="44" name="Text 28"/>
          <p:cNvSpPr txBox="1"/>
          <p:nvPr/>
        </p:nvSpPr>
        <p:spPr>
          <a:xfrm>
            <a:off x="548640" y="5153025"/>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45" name="Text 29"/>
          <p:cNvSpPr txBox="1"/>
          <p:nvPr/>
        </p:nvSpPr>
        <p:spPr>
          <a:xfrm>
            <a:off x="932688" y="5153025"/>
            <a:ext cx="10710367" cy="24765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The model (Claude) plans, judges design and clarity, and designs</a:t>
            </a:r>
            <a:endParaRPr lang="en-US" sz="1500" dirty="0"/>
          </a:p>
        </p:txBody>
      </p:sp>
      <p:sp>
        <p:nvSpPr>
          <p:cNvPr id="46" name="Text 30"/>
          <p:cNvSpPr txBox="1"/>
          <p:nvPr/>
        </p:nvSpPr>
        <p:spPr>
          <a:xfrm>
            <a:off x="548640" y="5505450"/>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47" name="Text 31"/>
          <p:cNvSpPr txBox="1"/>
          <p:nvPr/>
        </p:nvSpPr>
        <p:spPr>
          <a:xfrm>
            <a:off x="932688" y="5505450"/>
            <a:ext cx="10710367" cy="24765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Code guardrails keep the order, retries and step budget safe</a:t>
            </a:r>
            <a:endParaRPr lang="en-US" sz="15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1 · THE AUDIT · REAL RUN ON ALLBIRDS.COM</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A report card, with evidence</a:t>
            </a:r>
            <a:endParaRPr lang="en-US" sz="3400" dirty="0"/>
          </a:p>
        </p:txBody>
      </p:sp>
      <p:graphicFrame>
        <p:nvGraphicFramePr>
          <p:cNvPr id="5" name="Chart 0" descr=""/>
          <p:cNvGraphicFramePr/>
          <p:nvPr/>
        </p:nvGraphicFramePr>
        <p:xfrm>
          <a:off x="548640" y="1783080"/>
          <a:ext cx="3291840" cy="32918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2770632"/>
            <a:ext cx="3291840" cy="921715"/>
          </a:xfrm>
          <a:prstGeom prst="rect">
            <a:avLst/>
          </a:prstGeom>
          <a:noFill/>
          <a:ln/>
        </p:spPr>
        <p:txBody>
          <a:bodyPr wrap="square" lIns="0" tIns="0" rIns="0" bIns="0" rtlCol="0" anchor="ctr"/>
          <a:lstStyle/>
          <a:p>
            <a:pPr algn="ctr" indent="0" marL="0">
              <a:buNone/>
            </a:pPr>
            <a:r>
              <a:rPr lang="en-US" sz="4400" b="1" dirty="0">
                <a:solidFill>
                  <a:srgbClr val="1A2033"/>
                </a:solidFill>
                <a:latin typeface="Calibri" pitchFamily="34" charset="0"/>
                <a:ea typeface="Calibri" pitchFamily="34" charset="-122"/>
                <a:cs typeface="Calibri" pitchFamily="34" charset="-120"/>
              </a:rPr>
              <a:t>64</a:t>
            </a:r>
            <a:endParaRPr lang="en-US" sz="4400" dirty="0"/>
          </a:p>
        </p:txBody>
      </p:sp>
      <p:sp>
        <p:nvSpPr>
          <p:cNvPr id="7" name="Text 3"/>
          <p:cNvSpPr txBox="1"/>
          <p:nvPr/>
        </p:nvSpPr>
        <p:spPr>
          <a:xfrm>
            <a:off x="1536192" y="3659429"/>
            <a:ext cx="1316736" cy="395021"/>
          </a:xfrm>
          <a:prstGeom prst="rect">
            <a:avLst/>
          </a:prstGeom>
          <a:noFill/>
          <a:ln/>
        </p:spPr>
        <p:txBody>
          <a:bodyPr wrap="square" lIns="0" tIns="0" rIns="0" bIns="0" rtlCol="0" anchor="ctr"/>
          <a:lstStyle/>
          <a:p>
            <a:pPr algn="ctr" indent="0" marL="0">
              <a:buNone/>
            </a:pPr>
            <a:r>
              <a:rPr lang="en-US" sz="1200" dirty="0">
                <a:solidFill>
                  <a:srgbClr val="667089"/>
                </a:solidFill>
                <a:latin typeface="Calibri" pitchFamily="34" charset="0"/>
                <a:ea typeface="Calibri" pitchFamily="34" charset="-122"/>
                <a:cs typeface="Calibri" pitchFamily="34" charset="-120"/>
              </a:rPr>
              <a:t>grade D</a:t>
            </a:r>
            <a:endParaRPr lang="en-US" sz="1200" dirty="0"/>
          </a:p>
        </p:txBody>
      </p:sp>
      <p:graphicFrame>
        <p:nvGraphicFramePr>
          <p:cNvPr id="8" name="Chart 1" descr=""/>
          <p:cNvGraphicFramePr/>
          <p:nvPr/>
        </p:nvGraphicFramePr>
        <p:xfrm>
          <a:off x="4206240" y="1737360"/>
          <a:ext cx="7406640" cy="338328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5440680"/>
            <a:ext cx="1860621" cy="365760"/>
          </a:xfrm>
          <a:prstGeom prst="roundRect">
            <a:avLst>
              <a:gd name="adj" fmla="val 50000"/>
            </a:avLst>
          </a:prstGeom>
          <a:solidFill>
            <a:srgbClr val="FFFFFF"/>
          </a:solidFill>
          <a:ln w="12700">
            <a:solidFill>
              <a:srgbClr val="DFE3EE"/>
            </a:solidFill>
            <a:prstDash val="solid"/>
          </a:ln>
        </p:spPr>
      </p:sp>
      <p:sp>
        <p:nvSpPr>
          <p:cNvPr id="10" name="Text 5"/>
          <p:cNvSpPr txBox="1"/>
          <p:nvPr/>
        </p:nvSpPr>
        <p:spPr>
          <a:xfrm>
            <a:off x="548640" y="5440680"/>
            <a:ext cx="1860621"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Lighthouse (speed)</a:t>
            </a:r>
            <a:endParaRPr lang="en-US" sz="1300" dirty="0"/>
          </a:p>
        </p:txBody>
      </p:sp>
      <p:sp>
        <p:nvSpPr>
          <p:cNvPr id="11" name="Shape 6"/>
          <p:cNvSpPr/>
          <p:nvPr/>
        </p:nvSpPr>
        <p:spPr>
          <a:xfrm>
            <a:off x="2518989" y="5440680"/>
            <a:ext cx="2374148" cy="365760"/>
          </a:xfrm>
          <a:prstGeom prst="roundRect">
            <a:avLst>
              <a:gd name="adj" fmla="val 50000"/>
            </a:avLst>
          </a:prstGeom>
          <a:solidFill>
            <a:srgbClr val="FFFFFF"/>
          </a:solidFill>
          <a:ln w="12700">
            <a:solidFill>
              <a:srgbClr val="DFE3EE"/>
            </a:solidFill>
            <a:prstDash val="solid"/>
          </a:ln>
        </p:spPr>
      </p:sp>
      <p:sp>
        <p:nvSpPr>
          <p:cNvPr id="12" name="Text 7"/>
          <p:cNvSpPr txBox="1"/>
          <p:nvPr/>
        </p:nvSpPr>
        <p:spPr>
          <a:xfrm>
            <a:off x="2518989" y="5440680"/>
            <a:ext cx="2374148"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axe-core (accessibility)</a:t>
            </a:r>
            <a:endParaRPr lang="en-US" sz="1300" dirty="0"/>
          </a:p>
        </p:txBody>
      </p:sp>
      <p:sp>
        <p:nvSpPr>
          <p:cNvPr id="13" name="Shape 8"/>
          <p:cNvSpPr/>
          <p:nvPr/>
        </p:nvSpPr>
        <p:spPr>
          <a:xfrm>
            <a:off x="5002865" y="5440680"/>
            <a:ext cx="1946209" cy="365760"/>
          </a:xfrm>
          <a:prstGeom prst="roundRect">
            <a:avLst>
              <a:gd name="adj" fmla="val 50000"/>
            </a:avLst>
          </a:prstGeom>
          <a:solidFill>
            <a:srgbClr val="FFFFFF"/>
          </a:solidFill>
          <a:ln w="12700">
            <a:solidFill>
              <a:srgbClr val="DFE3EE"/>
            </a:solidFill>
            <a:prstDash val="solid"/>
          </a:ln>
        </p:spPr>
      </p:sp>
      <p:sp>
        <p:nvSpPr>
          <p:cNvPr id="14" name="Text 9"/>
          <p:cNvSpPr txBox="1"/>
          <p:nvPr/>
        </p:nvSpPr>
        <p:spPr>
          <a:xfrm>
            <a:off x="5002865" y="5440680"/>
            <a:ext cx="1946209"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Playwright (mobile)</a:t>
            </a:r>
            <a:endParaRPr lang="en-US" sz="1300" dirty="0"/>
          </a:p>
        </p:txBody>
      </p:sp>
      <p:sp>
        <p:nvSpPr>
          <p:cNvPr id="15" name="Shape 10"/>
          <p:cNvSpPr/>
          <p:nvPr/>
        </p:nvSpPr>
        <p:spPr>
          <a:xfrm>
            <a:off x="7058802" y="5440680"/>
            <a:ext cx="1775033" cy="365760"/>
          </a:xfrm>
          <a:prstGeom prst="roundRect">
            <a:avLst>
              <a:gd name="adj" fmla="val 50000"/>
            </a:avLst>
          </a:prstGeom>
          <a:solidFill>
            <a:srgbClr val="FFFFFF"/>
          </a:solidFill>
          <a:ln w="12700">
            <a:solidFill>
              <a:srgbClr val="DFE3EE"/>
            </a:solidFill>
            <a:prstDash val="solid"/>
          </a:ln>
        </p:spPr>
      </p:sp>
      <p:sp>
        <p:nvSpPr>
          <p:cNvPr id="16" name="Text 11"/>
          <p:cNvSpPr txBox="1"/>
          <p:nvPr/>
        </p:nvSpPr>
        <p:spPr>
          <a:xfrm>
            <a:off x="7058802" y="5440680"/>
            <a:ext cx="1775033"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Vision model (UX)</a:t>
            </a:r>
            <a:endParaRPr lang="en-US" sz="1300" dirty="0"/>
          </a:p>
        </p:txBody>
      </p:sp>
      <p:sp>
        <p:nvSpPr>
          <p:cNvPr id="17" name="Shape 12"/>
          <p:cNvSpPr/>
          <p:nvPr/>
        </p:nvSpPr>
        <p:spPr>
          <a:xfrm>
            <a:off x="548640" y="5916168"/>
            <a:ext cx="3230027" cy="365760"/>
          </a:xfrm>
          <a:prstGeom prst="roundRect">
            <a:avLst>
              <a:gd name="adj" fmla="val 50000"/>
            </a:avLst>
          </a:prstGeom>
          <a:solidFill>
            <a:srgbClr val="FFFFFF"/>
          </a:solidFill>
          <a:ln w="12700">
            <a:solidFill>
              <a:srgbClr val="DFE3EE"/>
            </a:solidFill>
            <a:prstDash val="solid"/>
          </a:ln>
        </p:spPr>
      </p:sp>
      <p:sp>
        <p:nvSpPr>
          <p:cNvPr id="18" name="Text 13"/>
          <p:cNvSpPr txBox="1"/>
          <p:nvPr/>
        </p:nvSpPr>
        <p:spPr>
          <a:xfrm>
            <a:off x="548640" y="5916168"/>
            <a:ext cx="3230027" cy="365760"/>
          </a:xfrm>
          <a:prstGeom prst="rect">
            <a:avLst/>
          </a:prstGeom>
          <a:noFill/>
          <a:ln/>
        </p:spPr>
        <p:txBody>
          <a:bodyPr wrap="square" lIns="0" tIns="0" rIns="0" bIns="0" rtlCol="0" anchor="ctr"/>
          <a:lstStyle/>
          <a:p>
            <a:pPr algn="ctr" indent="0" marL="0">
              <a:buNone/>
            </a:pPr>
            <a:r>
              <a:rPr lang="en-US" sz="1300" b="1" dirty="0">
                <a:solidFill>
                  <a:srgbClr val="1A2033"/>
                </a:solidFill>
                <a:latin typeface="Calibri" pitchFamily="34" charset="0"/>
                <a:ea typeface="Calibri" pitchFamily="34" charset="-122"/>
                <a:cs typeface="Calibri" pitchFamily="34" charset="-120"/>
              </a:rPr>
              <a:t>Every finding carries its evidence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PAIN → ANSWER</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Every pain, answered. Honestly.</a:t>
            </a:r>
            <a:endParaRPr lang="en-US" sz="3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926080"/>
                <a:gridCol w="6583680"/>
                <a:gridCol w="1584655"/>
              </a:tblGrid>
              <a:tr h="457200">
                <a:tc>
                  <a:txBody>
                    <a:bodyPr/>
                    <a:lstStyle/>
                    <a:p>
                      <a:pPr indent="0" marL="0">
                        <a:buNone/>
                      </a:pPr>
                      <a:r>
                        <a:rPr lang="en-US" sz="1100" b="1" dirty="0">
                          <a:solidFill>
                            <a:srgbClr val="667089"/>
                          </a:solidFill>
                          <a:latin typeface="Calibri" pitchFamily="34" charset="0"/>
                          <a:ea typeface="Calibri" pitchFamily="34" charset="-122"/>
                          <a:cs typeface="Calibri" pitchFamily="34" charset="-120"/>
                        </a:rPr>
                        <a:t>THE PAIN</a:t>
                      </a:r>
                      <a:endParaRPr lang="en-US" sz="11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4F6FB"/>
                    </a:solidFill>
                  </a:tcPr>
                </a:tc>
                <a:tc>
                  <a:txBody>
                    <a:bodyPr/>
                    <a:lstStyle/>
                    <a:p>
                      <a:pPr indent="0" marL="0">
                        <a:buNone/>
                      </a:pPr>
                      <a:r>
                        <a:rPr lang="en-US" sz="1100" b="1" dirty="0">
                          <a:solidFill>
                            <a:srgbClr val="667089"/>
                          </a:solidFill>
                          <a:latin typeface="Calibri" pitchFamily="34" charset="0"/>
                          <a:ea typeface="Calibri" pitchFamily="34" charset="-122"/>
                          <a:cs typeface="Calibri" pitchFamily="34" charset="-120"/>
                        </a:rPr>
                        <a:t>WHAT NITRO DOES</a:t>
                      </a:r>
                      <a:endParaRPr lang="en-US" sz="11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4F6FB"/>
                    </a:solidFill>
                  </a:tcPr>
                </a:tc>
                <a:tc>
                  <a:txBody>
                    <a:bodyPr/>
                    <a:lstStyle/>
                    <a:p>
                      <a:pPr indent="0" marL="0">
                        <a:buNone/>
                      </a:pPr>
                      <a:r>
                        <a:rPr lang="en-US" sz="1100" b="1" dirty="0">
                          <a:solidFill>
                            <a:srgbClr val="667089"/>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4F6FB"/>
                    </a:solidFill>
                  </a:tcPr>
                </a:tc>
              </a:tr>
              <a:tr h="457200">
                <a:tc>
                  <a:txBody>
                    <a:bodyPr/>
                    <a:lstStyle/>
                    <a:p>
                      <a:pPr indent="0" marL="0">
                        <a:buNone/>
                      </a:pPr>
                      <a:r>
                        <a:rPr lang="en-US" sz="1400" b="1" dirty="0">
                          <a:solidFill>
                            <a:srgbClr val="1A2033"/>
                          </a:solidFill>
                          <a:latin typeface="Calibri" pitchFamily="34" charset="0"/>
                          <a:ea typeface="Calibri" pitchFamily="34" charset="-122"/>
                          <a:cs typeface="Calibri" pitchFamily="34" charset="-120"/>
                        </a:rPr>
                        <a:t>Slow, expensive pitches</a:t>
                      </a:r>
                      <a:endParaRPr lang="en-US" sz="14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667089"/>
                          </a:solidFill>
                          <a:latin typeface="Calibri" pitchFamily="34" charset="0"/>
                          <a:ea typeface="Calibri" pitchFamily="34" charset="-122"/>
                          <a:cs typeface="Calibri" pitchFamily="34" charset="-120"/>
                        </a:rPr>
                        <a:t>Agents do the research; experts only review</a:t>
                      </a:r>
                      <a:endParaRPr lang="en-US" sz="13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F9D6B"/>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DFF5EA"/>
                    </a:solidFill>
                  </a:tcPr>
                </a:tc>
              </a:tr>
              <a:tr h="457200">
                <a:tc>
                  <a:txBody>
                    <a:bodyPr/>
                    <a:lstStyle/>
                    <a:p>
                      <a:pPr indent="0" marL="0">
                        <a:buNone/>
                      </a:pPr>
                      <a:r>
                        <a:rPr lang="en-US" sz="1400" b="1" dirty="0">
                          <a:solidFill>
                            <a:srgbClr val="1A2033"/>
                          </a:solidFill>
                          <a:latin typeface="Calibri" pitchFamily="34" charset="0"/>
                          <a:ea typeface="Calibri" pitchFamily="34" charset="-122"/>
                          <a:cs typeface="Calibri" pitchFamily="34" charset="-120"/>
                        </a:rPr>
                        <a:t>Talent between projects</a:t>
                      </a:r>
                      <a:endParaRPr lang="en-US" sz="14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667089"/>
                          </a:solidFill>
                          <a:latin typeface="Calibri" pitchFamily="34" charset="0"/>
                          <a:ea typeface="Calibri" pitchFamily="34" charset="-122"/>
                          <a:cs typeface="Calibri" pitchFamily="34" charset="-120"/>
                        </a:rPr>
                        <a:t>Matches available developers to the job and shows the capacity put to work</a:t>
                      </a:r>
                      <a:endParaRPr lang="en-US" sz="13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F9D6B"/>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DFF5EA"/>
                    </a:solidFill>
                  </a:tcPr>
                </a:tc>
              </a:tr>
              <a:tr h="457200">
                <a:tc>
                  <a:txBody>
                    <a:bodyPr/>
                    <a:lstStyle/>
                    <a:p>
                      <a:pPr indent="0" marL="0">
                        <a:buNone/>
                      </a:pPr>
                      <a:r>
                        <a:rPr lang="en-US" sz="1400" b="1" dirty="0">
                          <a:solidFill>
                            <a:srgbClr val="1A2033"/>
                          </a:solidFill>
                          <a:latin typeface="Calibri" pitchFamily="34" charset="0"/>
                          <a:ea typeface="Calibri" pitchFamily="34" charset="-122"/>
                          <a:cs typeface="Calibri" pitchFamily="34" charset="-120"/>
                        </a:rPr>
                        <a:t>Demos are slow to build</a:t>
                      </a:r>
                      <a:endParaRPr lang="en-US" sz="14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667089"/>
                          </a:solidFill>
                          <a:latin typeface="Calibri" pitchFamily="34" charset="0"/>
                          <a:ea typeface="Calibri" pitchFamily="34" charset="-122"/>
                          <a:cs typeface="Calibri" pitchFamily="34" charset="-120"/>
                        </a:rPr>
                        <a:t>A redesigned homepage in about 40 seconds</a:t>
                      </a:r>
                      <a:endParaRPr lang="en-US" sz="13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F9D6B"/>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DFF5EA"/>
                    </a:solidFill>
                  </a:tcPr>
                </a:tc>
              </a:tr>
              <a:tr h="457200">
                <a:tc>
                  <a:txBody>
                    <a:bodyPr/>
                    <a:lstStyle/>
                    <a:p>
                      <a:pPr indent="0" marL="0">
                        <a:buNone/>
                      </a:pPr>
                      <a:r>
                        <a:rPr lang="en-US" sz="1400" b="1" dirty="0">
                          <a:solidFill>
                            <a:srgbClr val="1A2033"/>
                          </a:solidFill>
                          <a:latin typeface="Calibri" pitchFamily="34" charset="0"/>
                          <a:ea typeface="Calibri" pitchFamily="34" charset="-122"/>
                          <a:cs typeface="Calibri" pitchFamily="34" charset="-120"/>
                        </a:rPr>
                        <a:t>Not personalised</a:t>
                      </a:r>
                      <a:endParaRPr lang="en-US" sz="14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667089"/>
                          </a:solidFill>
                          <a:latin typeface="Calibri" pitchFamily="34" charset="0"/>
                          <a:ea typeface="Calibri" pitchFamily="34" charset="-122"/>
                          <a:cs typeface="Calibri" pitchFamily="34" charset="-120"/>
                        </a:rPr>
                        <a:t>Built from their own site, stack, colours and content</a:t>
                      </a:r>
                      <a:endParaRPr lang="en-US" sz="13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F9D6B"/>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DFF5EA"/>
                    </a:solidFill>
                  </a:tcPr>
                </a:tc>
              </a:tr>
              <a:tr h="457200">
                <a:tc>
                  <a:txBody>
                    <a:bodyPr/>
                    <a:lstStyle/>
                    <a:p>
                      <a:pPr indent="0" marL="0">
                        <a:buNone/>
                      </a:pPr>
                      <a:r>
                        <a:rPr lang="en-US" sz="1400" b="1" dirty="0">
                          <a:solidFill>
                            <a:srgbClr val="1A2033"/>
                          </a:solidFill>
                          <a:latin typeface="Calibri" pitchFamily="34" charset="0"/>
                          <a:ea typeface="Calibri" pitchFamily="34" charset="-122"/>
                          <a:cs typeface="Calibri" pitchFamily="34" charset="-120"/>
                        </a:rPr>
                        <a:t>Skills not matched</a:t>
                      </a:r>
                      <a:endParaRPr lang="en-US" sz="14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667089"/>
                          </a:solidFill>
                          <a:latin typeface="Calibri" pitchFamily="34" charset="0"/>
                          <a:ea typeface="Calibri" pitchFamily="34" charset="-122"/>
                          <a:cs typeface="Calibri" pitchFamily="34" charset="-120"/>
                        </a:rPr>
                        <a:t>Org match score, per-skill coverage, gaps and named people (sample data)</a:t>
                      </a:r>
                      <a:endParaRPr lang="en-US" sz="13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F9D6B"/>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DFF5EA"/>
                    </a:solidFill>
                  </a:tcPr>
                </a:tc>
              </a:tr>
              <a:tr h="457200">
                <a:tc>
                  <a:txBody>
                    <a:bodyPr/>
                    <a:lstStyle/>
                    <a:p>
                      <a:pPr indent="0" marL="0">
                        <a:buNone/>
                      </a:pPr>
                      <a:r>
                        <a:rPr lang="en-US" sz="1400" b="1" dirty="0">
                          <a:solidFill>
                            <a:srgbClr val="1A2033"/>
                          </a:solidFill>
                          <a:latin typeface="Calibri" pitchFamily="34" charset="0"/>
                          <a:ea typeface="Calibri" pitchFamily="34" charset="-122"/>
                          <a:cs typeface="Calibri" pitchFamily="34" charset="-120"/>
                        </a:rPr>
                        <a:t>No proof in the room</a:t>
                      </a:r>
                      <a:endParaRPr lang="en-US" sz="14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667089"/>
                          </a:solidFill>
                          <a:latin typeface="Calibri" pitchFamily="34" charset="0"/>
                          <a:ea typeface="Calibri" pitchFamily="34" charset="-122"/>
                          <a:cs typeface="Calibri" pitchFamily="34" charset="-120"/>
                        </a:rPr>
                        <a:t>Before and after on their own site, during the meeting</a:t>
                      </a:r>
                      <a:endParaRPr lang="en-US" sz="13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F9D6B"/>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DFF5EA"/>
                    </a:solidFill>
                  </a:tcPr>
                </a:tc>
              </a:tr>
              <a:tr h="457200">
                <a:tc>
                  <a:txBody>
                    <a:bodyPr/>
                    <a:lstStyle/>
                    <a:p>
                      <a:pPr indent="0" marL="0">
                        <a:buNone/>
                      </a:pPr>
                      <a:r>
                        <a:rPr lang="en-US" sz="1400" b="1" dirty="0">
                          <a:solidFill>
                            <a:srgbClr val="1A2033"/>
                          </a:solidFill>
                          <a:latin typeface="Calibri" pitchFamily="34" charset="0"/>
                          <a:ea typeface="Calibri" pitchFamily="34" charset="-122"/>
                          <a:cs typeface="Calibri" pitchFamily="34" charset="-120"/>
                        </a:rPr>
                        <a:t>No direction</a:t>
                      </a:r>
                      <a:endParaRPr lang="en-US" sz="14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667089"/>
                          </a:solidFill>
                          <a:latin typeface="Calibri" pitchFamily="34" charset="0"/>
                          <a:ea typeface="Calibri" pitchFamily="34" charset="-122"/>
                          <a:cs typeface="Calibri" pitchFamily="34" charset="-120"/>
                        </a:rPr>
                        <a:t>The audit gives a concrete, evidence-backed angle to open with</a:t>
                      </a:r>
                      <a:endParaRPr lang="en-US" sz="13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7791F"/>
                          </a:solidFill>
                          <a:latin typeface="Calibri" pitchFamily="34" charset="0"/>
                          <a:ea typeface="Calibri" pitchFamily="34" charset="-122"/>
                          <a:cs typeface="Calibri" pitchFamily="34" charset="-120"/>
                        </a:rPr>
                        <a:t>Partly</a:t>
                      </a:r>
                      <a:endParaRPr lang="en-US" sz="12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DF0D5"/>
                    </a:solidFill>
                  </a:tcPr>
                </a:tc>
              </a:tr>
              <a:tr h="457200">
                <a:tc>
                  <a:txBody>
                    <a:bodyPr/>
                    <a:lstStyle/>
                    <a:p>
                      <a:pPr indent="0" marL="0">
                        <a:buNone/>
                      </a:pPr>
                      <a:r>
                        <a:rPr lang="en-US" sz="1400" b="1" dirty="0">
                          <a:solidFill>
                            <a:srgbClr val="1A2033"/>
                          </a:solidFill>
                          <a:latin typeface="Calibri" pitchFamily="34" charset="0"/>
                          <a:ea typeface="Calibri" pitchFamily="34" charset="-122"/>
                          <a:cs typeface="Calibri" pitchFamily="34" charset="-120"/>
                        </a:rPr>
                        <a:t>No contacts</a:t>
                      </a:r>
                      <a:endParaRPr lang="en-US" sz="14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indent="0" marL="0">
                        <a:buNone/>
                      </a:pPr>
                      <a:r>
                        <a:rPr lang="en-US" sz="1300" dirty="0">
                          <a:solidFill>
                            <a:srgbClr val="667089"/>
                          </a:solidFill>
                          <a:latin typeface="Calibri" pitchFamily="34" charset="0"/>
                          <a:ea typeface="Calibri" pitchFamily="34" charset="-122"/>
                          <a:cs typeface="Calibri" pitchFamily="34" charset="-120"/>
                        </a:rPr>
                        <a:t>Contact finder and outreach drafts</a:t>
                      </a:r>
                      <a:endParaRPr lang="en-US" sz="13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64545"/>
                          </a:solidFill>
                          <a:latin typeface="Calibri" pitchFamily="34" charset="0"/>
                          <a:ea typeface="Calibri" pitchFamily="34" charset="-122"/>
                          <a:cs typeface="Calibri" pitchFamily="34" charset="-120"/>
                        </a:rPr>
                        <a:t>Next</a:t>
                      </a:r>
                      <a:endParaRPr lang="en-US" sz="1200" dirty="0">
                        <a:latin typeface="Calibri" charset="0"/>
                        <a:ea typeface="Calibri" charset="0"/>
                        <a:cs typeface="Calibri" charset="0"/>
                      </a:endParaRPr>
                    </a:p>
                  </a:txBody>
                  <a:tcPr marL="91440" marR="91440" marT="45720" marB="45720" anchor="ctr">
                    <a:lnL w="9525" cap="flat" cmpd="sng" algn="ctr">
                      <a:solidFill>
                        <a:srgbClr val="DFE3EE"/>
                      </a:solidFill>
                      <a:prstDash val="solid"/>
                      <a:round/>
                      <a:headEnd type="none" w="med" len="med"/>
                      <a:tailEnd type="none" w="med" len="med"/>
                    </a:lnL>
                    <a:lnR w="9525" cap="flat" cmpd="sng" algn="ctr">
                      <a:solidFill>
                        <a:srgbClr val="DFE3EE"/>
                      </a:solidFill>
                      <a:prstDash val="solid"/>
                      <a:round/>
                      <a:headEnd type="none" w="med" len="med"/>
                      <a:tailEnd type="none" w="med" len="med"/>
                    </a:lnR>
                    <a:lnT w="9525" cap="flat" cmpd="sng" algn="ctr">
                      <a:solidFill>
                        <a:srgbClr val="DFE3EE"/>
                      </a:solidFill>
                      <a:prstDash val="solid"/>
                      <a:round/>
                      <a:headEnd type="none" w="med" len="med"/>
                      <a:tailEnd type="none" w="med" len="med"/>
                    </a:lnT>
                    <a:lnB w="9525" cap="flat" cmpd="sng" algn="ctr">
                      <a:solidFill>
                        <a:srgbClr val="DFE3EE"/>
                      </a:solidFill>
                      <a:prstDash val="solid"/>
                      <a:round/>
                      <a:headEnd type="none" w="med" len="med"/>
                      <a:tailEnd type="none" w="med" len="med"/>
                    </a:lnB>
                    <a:solidFill>
                      <a:srgbClr val="FDE4E4"/>
                    </a:solidFill>
                  </a:tcPr>
                </a:tc>
              </a:tr>
            </a:tbl>
          </a:graphicData>
        </a:graphic>
      </p:graphicFrame>
      <p:sp>
        <p:nvSpPr>
          <p:cNvPr id="6" name="Text 2"/>
          <p:cNvSpPr txBox="1"/>
          <p:nvPr/>
        </p:nvSpPr>
        <p:spPr>
          <a:xfrm>
            <a:off x="548640" y="5989320"/>
            <a:ext cx="11094415" cy="457200"/>
          </a:xfrm>
          <a:prstGeom prst="rect">
            <a:avLst/>
          </a:prstGeom>
          <a:noFill/>
          <a:ln/>
        </p:spPr>
        <p:txBody>
          <a:bodyPr wrap="square" lIns="0" tIns="0" rIns="0" bIns="0" rtlCol="0" anchor="t"/>
          <a:lstStyle/>
          <a:p>
            <a:pPr indent="0" marL="0">
              <a:buNone/>
            </a:pPr>
            <a:r>
              <a:rPr lang="en-US" sz="1100" i="1" dirty="0">
                <a:solidFill>
                  <a:srgbClr val="667089"/>
                </a:solidFill>
                <a:latin typeface="Calibri" pitchFamily="34" charset="0"/>
                <a:ea typeface="Calibri" pitchFamily="34" charset="-122"/>
                <a:cs typeface="Calibri" pitchFamily="34" charset="-120"/>
              </a:rPr>
              <a:t>Contact finding and outreach drafts are not built yet; they are the next items on the roadmap.</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INSIGHTS ACROSS THE STACK</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From web front end to back end to DevOps</a:t>
            </a:r>
            <a:endParaRPr lang="en-US" sz="3400" dirty="0"/>
          </a:p>
        </p:txBody>
      </p:sp>
      <p:sp>
        <p:nvSpPr>
          <p:cNvPr id="5" name="Shape 2"/>
          <p:cNvSpPr/>
          <p:nvPr/>
        </p:nvSpPr>
        <p:spPr>
          <a:xfrm>
            <a:off x="548640" y="173736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desktop icon">    </p:cNvPr>
          <p:cNvPicPr>
            <a:picLocks noChangeAspect="1"/>
          </p:cNvPicPr>
          <p:nvPr/>
        </p:nvPicPr>
        <p:blipFill>
          <a:blip r:embed="rId1"/>
          <a:stretch>
            <a:fillRect/>
          </a:stretch>
        </p:blipFill>
        <p:spPr>
          <a:xfrm>
            <a:off x="777240" y="1938528"/>
            <a:ext cx="384048" cy="384048"/>
          </a:xfrm>
          <a:prstGeom prst="rect">
            <a:avLst/>
          </a:prstGeom>
        </p:spPr>
      </p:pic>
      <p:sp>
        <p:nvSpPr>
          <p:cNvPr id="7" name="Shape 3"/>
          <p:cNvSpPr/>
          <p:nvPr/>
        </p:nvSpPr>
        <p:spPr>
          <a:xfrm>
            <a:off x="3339998" y="3044952"/>
            <a:ext cx="571500" cy="256032"/>
          </a:xfrm>
          <a:prstGeom prst="roundRect">
            <a:avLst>
              <a:gd name="adj" fmla="val 50000"/>
            </a:avLst>
          </a:prstGeom>
          <a:solidFill>
            <a:srgbClr val="DFF5EA"/>
          </a:solidFill>
          <a:ln w="12700">
            <a:solidFill>
              <a:srgbClr val="DFF5EA"/>
            </a:solidFill>
            <a:prstDash val="solid"/>
          </a:ln>
        </p:spPr>
      </p:sp>
      <p:sp>
        <p:nvSpPr>
          <p:cNvPr id="8" name="Text 4"/>
          <p:cNvSpPr txBox="1"/>
          <p:nvPr/>
        </p:nvSpPr>
        <p:spPr>
          <a:xfrm>
            <a:off x="3339998" y="3044952"/>
            <a:ext cx="571500" cy="256032"/>
          </a:xfrm>
          <a:prstGeom prst="rect">
            <a:avLst/>
          </a:prstGeom>
          <a:noFill/>
          <a:ln/>
        </p:spPr>
        <p:txBody>
          <a:bodyPr wrap="square" lIns="0" tIns="0" rIns="0" bIns="0" rtlCol="0" anchor="ctr"/>
          <a:lstStyle/>
          <a:p>
            <a:pPr algn="ctr" indent="0" marL="0">
              <a:buNone/>
            </a:pPr>
            <a:r>
              <a:rPr lang="en-US" sz="900" b="1" spc="100" kern="0" dirty="0">
                <a:solidFill>
                  <a:srgbClr val="0F9D6B"/>
                </a:solidFill>
                <a:latin typeface="Calibri" pitchFamily="34" charset="0"/>
                <a:ea typeface="Calibri" pitchFamily="34" charset="-122"/>
                <a:cs typeface="Calibri" pitchFamily="34" charset="-120"/>
              </a:rPr>
              <a:t>TODAY</a:t>
            </a:r>
            <a:endParaRPr lang="en-US" sz="900" dirty="0"/>
          </a:p>
        </p:txBody>
      </p:sp>
      <p:sp>
        <p:nvSpPr>
          <p:cNvPr id="9" name="Text 5"/>
          <p:cNvSpPr txBox="1"/>
          <p:nvPr/>
        </p:nvSpPr>
        <p:spPr>
          <a:xfrm>
            <a:off x="1280160" y="192024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Web front end</a:t>
            </a:r>
            <a:endParaRPr lang="en-US" sz="1700" dirty="0"/>
          </a:p>
        </p:txBody>
      </p:sp>
      <p:sp>
        <p:nvSpPr>
          <p:cNvPr id="10" name="Text 6"/>
          <p:cNvSpPr txBox="1"/>
          <p:nvPr/>
        </p:nvSpPr>
        <p:spPr>
          <a:xfrm>
            <a:off x="777240" y="245059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Frameworks (React, Next.js, Vue), layout, mobile, accessibility, UX and design, with HTML improvements.</a:t>
            </a:r>
            <a:endParaRPr lang="en-US" sz="1400" dirty="0"/>
          </a:p>
        </p:txBody>
      </p:sp>
      <p:sp>
        <p:nvSpPr>
          <p:cNvPr id="11" name="Shape 7"/>
          <p:cNvSpPr/>
          <p:nvPr/>
        </p:nvSpPr>
        <p:spPr>
          <a:xfrm>
            <a:off x="4322978" y="173736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2" name="Image 1" descr="db icon">    </p:cNvPr>
          <p:cNvPicPr>
            <a:picLocks noChangeAspect="1"/>
          </p:cNvPicPr>
          <p:nvPr/>
        </p:nvPicPr>
        <p:blipFill>
          <a:blip r:embed="rId2"/>
          <a:stretch>
            <a:fillRect/>
          </a:stretch>
        </p:blipFill>
        <p:spPr>
          <a:xfrm>
            <a:off x="4551578" y="1938528"/>
            <a:ext cx="384048" cy="384048"/>
          </a:xfrm>
          <a:prstGeom prst="rect">
            <a:avLst/>
          </a:prstGeom>
        </p:spPr>
      </p:pic>
      <p:sp>
        <p:nvSpPr>
          <p:cNvPr id="13" name="Shape 8"/>
          <p:cNvSpPr/>
          <p:nvPr/>
        </p:nvSpPr>
        <p:spPr>
          <a:xfrm>
            <a:off x="7114337" y="3044952"/>
            <a:ext cx="571500" cy="256032"/>
          </a:xfrm>
          <a:prstGeom prst="roundRect">
            <a:avLst>
              <a:gd name="adj" fmla="val 50000"/>
            </a:avLst>
          </a:prstGeom>
          <a:solidFill>
            <a:srgbClr val="DFF5EA"/>
          </a:solidFill>
          <a:ln w="12700">
            <a:solidFill>
              <a:srgbClr val="DFF5EA"/>
            </a:solidFill>
            <a:prstDash val="solid"/>
          </a:ln>
        </p:spPr>
      </p:sp>
      <p:sp>
        <p:nvSpPr>
          <p:cNvPr id="14" name="Text 9"/>
          <p:cNvSpPr txBox="1"/>
          <p:nvPr/>
        </p:nvSpPr>
        <p:spPr>
          <a:xfrm>
            <a:off x="7114337" y="3044952"/>
            <a:ext cx="571500" cy="256032"/>
          </a:xfrm>
          <a:prstGeom prst="rect">
            <a:avLst/>
          </a:prstGeom>
          <a:noFill/>
          <a:ln/>
        </p:spPr>
        <p:txBody>
          <a:bodyPr wrap="square" lIns="0" tIns="0" rIns="0" bIns="0" rtlCol="0" anchor="ctr"/>
          <a:lstStyle/>
          <a:p>
            <a:pPr algn="ctr" indent="0" marL="0">
              <a:buNone/>
            </a:pPr>
            <a:r>
              <a:rPr lang="en-US" sz="900" b="1" spc="100" kern="0" dirty="0">
                <a:solidFill>
                  <a:srgbClr val="0F9D6B"/>
                </a:solidFill>
                <a:latin typeface="Calibri" pitchFamily="34" charset="0"/>
                <a:ea typeface="Calibri" pitchFamily="34" charset="-122"/>
                <a:cs typeface="Calibri" pitchFamily="34" charset="-120"/>
              </a:rPr>
              <a:t>TODAY</a:t>
            </a:r>
            <a:endParaRPr lang="en-US" sz="900" dirty="0"/>
          </a:p>
        </p:txBody>
      </p:sp>
      <p:sp>
        <p:nvSpPr>
          <p:cNvPr id="15" name="Text 10"/>
          <p:cNvSpPr txBox="1"/>
          <p:nvPr/>
        </p:nvSpPr>
        <p:spPr>
          <a:xfrm>
            <a:off x="5054498" y="192024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Back end</a:t>
            </a:r>
            <a:endParaRPr lang="en-US" sz="1700" dirty="0"/>
          </a:p>
        </p:txBody>
      </p:sp>
      <p:sp>
        <p:nvSpPr>
          <p:cNvPr id="16" name="Text 11"/>
          <p:cNvSpPr txBox="1"/>
          <p:nvPr/>
        </p:nvSpPr>
        <p:spPr>
          <a:xfrm>
            <a:off x="4551578" y="245059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Server languages (Java, .NET, Python, PHP), CMS and commerce. Next: API speed, errors, caching.</a:t>
            </a:r>
            <a:endParaRPr lang="en-US" sz="1400" dirty="0"/>
          </a:p>
        </p:txBody>
      </p:sp>
      <p:sp>
        <p:nvSpPr>
          <p:cNvPr id="17" name="Shape 12"/>
          <p:cNvSpPr/>
          <p:nvPr/>
        </p:nvSpPr>
        <p:spPr>
          <a:xfrm>
            <a:off x="8097317" y="173736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8" name="Image 2" descr="cloud icon">    </p:cNvPr>
          <p:cNvPicPr>
            <a:picLocks noChangeAspect="1"/>
          </p:cNvPicPr>
          <p:nvPr/>
        </p:nvPicPr>
        <p:blipFill>
          <a:blip r:embed="rId3"/>
          <a:stretch>
            <a:fillRect/>
          </a:stretch>
        </p:blipFill>
        <p:spPr>
          <a:xfrm>
            <a:off x="8325917" y="1938528"/>
            <a:ext cx="384048" cy="384048"/>
          </a:xfrm>
          <a:prstGeom prst="rect">
            <a:avLst/>
          </a:prstGeom>
        </p:spPr>
      </p:pic>
      <p:sp>
        <p:nvSpPr>
          <p:cNvPr id="19" name="Shape 13"/>
          <p:cNvSpPr/>
          <p:nvPr/>
        </p:nvSpPr>
        <p:spPr>
          <a:xfrm>
            <a:off x="10888675" y="3044952"/>
            <a:ext cx="571500" cy="256032"/>
          </a:xfrm>
          <a:prstGeom prst="roundRect">
            <a:avLst>
              <a:gd name="adj" fmla="val 50000"/>
            </a:avLst>
          </a:prstGeom>
          <a:solidFill>
            <a:srgbClr val="DFF5EA"/>
          </a:solidFill>
          <a:ln w="12700">
            <a:solidFill>
              <a:srgbClr val="DFF5EA"/>
            </a:solidFill>
            <a:prstDash val="solid"/>
          </a:ln>
        </p:spPr>
      </p:sp>
      <p:sp>
        <p:nvSpPr>
          <p:cNvPr id="20" name="Text 14"/>
          <p:cNvSpPr txBox="1"/>
          <p:nvPr/>
        </p:nvSpPr>
        <p:spPr>
          <a:xfrm>
            <a:off x="10888675" y="3044952"/>
            <a:ext cx="571500" cy="256032"/>
          </a:xfrm>
          <a:prstGeom prst="rect">
            <a:avLst/>
          </a:prstGeom>
          <a:noFill/>
          <a:ln/>
        </p:spPr>
        <p:txBody>
          <a:bodyPr wrap="square" lIns="0" tIns="0" rIns="0" bIns="0" rtlCol="0" anchor="ctr"/>
          <a:lstStyle/>
          <a:p>
            <a:pPr algn="ctr" indent="0" marL="0">
              <a:buNone/>
            </a:pPr>
            <a:r>
              <a:rPr lang="en-US" sz="900" b="1" spc="100" kern="0" dirty="0">
                <a:solidFill>
                  <a:srgbClr val="0F9D6B"/>
                </a:solidFill>
                <a:latin typeface="Calibri" pitchFamily="34" charset="0"/>
                <a:ea typeface="Calibri" pitchFamily="34" charset="-122"/>
                <a:cs typeface="Calibri" pitchFamily="34" charset="-120"/>
              </a:rPr>
              <a:t>TODAY</a:t>
            </a:r>
            <a:endParaRPr lang="en-US" sz="900" dirty="0"/>
          </a:p>
        </p:txBody>
      </p:sp>
      <p:sp>
        <p:nvSpPr>
          <p:cNvPr id="21" name="Text 15"/>
          <p:cNvSpPr txBox="1"/>
          <p:nvPr/>
        </p:nvSpPr>
        <p:spPr>
          <a:xfrm>
            <a:off x="8828837" y="192024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DevOps and cloud</a:t>
            </a:r>
            <a:endParaRPr lang="en-US" sz="1700" dirty="0"/>
          </a:p>
        </p:txBody>
      </p:sp>
      <p:sp>
        <p:nvSpPr>
          <p:cNvPr id="22" name="Text 16"/>
          <p:cNvSpPr txBox="1"/>
          <p:nvPr/>
        </p:nvSpPr>
        <p:spPr>
          <a:xfrm>
            <a:off x="8325917" y="245059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CDN, hosting and cloud (Cloudflare, Azure, AWS), security and cache headers. Next: TLS, HTTP/3.</a:t>
            </a:r>
            <a:endParaRPr lang="en-US" sz="1400" dirty="0"/>
          </a:p>
        </p:txBody>
      </p:sp>
      <p:sp>
        <p:nvSpPr>
          <p:cNvPr id="23" name="Shape 17"/>
          <p:cNvSpPr/>
          <p:nvPr/>
        </p:nvSpPr>
        <p:spPr>
          <a:xfrm>
            <a:off x="548640" y="365760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4" name="Image 3" descr="bolt icon">    </p:cNvPr>
          <p:cNvPicPr>
            <a:picLocks noChangeAspect="1"/>
          </p:cNvPicPr>
          <p:nvPr/>
        </p:nvPicPr>
        <p:blipFill>
          <a:blip r:embed="rId4"/>
          <a:stretch>
            <a:fillRect/>
          </a:stretch>
        </p:blipFill>
        <p:spPr>
          <a:xfrm>
            <a:off x="777240" y="3858768"/>
            <a:ext cx="384048" cy="384048"/>
          </a:xfrm>
          <a:prstGeom prst="rect">
            <a:avLst/>
          </a:prstGeom>
        </p:spPr>
      </p:pic>
      <p:sp>
        <p:nvSpPr>
          <p:cNvPr id="25" name="Shape 18"/>
          <p:cNvSpPr/>
          <p:nvPr/>
        </p:nvSpPr>
        <p:spPr>
          <a:xfrm>
            <a:off x="3339998" y="4965192"/>
            <a:ext cx="571500" cy="256032"/>
          </a:xfrm>
          <a:prstGeom prst="roundRect">
            <a:avLst>
              <a:gd name="adj" fmla="val 50000"/>
            </a:avLst>
          </a:prstGeom>
          <a:solidFill>
            <a:srgbClr val="DFF5EA"/>
          </a:solidFill>
          <a:ln w="12700">
            <a:solidFill>
              <a:srgbClr val="DFF5EA"/>
            </a:solidFill>
            <a:prstDash val="solid"/>
          </a:ln>
        </p:spPr>
      </p:sp>
      <p:sp>
        <p:nvSpPr>
          <p:cNvPr id="26" name="Text 19"/>
          <p:cNvSpPr txBox="1"/>
          <p:nvPr/>
        </p:nvSpPr>
        <p:spPr>
          <a:xfrm>
            <a:off x="3339998" y="4965192"/>
            <a:ext cx="571500" cy="256032"/>
          </a:xfrm>
          <a:prstGeom prst="rect">
            <a:avLst/>
          </a:prstGeom>
          <a:noFill/>
          <a:ln/>
        </p:spPr>
        <p:txBody>
          <a:bodyPr wrap="square" lIns="0" tIns="0" rIns="0" bIns="0" rtlCol="0" anchor="ctr"/>
          <a:lstStyle/>
          <a:p>
            <a:pPr algn="ctr" indent="0" marL="0">
              <a:buNone/>
            </a:pPr>
            <a:r>
              <a:rPr lang="en-US" sz="900" b="1" spc="100" kern="0" dirty="0">
                <a:solidFill>
                  <a:srgbClr val="0F9D6B"/>
                </a:solidFill>
                <a:latin typeface="Calibri" pitchFamily="34" charset="0"/>
                <a:ea typeface="Calibri" pitchFamily="34" charset="-122"/>
                <a:cs typeface="Calibri" pitchFamily="34" charset="-120"/>
              </a:rPr>
              <a:t>TODAY</a:t>
            </a:r>
            <a:endParaRPr lang="en-US" sz="900" dirty="0"/>
          </a:p>
        </p:txBody>
      </p:sp>
      <p:sp>
        <p:nvSpPr>
          <p:cNvPr id="27" name="Text 20"/>
          <p:cNvSpPr txBox="1"/>
          <p:nvPr/>
        </p:nvSpPr>
        <p:spPr>
          <a:xfrm>
            <a:off x="1280160" y="384048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Performance first</a:t>
            </a:r>
            <a:endParaRPr lang="en-US" sz="1700" dirty="0"/>
          </a:p>
        </p:txBody>
      </p:sp>
      <p:sp>
        <p:nvSpPr>
          <p:cNvPr id="28" name="Text 21"/>
          <p:cNvSpPr txBox="1"/>
          <p:nvPr/>
        </p:nvSpPr>
        <p:spPr>
          <a:xfrm>
            <a:off x="777240" y="437083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Lighthouse and Core Web Vitals (LCP, CLS, TBT), heavy scripts and third-party weight.</a:t>
            </a:r>
            <a:endParaRPr lang="en-US" sz="1400" dirty="0"/>
          </a:p>
        </p:txBody>
      </p:sp>
      <p:sp>
        <p:nvSpPr>
          <p:cNvPr id="29" name="Shape 22"/>
          <p:cNvSpPr/>
          <p:nvPr/>
        </p:nvSpPr>
        <p:spPr>
          <a:xfrm>
            <a:off x="4322978" y="365760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0" name="Image 4" descr="test icon">    </p:cNvPr>
          <p:cNvPicPr>
            <a:picLocks noChangeAspect="1"/>
          </p:cNvPicPr>
          <p:nvPr/>
        </p:nvPicPr>
        <p:blipFill>
          <a:blip r:embed="rId5"/>
          <a:stretch>
            <a:fillRect/>
          </a:stretch>
        </p:blipFill>
        <p:spPr>
          <a:xfrm>
            <a:off x="4551578" y="3858768"/>
            <a:ext cx="384048" cy="384048"/>
          </a:xfrm>
          <a:prstGeom prst="rect">
            <a:avLst/>
          </a:prstGeom>
        </p:spPr>
      </p:pic>
      <p:sp>
        <p:nvSpPr>
          <p:cNvPr id="31" name="Shape 23"/>
          <p:cNvSpPr/>
          <p:nvPr/>
        </p:nvSpPr>
        <p:spPr>
          <a:xfrm>
            <a:off x="7192061" y="4965192"/>
            <a:ext cx="493776" cy="256032"/>
          </a:xfrm>
          <a:prstGeom prst="roundRect">
            <a:avLst>
              <a:gd name="adj" fmla="val 50000"/>
            </a:avLst>
          </a:prstGeom>
          <a:solidFill>
            <a:srgbClr val="F1F3F9"/>
          </a:solidFill>
          <a:ln w="12700">
            <a:solidFill>
              <a:srgbClr val="F1F3F9"/>
            </a:solidFill>
            <a:prstDash val="solid"/>
          </a:ln>
        </p:spPr>
      </p:sp>
      <p:sp>
        <p:nvSpPr>
          <p:cNvPr id="32" name="Text 24"/>
          <p:cNvSpPr txBox="1"/>
          <p:nvPr/>
        </p:nvSpPr>
        <p:spPr>
          <a:xfrm>
            <a:off x="7192061" y="4965192"/>
            <a:ext cx="493776" cy="256032"/>
          </a:xfrm>
          <a:prstGeom prst="rect">
            <a:avLst/>
          </a:prstGeom>
          <a:noFill/>
          <a:ln/>
        </p:spPr>
        <p:txBody>
          <a:bodyPr wrap="square" lIns="0" tIns="0" rIns="0" bIns="0" rtlCol="0" anchor="ctr"/>
          <a:lstStyle/>
          <a:p>
            <a:pPr algn="ctr" indent="0" marL="0">
              <a:buNone/>
            </a:pPr>
            <a:r>
              <a:rPr lang="en-US" sz="900" b="1" spc="100" kern="0" dirty="0">
                <a:solidFill>
                  <a:srgbClr val="667089"/>
                </a:solidFill>
                <a:latin typeface="Calibri" pitchFamily="34" charset="0"/>
                <a:ea typeface="Calibri" pitchFamily="34" charset="-122"/>
                <a:cs typeface="Calibri" pitchFamily="34" charset="-120"/>
              </a:rPr>
              <a:t>NEXT</a:t>
            </a:r>
            <a:endParaRPr lang="en-US" sz="900" dirty="0"/>
          </a:p>
        </p:txBody>
      </p:sp>
      <p:sp>
        <p:nvSpPr>
          <p:cNvPr id="33" name="Text 25"/>
          <p:cNvSpPr txBox="1"/>
          <p:nvPr/>
        </p:nvSpPr>
        <p:spPr>
          <a:xfrm>
            <a:off x="5054498" y="384048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Quality and testing</a:t>
            </a:r>
            <a:endParaRPr lang="en-US" sz="1700" dirty="0"/>
          </a:p>
        </p:txBody>
      </p:sp>
      <p:sp>
        <p:nvSpPr>
          <p:cNvPr id="34" name="Text 26"/>
          <p:cNvSpPr txBox="1"/>
          <p:nvPr/>
        </p:nvSpPr>
        <p:spPr>
          <a:xfrm>
            <a:off x="4551578" y="437083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Automated tests, agent-driven user journeys and checks across locales and languages.</a:t>
            </a:r>
            <a:endParaRPr lang="en-US" sz="1400" dirty="0"/>
          </a:p>
        </p:txBody>
      </p:sp>
      <p:sp>
        <p:nvSpPr>
          <p:cNvPr id="35" name="Shape 27"/>
          <p:cNvSpPr/>
          <p:nvPr/>
        </p:nvSpPr>
        <p:spPr>
          <a:xfrm>
            <a:off x="8097317" y="3657600"/>
            <a:ext cx="3545738" cy="1691640"/>
          </a:xfrm>
          <a:prstGeom prst="roundRect">
            <a:avLst>
              <a:gd name="adj" fmla="val 648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36" name="Image 5" descr="robot icon">    </p:cNvPr>
          <p:cNvPicPr>
            <a:picLocks noChangeAspect="1"/>
          </p:cNvPicPr>
          <p:nvPr/>
        </p:nvPicPr>
        <p:blipFill>
          <a:blip r:embed="rId6"/>
          <a:stretch>
            <a:fillRect/>
          </a:stretch>
        </p:blipFill>
        <p:spPr>
          <a:xfrm>
            <a:off x="8325917" y="3858768"/>
            <a:ext cx="384048" cy="384048"/>
          </a:xfrm>
          <a:prstGeom prst="rect">
            <a:avLst/>
          </a:prstGeom>
        </p:spPr>
      </p:pic>
      <p:sp>
        <p:nvSpPr>
          <p:cNvPr id="37" name="Shape 28"/>
          <p:cNvSpPr/>
          <p:nvPr/>
        </p:nvSpPr>
        <p:spPr>
          <a:xfrm>
            <a:off x="10888675" y="4965192"/>
            <a:ext cx="571500" cy="256032"/>
          </a:xfrm>
          <a:prstGeom prst="roundRect">
            <a:avLst>
              <a:gd name="adj" fmla="val 50000"/>
            </a:avLst>
          </a:prstGeom>
          <a:solidFill>
            <a:srgbClr val="DFF5EA"/>
          </a:solidFill>
          <a:ln w="12700">
            <a:solidFill>
              <a:srgbClr val="DFF5EA"/>
            </a:solidFill>
            <a:prstDash val="solid"/>
          </a:ln>
        </p:spPr>
      </p:sp>
      <p:sp>
        <p:nvSpPr>
          <p:cNvPr id="38" name="Text 29"/>
          <p:cNvSpPr txBox="1"/>
          <p:nvPr/>
        </p:nvSpPr>
        <p:spPr>
          <a:xfrm>
            <a:off x="10888675" y="4965192"/>
            <a:ext cx="571500" cy="256032"/>
          </a:xfrm>
          <a:prstGeom prst="rect">
            <a:avLst/>
          </a:prstGeom>
          <a:noFill/>
          <a:ln/>
        </p:spPr>
        <p:txBody>
          <a:bodyPr wrap="square" lIns="0" tIns="0" rIns="0" bIns="0" rtlCol="0" anchor="ctr"/>
          <a:lstStyle/>
          <a:p>
            <a:pPr algn="ctr" indent="0" marL="0">
              <a:buNone/>
            </a:pPr>
            <a:r>
              <a:rPr lang="en-US" sz="900" b="1" spc="100" kern="0" dirty="0">
                <a:solidFill>
                  <a:srgbClr val="0F9D6B"/>
                </a:solidFill>
                <a:latin typeface="Calibri" pitchFamily="34" charset="0"/>
                <a:ea typeface="Calibri" pitchFamily="34" charset="-122"/>
                <a:cs typeface="Calibri" pitchFamily="34" charset="-120"/>
              </a:rPr>
              <a:t>TODAY</a:t>
            </a:r>
            <a:endParaRPr lang="en-US" sz="900" dirty="0"/>
          </a:p>
        </p:txBody>
      </p:sp>
      <p:sp>
        <p:nvSpPr>
          <p:cNvPr id="39" name="Text 30"/>
          <p:cNvSpPr txBox="1"/>
          <p:nvPr/>
        </p:nvSpPr>
        <p:spPr>
          <a:xfrm>
            <a:off x="8828837" y="384048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AI readiness</a:t>
            </a:r>
            <a:endParaRPr lang="en-US" sz="1700" dirty="0"/>
          </a:p>
        </p:txBody>
      </p:sp>
      <p:sp>
        <p:nvSpPr>
          <p:cNvPr id="40" name="Text 31"/>
          <p:cNvSpPr txBox="1"/>
          <p:nvPr/>
        </p:nvSpPr>
        <p:spPr>
          <a:xfrm>
            <a:off x="8325917" y="4370832"/>
            <a:ext cx="3088538" cy="8686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Visibility in AI search, structured data and llms.txt. If needed, a simple RAG chat demo.</a:t>
            </a:r>
            <a:endParaRPr lang="en-US" sz="1400" dirty="0"/>
          </a:p>
        </p:txBody>
      </p:sp>
      <p:sp>
        <p:nvSpPr>
          <p:cNvPr id="41" name="Shape 32"/>
          <p:cNvSpPr/>
          <p:nvPr/>
        </p:nvSpPr>
        <p:spPr>
          <a:xfrm>
            <a:off x="548640" y="5623560"/>
            <a:ext cx="11094415" cy="502920"/>
          </a:xfrm>
          <a:prstGeom prst="roundRect">
            <a:avLst>
              <a:gd name="adj" fmla="val 18182"/>
            </a:avLst>
          </a:prstGeom>
          <a:solidFill>
            <a:srgbClr val="EEF2FF"/>
          </a:solidFill>
          <a:ln w="12700">
            <a:solidFill>
              <a:srgbClr val="EEF2FF"/>
            </a:solidFill>
            <a:prstDash val="solid"/>
          </a:ln>
        </p:spPr>
      </p:sp>
      <p:sp>
        <p:nvSpPr>
          <p:cNvPr id="42" name="Text 33"/>
          <p:cNvSpPr txBox="1"/>
          <p:nvPr/>
        </p:nvSpPr>
        <p:spPr>
          <a:xfrm>
            <a:off x="822960" y="5623560"/>
            <a:ext cx="10545775" cy="502920"/>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One URL, a full-stack view, and every insight mapped to the available experts who can deliver it.</a:t>
            </a:r>
            <a:endParaRPr lang="en-US" sz="17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AUTOMATED TESTS AND AGENT-DRIVEN JOURNEYS</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Agents use the site like a real customer</a:t>
            </a:r>
            <a:endParaRPr lang="en-US" sz="3400" dirty="0"/>
          </a:p>
        </p:txBody>
      </p:sp>
      <p:sp>
        <p:nvSpPr>
          <p:cNvPr id="5" name="Shape 2"/>
          <p:cNvSpPr/>
          <p:nvPr/>
        </p:nvSpPr>
        <p:spPr>
          <a:xfrm>
            <a:off x="548640" y="1737360"/>
            <a:ext cx="1962851" cy="1463040"/>
          </a:xfrm>
          <a:prstGeom prst="roundRect">
            <a:avLst>
              <a:gd name="adj" fmla="val 75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home icon">    </p:cNvPr>
          <p:cNvPicPr>
            <a:picLocks noChangeAspect="1"/>
          </p:cNvPicPr>
          <p:nvPr/>
        </p:nvPicPr>
        <p:blipFill>
          <a:blip r:embed="rId1"/>
          <a:stretch>
            <a:fillRect/>
          </a:stretch>
        </p:blipFill>
        <p:spPr>
          <a:xfrm>
            <a:off x="1301466" y="1920240"/>
            <a:ext cx="457200" cy="457200"/>
          </a:xfrm>
          <a:prstGeom prst="rect">
            <a:avLst/>
          </a:prstGeom>
        </p:spPr>
      </p:pic>
      <p:sp>
        <p:nvSpPr>
          <p:cNvPr id="7" name="Text 3"/>
          <p:cNvSpPr txBox="1"/>
          <p:nvPr/>
        </p:nvSpPr>
        <p:spPr>
          <a:xfrm>
            <a:off x="640080" y="2487168"/>
            <a:ext cx="1779971"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Home</a:t>
            </a:r>
            <a:endParaRPr lang="en-US" sz="1500" dirty="0"/>
          </a:p>
        </p:txBody>
      </p:sp>
      <p:sp>
        <p:nvSpPr>
          <p:cNvPr id="8" name="Text 4"/>
          <p:cNvSpPr txBox="1"/>
          <p:nvPr/>
        </p:nvSpPr>
        <p:spPr>
          <a:xfrm>
            <a:off x="658368" y="2816352"/>
            <a:ext cx="1743395" cy="32004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Page loads</a:t>
            </a:r>
            <a:endParaRPr lang="en-US" sz="1200" dirty="0"/>
          </a:p>
        </p:txBody>
      </p:sp>
      <p:sp>
        <p:nvSpPr>
          <p:cNvPr id="9" name="Shape 5"/>
          <p:cNvSpPr/>
          <p:nvPr/>
        </p:nvSpPr>
        <p:spPr>
          <a:xfrm>
            <a:off x="2538923" y="2468880"/>
            <a:ext cx="265176" cy="0"/>
          </a:xfrm>
          <a:prstGeom prst="line">
            <a:avLst/>
          </a:prstGeom>
          <a:noFill/>
          <a:ln w="25400">
            <a:solidFill>
              <a:srgbClr val="4F6BFF"/>
            </a:solidFill>
            <a:prstDash val="dash"/>
            <a:tailEnd type="triangle"/>
          </a:ln>
        </p:spPr>
      </p:sp>
      <p:sp>
        <p:nvSpPr>
          <p:cNvPr id="10" name="Shape 6"/>
          <p:cNvSpPr/>
          <p:nvPr/>
        </p:nvSpPr>
        <p:spPr>
          <a:xfrm>
            <a:off x="2831531" y="1737360"/>
            <a:ext cx="1962851" cy="1463040"/>
          </a:xfrm>
          <a:prstGeom prst="roundRect">
            <a:avLst>
              <a:gd name="adj" fmla="val 75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1" name="Image 1" descr="search icon">    </p:cNvPr>
          <p:cNvPicPr>
            <a:picLocks noChangeAspect="1"/>
          </p:cNvPicPr>
          <p:nvPr/>
        </p:nvPicPr>
        <p:blipFill>
          <a:blip r:embed="rId2"/>
          <a:stretch>
            <a:fillRect/>
          </a:stretch>
        </p:blipFill>
        <p:spPr>
          <a:xfrm>
            <a:off x="3584357" y="1920240"/>
            <a:ext cx="457200" cy="457200"/>
          </a:xfrm>
          <a:prstGeom prst="rect">
            <a:avLst/>
          </a:prstGeom>
        </p:spPr>
      </p:pic>
      <p:sp>
        <p:nvSpPr>
          <p:cNvPr id="12" name="Text 7"/>
          <p:cNvSpPr txBox="1"/>
          <p:nvPr/>
        </p:nvSpPr>
        <p:spPr>
          <a:xfrm>
            <a:off x="2922971" y="2487168"/>
            <a:ext cx="1779971"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Search</a:t>
            </a:r>
            <a:endParaRPr lang="en-US" sz="1500" dirty="0"/>
          </a:p>
        </p:txBody>
      </p:sp>
      <p:sp>
        <p:nvSpPr>
          <p:cNvPr id="13" name="Text 8"/>
          <p:cNvSpPr txBox="1"/>
          <p:nvPr/>
        </p:nvSpPr>
        <p:spPr>
          <a:xfrm>
            <a:off x="2941259" y="2816352"/>
            <a:ext cx="1743395" cy="32004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Finds a product</a:t>
            </a:r>
            <a:endParaRPr lang="en-US" sz="1200" dirty="0"/>
          </a:p>
        </p:txBody>
      </p:sp>
      <p:sp>
        <p:nvSpPr>
          <p:cNvPr id="14" name="Shape 9"/>
          <p:cNvSpPr/>
          <p:nvPr/>
        </p:nvSpPr>
        <p:spPr>
          <a:xfrm>
            <a:off x="4821814" y="2468880"/>
            <a:ext cx="265176" cy="0"/>
          </a:xfrm>
          <a:prstGeom prst="line">
            <a:avLst/>
          </a:prstGeom>
          <a:noFill/>
          <a:ln w="25400">
            <a:solidFill>
              <a:srgbClr val="4F6BFF"/>
            </a:solidFill>
            <a:prstDash val="dash"/>
            <a:tailEnd type="triangle"/>
          </a:ln>
        </p:spPr>
      </p:sp>
      <p:sp>
        <p:nvSpPr>
          <p:cNvPr id="15" name="Shape 10"/>
          <p:cNvSpPr/>
          <p:nvPr/>
        </p:nvSpPr>
        <p:spPr>
          <a:xfrm>
            <a:off x="5114422" y="1737360"/>
            <a:ext cx="1962851" cy="1463040"/>
          </a:xfrm>
          <a:prstGeom prst="roundRect">
            <a:avLst>
              <a:gd name="adj" fmla="val 75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6" name="Image 2" descr="shoe icon">    </p:cNvPr>
          <p:cNvPicPr>
            <a:picLocks noChangeAspect="1"/>
          </p:cNvPicPr>
          <p:nvPr/>
        </p:nvPicPr>
        <p:blipFill>
          <a:blip r:embed="rId3"/>
          <a:stretch>
            <a:fillRect/>
          </a:stretch>
        </p:blipFill>
        <p:spPr>
          <a:xfrm>
            <a:off x="5867248" y="1920240"/>
            <a:ext cx="457200" cy="457200"/>
          </a:xfrm>
          <a:prstGeom prst="rect">
            <a:avLst/>
          </a:prstGeom>
        </p:spPr>
      </p:pic>
      <p:sp>
        <p:nvSpPr>
          <p:cNvPr id="17" name="Text 11"/>
          <p:cNvSpPr txBox="1"/>
          <p:nvPr/>
        </p:nvSpPr>
        <p:spPr>
          <a:xfrm>
            <a:off x="5205862" y="2487168"/>
            <a:ext cx="1779971"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Product</a:t>
            </a:r>
            <a:endParaRPr lang="en-US" sz="1500" dirty="0"/>
          </a:p>
        </p:txBody>
      </p:sp>
      <p:sp>
        <p:nvSpPr>
          <p:cNvPr id="18" name="Text 12"/>
          <p:cNvSpPr txBox="1"/>
          <p:nvPr/>
        </p:nvSpPr>
        <p:spPr>
          <a:xfrm>
            <a:off x="5224150" y="2816352"/>
            <a:ext cx="1743395" cy="32004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Options work</a:t>
            </a:r>
            <a:endParaRPr lang="en-US" sz="1200" dirty="0"/>
          </a:p>
        </p:txBody>
      </p:sp>
      <p:sp>
        <p:nvSpPr>
          <p:cNvPr id="19" name="Shape 13"/>
          <p:cNvSpPr/>
          <p:nvPr/>
        </p:nvSpPr>
        <p:spPr>
          <a:xfrm>
            <a:off x="7104705" y="2468880"/>
            <a:ext cx="265176" cy="0"/>
          </a:xfrm>
          <a:prstGeom prst="line">
            <a:avLst/>
          </a:prstGeom>
          <a:noFill/>
          <a:ln w="25400">
            <a:solidFill>
              <a:srgbClr val="4F6BFF"/>
            </a:solidFill>
            <a:prstDash val="dash"/>
            <a:tailEnd type="triangle"/>
          </a:ln>
        </p:spPr>
      </p:sp>
      <p:sp>
        <p:nvSpPr>
          <p:cNvPr id="20" name="Shape 14"/>
          <p:cNvSpPr/>
          <p:nvPr/>
        </p:nvSpPr>
        <p:spPr>
          <a:xfrm>
            <a:off x="7397313" y="1737360"/>
            <a:ext cx="1962851" cy="1463040"/>
          </a:xfrm>
          <a:prstGeom prst="roundRect">
            <a:avLst>
              <a:gd name="adj" fmla="val 7500"/>
            </a:avLst>
          </a:prstGeom>
          <a:solidFill>
            <a:srgbClr val="FFFFFF"/>
          </a:solidFill>
          <a:ln w="22225">
            <a:solidFill>
              <a:srgbClr val="D64545"/>
            </a:solidFill>
            <a:prstDash val="solid"/>
          </a:ln>
          <a:effectLst>
            <a:outerShdw sx="100000" sy="100000" kx="0" ky="0" algn="bl" rotWithShape="0" blurRad="101600" dist="25400" dir="5400000">
              <a:srgbClr val="1E2850">
                <a:alpha val="8000"/>
              </a:srgbClr>
            </a:outerShdw>
          </a:effectLst>
        </p:spPr>
      </p:sp>
      <p:pic>
        <p:nvPicPr>
          <p:cNvPr id="21" name="Image 3" descr="cart icon">    </p:cNvPr>
          <p:cNvPicPr>
            <a:picLocks noChangeAspect="1"/>
          </p:cNvPicPr>
          <p:nvPr/>
        </p:nvPicPr>
        <p:blipFill>
          <a:blip r:embed="rId4"/>
          <a:stretch>
            <a:fillRect/>
          </a:stretch>
        </p:blipFill>
        <p:spPr>
          <a:xfrm>
            <a:off x="8150139" y="1920240"/>
            <a:ext cx="457200" cy="457200"/>
          </a:xfrm>
          <a:prstGeom prst="rect">
            <a:avLst/>
          </a:prstGeom>
        </p:spPr>
      </p:pic>
      <p:sp>
        <p:nvSpPr>
          <p:cNvPr id="22" name="Text 15"/>
          <p:cNvSpPr txBox="1"/>
          <p:nvPr/>
        </p:nvSpPr>
        <p:spPr>
          <a:xfrm>
            <a:off x="7488753" y="2487168"/>
            <a:ext cx="1779971" cy="329184"/>
          </a:xfrm>
          <a:prstGeom prst="rect">
            <a:avLst/>
          </a:prstGeom>
          <a:noFill/>
          <a:ln/>
        </p:spPr>
        <p:txBody>
          <a:bodyPr wrap="square" lIns="0" tIns="0" rIns="0" bIns="0" rtlCol="0" anchor="t"/>
          <a:lstStyle/>
          <a:p>
            <a:pPr algn="ctr" indent="0" marL="0">
              <a:buNone/>
            </a:pPr>
            <a:r>
              <a:rPr lang="en-US" sz="1500" b="1" dirty="0">
                <a:solidFill>
                  <a:srgbClr val="D64545"/>
                </a:solidFill>
                <a:latin typeface="Calibri" pitchFamily="34" charset="0"/>
                <a:ea typeface="Calibri" pitchFamily="34" charset="-122"/>
                <a:cs typeface="Calibri" pitchFamily="34" charset="-120"/>
              </a:rPr>
              <a:t>Cart ✕</a:t>
            </a:r>
            <a:endParaRPr lang="en-US" sz="1500" dirty="0"/>
          </a:p>
        </p:txBody>
      </p:sp>
      <p:sp>
        <p:nvSpPr>
          <p:cNvPr id="23" name="Text 16"/>
          <p:cNvSpPr txBox="1"/>
          <p:nvPr/>
        </p:nvSpPr>
        <p:spPr>
          <a:xfrm>
            <a:off x="7507041" y="2816352"/>
            <a:ext cx="1743395" cy="32004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Example: button hidden on phones</a:t>
            </a:r>
            <a:endParaRPr lang="en-US" sz="1200" dirty="0"/>
          </a:p>
        </p:txBody>
      </p:sp>
      <p:sp>
        <p:nvSpPr>
          <p:cNvPr id="24" name="Shape 17"/>
          <p:cNvSpPr/>
          <p:nvPr/>
        </p:nvSpPr>
        <p:spPr>
          <a:xfrm>
            <a:off x="9387596" y="2468880"/>
            <a:ext cx="265176" cy="0"/>
          </a:xfrm>
          <a:prstGeom prst="line">
            <a:avLst/>
          </a:prstGeom>
          <a:noFill/>
          <a:ln w="25400">
            <a:solidFill>
              <a:srgbClr val="4F6BFF"/>
            </a:solidFill>
            <a:prstDash val="dash"/>
            <a:tailEnd type="triangle"/>
          </a:ln>
        </p:spPr>
      </p:sp>
      <p:sp>
        <p:nvSpPr>
          <p:cNvPr id="25" name="Shape 18"/>
          <p:cNvSpPr/>
          <p:nvPr/>
        </p:nvSpPr>
        <p:spPr>
          <a:xfrm>
            <a:off x="9680204" y="1737360"/>
            <a:ext cx="1962851" cy="1463040"/>
          </a:xfrm>
          <a:prstGeom prst="roundRect">
            <a:avLst>
              <a:gd name="adj" fmla="val 75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6" name="Image 4" descr="card icon">    </p:cNvPr>
          <p:cNvPicPr>
            <a:picLocks noChangeAspect="1"/>
          </p:cNvPicPr>
          <p:nvPr/>
        </p:nvPicPr>
        <p:blipFill>
          <a:blip r:embed="rId5"/>
          <a:stretch>
            <a:fillRect/>
          </a:stretch>
        </p:blipFill>
        <p:spPr>
          <a:xfrm>
            <a:off x="10433030" y="1920240"/>
            <a:ext cx="457200" cy="457200"/>
          </a:xfrm>
          <a:prstGeom prst="rect">
            <a:avLst/>
          </a:prstGeom>
        </p:spPr>
      </p:pic>
      <p:sp>
        <p:nvSpPr>
          <p:cNvPr id="27" name="Text 19"/>
          <p:cNvSpPr txBox="1"/>
          <p:nvPr/>
        </p:nvSpPr>
        <p:spPr>
          <a:xfrm>
            <a:off x="9771644" y="2487168"/>
            <a:ext cx="1779971"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Checkout</a:t>
            </a:r>
            <a:endParaRPr lang="en-US" sz="1500" dirty="0"/>
          </a:p>
        </p:txBody>
      </p:sp>
      <p:sp>
        <p:nvSpPr>
          <p:cNvPr id="28" name="Text 20"/>
          <p:cNvSpPr txBox="1"/>
          <p:nvPr/>
        </p:nvSpPr>
        <p:spPr>
          <a:xfrm>
            <a:off x="9789932" y="2816352"/>
            <a:ext cx="1743395" cy="32004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Not reached</a:t>
            </a:r>
            <a:endParaRPr lang="en-US" sz="1200" dirty="0"/>
          </a:p>
        </p:txBody>
      </p:sp>
      <p:sp>
        <p:nvSpPr>
          <p:cNvPr id="29" name="Text 21"/>
          <p:cNvSpPr txBox="1"/>
          <p:nvPr/>
        </p:nvSpPr>
        <p:spPr>
          <a:xfrm>
            <a:off x="548640" y="3520440"/>
            <a:ext cx="4754880" cy="365760"/>
          </a:xfrm>
          <a:prstGeom prst="rect">
            <a:avLst/>
          </a:prstGeom>
          <a:noFill/>
          <a:ln/>
        </p:spPr>
        <p:txBody>
          <a:bodyPr wrap="square" lIns="0" tIns="0" rIns="0" bIns="0" rtlCol="0" anchor="t"/>
          <a:lstStyle/>
          <a:p>
            <a:pPr indent="0" marL="0">
              <a:buNone/>
            </a:pPr>
            <a:r>
              <a:rPr lang="en-US" sz="1600" b="1" dirty="0">
                <a:solidFill>
                  <a:srgbClr val="1A2033"/>
                </a:solidFill>
                <a:latin typeface="Calibri" pitchFamily="34" charset="0"/>
                <a:ea typeface="Calibri" pitchFamily="34" charset="-122"/>
                <a:cs typeface="Calibri" pitchFamily="34" charset="-120"/>
              </a:rPr>
              <a:t>Locales to test</a:t>
            </a:r>
            <a:endParaRPr lang="en-US" sz="1600" dirty="0"/>
          </a:p>
        </p:txBody>
      </p:sp>
      <p:sp>
        <p:nvSpPr>
          <p:cNvPr id="30" name="Shape 22"/>
          <p:cNvSpPr/>
          <p:nvPr/>
        </p:nvSpPr>
        <p:spPr>
          <a:xfrm>
            <a:off x="548640" y="3977640"/>
            <a:ext cx="780898" cy="365760"/>
          </a:xfrm>
          <a:prstGeom prst="roundRect">
            <a:avLst>
              <a:gd name="adj" fmla="val 50000"/>
            </a:avLst>
          </a:prstGeom>
          <a:solidFill>
            <a:srgbClr val="FFFFFF"/>
          </a:solidFill>
          <a:ln w="12700">
            <a:solidFill>
              <a:srgbClr val="DFE3EE"/>
            </a:solidFill>
            <a:prstDash val="solid"/>
          </a:ln>
        </p:spPr>
      </p:sp>
      <p:sp>
        <p:nvSpPr>
          <p:cNvPr id="31" name="Text 23"/>
          <p:cNvSpPr txBox="1"/>
          <p:nvPr/>
        </p:nvSpPr>
        <p:spPr>
          <a:xfrm>
            <a:off x="548640" y="3977640"/>
            <a:ext cx="780898"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en-IN</a:t>
            </a:r>
            <a:endParaRPr lang="en-US" sz="1400" dirty="0"/>
          </a:p>
        </p:txBody>
      </p:sp>
      <p:sp>
        <p:nvSpPr>
          <p:cNvPr id="32" name="Shape 24"/>
          <p:cNvSpPr/>
          <p:nvPr/>
        </p:nvSpPr>
        <p:spPr>
          <a:xfrm>
            <a:off x="1439266" y="3977640"/>
            <a:ext cx="780898" cy="365760"/>
          </a:xfrm>
          <a:prstGeom prst="roundRect">
            <a:avLst>
              <a:gd name="adj" fmla="val 50000"/>
            </a:avLst>
          </a:prstGeom>
          <a:solidFill>
            <a:srgbClr val="FFFFFF"/>
          </a:solidFill>
          <a:ln w="12700">
            <a:solidFill>
              <a:srgbClr val="DFE3EE"/>
            </a:solidFill>
            <a:prstDash val="solid"/>
          </a:ln>
        </p:spPr>
      </p:sp>
      <p:sp>
        <p:nvSpPr>
          <p:cNvPr id="33" name="Text 25"/>
          <p:cNvSpPr txBox="1"/>
          <p:nvPr/>
        </p:nvSpPr>
        <p:spPr>
          <a:xfrm>
            <a:off x="1439266" y="3977640"/>
            <a:ext cx="780898"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hi-IN</a:t>
            </a:r>
            <a:endParaRPr lang="en-US" sz="1400" dirty="0"/>
          </a:p>
        </p:txBody>
      </p:sp>
      <p:sp>
        <p:nvSpPr>
          <p:cNvPr id="34" name="Shape 26"/>
          <p:cNvSpPr/>
          <p:nvPr/>
        </p:nvSpPr>
        <p:spPr>
          <a:xfrm>
            <a:off x="2329891" y="3977640"/>
            <a:ext cx="780898" cy="365760"/>
          </a:xfrm>
          <a:prstGeom prst="roundRect">
            <a:avLst>
              <a:gd name="adj" fmla="val 50000"/>
            </a:avLst>
          </a:prstGeom>
          <a:solidFill>
            <a:srgbClr val="FFFFFF"/>
          </a:solidFill>
          <a:ln w="12700">
            <a:solidFill>
              <a:srgbClr val="DFE3EE"/>
            </a:solidFill>
            <a:prstDash val="solid"/>
          </a:ln>
        </p:spPr>
      </p:sp>
      <p:sp>
        <p:nvSpPr>
          <p:cNvPr id="35" name="Text 27"/>
          <p:cNvSpPr txBox="1"/>
          <p:nvPr/>
        </p:nvSpPr>
        <p:spPr>
          <a:xfrm>
            <a:off x="2329891" y="3977640"/>
            <a:ext cx="780898"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en-US</a:t>
            </a:r>
            <a:endParaRPr lang="en-US" sz="1400" dirty="0"/>
          </a:p>
        </p:txBody>
      </p:sp>
      <p:sp>
        <p:nvSpPr>
          <p:cNvPr id="36" name="Shape 28"/>
          <p:cNvSpPr/>
          <p:nvPr/>
        </p:nvSpPr>
        <p:spPr>
          <a:xfrm>
            <a:off x="3220517" y="3977640"/>
            <a:ext cx="780898" cy="365760"/>
          </a:xfrm>
          <a:prstGeom prst="roundRect">
            <a:avLst>
              <a:gd name="adj" fmla="val 50000"/>
            </a:avLst>
          </a:prstGeom>
          <a:solidFill>
            <a:srgbClr val="FFFFFF"/>
          </a:solidFill>
          <a:ln w="12700">
            <a:solidFill>
              <a:srgbClr val="DFE3EE"/>
            </a:solidFill>
            <a:prstDash val="solid"/>
          </a:ln>
        </p:spPr>
      </p:sp>
      <p:sp>
        <p:nvSpPr>
          <p:cNvPr id="37" name="Text 29"/>
          <p:cNvSpPr txBox="1"/>
          <p:nvPr/>
        </p:nvSpPr>
        <p:spPr>
          <a:xfrm>
            <a:off x="3220517" y="3977640"/>
            <a:ext cx="780898"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de-DE</a:t>
            </a:r>
            <a:endParaRPr lang="en-US" sz="1400" dirty="0"/>
          </a:p>
        </p:txBody>
      </p:sp>
      <p:sp>
        <p:nvSpPr>
          <p:cNvPr id="38" name="Shape 30"/>
          <p:cNvSpPr/>
          <p:nvPr/>
        </p:nvSpPr>
        <p:spPr>
          <a:xfrm>
            <a:off x="4111142" y="3977640"/>
            <a:ext cx="780898" cy="365760"/>
          </a:xfrm>
          <a:prstGeom prst="roundRect">
            <a:avLst>
              <a:gd name="adj" fmla="val 50000"/>
            </a:avLst>
          </a:prstGeom>
          <a:solidFill>
            <a:srgbClr val="FFFFFF"/>
          </a:solidFill>
          <a:ln w="12700">
            <a:solidFill>
              <a:srgbClr val="DFE3EE"/>
            </a:solidFill>
            <a:prstDash val="solid"/>
          </a:ln>
        </p:spPr>
      </p:sp>
      <p:sp>
        <p:nvSpPr>
          <p:cNvPr id="39" name="Text 31"/>
          <p:cNvSpPr txBox="1"/>
          <p:nvPr/>
        </p:nvSpPr>
        <p:spPr>
          <a:xfrm>
            <a:off x="4111142" y="3977640"/>
            <a:ext cx="780898"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ja-JP</a:t>
            </a:r>
            <a:endParaRPr lang="en-US" sz="1400" dirty="0"/>
          </a:p>
        </p:txBody>
      </p:sp>
      <p:sp>
        <p:nvSpPr>
          <p:cNvPr id="40" name="Shape 32"/>
          <p:cNvSpPr/>
          <p:nvPr/>
        </p:nvSpPr>
        <p:spPr>
          <a:xfrm>
            <a:off x="548640" y="4453128"/>
            <a:ext cx="2255642" cy="365760"/>
          </a:xfrm>
          <a:prstGeom prst="roundRect">
            <a:avLst>
              <a:gd name="adj" fmla="val 50000"/>
            </a:avLst>
          </a:prstGeom>
          <a:solidFill>
            <a:srgbClr val="FFFFFF"/>
          </a:solidFill>
          <a:ln w="12700">
            <a:solidFill>
              <a:srgbClr val="DFE3EE"/>
            </a:solidFill>
            <a:prstDash val="solid"/>
          </a:ln>
        </p:spPr>
      </p:sp>
      <p:sp>
        <p:nvSpPr>
          <p:cNvPr id="41" name="Text 33"/>
          <p:cNvSpPr txBox="1"/>
          <p:nvPr/>
        </p:nvSpPr>
        <p:spPr>
          <a:xfrm>
            <a:off x="548640" y="4453128"/>
            <a:ext cx="2255642"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ar-AE (right-to-left)</a:t>
            </a:r>
            <a:endParaRPr lang="en-US" sz="1400" dirty="0"/>
          </a:p>
        </p:txBody>
      </p:sp>
      <p:sp>
        <p:nvSpPr>
          <p:cNvPr id="42" name="Text 34"/>
          <p:cNvSpPr txBox="1"/>
          <p:nvPr/>
        </p:nvSpPr>
        <p:spPr>
          <a:xfrm>
            <a:off x="548640" y="5074920"/>
            <a:ext cx="11094415" cy="320040"/>
          </a:xfrm>
          <a:prstGeom prst="rect">
            <a:avLst/>
          </a:prstGeom>
          <a:noFill/>
          <a:ln/>
        </p:spPr>
        <p:txBody>
          <a:bodyPr wrap="square" lIns="0" tIns="0" rIns="0" bIns="0" rtlCol="0" anchor="t"/>
          <a:lstStyle/>
          <a:p>
            <a:pPr indent="0" marL="0">
              <a:buNone/>
            </a:pPr>
            <a:r>
              <a:rPr lang="en-US" sz="1100" i="1" dirty="0">
                <a:solidFill>
                  <a:srgbClr val="667089"/>
                </a:solidFill>
                <a:latin typeface="Calibri" pitchFamily="34" charset="0"/>
                <a:ea typeface="Calibri" pitchFamily="34" charset="-122"/>
                <a:cs typeface="Calibri" pitchFamily="34" charset="-120"/>
              </a:rPr>
              <a:t>Planned agents: Journey Runner, Test Writer and Locale Tester.</a:t>
            </a:r>
            <a:endParaRPr lang="en-US" sz="1100" dirty="0"/>
          </a:p>
        </p:txBody>
      </p:sp>
      <p:sp>
        <p:nvSpPr>
          <p:cNvPr id="43" name="Text 35"/>
          <p:cNvSpPr txBox="1"/>
          <p:nvPr/>
        </p:nvSpPr>
        <p:spPr>
          <a:xfrm>
            <a:off x="5760720" y="352044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44" name="Text 36"/>
          <p:cNvSpPr txBox="1"/>
          <p:nvPr/>
        </p:nvSpPr>
        <p:spPr>
          <a:xfrm>
            <a:off x="6144768" y="3520440"/>
            <a:ext cx="5468112" cy="52832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Each journey becomes an </a:t>
            </a:r>
            <a:pPr indent="0" marL="0">
              <a:buNone/>
            </a:pPr>
            <a:r>
              <a:rPr lang="en-US" sz="1600" b="1" dirty="0">
                <a:solidFill>
                  <a:srgbClr val="1A2033"/>
                </a:solidFill>
                <a:latin typeface="Calibri" pitchFamily="34" charset="0"/>
                <a:ea typeface="Calibri" pitchFamily="34" charset="-122"/>
                <a:cs typeface="Calibri" pitchFamily="34" charset="-120"/>
              </a:rPr>
              <a:t>automated Playwright test</a:t>
            </a:r>
            <a:pPr indent="0" marL="0">
              <a:buNone/>
            </a:pPr>
            <a:r>
              <a:rPr lang="en-US" sz="1600" dirty="0">
                <a:solidFill>
                  <a:srgbClr val="1A2033"/>
                </a:solidFill>
                <a:latin typeface="Calibri" pitchFamily="34" charset="0"/>
                <a:ea typeface="Calibri" pitchFamily="34" charset="-122"/>
                <a:cs typeface="Calibri" pitchFamily="34" charset="-120"/>
              </a:rPr>
              <a:t> the client keeps</a:t>
            </a:r>
            <a:endParaRPr lang="en-US" sz="1600" dirty="0"/>
          </a:p>
        </p:txBody>
      </p:sp>
      <p:sp>
        <p:nvSpPr>
          <p:cNvPr id="45" name="Text 37"/>
          <p:cNvSpPr txBox="1"/>
          <p:nvPr/>
        </p:nvSpPr>
        <p:spPr>
          <a:xfrm>
            <a:off x="5760720" y="416052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46" name="Text 38"/>
          <p:cNvSpPr txBox="1"/>
          <p:nvPr/>
        </p:nvSpPr>
        <p:spPr>
          <a:xfrm>
            <a:off x="6144768" y="4160520"/>
            <a:ext cx="5468112" cy="52832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Runs across </a:t>
            </a:r>
            <a:pPr indent="0" marL="0">
              <a:buNone/>
            </a:pPr>
            <a:r>
              <a:rPr lang="en-US" sz="1600" b="1" dirty="0">
                <a:solidFill>
                  <a:srgbClr val="1A2033"/>
                </a:solidFill>
                <a:latin typeface="Calibri" pitchFamily="34" charset="0"/>
                <a:ea typeface="Calibri" pitchFamily="34" charset="-122"/>
                <a:cs typeface="Calibri" pitchFamily="34" charset="-120"/>
              </a:rPr>
              <a:t>locales</a:t>
            </a:r>
            <a:pPr indent="0" marL="0">
              <a:buNone/>
            </a:pPr>
            <a:r>
              <a:rPr lang="en-US" sz="1600" dirty="0">
                <a:solidFill>
                  <a:srgbClr val="1A2033"/>
                </a:solidFill>
                <a:latin typeface="Calibri" pitchFamily="34" charset="0"/>
                <a:ea typeface="Calibri" pitchFamily="34" charset="-122"/>
                <a:cs typeface="Calibri" pitchFamily="34" charset="-120"/>
              </a:rPr>
              <a:t>: languages, currency, dates, right-to-left</a:t>
            </a:r>
            <a:endParaRPr lang="en-US" sz="1600" dirty="0"/>
          </a:p>
        </p:txBody>
      </p:sp>
      <p:sp>
        <p:nvSpPr>
          <p:cNvPr id="47" name="Text 39"/>
          <p:cNvSpPr txBox="1"/>
          <p:nvPr/>
        </p:nvSpPr>
        <p:spPr>
          <a:xfrm>
            <a:off x="5760720" y="480060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48" name="Text 40"/>
          <p:cNvSpPr txBox="1"/>
          <p:nvPr/>
        </p:nvSpPr>
        <p:spPr>
          <a:xfrm>
            <a:off x="6144768" y="4800600"/>
            <a:ext cx="5468112" cy="52832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Every step gets an </a:t>
            </a:r>
            <a:pPr indent="0" marL="0">
              <a:buNone/>
            </a:pPr>
            <a:r>
              <a:rPr lang="en-US" sz="1600" b="1" dirty="0">
                <a:solidFill>
                  <a:srgbClr val="1A2033"/>
                </a:solidFill>
                <a:latin typeface="Calibri" pitchFamily="34" charset="0"/>
                <a:ea typeface="Calibri" pitchFamily="34" charset="-122"/>
                <a:cs typeface="Calibri" pitchFamily="34" charset="-120"/>
              </a:rPr>
              <a:t>LLM score</a:t>
            </a:r>
            <a:pPr indent="0" marL="0">
              <a:buNone/>
            </a:pPr>
            <a:r>
              <a:rPr lang="en-US" sz="1600" dirty="0">
                <a:solidFill>
                  <a:srgbClr val="1A2033"/>
                </a:solidFill>
                <a:latin typeface="Calibri" pitchFamily="34" charset="0"/>
                <a:ea typeface="Calibri" pitchFamily="34" charset="-122"/>
                <a:cs typeface="Calibri" pitchFamily="34" charset="-120"/>
              </a:rPr>
              <a:t> with a reason and a screenshot</a:t>
            </a:r>
            <a:endParaRPr lang="en-US" sz="1600" dirty="0"/>
          </a:p>
        </p:txBody>
      </p:sp>
      <p:sp>
        <p:nvSpPr>
          <p:cNvPr id="49" name="Text 41"/>
          <p:cNvSpPr txBox="1"/>
          <p:nvPr/>
        </p:nvSpPr>
        <p:spPr>
          <a:xfrm>
            <a:off x="5760720" y="544068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50" name="Text 42"/>
          <p:cNvSpPr txBox="1"/>
          <p:nvPr/>
        </p:nvSpPr>
        <p:spPr>
          <a:xfrm>
            <a:off x="6144768" y="5440680"/>
            <a:ext cx="5468112"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Shows exactly where real customers get stuck</a:t>
            </a:r>
            <a:endParaRPr lang="en-US" sz="16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WHAT THE PROSPECT GETS</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Not just a report: things they can use</a:t>
            </a:r>
            <a:endParaRPr lang="en-US" sz="3400" dirty="0"/>
          </a:p>
        </p:txBody>
      </p:sp>
      <p:sp>
        <p:nvSpPr>
          <p:cNvPr id="5" name="Shape 2"/>
          <p:cNvSpPr/>
          <p:nvPr/>
        </p:nvSpPr>
        <p:spPr>
          <a:xfrm>
            <a:off x="548640" y="1783080"/>
            <a:ext cx="2602154" cy="2331720"/>
          </a:xfrm>
          <a:prstGeom prst="roundRect">
            <a:avLst>
              <a:gd name="adj" fmla="val 470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scale icon">    </p:cNvPr>
          <p:cNvPicPr>
            <a:picLocks noChangeAspect="1"/>
          </p:cNvPicPr>
          <p:nvPr/>
        </p:nvPicPr>
        <p:blipFill>
          <a:blip r:embed="rId1"/>
          <a:stretch>
            <a:fillRect/>
          </a:stretch>
        </p:blipFill>
        <p:spPr>
          <a:xfrm>
            <a:off x="777240" y="1984248"/>
            <a:ext cx="384048" cy="384048"/>
          </a:xfrm>
          <a:prstGeom prst="rect">
            <a:avLst/>
          </a:prstGeom>
        </p:spPr>
      </p:pic>
      <p:sp>
        <p:nvSpPr>
          <p:cNvPr id="7" name="Shape 3"/>
          <p:cNvSpPr/>
          <p:nvPr/>
        </p:nvSpPr>
        <p:spPr>
          <a:xfrm>
            <a:off x="2474138" y="3730752"/>
            <a:ext cx="493776" cy="256032"/>
          </a:xfrm>
          <a:prstGeom prst="roundRect">
            <a:avLst>
              <a:gd name="adj" fmla="val 50000"/>
            </a:avLst>
          </a:prstGeom>
          <a:solidFill>
            <a:srgbClr val="FDF0D5"/>
          </a:solidFill>
          <a:ln w="12700">
            <a:solidFill>
              <a:srgbClr val="FDF0D5"/>
            </a:solidFill>
            <a:prstDash val="solid"/>
          </a:ln>
        </p:spPr>
      </p:sp>
      <p:sp>
        <p:nvSpPr>
          <p:cNvPr id="8" name="Text 4"/>
          <p:cNvSpPr txBox="1"/>
          <p:nvPr/>
        </p:nvSpPr>
        <p:spPr>
          <a:xfrm>
            <a:off x="2474138" y="3730752"/>
            <a:ext cx="493776" cy="256032"/>
          </a:xfrm>
          <a:prstGeom prst="rect">
            <a:avLst/>
          </a:prstGeom>
          <a:noFill/>
          <a:ln/>
        </p:spPr>
        <p:txBody>
          <a:bodyPr wrap="square" lIns="0" tIns="0" rIns="0" bIns="0" rtlCol="0" anchor="ctr"/>
          <a:lstStyle/>
          <a:p>
            <a:pPr algn="ctr" indent="0" marL="0">
              <a:buNone/>
            </a:pPr>
            <a:r>
              <a:rPr lang="en-US" sz="900" b="1" spc="100" kern="0" dirty="0">
                <a:solidFill>
                  <a:srgbClr val="B7791F"/>
                </a:solidFill>
                <a:latin typeface="Calibri" pitchFamily="34" charset="0"/>
                <a:ea typeface="Calibri" pitchFamily="34" charset="-122"/>
                <a:cs typeface="Calibri" pitchFamily="34" charset="-120"/>
              </a:rPr>
              <a:t>BETA</a:t>
            </a:r>
            <a:endParaRPr lang="en-US" sz="900" dirty="0"/>
          </a:p>
        </p:txBody>
      </p:sp>
      <p:sp>
        <p:nvSpPr>
          <p:cNvPr id="9" name="Text 5"/>
          <p:cNvSpPr txBox="1"/>
          <p:nvPr/>
        </p:nvSpPr>
        <p:spPr>
          <a:xfrm>
            <a:off x="1280160" y="1965960"/>
            <a:ext cx="1687754"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LLM scores</a:t>
            </a:r>
            <a:endParaRPr lang="en-US" sz="1700" dirty="0"/>
          </a:p>
        </p:txBody>
      </p:sp>
      <p:sp>
        <p:nvSpPr>
          <p:cNvPr id="10" name="Text 6"/>
          <p:cNvSpPr txBox="1"/>
          <p:nvPr/>
        </p:nvSpPr>
        <p:spPr>
          <a:xfrm>
            <a:off x="777240" y="2496312"/>
            <a:ext cx="2144954" cy="150876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Clear scores with reasons, same rubric for every site. Tools measure; the model judges design and clarity.</a:t>
            </a:r>
            <a:endParaRPr lang="en-US" sz="1400" dirty="0"/>
          </a:p>
        </p:txBody>
      </p:sp>
      <p:sp>
        <p:nvSpPr>
          <p:cNvPr id="11" name="Shape 7"/>
          <p:cNvSpPr/>
          <p:nvPr/>
        </p:nvSpPr>
        <p:spPr>
          <a:xfrm>
            <a:off x="3379394" y="1783080"/>
            <a:ext cx="2602154" cy="2331720"/>
          </a:xfrm>
          <a:prstGeom prst="roundRect">
            <a:avLst>
              <a:gd name="adj" fmla="val 470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2" name="Image 1" descr="brick icon">    </p:cNvPr>
          <p:cNvPicPr>
            <a:picLocks noChangeAspect="1"/>
          </p:cNvPicPr>
          <p:nvPr/>
        </p:nvPicPr>
        <p:blipFill>
          <a:blip r:embed="rId2"/>
          <a:stretch>
            <a:fillRect/>
          </a:stretch>
        </p:blipFill>
        <p:spPr>
          <a:xfrm>
            <a:off x="3607994" y="1984248"/>
            <a:ext cx="384048" cy="384048"/>
          </a:xfrm>
          <a:prstGeom prst="rect">
            <a:avLst/>
          </a:prstGeom>
        </p:spPr>
      </p:pic>
      <p:sp>
        <p:nvSpPr>
          <p:cNvPr id="13" name="Shape 8"/>
          <p:cNvSpPr/>
          <p:nvPr/>
        </p:nvSpPr>
        <p:spPr>
          <a:xfrm>
            <a:off x="5227168" y="3730752"/>
            <a:ext cx="571500" cy="256032"/>
          </a:xfrm>
          <a:prstGeom prst="roundRect">
            <a:avLst>
              <a:gd name="adj" fmla="val 50000"/>
            </a:avLst>
          </a:prstGeom>
          <a:solidFill>
            <a:srgbClr val="DFF5EA"/>
          </a:solidFill>
          <a:ln w="12700">
            <a:solidFill>
              <a:srgbClr val="DFF5EA"/>
            </a:solidFill>
            <a:prstDash val="solid"/>
          </a:ln>
        </p:spPr>
      </p:sp>
      <p:sp>
        <p:nvSpPr>
          <p:cNvPr id="14" name="Text 9"/>
          <p:cNvSpPr txBox="1"/>
          <p:nvPr/>
        </p:nvSpPr>
        <p:spPr>
          <a:xfrm>
            <a:off x="5227168" y="3730752"/>
            <a:ext cx="571500" cy="256032"/>
          </a:xfrm>
          <a:prstGeom prst="rect">
            <a:avLst/>
          </a:prstGeom>
          <a:noFill/>
          <a:ln/>
        </p:spPr>
        <p:txBody>
          <a:bodyPr wrap="square" lIns="0" tIns="0" rIns="0" bIns="0" rtlCol="0" anchor="ctr"/>
          <a:lstStyle/>
          <a:p>
            <a:pPr algn="ctr" indent="0" marL="0">
              <a:buNone/>
            </a:pPr>
            <a:r>
              <a:rPr lang="en-US" sz="900" b="1" spc="100" kern="0" dirty="0">
                <a:solidFill>
                  <a:srgbClr val="0F9D6B"/>
                </a:solidFill>
                <a:latin typeface="Calibri" pitchFamily="34" charset="0"/>
                <a:ea typeface="Calibri" pitchFamily="34" charset="-122"/>
                <a:cs typeface="Calibri" pitchFamily="34" charset="-120"/>
              </a:rPr>
              <a:t>TODAY</a:t>
            </a:r>
            <a:endParaRPr lang="en-US" sz="900" dirty="0"/>
          </a:p>
        </p:txBody>
      </p:sp>
      <p:sp>
        <p:nvSpPr>
          <p:cNvPr id="15" name="Text 10"/>
          <p:cNvSpPr txBox="1"/>
          <p:nvPr/>
        </p:nvSpPr>
        <p:spPr>
          <a:xfrm>
            <a:off x="4110914" y="1965960"/>
            <a:ext cx="1687754"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HTML fixes</a:t>
            </a:r>
            <a:endParaRPr lang="en-US" sz="1700" dirty="0"/>
          </a:p>
        </p:txBody>
      </p:sp>
      <p:sp>
        <p:nvSpPr>
          <p:cNvPr id="16" name="Text 11"/>
          <p:cNvSpPr txBox="1"/>
          <p:nvPr/>
        </p:nvSpPr>
        <p:spPr>
          <a:xfrm>
            <a:off x="3607994" y="2496312"/>
            <a:ext cx="2144954" cy="150876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A redesigned homepage in real HTML, built from their brand. Next: ready-to-paste fixes per issue.</a:t>
            </a:r>
            <a:endParaRPr lang="en-US" sz="1400" dirty="0"/>
          </a:p>
        </p:txBody>
      </p:sp>
      <p:sp>
        <p:nvSpPr>
          <p:cNvPr id="17" name="Shape 12"/>
          <p:cNvSpPr/>
          <p:nvPr/>
        </p:nvSpPr>
        <p:spPr>
          <a:xfrm>
            <a:off x="6210148" y="1783080"/>
            <a:ext cx="2602154" cy="2331720"/>
          </a:xfrm>
          <a:prstGeom prst="roundRect">
            <a:avLst>
              <a:gd name="adj" fmla="val 470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8" name="Image 2" descr="chat icon">    </p:cNvPr>
          <p:cNvPicPr>
            <a:picLocks noChangeAspect="1"/>
          </p:cNvPicPr>
          <p:nvPr/>
        </p:nvPicPr>
        <p:blipFill>
          <a:blip r:embed="rId3"/>
          <a:stretch>
            <a:fillRect/>
          </a:stretch>
        </p:blipFill>
        <p:spPr>
          <a:xfrm>
            <a:off x="6438748" y="1984248"/>
            <a:ext cx="384048" cy="384048"/>
          </a:xfrm>
          <a:prstGeom prst="rect">
            <a:avLst/>
          </a:prstGeom>
        </p:spPr>
      </p:pic>
      <p:sp>
        <p:nvSpPr>
          <p:cNvPr id="19" name="Shape 13"/>
          <p:cNvSpPr/>
          <p:nvPr/>
        </p:nvSpPr>
        <p:spPr>
          <a:xfrm>
            <a:off x="7747025" y="3730752"/>
            <a:ext cx="882396" cy="256032"/>
          </a:xfrm>
          <a:prstGeom prst="roundRect">
            <a:avLst>
              <a:gd name="adj" fmla="val 50000"/>
            </a:avLst>
          </a:prstGeom>
          <a:solidFill>
            <a:srgbClr val="F1F3F9"/>
          </a:solidFill>
          <a:ln w="12700">
            <a:solidFill>
              <a:srgbClr val="F1F3F9"/>
            </a:solidFill>
            <a:prstDash val="solid"/>
          </a:ln>
        </p:spPr>
      </p:sp>
      <p:sp>
        <p:nvSpPr>
          <p:cNvPr id="20" name="Text 14"/>
          <p:cNvSpPr txBox="1"/>
          <p:nvPr/>
        </p:nvSpPr>
        <p:spPr>
          <a:xfrm>
            <a:off x="7747025" y="3730752"/>
            <a:ext cx="882396" cy="256032"/>
          </a:xfrm>
          <a:prstGeom prst="rect">
            <a:avLst/>
          </a:prstGeom>
          <a:noFill/>
          <a:ln/>
        </p:spPr>
        <p:txBody>
          <a:bodyPr wrap="square" lIns="0" tIns="0" rIns="0" bIns="0" rtlCol="0" anchor="ctr"/>
          <a:lstStyle/>
          <a:p>
            <a:pPr algn="ctr" indent="0" marL="0">
              <a:buNone/>
            </a:pPr>
            <a:r>
              <a:rPr lang="en-US" sz="900" b="1" spc="100" kern="0" dirty="0">
                <a:solidFill>
                  <a:srgbClr val="667089"/>
                </a:solidFill>
                <a:latin typeface="Calibri" pitchFamily="34" charset="0"/>
                <a:ea typeface="Calibri" pitchFamily="34" charset="-122"/>
                <a:cs typeface="Calibri" pitchFamily="34" charset="-120"/>
              </a:rPr>
              <a:t>IF NEEDED</a:t>
            </a:r>
            <a:endParaRPr lang="en-US" sz="900" dirty="0"/>
          </a:p>
        </p:txBody>
      </p:sp>
      <p:sp>
        <p:nvSpPr>
          <p:cNvPr id="21" name="Text 15"/>
          <p:cNvSpPr txBox="1"/>
          <p:nvPr/>
        </p:nvSpPr>
        <p:spPr>
          <a:xfrm>
            <a:off x="6941668" y="1965960"/>
            <a:ext cx="1687754"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RAG chat</a:t>
            </a:r>
            <a:endParaRPr lang="en-US" sz="1700" dirty="0"/>
          </a:p>
        </p:txBody>
      </p:sp>
      <p:sp>
        <p:nvSpPr>
          <p:cNvPr id="22" name="Text 16"/>
          <p:cNvSpPr txBox="1"/>
          <p:nvPr/>
        </p:nvSpPr>
        <p:spPr>
          <a:xfrm>
            <a:off x="6438748" y="2496312"/>
            <a:ext cx="2144954" cy="150876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A small chat assistant built from their own pages, answering with source links.</a:t>
            </a:r>
            <a:endParaRPr lang="en-US" sz="1400" dirty="0"/>
          </a:p>
        </p:txBody>
      </p:sp>
      <p:sp>
        <p:nvSpPr>
          <p:cNvPr id="23" name="Shape 17"/>
          <p:cNvSpPr/>
          <p:nvPr/>
        </p:nvSpPr>
        <p:spPr>
          <a:xfrm>
            <a:off x="9040901" y="1783080"/>
            <a:ext cx="2602154" cy="2331720"/>
          </a:xfrm>
          <a:prstGeom prst="roundRect">
            <a:avLst>
              <a:gd name="adj" fmla="val 470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4" name="Image 3" descr="chart icon">    </p:cNvPr>
          <p:cNvPicPr>
            <a:picLocks noChangeAspect="1"/>
          </p:cNvPicPr>
          <p:nvPr/>
        </p:nvPicPr>
        <p:blipFill>
          <a:blip r:embed="rId4"/>
          <a:stretch>
            <a:fillRect/>
          </a:stretch>
        </p:blipFill>
        <p:spPr>
          <a:xfrm>
            <a:off x="9269501" y="1984248"/>
            <a:ext cx="384048" cy="384048"/>
          </a:xfrm>
          <a:prstGeom prst="rect">
            <a:avLst/>
          </a:prstGeom>
        </p:spPr>
      </p:pic>
      <p:sp>
        <p:nvSpPr>
          <p:cNvPr id="25" name="Shape 18"/>
          <p:cNvSpPr/>
          <p:nvPr/>
        </p:nvSpPr>
        <p:spPr>
          <a:xfrm>
            <a:off x="10888675" y="3730752"/>
            <a:ext cx="571500" cy="256032"/>
          </a:xfrm>
          <a:prstGeom prst="roundRect">
            <a:avLst>
              <a:gd name="adj" fmla="val 50000"/>
            </a:avLst>
          </a:prstGeom>
          <a:solidFill>
            <a:srgbClr val="DFF5EA"/>
          </a:solidFill>
          <a:ln w="12700">
            <a:solidFill>
              <a:srgbClr val="DFF5EA"/>
            </a:solidFill>
            <a:prstDash val="solid"/>
          </a:ln>
        </p:spPr>
      </p:sp>
      <p:sp>
        <p:nvSpPr>
          <p:cNvPr id="26" name="Text 19"/>
          <p:cNvSpPr txBox="1"/>
          <p:nvPr/>
        </p:nvSpPr>
        <p:spPr>
          <a:xfrm>
            <a:off x="10888675" y="3730752"/>
            <a:ext cx="571500" cy="256032"/>
          </a:xfrm>
          <a:prstGeom prst="rect">
            <a:avLst/>
          </a:prstGeom>
          <a:noFill/>
          <a:ln/>
        </p:spPr>
        <p:txBody>
          <a:bodyPr wrap="square" lIns="0" tIns="0" rIns="0" bIns="0" rtlCol="0" anchor="ctr"/>
          <a:lstStyle/>
          <a:p>
            <a:pPr algn="ctr" indent="0" marL="0">
              <a:buNone/>
            </a:pPr>
            <a:r>
              <a:rPr lang="en-US" sz="900" b="1" spc="100" kern="0" dirty="0">
                <a:solidFill>
                  <a:srgbClr val="0F9D6B"/>
                </a:solidFill>
                <a:latin typeface="Calibri" pitchFamily="34" charset="0"/>
                <a:ea typeface="Calibri" pitchFamily="34" charset="-122"/>
                <a:cs typeface="Calibri" pitchFamily="34" charset="-120"/>
              </a:rPr>
              <a:t>TODAY</a:t>
            </a:r>
            <a:endParaRPr lang="en-US" sz="900" dirty="0"/>
          </a:p>
        </p:txBody>
      </p:sp>
      <p:sp>
        <p:nvSpPr>
          <p:cNvPr id="27" name="Text 20"/>
          <p:cNvSpPr txBox="1"/>
          <p:nvPr/>
        </p:nvSpPr>
        <p:spPr>
          <a:xfrm>
            <a:off x="9772421" y="1965960"/>
            <a:ext cx="1687754"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Deck + proposal</a:t>
            </a:r>
            <a:endParaRPr lang="en-US" sz="1700" dirty="0"/>
          </a:p>
        </p:txBody>
      </p:sp>
      <p:sp>
        <p:nvSpPr>
          <p:cNvPr id="28" name="Text 21"/>
          <p:cNvSpPr txBox="1"/>
          <p:nvPr/>
        </p:nvSpPr>
        <p:spPr>
          <a:xfrm>
            <a:off x="9269501" y="2496312"/>
            <a:ext cx="2144954" cy="150876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A personalised pitch deck and proposal with a named team, effort and price.</a:t>
            </a:r>
            <a:endParaRPr lang="en-US" sz="1400" dirty="0"/>
          </a:p>
        </p:txBody>
      </p:sp>
      <p:sp>
        <p:nvSpPr>
          <p:cNvPr id="29" name="Shape 22"/>
          <p:cNvSpPr/>
          <p:nvPr/>
        </p:nvSpPr>
        <p:spPr>
          <a:xfrm>
            <a:off x="548640" y="4434840"/>
            <a:ext cx="3545738" cy="1234440"/>
          </a:xfrm>
          <a:prstGeom prst="roundRect">
            <a:avLst>
              <a:gd name="adj" fmla="val 8889"/>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0" name="Text 23"/>
          <p:cNvSpPr txBox="1"/>
          <p:nvPr/>
        </p:nvSpPr>
        <p:spPr>
          <a:xfrm>
            <a:off x="777240" y="4572000"/>
            <a:ext cx="3088538" cy="678942"/>
          </a:xfrm>
          <a:prstGeom prst="rect">
            <a:avLst/>
          </a:prstGeom>
          <a:noFill/>
          <a:ln/>
        </p:spPr>
        <p:txBody>
          <a:bodyPr wrap="square" lIns="0" tIns="0" rIns="0" bIns="0" rtlCol="0" anchor="ctr"/>
          <a:lstStyle/>
          <a:p>
            <a:pPr indent="0" marL="0">
              <a:buNone/>
            </a:pPr>
            <a:r>
              <a:rPr lang="en-US" sz="3600" b="1" dirty="0">
                <a:solidFill>
                  <a:srgbClr val="0F9D6B"/>
                </a:solidFill>
                <a:latin typeface="Calibri" pitchFamily="34" charset="0"/>
                <a:ea typeface="Calibri" pitchFamily="34" charset="-122"/>
                <a:cs typeface="Calibri" pitchFamily="34" charset="-120"/>
              </a:rPr>
              <a:t>1 URL</a:t>
            </a:r>
            <a:endParaRPr lang="en-US" sz="3600" dirty="0"/>
          </a:p>
        </p:txBody>
      </p:sp>
      <p:sp>
        <p:nvSpPr>
          <p:cNvPr id="31" name="Text 24"/>
          <p:cNvSpPr txBox="1"/>
          <p:nvPr/>
        </p:nvSpPr>
        <p:spPr>
          <a:xfrm>
            <a:off x="777240" y="5200193"/>
            <a:ext cx="3088538" cy="407365"/>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is all we need to start</a:t>
            </a:r>
            <a:endParaRPr lang="en-US" sz="1300" dirty="0"/>
          </a:p>
        </p:txBody>
      </p:sp>
      <p:sp>
        <p:nvSpPr>
          <p:cNvPr id="32" name="Shape 25"/>
          <p:cNvSpPr/>
          <p:nvPr/>
        </p:nvSpPr>
        <p:spPr>
          <a:xfrm>
            <a:off x="4322978" y="4434840"/>
            <a:ext cx="3545738" cy="1234440"/>
          </a:xfrm>
          <a:prstGeom prst="roundRect">
            <a:avLst>
              <a:gd name="adj" fmla="val 8889"/>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3" name="Text 26"/>
          <p:cNvSpPr txBox="1"/>
          <p:nvPr/>
        </p:nvSpPr>
        <p:spPr>
          <a:xfrm>
            <a:off x="4551578" y="4572000"/>
            <a:ext cx="3088538" cy="678942"/>
          </a:xfrm>
          <a:prstGeom prst="rect">
            <a:avLst/>
          </a:prstGeom>
          <a:noFill/>
          <a:ln/>
        </p:spPr>
        <p:txBody>
          <a:bodyPr wrap="square" lIns="0" tIns="0" rIns="0" bIns="0" rtlCol="0" anchor="ctr"/>
          <a:lstStyle/>
          <a:p>
            <a:pPr indent="0" marL="0">
              <a:buNone/>
            </a:pPr>
            <a:r>
              <a:rPr lang="en-US" sz="3600" b="1" dirty="0">
                <a:solidFill>
                  <a:srgbClr val="1A2033"/>
                </a:solidFill>
                <a:latin typeface="Calibri" pitchFamily="34" charset="0"/>
                <a:ea typeface="Calibri" pitchFamily="34" charset="-122"/>
                <a:cs typeface="Calibri" pitchFamily="34" charset="-120"/>
              </a:rPr>
              <a:t>~3 min</a:t>
            </a:r>
            <a:endParaRPr lang="en-US" sz="3600" dirty="0"/>
          </a:p>
        </p:txBody>
      </p:sp>
      <p:sp>
        <p:nvSpPr>
          <p:cNvPr id="34" name="Text 27"/>
          <p:cNvSpPr txBox="1"/>
          <p:nvPr/>
        </p:nvSpPr>
        <p:spPr>
          <a:xfrm>
            <a:off x="4551578" y="5200193"/>
            <a:ext cx="3088538" cy="407365"/>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for a full run</a:t>
            </a:r>
            <a:endParaRPr lang="en-US" sz="1300" dirty="0"/>
          </a:p>
        </p:txBody>
      </p:sp>
      <p:sp>
        <p:nvSpPr>
          <p:cNvPr id="35" name="Shape 28"/>
          <p:cNvSpPr/>
          <p:nvPr/>
        </p:nvSpPr>
        <p:spPr>
          <a:xfrm>
            <a:off x="8097317" y="4434840"/>
            <a:ext cx="3545738" cy="1234440"/>
          </a:xfrm>
          <a:prstGeom prst="roundRect">
            <a:avLst>
              <a:gd name="adj" fmla="val 8889"/>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6" name="Text 29"/>
          <p:cNvSpPr txBox="1"/>
          <p:nvPr/>
        </p:nvSpPr>
        <p:spPr>
          <a:xfrm>
            <a:off x="8325917" y="4572000"/>
            <a:ext cx="3088538" cy="678942"/>
          </a:xfrm>
          <a:prstGeom prst="rect">
            <a:avLst/>
          </a:prstGeom>
          <a:noFill/>
          <a:ln/>
        </p:spPr>
        <p:txBody>
          <a:bodyPr wrap="square" lIns="0" tIns="0" rIns="0" bIns="0" rtlCol="0" anchor="ctr"/>
          <a:lstStyle/>
          <a:p>
            <a:pPr indent="0" marL="0">
              <a:buNone/>
            </a:pPr>
            <a:r>
              <a:rPr lang="en-US" sz="3600" b="1" dirty="0">
                <a:solidFill>
                  <a:srgbClr val="0F9D6B"/>
                </a:solidFill>
                <a:latin typeface="Calibri" pitchFamily="34" charset="0"/>
                <a:ea typeface="Calibri" pitchFamily="34" charset="-122"/>
                <a:cs typeface="Calibri" pitchFamily="34" charset="-120"/>
              </a:rPr>
              <a:t>0</a:t>
            </a:r>
            <a:endParaRPr lang="en-US" sz="3600" dirty="0"/>
          </a:p>
        </p:txBody>
      </p:sp>
      <p:sp>
        <p:nvSpPr>
          <p:cNvPr id="37" name="Text 30"/>
          <p:cNvSpPr txBox="1"/>
          <p:nvPr/>
        </p:nvSpPr>
        <p:spPr>
          <a:xfrm>
            <a:off x="8325917" y="5200193"/>
            <a:ext cx="3088538" cy="407365"/>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things sent without a human</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WATCH IT WORK</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The whole run, live</a:t>
            </a:r>
            <a:endParaRPr lang="en-US" sz="3400" dirty="0"/>
          </a:p>
        </p:txBody>
      </p:sp>
      <p:pic>
        <p:nvPicPr>
          <p:cNvPr id="5" name="Image 0" descr="Pixel-art office where the AI agents work">    </p:cNvPr>
          <p:cNvPicPr>
            <a:picLocks noChangeAspect="1"/>
          </p:cNvPicPr>
          <p:nvPr/>
        </p:nvPicPr>
        <p:blipFill>
          <a:blip r:embed="rId1"/>
          <a:stretch>
            <a:fillRect/>
          </a:stretch>
        </p:blipFill>
        <p:spPr>
          <a:xfrm>
            <a:off x="548640" y="1783080"/>
            <a:ext cx="6309360" cy="4250271"/>
          </a:xfrm>
          <a:prstGeom prst="rect">
            <a:avLst/>
          </a:prstGeom>
        </p:spPr>
      </p:pic>
      <p:sp>
        <p:nvSpPr>
          <p:cNvPr id="6" name="Text 2"/>
          <p:cNvSpPr txBox="1"/>
          <p:nvPr/>
        </p:nvSpPr>
        <p:spPr>
          <a:xfrm>
            <a:off x="7178040" y="1920240"/>
            <a:ext cx="320040" cy="280670"/>
          </a:xfrm>
          <a:prstGeom prst="rect">
            <a:avLst/>
          </a:prstGeom>
          <a:noFill/>
          <a:ln/>
        </p:spPr>
        <p:txBody>
          <a:bodyPr wrap="square" lIns="0" tIns="0" rIns="0" bIns="0" rtlCol="0" anchor="t"/>
          <a:lstStyle/>
          <a:p>
            <a:pPr indent="0" marL="0">
              <a:buNone/>
            </a:pPr>
            <a:r>
              <a:rPr lang="en-US" sz="1700" b="1" dirty="0">
                <a:solidFill>
                  <a:srgbClr val="0F9D6B"/>
                </a:solidFill>
                <a:latin typeface="Calibri" pitchFamily="34" charset="0"/>
                <a:ea typeface="Calibri" pitchFamily="34" charset="-122"/>
                <a:cs typeface="Calibri" pitchFamily="34" charset="-120"/>
              </a:rPr>
              <a:t>✓</a:t>
            </a:r>
            <a:endParaRPr lang="en-US" sz="1700" dirty="0"/>
          </a:p>
        </p:txBody>
      </p:sp>
      <p:sp>
        <p:nvSpPr>
          <p:cNvPr id="7" name="Text 3"/>
          <p:cNvSpPr txBox="1"/>
          <p:nvPr/>
        </p:nvSpPr>
        <p:spPr>
          <a:xfrm>
            <a:off x="7562088" y="1920240"/>
            <a:ext cx="4096512" cy="561340"/>
          </a:xfrm>
          <a:prstGeom prst="rect">
            <a:avLst/>
          </a:prstGeom>
          <a:noFill/>
          <a:ln/>
        </p:spPr>
        <p:txBody>
          <a:bodyPr wrap="square" lIns="0" tIns="0" rIns="0" bIns="0" rtlCol="0" anchor="t"/>
          <a:lstStyle/>
          <a:p>
            <a:pPr indent="0" marL="0">
              <a:buNone/>
            </a:pPr>
            <a:r>
              <a:rPr lang="en-US" sz="1700" dirty="0">
                <a:solidFill>
                  <a:srgbClr val="1A2033"/>
                </a:solidFill>
                <a:latin typeface="Calibri" pitchFamily="34" charset="0"/>
                <a:ea typeface="Calibri" pitchFamily="34" charset="-122"/>
                <a:cs typeface="Calibri" pitchFamily="34" charset="-120"/>
              </a:rPr>
              <a:t>Every tool call posts to the </a:t>
            </a:r>
            <a:pPr indent="0" marL="0">
              <a:buNone/>
            </a:pPr>
            <a:r>
              <a:rPr lang="en-US" sz="1700" b="1" dirty="0">
                <a:solidFill>
                  <a:srgbClr val="1A2033"/>
                </a:solidFill>
                <a:latin typeface="Calibri" pitchFamily="34" charset="0"/>
                <a:ea typeface="Calibri" pitchFamily="34" charset="-122"/>
                <a:cs typeface="Calibri" pitchFamily="34" charset="-120"/>
              </a:rPr>
              <a:t>live feed</a:t>
            </a:r>
            <a:endParaRPr lang="en-US" sz="1700" dirty="0"/>
          </a:p>
        </p:txBody>
      </p:sp>
      <p:sp>
        <p:nvSpPr>
          <p:cNvPr id="8" name="Text 4"/>
          <p:cNvSpPr txBox="1"/>
          <p:nvPr/>
        </p:nvSpPr>
        <p:spPr>
          <a:xfrm>
            <a:off x="7178040" y="2600325"/>
            <a:ext cx="320040" cy="280670"/>
          </a:xfrm>
          <a:prstGeom prst="rect">
            <a:avLst/>
          </a:prstGeom>
          <a:noFill/>
          <a:ln/>
        </p:spPr>
        <p:txBody>
          <a:bodyPr wrap="square" lIns="0" tIns="0" rIns="0" bIns="0" rtlCol="0" anchor="t"/>
          <a:lstStyle/>
          <a:p>
            <a:pPr indent="0" marL="0">
              <a:buNone/>
            </a:pPr>
            <a:r>
              <a:rPr lang="en-US" sz="1700" b="1" dirty="0">
                <a:solidFill>
                  <a:srgbClr val="0F9D6B"/>
                </a:solidFill>
                <a:latin typeface="Calibri" pitchFamily="34" charset="0"/>
                <a:ea typeface="Calibri" pitchFamily="34" charset="-122"/>
                <a:cs typeface="Calibri" pitchFamily="34" charset="-120"/>
              </a:rPr>
              <a:t>✓</a:t>
            </a:r>
            <a:endParaRPr lang="en-US" sz="1700" dirty="0"/>
          </a:p>
        </p:txBody>
      </p:sp>
      <p:sp>
        <p:nvSpPr>
          <p:cNvPr id="9" name="Text 5"/>
          <p:cNvSpPr txBox="1"/>
          <p:nvPr/>
        </p:nvSpPr>
        <p:spPr>
          <a:xfrm>
            <a:off x="7562088" y="2600325"/>
            <a:ext cx="4096512" cy="561340"/>
          </a:xfrm>
          <a:prstGeom prst="rect">
            <a:avLst/>
          </a:prstGeom>
          <a:noFill/>
          <a:ln/>
        </p:spPr>
        <p:txBody>
          <a:bodyPr wrap="square" lIns="0" tIns="0" rIns="0" bIns="0" rtlCol="0" anchor="t"/>
          <a:lstStyle/>
          <a:p>
            <a:pPr indent="0" marL="0">
              <a:buNone/>
            </a:pPr>
            <a:r>
              <a:rPr lang="en-US" sz="1700" dirty="0">
                <a:solidFill>
                  <a:srgbClr val="1A2033"/>
                </a:solidFill>
                <a:latin typeface="Calibri" pitchFamily="34" charset="0"/>
                <a:ea typeface="Calibri" pitchFamily="34" charset="-122"/>
                <a:cs typeface="Calibri" pitchFamily="34" charset="-120"/>
              </a:rPr>
              <a:t>Results land as </a:t>
            </a:r>
            <a:pPr indent="0" marL="0">
              <a:buNone/>
            </a:pPr>
            <a:r>
              <a:rPr lang="en-US" sz="1700" b="1" dirty="0">
                <a:solidFill>
                  <a:srgbClr val="1A2033"/>
                </a:solidFill>
                <a:latin typeface="Calibri" pitchFamily="34" charset="0"/>
                <a:ea typeface="Calibri" pitchFamily="34" charset="-122"/>
                <a:cs typeface="Calibri" pitchFamily="34" charset="-120"/>
              </a:rPr>
              <a:t>cards</a:t>
            </a:r>
            <a:pPr indent="0" marL="0">
              <a:buNone/>
            </a:pPr>
            <a:r>
              <a:rPr lang="en-US" sz="1700" dirty="0">
                <a:solidFill>
                  <a:srgbClr val="1A2033"/>
                </a:solidFill>
                <a:latin typeface="Calibri" pitchFamily="34" charset="0"/>
                <a:ea typeface="Calibri" pitchFamily="34" charset="-122"/>
                <a:cs typeface="Calibri" pitchFamily="34" charset="-120"/>
              </a:rPr>
              <a:t>; the office shows who is busy</a:t>
            </a:r>
            <a:endParaRPr lang="en-US" sz="1700" dirty="0"/>
          </a:p>
        </p:txBody>
      </p:sp>
      <p:sp>
        <p:nvSpPr>
          <p:cNvPr id="10" name="Text 6"/>
          <p:cNvSpPr txBox="1"/>
          <p:nvPr/>
        </p:nvSpPr>
        <p:spPr>
          <a:xfrm>
            <a:off x="7178040" y="3280410"/>
            <a:ext cx="320040" cy="280670"/>
          </a:xfrm>
          <a:prstGeom prst="rect">
            <a:avLst/>
          </a:prstGeom>
          <a:noFill/>
          <a:ln/>
        </p:spPr>
        <p:txBody>
          <a:bodyPr wrap="square" lIns="0" tIns="0" rIns="0" bIns="0" rtlCol="0" anchor="t"/>
          <a:lstStyle/>
          <a:p>
            <a:pPr indent="0" marL="0">
              <a:buNone/>
            </a:pPr>
            <a:r>
              <a:rPr lang="en-US" sz="1700" b="1" dirty="0">
                <a:solidFill>
                  <a:srgbClr val="0F9D6B"/>
                </a:solidFill>
                <a:latin typeface="Calibri" pitchFamily="34" charset="0"/>
                <a:ea typeface="Calibri" pitchFamily="34" charset="-122"/>
                <a:cs typeface="Calibri" pitchFamily="34" charset="-120"/>
              </a:rPr>
              <a:t>✓</a:t>
            </a:r>
            <a:endParaRPr lang="en-US" sz="1700" dirty="0"/>
          </a:p>
        </p:txBody>
      </p:sp>
      <p:sp>
        <p:nvSpPr>
          <p:cNvPr id="11" name="Text 7"/>
          <p:cNvSpPr txBox="1"/>
          <p:nvPr/>
        </p:nvSpPr>
        <p:spPr>
          <a:xfrm>
            <a:off x="7562088" y="3280410"/>
            <a:ext cx="4096512" cy="280670"/>
          </a:xfrm>
          <a:prstGeom prst="rect">
            <a:avLst/>
          </a:prstGeom>
          <a:noFill/>
          <a:ln/>
        </p:spPr>
        <p:txBody>
          <a:bodyPr wrap="square" lIns="0" tIns="0" rIns="0" bIns="0" rtlCol="0" anchor="t"/>
          <a:lstStyle/>
          <a:p>
            <a:pPr indent="0" marL="0">
              <a:buNone/>
            </a:pPr>
            <a:r>
              <a:rPr lang="en-US" sz="1700" dirty="0">
                <a:solidFill>
                  <a:srgbClr val="1A2033"/>
                </a:solidFill>
                <a:latin typeface="Calibri" pitchFamily="34" charset="0"/>
                <a:ea typeface="Calibri" pitchFamily="34" charset="-122"/>
                <a:cs typeface="Calibri" pitchFamily="34" charset="-120"/>
              </a:rPr>
              <a:t>Agents </a:t>
            </a:r>
            <a:pPr indent="0" marL="0">
              <a:buNone/>
            </a:pPr>
            <a:r>
              <a:rPr lang="en-US" sz="1700" b="1" dirty="0">
                <a:solidFill>
                  <a:srgbClr val="1A2033"/>
                </a:solidFill>
                <a:latin typeface="Calibri" pitchFamily="34" charset="0"/>
                <a:ea typeface="Calibri" pitchFamily="34" charset="-122"/>
                <a:cs typeface="Calibri" pitchFamily="34" charset="-120"/>
              </a:rPr>
              <a:t>hand work</a:t>
            </a:r>
            <a:pPr indent="0" marL="0">
              <a:buNone/>
            </a:pPr>
            <a:r>
              <a:rPr lang="en-US" sz="1700" dirty="0">
                <a:solidFill>
                  <a:srgbClr val="1A2033"/>
                </a:solidFill>
                <a:latin typeface="Calibri" pitchFamily="34" charset="0"/>
                <a:ea typeface="Calibri" pitchFamily="34" charset="-122"/>
                <a:cs typeface="Calibri" pitchFamily="34" charset="-120"/>
              </a:rPr>
              <a:t> to each other</a:t>
            </a:r>
            <a:endParaRPr lang="en-US" sz="1700" dirty="0"/>
          </a:p>
        </p:txBody>
      </p:sp>
      <p:sp>
        <p:nvSpPr>
          <p:cNvPr id="12" name="Text 8"/>
          <p:cNvSpPr txBox="1"/>
          <p:nvPr/>
        </p:nvSpPr>
        <p:spPr>
          <a:xfrm>
            <a:off x="7178040" y="3679825"/>
            <a:ext cx="320040" cy="280670"/>
          </a:xfrm>
          <a:prstGeom prst="rect">
            <a:avLst/>
          </a:prstGeom>
          <a:noFill/>
          <a:ln/>
        </p:spPr>
        <p:txBody>
          <a:bodyPr wrap="square" lIns="0" tIns="0" rIns="0" bIns="0" rtlCol="0" anchor="t"/>
          <a:lstStyle/>
          <a:p>
            <a:pPr indent="0" marL="0">
              <a:buNone/>
            </a:pPr>
            <a:r>
              <a:rPr lang="en-US" sz="1700" b="1" dirty="0">
                <a:solidFill>
                  <a:srgbClr val="0F9D6B"/>
                </a:solidFill>
                <a:latin typeface="Calibri" pitchFamily="34" charset="0"/>
                <a:ea typeface="Calibri" pitchFamily="34" charset="-122"/>
                <a:cs typeface="Calibri" pitchFamily="34" charset="-120"/>
              </a:rPr>
              <a:t>✓</a:t>
            </a:r>
            <a:endParaRPr lang="en-US" sz="1700" dirty="0"/>
          </a:p>
        </p:txBody>
      </p:sp>
      <p:sp>
        <p:nvSpPr>
          <p:cNvPr id="13" name="Text 9"/>
          <p:cNvSpPr txBox="1"/>
          <p:nvPr/>
        </p:nvSpPr>
        <p:spPr>
          <a:xfrm>
            <a:off x="7562088" y="3679825"/>
            <a:ext cx="4096512" cy="561340"/>
          </a:xfrm>
          <a:prstGeom prst="rect">
            <a:avLst/>
          </a:prstGeom>
          <a:noFill/>
          <a:ln/>
        </p:spPr>
        <p:txBody>
          <a:bodyPr wrap="square" lIns="0" tIns="0" rIns="0" bIns="0" rtlCol="0" anchor="t"/>
          <a:lstStyle/>
          <a:p>
            <a:pPr indent="0" marL="0">
              <a:buNone/>
            </a:pPr>
            <a:r>
              <a:rPr lang="en-US" sz="1700" dirty="0">
                <a:solidFill>
                  <a:srgbClr val="1A2033"/>
                </a:solidFill>
                <a:latin typeface="Calibri" pitchFamily="34" charset="0"/>
                <a:ea typeface="Calibri" pitchFamily="34" charset="-122"/>
                <a:cs typeface="Calibri" pitchFamily="34" charset="-120"/>
              </a:rPr>
              <a:t>Every run is saved: </a:t>
            </a:r>
            <a:pPr indent="0" marL="0">
              <a:buNone/>
            </a:pPr>
            <a:r>
              <a:rPr lang="en-US" sz="1700" b="1" dirty="0">
                <a:solidFill>
                  <a:srgbClr val="1A2033"/>
                </a:solidFill>
                <a:latin typeface="Calibri" pitchFamily="34" charset="0"/>
                <a:ea typeface="Calibri" pitchFamily="34" charset="-122"/>
                <a:cs typeface="Calibri" pitchFamily="34" charset="-120"/>
              </a:rPr>
              <a:t>replayed for free</a:t>
            </a:r>
            <a:pPr indent="0" marL="0">
              <a:buNone/>
            </a:pPr>
            <a:r>
              <a:rPr lang="en-US" sz="1700" dirty="0">
                <a:solidFill>
                  <a:srgbClr val="1A2033"/>
                </a:solidFill>
                <a:latin typeface="Calibri" pitchFamily="34" charset="0"/>
                <a:ea typeface="Calibri" pitchFamily="34" charset="-122"/>
                <a:cs typeface="Calibri" pitchFamily="34" charset="-120"/>
              </a:rPr>
              <a:t>, at any speed</a:t>
            </a:r>
            <a:endParaRPr lang="en-US" sz="1700" dirty="0"/>
          </a:p>
        </p:txBody>
      </p:sp>
      <p:sp>
        <p:nvSpPr>
          <p:cNvPr id="14" name="Text 10"/>
          <p:cNvSpPr txBox="1"/>
          <p:nvPr/>
        </p:nvSpPr>
        <p:spPr>
          <a:xfrm>
            <a:off x="7178040" y="4359910"/>
            <a:ext cx="320040" cy="280670"/>
          </a:xfrm>
          <a:prstGeom prst="rect">
            <a:avLst/>
          </a:prstGeom>
          <a:noFill/>
          <a:ln/>
        </p:spPr>
        <p:txBody>
          <a:bodyPr wrap="square" lIns="0" tIns="0" rIns="0" bIns="0" rtlCol="0" anchor="t"/>
          <a:lstStyle/>
          <a:p>
            <a:pPr indent="0" marL="0">
              <a:buNone/>
            </a:pPr>
            <a:r>
              <a:rPr lang="en-US" sz="1700" b="1" dirty="0">
                <a:solidFill>
                  <a:srgbClr val="0F9D6B"/>
                </a:solidFill>
                <a:latin typeface="Calibri" pitchFamily="34" charset="0"/>
                <a:ea typeface="Calibri" pitchFamily="34" charset="-122"/>
                <a:cs typeface="Calibri" pitchFamily="34" charset="-120"/>
              </a:rPr>
              <a:t>✓</a:t>
            </a:r>
            <a:endParaRPr lang="en-US" sz="1700" dirty="0"/>
          </a:p>
        </p:txBody>
      </p:sp>
      <p:sp>
        <p:nvSpPr>
          <p:cNvPr id="15" name="Text 11"/>
          <p:cNvSpPr txBox="1"/>
          <p:nvPr/>
        </p:nvSpPr>
        <p:spPr>
          <a:xfrm>
            <a:off x="7562088" y="4359910"/>
            <a:ext cx="4096512" cy="561340"/>
          </a:xfrm>
          <a:prstGeom prst="rect">
            <a:avLst/>
          </a:prstGeom>
          <a:noFill/>
          <a:ln/>
        </p:spPr>
        <p:txBody>
          <a:bodyPr wrap="square" lIns="0" tIns="0" rIns="0" bIns="0" rtlCol="0" anchor="t"/>
          <a:lstStyle/>
          <a:p>
            <a:pPr indent="0" marL="0">
              <a:buNone/>
            </a:pPr>
            <a:r>
              <a:rPr lang="en-US" sz="1700" dirty="0">
                <a:solidFill>
                  <a:srgbClr val="1A2033"/>
                </a:solidFill>
                <a:latin typeface="Calibri" pitchFamily="34" charset="0"/>
                <a:ea typeface="Calibri" pitchFamily="34" charset="-122"/>
                <a:cs typeface="Calibri" pitchFamily="34" charset="-120"/>
              </a:rPr>
              <a:t>At the end, the Coordinator asks a </a:t>
            </a:r>
            <a:pPr indent="0" marL="0">
              <a:buNone/>
            </a:pPr>
            <a:r>
              <a:rPr lang="en-US" sz="1700" b="1" dirty="0">
                <a:solidFill>
                  <a:srgbClr val="1A2033"/>
                </a:solidFill>
                <a:latin typeface="Calibri" pitchFamily="34" charset="0"/>
                <a:ea typeface="Calibri" pitchFamily="34" charset="-122"/>
                <a:cs typeface="Calibri" pitchFamily="34" charset="-120"/>
              </a:rPr>
              <a:t>human to review</a:t>
            </a:r>
            <a:endParaRPr lang="en-US" sz="17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AGENTS + PEOPLE</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AI speed, combined with our amazing developers</a:t>
            </a:r>
            <a:endParaRPr lang="en-US" sz="3400" dirty="0"/>
          </a:p>
        </p:txBody>
      </p:sp>
      <p:sp>
        <p:nvSpPr>
          <p:cNvPr id="5" name="Shape 2"/>
          <p:cNvSpPr/>
          <p:nvPr/>
        </p:nvSpPr>
        <p:spPr>
          <a:xfrm>
            <a:off x="548640" y="1783080"/>
            <a:ext cx="5120640" cy="2514600"/>
          </a:xfrm>
          <a:prstGeom prst="roundRect">
            <a:avLst>
              <a:gd name="adj" fmla="val 436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Text 3"/>
          <p:cNvSpPr txBox="1"/>
          <p:nvPr/>
        </p:nvSpPr>
        <p:spPr>
          <a:xfrm>
            <a:off x="822960" y="1920240"/>
            <a:ext cx="4572000" cy="457200"/>
          </a:xfrm>
          <a:prstGeom prst="rect">
            <a:avLst/>
          </a:prstGeom>
          <a:noFill/>
          <a:ln/>
        </p:spPr>
        <p:txBody>
          <a:bodyPr wrap="square" lIns="0" tIns="0" rIns="0" bIns="0" rtlCol="0" anchor="t"/>
          <a:lstStyle/>
          <a:p>
            <a:pPr indent="0" marL="0">
              <a:buNone/>
            </a:pPr>
            <a:r>
              <a:rPr lang="en-US" sz="1900" b="1" dirty="0">
                <a:solidFill>
                  <a:srgbClr val="1A2033"/>
                </a:solidFill>
                <a:latin typeface="Calibri" pitchFamily="34" charset="0"/>
                <a:ea typeface="Calibri" pitchFamily="34" charset="-122"/>
                <a:cs typeface="Calibri" pitchFamily="34" charset="-120"/>
              </a:rPr>
              <a:t>🤖  The agents do the heavy lifting</a:t>
            </a:r>
            <a:endParaRPr lang="en-US" sz="1900" dirty="0"/>
          </a:p>
        </p:txBody>
      </p:sp>
      <p:sp>
        <p:nvSpPr>
          <p:cNvPr id="7" name="Text 4"/>
          <p:cNvSpPr txBox="1"/>
          <p:nvPr/>
        </p:nvSpPr>
        <p:spPr>
          <a:xfrm>
            <a:off x="822960" y="251460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8" name="Text 5"/>
          <p:cNvSpPr txBox="1"/>
          <p:nvPr/>
        </p:nvSpPr>
        <p:spPr>
          <a:xfrm>
            <a:off x="1207008" y="2514600"/>
            <a:ext cx="4187952"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Crawl, measure and test the site</a:t>
            </a:r>
            <a:endParaRPr lang="en-US" sz="1600" dirty="0"/>
          </a:p>
        </p:txBody>
      </p:sp>
      <p:sp>
        <p:nvSpPr>
          <p:cNvPr id="9" name="Text 6"/>
          <p:cNvSpPr txBox="1"/>
          <p:nvPr/>
        </p:nvSpPr>
        <p:spPr>
          <a:xfrm>
            <a:off x="822960" y="289052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10" name="Text 7"/>
          <p:cNvSpPr txBox="1"/>
          <p:nvPr/>
        </p:nvSpPr>
        <p:spPr>
          <a:xfrm>
            <a:off x="1207008" y="2890520"/>
            <a:ext cx="4187952"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Detect the full tech stack</a:t>
            </a:r>
            <a:endParaRPr lang="en-US" sz="1600" dirty="0"/>
          </a:p>
        </p:txBody>
      </p:sp>
      <p:sp>
        <p:nvSpPr>
          <p:cNvPr id="11" name="Text 8"/>
          <p:cNvSpPr txBox="1"/>
          <p:nvPr/>
        </p:nvSpPr>
        <p:spPr>
          <a:xfrm>
            <a:off x="822960" y="326644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12" name="Text 9"/>
          <p:cNvSpPr txBox="1"/>
          <p:nvPr/>
        </p:nvSpPr>
        <p:spPr>
          <a:xfrm>
            <a:off x="1207008" y="3266440"/>
            <a:ext cx="4187952"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Score, redesign and draft the pitch</a:t>
            </a:r>
            <a:endParaRPr lang="en-US" sz="1600" dirty="0"/>
          </a:p>
        </p:txBody>
      </p:sp>
      <p:sp>
        <p:nvSpPr>
          <p:cNvPr id="13" name="Text 10"/>
          <p:cNvSpPr txBox="1"/>
          <p:nvPr/>
        </p:nvSpPr>
        <p:spPr>
          <a:xfrm>
            <a:off x="822960" y="364236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14" name="Text 11"/>
          <p:cNvSpPr txBox="1"/>
          <p:nvPr/>
        </p:nvSpPr>
        <p:spPr>
          <a:xfrm>
            <a:off x="1207008" y="3642360"/>
            <a:ext cx="4187952"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Work 24x7, run after run</a:t>
            </a:r>
            <a:endParaRPr lang="en-US" sz="1600" dirty="0"/>
          </a:p>
        </p:txBody>
      </p:sp>
      <p:sp>
        <p:nvSpPr>
          <p:cNvPr id="15" name="Text 12"/>
          <p:cNvSpPr txBox="1"/>
          <p:nvPr/>
        </p:nvSpPr>
        <p:spPr>
          <a:xfrm>
            <a:off x="5669280" y="2468880"/>
            <a:ext cx="853135" cy="1097280"/>
          </a:xfrm>
          <a:prstGeom prst="rect">
            <a:avLst/>
          </a:prstGeom>
          <a:noFill/>
          <a:ln/>
        </p:spPr>
        <p:txBody>
          <a:bodyPr wrap="square" lIns="0" tIns="0" rIns="0" bIns="0" rtlCol="0" anchor="ctr"/>
          <a:lstStyle/>
          <a:p>
            <a:pPr algn="ctr" indent="0" marL="0">
              <a:buNone/>
            </a:pPr>
            <a:r>
              <a:rPr lang="en-US" sz="6000" b="1" dirty="0">
                <a:solidFill>
                  <a:srgbClr val="4F6BFF"/>
                </a:solidFill>
                <a:latin typeface="Calibri" pitchFamily="34" charset="0"/>
                <a:ea typeface="Calibri" pitchFamily="34" charset="-122"/>
                <a:cs typeface="Calibri" pitchFamily="34" charset="-120"/>
              </a:rPr>
              <a:t>+</a:t>
            </a:r>
            <a:endParaRPr lang="en-US" sz="6000" dirty="0"/>
          </a:p>
        </p:txBody>
      </p:sp>
      <p:sp>
        <p:nvSpPr>
          <p:cNvPr id="16" name="Shape 13"/>
          <p:cNvSpPr/>
          <p:nvPr/>
        </p:nvSpPr>
        <p:spPr>
          <a:xfrm>
            <a:off x="6522415" y="1783080"/>
            <a:ext cx="5120640" cy="2514600"/>
          </a:xfrm>
          <a:prstGeom prst="roundRect">
            <a:avLst>
              <a:gd name="adj" fmla="val 436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7" name="Text 14"/>
          <p:cNvSpPr txBox="1"/>
          <p:nvPr/>
        </p:nvSpPr>
        <p:spPr>
          <a:xfrm>
            <a:off x="6796735" y="1920240"/>
            <a:ext cx="4572000" cy="457200"/>
          </a:xfrm>
          <a:prstGeom prst="rect">
            <a:avLst/>
          </a:prstGeom>
          <a:noFill/>
          <a:ln/>
        </p:spPr>
        <p:txBody>
          <a:bodyPr wrap="square" lIns="0" tIns="0" rIns="0" bIns="0" rtlCol="0" anchor="t"/>
          <a:lstStyle/>
          <a:p>
            <a:pPr indent="0" marL="0">
              <a:buNone/>
            </a:pPr>
            <a:r>
              <a:rPr lang="en-US" sz="1900" b="1" dirty="0">
                <a:solidFill>
                  <a:srgbClr val="1A2033"/>
                </a:solidFill>
                <a:latin typeface="Calibri" pitchFamily="34" charset="0"/>
                <a:ea typeface="Calibri" pitchFamily="34" charset="-122"/>
                <a:cs typeface="Calibri" pitchFamily="34" charset="-120"/>
              </a:rPr>
              <a:t>🧑‍💻  Our experts fine-tune it</a:t>
            </a:r>
            <a:endParaRPr lang="en-US" sz="1900" dirty="0"/>
          </a:p>
        </p:txBody>
      </p:sp>
      <p:sp>
        <p:nvSpPr>
          <p:cNvPr id="18" name="Text 15"/>
          <p:cNvSpPr txBox="1"/>
          <p:nvPr/>
        </p:nvSpPr>
        <p:spPr>
          <a:xfrm>
            <a:off x="6796735" y="251460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19" name="Text 16"/>
          <p:cNvSpPr txBox="1"/>
          <p:nvPr/>
        </p:nvSpPr>
        <p:spPr>
          <a:xfrm>
            <a:off x="7180783" y="2514600"/>
            <a:ext cx="4187952"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Check every finding and number</a:t>
            </a:r>
            <a:endParaRPr lang="en-US" sz="1600" dirty="0"/>
          </a:p>
        </p:txBody>
      </p:sp>
      <p:sp>
        <p:nvSpPr>
          <p:cNvPr id="20" name="Text 17"/>
          <p:cNvSpPr txBox="1"/>
          <p:nvPr/>
        </p:nvSpPr>
        <p:spPr>
          <a:xfrm>
            <a:off x="6796735" y="289052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21" name="Text 18"/>
          <p:cNvSpPr txBox="1"/>
          <p:nvPr/>
        </p:nvSpPr>
        <p:spPr>
          <a:xfrm>
            <a:off x="7180783" y="2890520"/>
            <a:ext cx="4187952"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Add real project know-how</a:t>
            </a:r>
            <a:endParaRPr lang="en-US" sz="1600" dirty="0"/>
          </a:p>
        </p:txBody>
      </p:sp>
      <p:sp>
        <p:nvSpPr>
          <p:cNvPr id="22" name="Text 19"/>
          <p:cNvSpPr txBox="1"/>
          <p:nvPr/>
        </p:nvSpPr>
        <p:spPr>
          <a:xfrm>
            <a:off x="6796735" y="326644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23" name="Text 20"/>
          <p:cNvSpPr txBox="1"/>
          <p:nvPr/>
        </p:nvSpPr>
        <p:spPr>
          <a:xfrm>
            <a:off x="7180783" y="3266440"/>
            <a:ext cx="4187952"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Adjust the plan, team and price</a:t>
            </a:r>
            <a:endParaRPr lang="en-US" sz="1600" dirty="0"/>
          </a:p>
        </p:txBody>
      </p:sp>
      <p:sp>
        <p:nvSpPr>
          <p:cNvPr id="24" name="Text 21"/>
          <p:cNvSpPr txBox="1"/>
          <p:nvPr/>
        </p:nvSpPr>
        <p:spPr>
          <a:xfrm>
            <a:off x="6796735" y="364236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25" name="Text 22"/>
          <p:cNvSpPr txBox="1"/>
          <p:nvPr/>
        </p:nvSpPr>
        <p:spPr>
          <a:xfrm>
            <a:off x="7180783" y="3642360"/>
            <a:ext cx="4187952"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Own the conversation with the CTO</a:t>
            </a:r>
            <a:endParaRPr lang="en-US" sz="1600" dirty="0"/>
          </a:p>
        </p:txBody>
      </p:sp>
      <p:sp>
        <p:nvSpPr>
          <p:cNvPr id="26" name="Shape 23"/>
          <p:cNvSpPr/>
          <p:nvPr/>
        </p:nvSpPr>
        <p:spPr>
          <a:xfrm>
            <a:off x="548640" y="4617720"/>
            <a:ext cx="11094415" cy="502920"/>
          </a:xfrm>
          <a:prstGeom prst="roundRect">
            <a:avLst>
              <a:gd name="adj" fmla="val 18182"/>
            </a:avLst>
          </a:prstGeom>
          <a:solidFill>
            <a:srgbClr val="EEF2FF"/>
          </a:solidFill>
          <a:ln w="12700">
            <a:solidFill>
              <a:srgbClr val="EEF2FF"/>
            </a:solidFill>
            <a:prstDash val="solid"/>
          </a:ln>
        </p:spPr>
      </p:sp>
      <p:sp>
        <p:nvSpPr>
          <p:cNvPr id="27" name="Text 24"/>
          <p:cNvSpPr txBox="1"/>
          <p:nvPr/>
        </p:nvSpPr>
        <p:spPr>
          <a:xfrm>
            <a:off x="822960" y="4617720"/>
            <a:ext cx="10545775" cy="502920"/>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 A pitch that is fast, streamlined and fine-tuned, with real experts behind every word.</a:t>
            </a:r>
            <a:endParaRPr lang="en-US" sz="17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ENGAGING OUR PEOPLE</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Every review puts an available expert to work</a:t>
            </a:r>
            <a:endParaRPr lang="en-US" sz="3400" dirty="0"/>
          </a:p>
        </p:txBody>
      </p:sp>
      <p:sp>
        <p:nvSpPr>
          <p:cNvPr id="5" name="Shape 2"/>
          <p:cNvSpPr/>
          <p:nvPr/>
        </p:nvSpPr>
        <p:spPr>
          <a:xfrm>
            <a:off x="548640" y="1783080"/>
            <a:ext cx="1962851" cy="1645920"/>
          </a:xfrm>
          <a:prstGeom prst="roundRect">
            <a:avLst>
              <a:gd name="adj" fmla="val 6667"/>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Coordinator agent, pixel robot">    </p:cNvPr>
          <p:cNvPicPr>
            <a:picLocks noChangeAspect="1"/>
          </p:cNvPicPr>
          <p:nvPr/>
        </p:nvPicPr>
        <p:blipFill>
          <a:blip r:embed="rId1"/>
          <a:stretch>
            <a:fillRect/>
          </a:stretch>
        </p:blipFill>
        <p:spPr>
          <a:xfrm>
            <a:off x="1338042" y="1947672"/>
            <a:ext cx="345643" cy="475259"/>
          </a:xfrm>
          <a:prstGeom prst="rect">
            <a:avLst/>
          </a:prstGeom>
        </p:spPr>
      </p:pic>
      <p:sp>
        <p:nvSpPr>
          <p:cNvPr id="7" name="Text 3"/>
          <p:cNvSpPr txBox="1"/>
          <p:nvPr/>
        </p:nvSpPr>
        <p:spPr>
          <a:xfrm>
            <a:off x="640080" y="2532888"/>
            <a:ext cx="1779971"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Run finishes</a:t>
            </a:r>
            <a:endParaRPr lang="en-US" sz="1500" dirty="0"/>
          </a:p>
        </p:txBody>
      </p:sp>
      <p:sp>
        <p:nvSpPr>
          <p:cNvPr id="8" name="Text 4"/>
          <p:cNvSpPr txBox="1"/>
          <p:nvPr/>
        </p:nvSpPr>
        <p:spPr>
          <a:xfrm>
            <a:off x="658368" y="2862072"/>
            <a:ext cx="1743395" cy="5029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Report ready</a:t>
            </a:r>
            <a:endParaRPr lang="en-US" sz="1200" dirty="0"/>
          </a:p>
        </p:txBody>
      </p:sp>
      <p:sp>
        <p:nvSpPr>
          <p:cNvPr id="9" name="Shape 5"/>
          <p:cNvSpPr/>
          <p:nvPr/>
        </p:nvSpPr>
        <p:spPr>
          <a:xfrm>
            <a:off x="2538923" y="2606040"/>
            <a:ext cx="265176" cy="0"/>
          </a:xfrm>
          <a:prstGeom prst="line">
            <a:avLst/>
          </a:prstGeom>
          <a:noFill/>
          <a:ln w="25400">
            <a:solidFill>
              <a:srgbClr val="4F6BFF"/>
            </a:solidFill>
            <a:prstDash val="dash"/>
            <a:tailEnd type="triangle"/>
          </a:ln>
        </p:spPr>
      </p:sp>
      <p:sp>
        <p:nvSpPr>
          <p:cNvPr id="10" name="Shape 6"/>
          <p:cNvSpPr/>
          <p:nvPr/>
        </p:nvSpPr>
        <p:spPr>
          <a:xfrm>
            <a:off x="2831531" y="1783080"/>
            <a:ext cx="1962851" cy="1645920"/>
          </a:xfrm>
          <a:prstGeom prst="roundRect">
            <a:avLst>
              <a:gd name="adj" fmla="val 6667"/>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1" name="Image 1" descr="Team Matcher agent, pixel robot">    </p:cNvPr>
          <p:cNvPicPr>
            <a:picLocks noChangeAspect="1"/>
          </p:cNvPicPr>
          <p:nvPr/>
        </p:nvPicPr>
        <p:blipFill>
          <a:blip r:embed="rId2"/>
          <a:stretch>
            <a:fillRect/>
          </a:stretch>
        </p:blipFill>
        <p:spPr>
          <a:xfrm>
            <a:off x="3620933" y="1947672"/>
            <a:ext cx="345643" cy="475259"/>
          </a:xfrm>
          <a:prstGeom prst="rect">
            <a:avLst/>
          </a:prstGeom>
        </p:spPr>
      </p:pic>
      <p:sp>
        <p:nvSpPr>
          <p:cNvPr id="12" name="Text 7"/>
          <p:cNvSpPr txBox="1"/>
          <p:nvPr/>
        </p:nvSpPr>
        <p:spPr>
          <a:xfrm>
            <a:off x="2922971" y="2532888"/>
            <a:ext cx="1779971"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Assigned</a:t>
            </a:r>
            <a:endParaRPr lang="en-US" sz="1500" dirty="0"/>
          </a:p>
        </p:txBody>
      </p:sp>
      <p:sp>
        <p:nvSpPr>
          <p:cNvPr id="13" name="Text 8"/>
          <p:cNvSpPr txBox="1"/>
          <p:nvPr/>
        </p:nvSpPr>
        <p:spPr>
          <a:xfrm>
            <a:off x="2941259" y="2862072"/>
            <a:ext cx="1743395" cy="5029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To an expert with the right skills</a:t>
            </a:r>
            <a:endParaRPr lang="en-US" sz="1200" dirty="0"/>
          </a:p>
        </p:txBody>
      </p:sp>
      <p:sp>
        <p:nvSpPr>
          <p:cNvPr id="14" name="Shape 9"/>
          <p:cNvSpPr/>
          <p:nvPr/>
        </p:nvSpPr>
        <p:spPr>
          <a:xfrm>
            <a:off x="4821814" y="2606040"/>
            <a:ext cx="265176" cy="0"/>
          </a:xfrm>
          <a:prstGeom prst="line">
            <a:avLst/>
          </a:prstGeom>
          <a:noFill/>
          <a:ln w="25400">
            <a:solidFill>
              <a:srgbClr val="4F6BFF"/>
            </a:solidFill>
            <a:prstDash val="dash"/>
            <a:tailEnd type="triangle"/>
          </a:ln>
        </p:spPr>
      </p:sp>
      <p:sp>
        <p:nvSpPr>
          <p:cNvPr id="15" name="Shape 10"/>
          <p:cNvSpPr/>
          <p:nvPr/>
        </p:nvSpPr>
        <p:spPr>
          <a:xfrm>
            <a:off x="5114422" y="1783080"/>
            <a:ext cx="1962851" cy="1645920"/>
          </a:xfrm>
          <a:prstGeom prst="roundRect">
            <a:avLst>
              <a:gd name="adj" fmla="val 6667"/>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6" name="Image 2" descr="bell icon">    </p:cNvPr>
          <p:cNvPicPr>
            <a:picLocks noChangeAspect="1"/>
          </p:cNvPicPr>
          <p:nvPr/>
        </p:nvPicPr>
        <p:blipFill>
          <a:blip r:embed="rId3"/>
          <a:stretch>
            <a:fillRect/>
          </a:stretch>
        </p:blipFill>
        <p:spPr>
          <a:xfrm>
            <a:off x="5867248" y="1965960"/>
            <a:ext cx="457200" cy="457200"/>
          </a:xfrm>
          <a:prstGeom prst="rect">
            <a:avLst/>
          </a:prstGeom>
        </p:spPr>
      </p:pic>
      <p:sp>
        <p:nvSpPr>
          <p:cNvPr id="17" name="Text 11"/>
          <p:cNvSpPr txBox="1"/>
          <p:nvPr/>
        </p:nvSpPr>
        <p:spPr>
          <a:xfrm>
            <a:off x="5205862" y="2532888"/>
            <a:ext cx="1779971"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Notified</a:t>
            </a:r>
            <a:endParaRPr lang="en-US" sz="1500" dirty="0"/>
          </a:p>
        </p:txBody>
      </p:sp>
      <p:sp>
        <p:nvSpPr>
          <p:cNvPr id="18" name="Text 12"/>
          <p:cNvSpPr txBox="1"/>
          <p:nvPr/>
        </p:nvSpPr>
        <p:spPr>
          <a:xfrm>
            <a:off x="5224150" y="2862072"/>
            <a:ext cx="1743395" cy="5029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Gets the review task</a:t>
            </a:r>
            <a:endParaRPr lang="en-US" sz="1200" dirty="0"/>
          </a:p>
        </p:txBody>
      </p:sp>
      <p:sp>
        <p:nvSpPr>
          <p:cNvPr id="19" name="Shape 13"/>
          <p:cNvSpPr/>
          <p:nvPr/>
        </p:nvSpPr>
        <p:spPr>
          <a:xfrm>
            <a:off x="7104705" y="2606040"/>
            <a:ext cx="265176" cy="0"/>
          </a:xfrm>
          <a:prstGeom prst="line">
            <a:avLst/>
          </a:prstGeom>
          <a:noFill/>
          <a:ln w="25400">
            <a:solidFill>
              <a:srgbClr val="4F6BFF"/>
            </a:solidFill>
            <a:prstDash val="dash"/>
            <a:tailEnd type="triangle"/>
          </a:ln>
        </p:spPr>
      </p:sp>
      <p:sp>
        <p:nvSpPr>
          <p:cNvPr id="20" name="Shape 14"/>
          <p:cNvSpPr/>
          <p:nvPr/>
        </p:nvSpPr>
        <p:spPr>
          <a:xfrm>
            <a:off x="7397313" y="1783080"/>
            <a:ext cx="1962851" cy="1645920"/>
          </a:xfrm>
          <a:prstGeom prst="roundRect">
            <a:avLst>
              <a:gd name="adj" fmla="val 6667"/>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1" name="Image 3" descr="dev icon">    </p:cNvPr>
          <p:cNvPicPr>
            <a:picLocks noChangeAspect="1"/>
          </p:cNvPicPr>
          <p:nvPr/>
        </p:nvPicPr>
        <p:blipFill>
          <a:blip r:embed="rId4"/>
          <a:stretch>
            <a:fillRect/>
          </a:stretch>
        </p:blipFill>
        <p:spPr>
          <a:xfrm>
            <a:off x="8150139" y="1965960"/>
            <a:ext cx="457200" cy="457200"/>
          </a:xfrm>
          <a:prstGeom prst="rect">
            <a:avLst/>
          </a:prstGeom>
        </p:spPr>
      </p:pic>
      <p:sp>
        <p:nvSpPr>
          <p:cNvPr id="22" name="Text 15"/>
          <p:cNvSpPr txBox="1"/>
          <p:nvPr/>
        </p:nvSpPr>
        <p:spPr>
          <a:xfrm>
            <a:off x="7488753" y="2532888"/>
            <a:ext cx="1779971"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Reviews</a:t>
            </a:r>
            <a:endParaRPr lang="en-US" sz="1500" dirty="0"/>
          </a:p>
        </p:txBody>
      </p:sp>
      <p:sp>
        <p:nvSpPr>
          <p:cNvPr id="23" name="Text 16"/>
          <p:cNvSpPr txBox="1"/>
          <p:nvPr/>
        </p:nvSpPr>
        <p:spPr>
          <a:xfrm>
            <a:off x="7507041" y="2862072"/>
            <a:ext cx="1743395" cy="5029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Fine-tunes and signs off</a:t>
            </a:r>
            <a:endParaRPr lang="en-US" sz="1200" dirty="0"/>
          </a:p>
        </p:txBody>
      </p:sp>
      <p:sp>
        <p:nvSpPr>
          <p:cNvPr id="24" name="Shape 17"/>
          <p:cNvSpPr/>
          <p:nvPr/>
        </p:nvSpPr>
        <p:spPr>
          <a:xfrm>
            <a:off x="9387596" y="2606040"/>
            <a:ext cx="265176" cy="0"/>
          </a:xfrm>
          <a:prstGeom prst="line">
            <a:avLst/>
          </a:prstGeom>
          <a:noFill/>
          <a:ln w="25400">
            <a:solidFill>
              <a:srgbClr val="4F6BFF"/>
            </a:solidFill>
            <a:prstDash val="dash"/>
            <a:tailEnd type="triangle"/>
          </a:ln>
        </p:spPr>
      </p:sp>
      <p:sp>
        <p:nvSpPr>
          <p:cNvPr id="25" name="Shape 18"/>
          <p:cNvSpPr/>
          <p:nvPr/>
        </p:nvSpPr>
        <p:spPr>
          <a:xfrm>
            <a:off x="9680204" y="1783080"/>
            <a:ext cx="1962851" cy="1645920"/>
          </a:xfrm>
          <a:prstGeom prst="roundRect">
            <a:avLst>
              <a:gd name="adj" fmla="val 6667"/>
            </a:avLst>
          </a:prstGeom>
          <a:solidFill>
            <a:srgbClr val="FFFFFF"/>
          </a:solidFill>
          <a:ln w="22225">
            <a:solidFill>
              <a:srgbClr val="0F9D6B"/>
            </a:solidFill>
            <a:prstDash val="solid"/>
          </a:ln>
          <a:effectLst>
            <a:outerShdw sx="100000" sy="100000" kx="0" ky="0" algn="bl" rotWithShape="0" blurRad="101600" dist="25400" dir="5400000">
              <a:srgbClr val="1E2850">
                <a:alpha val="8000"/>
              </a:srgbClr>
            </a:outerShdw>
          </a:effectLst>
        </p:spPr>
      </p:sp>
      <p:pic>
        <p:nvPicPr>
          <p:cNvPr id="26" name="Image 4" descr="trophy icon">    </p:cNvPr>
          <p:cNvPicPr>
            <a:picLocks noChangeAspect="1"/>
          </p:cNvPicPr>
          <p:nvPr/>
        </p:nvPicPr>
        <p:blipFill>
          <a:blip r:embed="rId5"/>
          <a:stretch>
            <a:fillRect/>
          </a:stretch>
        </p:blipFill>
        <p:spPr>
          <a:xfrm>
            <a:off x="10433030" y="1965960"/>
            <a:ext cx="457200" cy="457200"/>
          </a:xfrm>
          <a:prstGeom prst="rect">
            <a:avLst/>
          </a:prstGeom>
        </p:spPr>
      </p:pic>
      <p:sp>
        <p:nvSpPr>
          <p:cNvPr id="27" name="Text 19"/>
          <p:cNvSpPr txBox="1"/>
          <p:nvPr/>
        </p:nvSpPr>
        <p:spPr>
          <a:xfrm>
            <a:off x="9771644" y="2532888"/>
            <a:ext cx="1779971" cy="329184"/>
          </a:xfrm>
          <a:prstGeom prst="rect">
            <a:avLst/>
          </a:prstGeom>
          <a:noFill/>
          <a:ln/>
        </p:spPr>
        <p:txBody>
          <a:bodyPr wrap="square" lIns="0" tIns="0" rIns="0" bIns="0" rtlCol="0" anchor="t"/>
          <a:lstStyle/>
          <a:p>
            <a:pPr algn="ctr" indent="0" marL="0">
              <a:buNone/>
            </a:pPr>
            <a:r>
              <a:rPr lang="en-US" sz="1500" b="1" dirty="0">
                <a:solidFill>
                  <a:srgbClr val="1A2033"/>
                </a:solidFill>
                <a:latin typeface="Calibri" pitchFamily="34" charset="0"/>
                <a:ea typeface="Calibri" pitchFamily="34" charset="-122"/>
                <a:cs typeface="Calibri" pitchFamily="34" charset="-120"/>
              </a:rPr>
              <a:t>Credited</a:t>
            </a:r>
            <a:endParaRPr lang="en-US" sz="1500" dirty="0"/>
          </a:p>
        </p:txBody>
      </p:sp>
      <p:sp>
        <p:nvSpPr>
          <p:cNvPr id="28" name="Text 20"/>
          <p:cNvSpPr txBox="1"/>
          <p:nvPr/>
        </p:nvSpPr>
        <p:spPr>
          <a:xfrm>
            <a:off x="9789932" y="2862072"/>
            <a:ext cx="1743395" cy="50292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Name on the pitch</a:t>
            </a:r>
            <a:endParaRPr lang="en-US" sz="1200" dirty="0"/>
          </a:p>
        </p:txBody>
      </p:sp>
      <p:sp>
        <p:nvSpPr>
          <p:cNvPr id="29" name="Text 21"/>
          <p:cNvSpPr txBox="1"/>
          <p:nvPr/>
        </p:nvSpPr>
        <p:spPr>
          <a:xfrm>
            <a:off x="548640" y="374904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30" name="Text 22"/>
          <p:cNvSpPr txBox="1"/>
          <p:nvPr/>
        </p:nvSpPr>
        <p:spPr>
          <a:xfrm>
            <a:off x="932688" y="3749040"/>
            <a:ext cx="10710367"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Time between projects turns into </a:t>
            </a:r>
            <a:pPr indent="0" marL="0">
              <a:buNone/>
            </a:pPr>
            <a:r>
              <a:rPr lang="en-US" sz="1800" b="1" dirty="0">
                <a:solidFill>
                  <a:srgbClr val="1A2033"/>
                </a:solidFill>
                <a:latin typeface="Calibri" pitchFamily="34" charset="0"/>
                <a:ea typeface="Calibri" pitchFamily="34" charset="-122"/>
                <a:cs typeface="Calibri" pitchFamily="34" charset="-120"/>
              </a:rPr>
              <a:t>useful, visible work</a:t>
            </a:r>
            <a:endParaRPr lang="en-US" sz="1800" dirty="0"/>
          </a:p>
        </p:txBody>
      </p:sp>
      <p:sp>
        <p:nvSpPr>
          <p:cNvPr id="31" name="Text 23"/>
          <p:cNvSpPr txBox="1"/>
          <p:nvPr/>
        </p:nvSpPr>
        <p:spPr>
          <a:xfrm>
            <a:off x="548640" y="417195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32" name="Text 24"/>
          <p:cNvSpPr txBox="1"/>
          <p:nvPr/>
        </p:nvSpPr>
        <p:spPr>
          <a:xfrm>
            <a:off x="932688" y="4171950"/>
            <a:ext cx="10710367"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Developers </a:t>
            </a:r>
            <a:pPr indent="0" marL="0">
              <a:buNone/>
            </a:pPr>
            <a:r>
              <a:rPr lang="en-US" sz="1800" b="1" dirty="0">
                <a:solidFill>
                  <a:srgbClr val="1A2033"/>
                </a:solidFill>
                <a:latin typeface="Calibri" pitchFamily="34" charset="0"/>
                <a:ea typeface="Calibri" pitchFamily="34" charset="-122"/>
                <a:cs typeface="Calibri" pitchFamily="34" charset="-120"/>
              </a:rPr>
              <a:t>learn new stacks</a:t>
            </a:r>
            <a:pPr indent="0" marL="0">
              <a:buNone/>
            </a:pPr>
            <a:r>
              <a:rPr lang="en-US" sz="1800" dirty="0">
                <a:solidFill>
                  <a:srgbClr val="1A2033"/>
                </a:solidFill>
                <a:latin typeface="Calibri" pitchFamily="34" charset="0"/>
                <a:ea typeface="Calibri" pitchFamily="34" charset="-122"/>
                <a:cs typeface="Calibri" pitchFamily="34" charset="-120"/>
              </a:rPr>
              <a:t> from real client sites</a:t>
            </a:r>
            <a:endParaRPr lang="en-US" sz="1800" dirty="0"/>
          </a:p>
        </p:txBody>
      </p:sp>
      <p:sp>
        <p:nvSpPr>
          <p:cNvPr id="33" name="Text 25"/>
          <p:cNvSpPr txBox="1"/>
          <p:nvPr/>
        </p:nvSpPr>
        <p:spPr>
          <a:xfrm>
            <a:off x="548640" y="459486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34" name="Text 26"/>
          <p:cNvSpPr txBox="1"/>
          <p:nvPr/>
        </p:nvSpPr>
        <p:spPr>
          <a:xfrm>
            <a:off x="932688" y="4594860"/>
            <a:ext cx="10710367"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The client meets the </a:t>
            </a:r>
            <a:pPr indent="0" marL="0">
              <a:buNone/>
            </a:pPr>
            <a:r>
              <a:rPr lang="en-US" sz="1800" b="1" dirty="0">
                <a:solidFill>
                  <a:srgbClr val="1A2033"/>
                </a:solidFill>
                <a:latin typeface="Calibri" pitchFamily="34" charset="0"/>
                <a:ea typeface="Calibri" pitchFamily="34" charset="-122"/>
                <a:cs typeface="Calibri" pitchFamily="34" charset="-120"/>
              </a:rPr>
              <a:t>named expert</a:t>
            </a:r>
            <a:pPr indent="0" marL="0">
              <a:buNone/>
            </a:pPr>
            <a:r>
              <a:rPr lang="en-US" sz="1800" dirty="0">
                <a:solidFill>
                  <a:srgbClr val="1A2033"/>
                </a:solidFill>
                <a:latin typeface="Calibri" pitchFamily="34" charset="0"/>
                <a:ea typeface="Calibri" pitchFamily="34" charset="-122"/>
                <a:cs typeface="Calibri" pitchFamily="34" charset="-120"/>
              </a:rPr>
              <a:t> who reviewed their site</a:t>
            </a:r>
            <a:endParaRPr lang="en-US" sz="1800" dirty="0"/>
          </a:p>
        </p:txBody>
      </p:sp>
      <p:sp>
        <p:nvSpPr>
          <p:cNvPr id="35" name="Text 27"/>
          <p:cNvSpPr txBox="1"/>
          <p:nvPr/>
        </p:nvSpPr>
        <p:spPr>
          <a:xfrm>
            <a:off x="548640" y="501777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36" name="Text 28"/>
          <p:cNvSpPr txBox="1"/>
          <p:nvPr/>
        </p:nvSpPr>
        <p:spPr>
          <a:xfrm>
            <a:off x="932688" y="5017770"/>
            <a:ext cx="10710367"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More engaged people, and a team ready to start on day one</a:t>
            </a:r>
            <a:endParaRPr lang="en-US" sz="18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REACHING CTOS</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Reach CTOs quickly, even during a live meeting</a:t>
            </a:r>
            <a:endParaRPr lang="en-US" sz="3400" dirty="0"/>
          </a:p>
        </p:txBody>
      </p:sp>
      <p:sp>
        <p:nvSpPr>
          <p:cNvPr id="5" name="Shape 2"/>
          <p:cNvSpPr/>
          <p:nvPr/>
        </p:nvSpPr>
        <p:spPr>
          <a:xfrm>
            <a:off x="640080" y="2057400"/>
            <a:ext cx="10911535" cy="0"/>
          </a:xfrm>
          <a:prstGeom prst="line">
            <a:avLst/>
          </a:prstGeom>
          <a:noFill/>
          <a:ln w="38100">
            <a:solidFill>
              <a:srgbClr val="4F6BFF"/>
            </a:solidFill>
            <a:prstDash val="solid"/>
          </a:ln>
        </p:spPr>
      </p:sp>
      <p:sp>
        <p:nvSpPr>
          <p:cNvPr id="6" name="Shape 3"/>
          <p:cNvSpPr/>
          <p:nvPr/>
        </p:nvSpPr>
        <p:spPr>
          <a:xfrm>
            <a:off x="548640" y="1874520"/>
            <a:ext cx="1143000" cy="384048"/>
          </a:xfrm>
          <a:prstGeom prst="roundRect">
            <a:avLst>
              <a:gd name="adj" fmla="val 50000"/>
            </a:avLst>
          </a:prstGeom>
          <a:solidFill>
            <a:srgbClr val="FFFFFF"/>
          </a:solidFill>
          <a:ln w="25400">
            <a:solidFill>
              <a:srgbClr val="4F6BFF"/>
            </a:solidFill>
            <a:prstDash val="solid"/>
          </a:ln>
        </p:spPr>
      </p:sp>
      <p:sp>
        <p:nvSpPr>
          <p:cNvPr id="7" name="Text 4"/>
          <p:cNvSpPr txBox="1"/>
          <p:nvPr/>
        </p:nvSpPr>
        <p:spPr>
          <a:xfrm>
            <a:off x="548640" y="1874520"/>
            <a:ext cx="1143000" cy="384048"/>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0:00</a:t>
            </a:r>
            <a:endParaRPr lang="en-US" sz="1400" dirty="0"/>
          </a:p>
        </p:txBody>
      </p:sp>
      <p:sp>
        <p:nvSpPr>
          <p:cNvPr id="8" name="Text 5"/>
          <p:cNvSpPr txBox="1"/>
          <p:nvPr/>
        </p:nvSpPr>
        <p:spPr>
          <a:xfrm>
            <a:off x="548640" y="2468880"/>
            <a:ext cx="2036003" cy="365760"/>
          </a:xfrm>
          <a:prstGeom prst="rect">
            <a:avLst/>
          </a:prstGeom>
          <a:noFill/>
          <a:ln/>
        </p:spPr>
        <p:txBody>
          <a:bodyPr wrap="square" lIns="0" tIns="0" rIns="0" bIns="0" rtlCol="0" anchor="t"/>
          <a:lstStyle/>
          <a:p>
            <a:pPr indent="0" marL="0">
              <a:buNone/>
            </a:pPr>
            <a:r>
              <a:rPr lang="en-US" sz="1700" b="1" dirty="0">
                <a:solidFill>
                  <a:srgbClr val="1A2033"/>
                </a:solidFill>
                <a:latin typeface="Calibri" pitchFamily="34" charset="0"/>
                <a:ea typeface="Calibri" pitchFamily="34" charset="-122"/>
                <a:cs typeface="Calibri" pitchFamily="34" charset="-120"/>
              </a:rPr>
              <a:t>Meeting starts</a:t>
            </a:r>
            <a:endParaRPr lang="en-US" sz="1700" dirty="0"/>
          </a:p>
        </p:txBody>
      </p:sp>
      <p:sp>
        <p:nvSpPr>
          <p:cNvPr id="9" name="Text 6"/>
          <p:cNvSpPr txBox="1"/>
          <p:nvPr/>
        </p:nvSpPr>
        <p:spPr>
          <a:xfrm>
            <a:off x="548640" y="2834640"/>
            <a:ext cx="1990283" cy="731520"/>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The CTO mentions their website or app.</a:t>
            </a:r>
            <a:endParaRPr lang="en-US" sz="1300" dirty="0"/>
          </a:p>
        </p:txBody>
      </p:sp>
      <p:sp>
        <p:nvSpPr>
          <p:cNvPr id="10" name="Shape 7"/>
          <p:cNvSpPr/>
          <p:nvPr/>
        </p:nvSpPr>
        <p:spPr>
          <a:xfrm>
            <a:off x="2767523" y="1874520"/>
            <a:ext cx="1143000" cy="384048"/>
          </a:xfrm>
          <a:prstGeom prst="roundRect">
            <a:avLst>
              <a:gd name="adj" fmla="val 50000"/>
            </a:avLst>
          </a:prstGeom>
          <a:solidFill>
            <a:srgbClr val="FFFFFF"/>
          </a:solidFill>
          <a:ln w="25400">
            <a:solidFill>
              <a:srgbClr val="4F6BFF"/>
            </a:solidFill>
            <a:prstDash val="solid"/>
          </a:ln>
        </p:spPr>
      </p:sp>
      <p:sp>
        <p:nvSpPr>
          <p:cNvPr id="11" name="Text 8"/>
          <p:cNvSpPr txBox="1"/>
          <p:nvPr/>
        </p:nvSpPr>
        <p:spPr>
          <a:xfrm>
            <a:off x="2767523" y="1874520"/>
            <a:ext cx="1143000" cy="384048"/>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0:30</a:t>
            </a:r>
            <a:endParaRPr lang="en-US" sz="1400" dirty="0"/>
          </a:p>
        </p:txBody>
      </p:sp>
      <p:sp>
        <p:nvSpPr>
          <p:cNvPr id="12" name="Text 9"/>
          <p:cNvSpPr txBox="1"/>
          <p:nvPr/>
        </p:nvSpPr>
        <p:spPr>
          <a:xfrm>
            <a:off x="2767523" y="2468880"/>
            <a:ext cx="2036003" cy="365760"/>
          </a:xfrm>
          <a:prstGeom prst="rect">
            <a:avLst/>
          </a:prstGeom>
          <a:noFill/>
          <a:ln/>
        </p:spPr>
        <p:txBody>
          <a:bodyPr wrap="square" lIns="0" tIns="0" rIns="0" bIns="0" rtlCol="0" anchor="t"/>
          <a:lstStyle/>
          <a:p>
            <a:pPr indent="0" marL="0">
              <a:buNone/>
            </a:pPr>
            <a:r>
              <a:rPr lang="en-US" sz="1700" b="1" dirty="0">
                <a:solidFill>
                  <a:srgbClr val="1A2033"/>
                </a:solidFill>
                <a:latin typeface="Calibri" pitchFamily="34" charset="0"/>
                <a:ea typeface="Calibri" pitchFamily="34" charset="-122"/>
                <a:cs typeface="Calibri" pitchFamily="34" charset="-120"/>
              </a:rPr>
              <a:t>Paste the URL</a:t>
            </a:r>
            <a:endParaRPr lang="en-US" sz="1700" dirty="0"/>
          </a:p>
        </p:txBody>
      </p:sp>
      <p:sp>
        <p:nvSpPr>
          <p:cNvPr id="13" name="Text 10"/>
          <p:cNvSpPr txBox="1"/>
          <p:nvPr/>
        </p:nvSpPr>
        <p:spPr>
          <a:xfrm>
            <a:off x="2767523" y="2834640"/>
            <a:ext cx="1990283" cy="731520"/>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Nitro starts while we keep talking.</a:t>
            </a:r>
            <a:endParaRPr lang="en-US" sz="1300" dirty="0"/>
          </a:p>
        </p:txBody>
      </p:sp>
      <p:sp>
        <p:nvSpPr>
          <p:cNvPr id="14" name="Shape 11"/>
          <p:cNvSpPr/>
          <p:nvPr/>
        </p:nvSpPr>
        <p:spPr>
          <a:xfrm>
            <a:off x="4986406" y="1874520"/>
            <a:ext cx="1143000" cy="384048"/>
          </a:xfrm>
          <a:prstGeom prst="roundRect">
            <a:avLst>
              <a:gd name="adj" fmla="val 50000"/>
            </a:avLst>
          </a:prstGeom>
          <a:solidFill>
            <a:srgbClr val="FFFFFF"/>
          </a:solidFill>
          <a:ln w="25400">
            <a:solidFill>
              <a:srgbClr val="4F6BFF"/>
            </a:solidFill>
            <a:prstDash val="solid"/>
          </a:ln>
        </p:spPr>
      </p:sp>
      <p:sp>
        <p:nvSpPr>
          <p:cNvPr id="15" name="Text 12"/>
          <p:cNvSpPr txBox="1"/>
          <p:nvPr/>
        </p:nvSpPr>
        <p:spPr>
          <a:xfrm>
            <a:off x="4986406" y="1874520"/>
            <a:ext cx="1143000" cy="384048"/>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3:00</a:t>
            </a:r>
            <a:endParaRPr lang="en-US" sz="1400" dirty="0"/>
          </a:p>
        </p:txBody>
      </p:sp>
      <p:sp>
        <p:nvSpPr>
          <p:cNvPr id="16" name="Text 13"/>
          <p:cNvSpPr txBox="1"/>
          <p:nvPr/>
        </p:nvSpPr>
        <p:spPr>
          <a:xfrm>
            <a:off x="4986406" y="2468880"/>
            <a:ext cx="2036003" cy="365760"/>
          </a:xfrm>
          <a:prstGeom prst="rect">
            <a:avLst/>
          </a:prstGeom>
          <a:noFill/>
          <a:ln/>
        </p:spPr>
        <p:txBody>
          <a:bodyPr wrap="square" lIns="0" tIns="0" rIns="0" bIns="0" rtlCol="0" anchor="t"/>
          <a:lstStyle/>
          <a:p>
            <a:pPr indent="0" marL="0">
              <a:buNone/>
            </a:pPr>
            <a:r>
              <a:rPr lang="en-US" sz="1700" b="1" dirty="0">
                <a:solidFill>
                  <a:srgbClr val="1A2033"/>
                </a:solidFill>
                <a:latin typeface="Calibri" pitchFamily="34" charset="0"/>
                <a:ea typeface="Calibri" pitchFamily="34" charset="-122"/>
                <a:cs typeface="Calibri" pitchFamily="34" charset="-120"/>
              </a:rPr>
              <a:t>Show results</a:t>
            </a:r>
            <a:endParaRPr lang="en-US" sz="1700" dirty="0"/>
          </a:p>
        </p:txBody>
      </p:sp>
      <p:sp>
        <p:nvSpPr>
          <p:cNvPr id="17" name="Text 14"/>
          <p:cNvSpPr txBox="1"/>
          <p:nvPr/>
        </p:nvSpPr>
        <p:spPr>
          <a:xfrm>
            <a:off x="4986406" y="2834640"/>
            <a:ext cx="1990283" cy="731520"/>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Score, tech stack and redesign on screen.</a:t>
            </a:r>
            <a:endParaRPr lang="en-US" sz="1300" dirty="0"/>
          </a:p>
        </p:txBody>
      </p:sp>
      <p:sp>
        <p:nvSpPr>
          <p:cNvPr id="18" name="Shape 15"/>
          <p:cNvSpPr/>
          <p:nvPr/>
        </p:nvSpPr>
        <p:spPr>
          <a:xfrm>
            <a:off x="7205289" y="1874520"/>
            <a:ext cx="1143000" cy="384048"/>
          </a:xfrm>
          <a:prstGeom prst="roundRect">
            <a:avLst>
              <a:gd name="adj" fmla="val 50000"/>
            </a:avLst>
          </a:prstGeom>
          <a:solidFill>
            <a:srgbClr val="FFFFFF"/>
          </a:solidFill>
          <a:ln w="25400">
            <a:solidFill>
              <a:srgbClr val="4F6BFF"/>
            </a:solidFill>
            <a:prstDash val="solid"/>
          </a:ln>
        </p:spPr>
      </p:sp>
      <p:sp>
        <p:nvSpPr>
          <p:cNvPr id="19" name="Text 16"/>
          <p:cNvSpPr txBox="1"/>
          <p:nvPr/>
        </p:nvSpPr>
        <p:spPr>
          <a:xfrm>
            <a:off x="7205289" y="1874520"/>
            <a:ext cx="1143000" cy="384048"/>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10:00</a:t>
            </a:r>
            <a:endParaRPr lang="en-US" sz="1400" dirty="0"/>
          </a:p>
        </p:txBody>
      </p:sp>
      <p:sp>
        <p:nvSpPr>
          <p:cNvPr id="20" name="Text 17"/>
          <p:cNvSpPr txBox="1"/>
          <p:nvPr/>
        </p:nvSpPr>
        <p:spPr>
          <a:xfrm>
            <a:off x="7205289" y="2468880"/>
            <a:ext cx="2036003" cy="365760"/>
          </a:xfrm>
          <a:prstGeom prst="rect">
            <a:avLst/>
          </a:prstGeom>
          <a:noFill/>
          <a:ln/>
        </p:spPr>
        <p:txBody>
          <a:bodyPr wrap="square" lIns="0" tIns="0" rIns="0" bIns="0" rtlCol="0" anchor="t"/>
          <a:lstStyle/>
          <a:p>
            <a:pPr indent="0" marL="0">
              <a:buNone/>
            </a:pPr>
            <a:r>
              <a:rPr lang="en-US" sz="1700" b="1" dirty="0">
                <a:solidFill>
                  <a:srgbClr val="1A2033"/>
                </a:solidFill>
                <a:latin typeface="Calibri" pitchFamily="34" charset="0"/>
                <a:ea typeface="Calibri" pitchFamily="34" charset="-122"/>
                <a:cs typeface="Calibri" pitchFamily="34" charset="-120"/>
              </a:rPr>
              <a:t>Talk specifics</a:t>
            </a:r>
            <a:endParaRPr lang="en-US" sz="1700" dirty="0"/>
          </a:p>
        </p:txBody>
      </p:sp>
      <p:sp>
        <p:nvSpPr>
          <p:cNvPr id="21" name="Text 18"/>
          <p:cNvSpPr txBox="1"/>
          <p:nvPr/>
        </p:nvSpPr>
        <p:spPr>
          <a:xfrm>
            <a:off x="7205289" y="2834640"/>
            <a:ext cx="1990283" cy="731520"/>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Their real issues, our named team, a price range.</a:t>
            </a:r>
            <a:endParaRPr lang="en-US" sz="1300" dirty="0"/>
          </a:p>
        </p:txBody>
      </p:sp>
      <p:sp>
        <p:nvSpPr>
          <p:cNvPr id="22" name="Shape 19"/>
          <p:cNvSpPr/>
          <p:nvPr/>
        </p:nvSpPr>
        <p:spPr>
          <a:xfrm>
            <a:off x="9424172" y="1874520"/>
            <a:ext cx="1143000" cy="384048"/>
          </a:xfrm>
          <a:prstGeom prst="roundRect">
            <a:avLst>
              <a:gd name="adj" fmla="val 50000"/>
            </a:avLst>
          </a:prstGeom>
          <a:solidFill>
            <a:srgbClr val="FFFFFF"/>
          </a:solidFill>
          <a:ln w="25400">
            <a:solidFill>
              <a:srgbClr val="4F6BFF"/>
            </a:solidFill>
            <a:prstDash val="solid"/>
          </a:ln>
        </p:spPr>
      </p:sp>
      <p:sp>
        <p:nvSpPr>
          <p:cNvPr id="23" name="Text 20"/>
          <p:cNvSpPr txBox="1"/>
          <p:nvPr/>
        </p:nvSpPr>
        <p:spPr>
          <a:xfrm>
            <a:off x="9424172" y="1874520"/>
            <a:ext cx="1143000" cy="384048"/>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Next day</a:t>
            </a:r>
            <a:endParaRPr lang="en-US" sz="1400" dirty="0"/>
          </a:p>
        </p:txBody>
      </p:sp>
      <p:sp>
        <p:nvSpPr>
          <p:cNvPr id="24" name="Text 21"/>
          <p:cNvSpPr txBox="1"/>
          <p:nvPr/>
        </p:nvSpPr>
        <p:spPr>
          <a:xfrm>
            <a:off x="9424172" y="2468880"/>
            <a:ext cx="2036003" cy="365760"/>
          </a:xfrm>
          <a:prstGeom prst="rect">
            <a:avLst/>
          </a:prstGeom>
          <a:noFill/>
          <a:ln/>
        </p:spPr>
        <p:txBody>
          <a:bodyPr wrap="square" lIns="0" tIns="0" rIns="0" bIns="0" rtlCol="0" anchor="t"/>
          <a:lstStyle/>
          <a:p>
            <a:pPr indent="0" marL="0">
              <a:buNone/>
            </a:pPr>
            <a:r>
              <a:rPr lang="en-US" sz="1700" b="1" dirty="0">
                <a:solidFill>
                  <a:srgbClr val="1A2033"/>
                </a:solidFill>
                <a:latin typeface="Calibri" pitchFamily="34" charset="0"/>
                <a:ea typeface="Calibri" pitchFamily="34" charset="-122"/>
                <a:cs typeface="Calibri" pitchFamily="34" charset="-120"/>
              </a:rPr>
              <a:t>Follow up</a:t>
            </a:r>
            <a:endParaRPr lang="en-US" sz="1700" dirty="0"/>
          </a:p>
        </p:txBody>
      </p:sp>
      <p:sp>
        <p:nvSpPr>
          <p:cNvPr id="25" name="Text 22"/>
          <p:cNvSpPr txBox="1"/>
          <p:nvPr/>
        </p:nvSpPr>
        <p:spPr>
          <a:xfrm>
            <a:off x="9424172" y="2834640"/>
            <a:ext cx="1990283" cy="731520"/>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Deck and proposal, reviewed by an expert.</a:t>
            </a:r>
            <a:endParaRPr lang="en-US" sz="1300" dirty="0"/>
          </a:p>
        </p:txBody>
      </p:sp>
      <p:sp>
        <p:nvSpPr>
          <p:cNvPr id="26" name="Text 23"/>
          <p:cNvSpPr txBox="1"/>
          <p:nvPr/>
        </p:nvSpPr>
        <p:spPr>
          <a:xfrm>
            <a:off x="548640" y="397764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27" name="Text 24"/>
          <p:cNvSpPr txBox="1"/>
          <p:nvPr/>
        </p:nvSpPr>
        <p:spPr>
          <a:xfrm>
            <a:off x="932688" y="3977640"/>
            <a:ext cx="10710367"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Personal outreach to </a:t>
            </a:r>
            <a:pPr indent="0" marL="0">
              <a:buNone/>
            </a:pPr>
            <a:r>
              <a:rPr lang="en-US" sz="1800" b="1" dirty="0">
                <a:solidFill>
                  <a:srgbClr val="1A2033"/>
                </a:solidFill>
                <a:latin typeface="Calibri" pitchFamily="34" charset="0"/>
                <a:ea typeface="Calibri" pitchFamily="34" charset="-122"/>
                <a:cs typeface="Calibri" pitchFamily="34" charset="-120"/>
              </a:rPr>
              <a:t>many CTOs a week</a:t>
            </a:r>
            <a:pPr indent="0" marL="0">
              <a:buNone/>
            </a:pPr>
            <a:r>
              <a:rPr lang="en-US" sz="1800" dirty="0">
                <a:solidFill>
                  <a:srgbClr val="1A2033"/>
                </a:solidFill>
                <a:latin typeface="Calibri" pitchFamily="34" charset="0"/>
                <a:ea typeface="Calibri" pitchFamily="34" charset="-122"/>
                <a:cs typeface="Calibri" pitchFamily="34" charset="-120"/>
              </a:rPr>
              <a:t>, each about their own site</a:t>
            </a:r>
            <a:endParaRPr lang="en-US" sz="1800" dirty="0"/>
          </a:p>
        </p:txBody>
      </p:sp>
      <p:sp>
        <p:nvSpPr>
          <p:cNvPr id="28" name="Text 25"/>
          <p:cNvSpPr txBox="1"/>
          <p:nvPr/>
        </p:nvSpPr>
        <p:spPr>
          <a:xfrm>
            <a:off x="548640" y="440055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29" name="Text 26"/>
          <p:cNvSpPr txBox="1"/>
          <p:nvPr/>
        </p:nvSpPr>
        <p:spPr>
          <a:xfrm>
            <a:off x="932688" y="4400550"/>
            <a:ext cx="10710367"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Proof in the room, not promises a week later</a:t>
            </a:r>
            <a:endParaRPr lang="en-US" sz="1800" dirty="0"/>
          </a:p>
        </p:txBody>
      </p:sp>
      <p:sp>
        <p:nvSpPr>
          <p:cNvPr id="30" name="Text 27"/>
          <p:cNvSpPr txBox="1"/>
          <p:nvPr/>
        </p:nvSpPr>
        <p:spPr>
          <a:xfrm>
            <a:off x="548640" y="482346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31" name="Text 28"/>
          <p:cNvSpPr txBox="1"/>
          <p:nvPr/>
        </p:nvSpPr>
        <p:spPr>
          <a:xfrm>
            <a:off x="932688" y="4823460"/>
            <a:ext cx="10710367"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Saved runs </a:t>
            </a:r>
            <a:pPr indent="0" marL="0">
              <a:buNone/>
            </a:pPr>
            <a:r>
              <a:rPr lang="en-US" sz="1800" b="1" dirty="0">
                <a:solidFill>
                  <a:srgbClr val="1A2033"/>
                </a:solidFill>
                <a:latin typeface="Calibri" pitchFamily="34" charset="0"/>
                <a:ea typeface="Calibri" pitchFamily="34" charset="-122"/>
                <a:cs typeface="Calibri" pitchFamily="34" charset="-120"/>
              </a:rPr>
              <a:t>replay for free</a:t>
            </a:r>
            <a:pPr indent="0" marL="0">
              <a:buNone/>
            </a:pPr>
            <a:r>
              <a:rPr lang="en-US" sz="1800" dirty="0">
                <a:solidFill>
                  <a:srgbClr val="1A2033"/>
                </a:solidFill>
                <a:latin typeface="Calibri" pitchFamily="34" charset="0"/>
                <a:ea typeface="Calibri" pitchFamily="34" charset="-122"/>
                <a:cs typeface="Calibri" pitchFamily="34" charset="-120"/>
              </a:rPr>
              <a:t>, so a demo never depends on the network</a:t>
            </a:r>
            <a:endParaRPr lang="en-US" sz="18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ALWAYS ON</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Agents that work in the background, 24x7</a:t>
            </a:r>
            <a:endParaRPr lang="en-US" sz="3400" dirty="0"/>
          </a:p>
        </p:txBody>
      </p:sp>
      <p:sp>
        <p:nvSpPr>
          <p:cNvPr id="5" name="Shape 2"/>
          <p:cNvSpPr/>
          <p:nvPr/>
        </p:nvSpPr>
        <p:spPr>
          <a:xfrm>
            <a:off x="822960" y="2011680"/>
            <a:ext cx="2743200" cy="2743200"/>
          </a:xfrm>
          <a:prstGeom prst="ellipse">
            <a:avLst/>
          </a:prstGeom>
          <a:solidFill>
            <a:srgbClr val="EEF2FF"/>
          </a:solidFill>
          <a:ln w="38100">
            <a:solidFill>
              <a:srgbClr val="4F6BFF"/>
            </a:solidFill>
            <a:prstDash val="solid"/>
          </a:ln>
        </p:spPr>
      </p:sp>
      <p:pic>
        <p:nvPicPr>
          <p:cNvPr id="6" name="Image 0" descr="moon icon">    </p:cNvPr>
          <p:cNvPicPr>
            <a:picLocks noChangeAspect="1"/>
          </p:cNvPicPr>
          <p:nvPr/>
        </p:nvPicPr>
        <p:blipFill>
          <a:blip r:embed="rId1"/>
          <a:stretch>
            <a:fillRect/>
          </a:stretch>
        </p:blipFill>
        <p:spPr>
          <a:xfrm>
            <a:off x="1508760" y="2697480"/>
            <a:ext cx="1371600" cy="1371600"/>
          </a:xfrm>
          <a:prstGeom prst="rect">
            <a:avLst/>
          </a:prstGeom>
        </p:spPr>
      </p:pic>
      <p:sp>
        <p:nvSpPr>
          <p:cNvPr id="7" name="Text 3"/>
          <p:cNvSpPr txBox="1"/>
          <p:nvPr/>
        </p:nvSpPr>
        <p:spPr>
          <a:xfrm>
            <a:off x="822960" y="4892040"/>
            <a:ext cx="2743200" cy="457200"/>
          </a:xfrm>
          <a:prstGeom prst="rect">
            <a:avLst/>
          </a:prstGeom>
          <a:noFill/>
          <a:ln/>
        </p:spPr>
        <p:txBody>
          <a:bodyPr wrap="square" lIns="0" tIns="0" rIns="0" bIns="0" rtlCol="0" anchor="t"/>
          <a:lstStyle/>
          <a:p>
            <a:pPr algn="ctr" indent="0" marL="0">
              <a:buNone/>
            </a:pPr>
            <a:r>
              <a:rPr lang="en-US" sz="2200" b="1" dirty="0">
                <a:solidFill>
                  <a:srgbClr val="4F6BFF"/>
                </a:solidFill>
                <a:latin typeface="Calibri" pitchFamily="34" charset="0"/>
                <a:ea typeface="Calibri" pitchFamily="34" charset="-122"/>
                <a:cs typeface="Calibri" pitchFamily="34" charset="-120"/>
              </a:rPr>
              <a:t>24x7</a:t>
            </a:r>
            <a:endParaRPr lang="en-US" sz="2200" dirty="0"/>
          </a:p>
        </p:txBody>
      </p:sp>
      <p:sp>
        <p:nvSpPr>
          <p:cNvPr id="8" name="Text 4"/>
          <p:cNvSpPr txBox="1"/>
          <p:nvPr/>
        </p:nvSpPr>
        <p:spPr>
          <a:xfrm>
            <a:off x="4114800" y="192024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9" name="Text 5"/>
          <p:cNvSpPr txBox="1"/>
          <p:nvPr/>
        </p:nvSpPr>
        <p:spPr>
          <a:xfrm>
            <a:off x="4498848" y="1920240"/>
            <a:ext cx="7114032"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Keep a </a:t>
            </a:r>
            <a:pPr indent="0" marL="0">
              <a:buNone/>
            </a:pPr>
            <a:r>
              <a:rPr lang="en-US" sz="1800" b="1" dirty="0">
                <a:solidFill>
                  <a:srgbClr val="1A2033"/>
                </a:solidFill>
                <a:latin typeface="Calibri" pitchFamily="34" charset="0"/>
                <a:ea typeface="Calibri" pitchFamily="34" charset="-122"/>
                <a:cs typeface="Calibri" pitchFamily="34" charset="-120"/>
              </a:rPr>
              <a:t>watchlist</a:t>
            </a:r>
            <a:pPr indent="0" marL="0">
              <a:buNone/>
            </a:pPr>
            <a:r>
              <a:rPr lang="en-US" sz="1800" dirty="0">
                <a:solidFill>
                  <a:srgbClr val="1A2033"/>
                </a:solidFill>
                <a:latin typeface="Calibri" pitchFamily="34" charset="0"/>
                <a:ea typeface="Calibri" pitchFamily="34" charset="-122"/>
                <a:cs typeface="Calibri" pitchFamily="34" charset="-120"/>
              </a:rPr>
              <a:t> of target accounts</a:t>
            </a:r>
            <a:endParaRPr lang="en-US" sz="1800" dirty="0"/>
          </a:p>
        </p:txBody>
      </p:sp>
      <p:sp>
        <p:nvSpPr>
          <p:cNvPr id="10" name="Text 6"/>
          <p:cNvSpPr txBox="1"/>
          <p:nvPr/>
        </p:nvSpPr>
        <p:spPr>
          <a:xfrm>
            <a:off x="4114800" y="234315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11" name="Text 7"/>
          <p:cNvSpPr txBox="1"/>
          <p:nvPr/>
        </p:nvSpPr>
        <p:spPr>
          <a:xfrm>
            <a:off x="4498848" y="2343150"/>
            <a:ext cx="7114032"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Re-check every site </a:t>
            </a:r>
            <a:pPr indent="0" marL="0">
              <a:buNone/>
            </a:pPr>
            <a:r>
              <a:rPr lang="en-US" sz="1800" b="1" dirty="0">
                <a:solidFill>
                  <a:srgbClr val="1A2033"/>
                </a:solidFill>
                <a:latin typeface="Calibri" pitchFamily="34" charset="0"/>
                <a:ea typeface="Calibri" pitchFamily="34" charset="-122"/>
                <a:cs typeface="Calibri" pitchFamily="34" charset="-120"/>
              </a:rPr>
              <a:t>overnight</a:t>
            </a:r>
            <a:pPr indent="0" marL="0">
              <a:buNone/>
            </a:pPr>
            <a:r>
              <a:rPr lang="en-US" sz="1800" dirty="0">
                <a:solidFill>
                  <a:srgbClr val="1A2033"/>
                </a:solidFill>
                <a:latin typeface="Calibri" pitchFamily="34" charset="0"/>
                <a:ea typeface="Calibri" pitchFamily="34" charset="-122"/>
                <a:cs typeface="Calibri" pitchFamily="34" charset="-120"/>
              </a:rPr>
              <a:t>, automatically</a:t>
            </a:r>
            <a:endParaRPr lang="en-US" sz="1800" dirty="0"/>
          </a:p>
        </p:txBody>
      </p:sp>
      <p:sp>
        <p:nvSpPr>
          <p:cNvPr id="12" name="Text 8"/>
          <p:cNvSpPr txBox="1"/>
          <p:nvPr/>
        </p:nvSpPr>
        <p:spPr>
          <a:xfrm>
            <a:off x="4114800" y="276606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13" name="Text 9"/>
          <p:cNvSpPr txBox="1"/>
          <p:nvPr/>
        </p:nvSpPr>
        <p:spPr>
          <a:xfrm>
            <a:off x="4498848" y="2766060"/>
            <a:ext cx="7114032" cy="59436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Alert sales when a prospect's site </a:t>
            </a:r>
            <a:pPr indent="0" marL="0">
              <a:buNone/>
            </a:pPr>
            <a:r>
              <a:rPr lang="en-US" sz="1800" b="1" dirty="0">
                <a:solidFill>
                  <a:srgbClr val="1A2033"/>
                </a:solidFill>
                <a:latin typeface="Calibri" pitchFamily="34" charset="0"/>
                <a:ea typeface="Calibri" pitchFamily="34" charset="-122"/>
                <a:cs typeface="Calibri" pitchFamily="34" charset="-120"/>
              </a:rPr>
              <a:t>slows down, breaks or relaunches</a:t>
            </a:r>
            <a:endParaRPr lang="en-US" sz="1800" dirty="0"/>
          </a:p>
        </p:txBody>
      </p:sp>
      <p:sp>
        <p:nvSpPr>
          <p:cNvPr id="14" name="Text 10"/>
          <p:cNvSpPr txBox="1"/>
          <p:nvPr/>
        </p:nvSpPr>
        <p:spPr>
          <a:xfrm>
            <a:off x="4114800" y="348615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15" name="Text 11"/>
          <p:cNvSpPr txBox="1"/>
          <p:nvPr/>
        </p:nvSpPr>
        <p:spPr>
          <a:xfrm>
            <a:off x="4498848" y="3486150"/>
            <a:ext cx="7114032" cy="59436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A </a:t>
            </a:r>
            <a:pPr indent="0" marL="0">
              <a:buNone/>
            </a:pPr>
            <a:r>
              <a:rPr lang="en-US" sz="1800" b="1" dirty="0">
                <a:solidFill>
                  <a:srgbClr val="1A2033"/>
                </a:solidFill>
                <a:latin typeface="Calibri" pitchFamily="34" charset="0"/>
                <a:ea typeface="Calibri" pitchFamily="34" charset="-122"/>
                <a:cs typeface="Calibri" pitchFamily="34" charset="-120"/>
              </a:rPr>
              <a:t>morning digest</a:t>
            </a:r>
            <a:pPr indent="0" marL="0">
              <a:buNone/>
            </a:pPr>
            <a:r>
              <a:rPr lang="en-US" sz="1800" dirty="0">
                <a:solidFill>
                  <a:srgbClr val="1A2033"/>
                </a:solidFill>
                <a:latin typeface="Calibri" pitchFamily="34" charset="0"/>
                <a:ea typeface="Calibri" pitchFamily="34" charset="-122"/>
                <a:cs typeface="Calibri" pitchFamily="34" charset="-120"/>
              </a:rPr>
              <a:t>: the best leads, with the pitch already drafted</a:t>
            </a:r>
            <a:endParaRPr lang="en-US" sz="1800" dirty="0"/>
          </a:p>
        </p:txBody>
      </p:sp>
      <p:sp>
        <p:nvSpPr>
          <p:cNvPr id="16" name="Text 12"/>
          <p:cNvSpPr txBox="1"/>
          <p:nvPr/>
        </p:nvSpPr>
        <p:spPr>
          <a:xfrm>
            <a:off x="4114800" y="4206240"/>
            <a:ext cx="320040" cy="297180"/>
          </a:xfrm>
          <a:prstGeom prst="rect">
            <a:avLst/>
          </a:prstGeom>
          <a:noFill/>
          <a:ln/>
        </p:spPr>
        <p:txBody>
          <a:bodyPr wrap="square" lIns="0" tIns="0" rIns="0" bIns="0" rtlCol="0" anchor="t"/>
          <a:lstStyle/>
          <a:p>
            <a:pPr indent="0" marL="0">
              <a:buNone/>
            </a:pPr>
            <a:r>
              <a:rPr lang="en-US" sz="1800" b="1" dirty="0">
                <a:solidFill>
                  <a:srgbClr val="0F9D6B"/>
                </a:solidFill>
                <a:latin typeface="Calibri" pitchFamily="34" charset="0"/>
                <a:ea typeface="Calibri" pitchFamily="34" charset="-122"/>
                <a:cs typeface="Calibri" pitchFamily="34" charset="-120"/>
              </a:rPr>
              <a:t>✓</a:t>
            </a:r>
            <a:endParaRPr lang="en-US" sz="1800" dirty="0"/>
          </a:p>
        </p:txBody>
      </p:sp>
      <p:sp>
        <p:nvSpPr>
          <p:cNvPr id="17" name="Text 13"/>
          <p:cNvSpPr txBox="1"/>
          <p:nvPr/>
        </p:nvSpPr>
        <p:spPr>
          <a:xfrm>
            <a:off x="4498848" y="4206240"/>
            <a:ext cx="7114032" cy="297180"/>
          </a:xfrm>
          <a:prstGeom prst="rect">
            <a:avLst/>
          </a:prstGeom>
          <a:noFill/>
          <a:ln/>
        </p:spPr>
        <p:txBody>
          <a:bodyPr wrap="square" lIns="0" tIns="0" rIns="0" bIns="0" rtlCol="0" anchor="t"/>
          <a:lstStyle/>
          <a:p>
            <a:pPr indent="0" marL="0">
              <a:buNone/>
            </a:pPr>
            <a:r>
              <a:rPr lang="en-US" sz="1800" dirty="0">
                <a:solidFill>
                  <a:srgbClr val="1A2033"/>
                </a:solidFill>
                <a:latin typeface="Calibri" pitchFamily="34" charset="0"/>
                <a:ea typeface="Calibri" pitchFamily="34" charset="-122"/>
                <a:cs typeface="Calibri" pitchFamily="34" charset="-120"/>
              </a:rPr>
              <a:t>Every run is saved and can be reviewed or replayed later</a:t>
            </a:r>
            <a:endParaRPr lang="en-US" sz="1800" dirty="0"/>
          </a:p>
        </p:txBody>
      </p:sp>
      <p:sp>
        <p:nvSpPr>
          <p:cNvPr id="18" name="Shape 14"/>
          <p:cNvSpPr/>
          <p:nvPr/>
        </p:nvSpPr>
        <p:spPr>
          <a:xfrm>
            <a:off x="548640" y="5623560"/>
            <a:ext cx="11094415" cy="502920"/>
          </a:xfrm>
          <a:prstGeom prst="roundRect">
            <a:avLst>
              <a:gd name="adj" fmla="val 18182"/>
            </a:avLst>
          </a:prstGeom>
          <a:solidFill>
            <a:srgbClr val="EEF2FF"/>
          </a:solidFill>
          <a:ln w="12700">
            <a:solidFill>
              <a:srgbClr val="EEF2FF"/>
            </a:solidFill>
            <a:prstDash val="solid"/>
          </a:ln>
        </p:spPr>
      </p:sp>
      <p:sp>
        <p:nvSpPr>
          <p:cNvPr id="19" name="Text 15"/>
          <p:cNvSpPr txBox="1"/>
          <p:nvPr/>
        </p:nvSpPr>
        <p:spPr>
          <a:xfrm>
            <a:off x="822960" y="5623560"/>
            <a:ext cx="10545775" cy="502920"/>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The team sleeps. The pipeline keeps growing. (Night Watch agent, next in the marketplace.)</a:t>
            </a:r>
            <a:endParaRPr lang="en-US" sz="17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EFFORT SAVED</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Many more analyses, with far less effort</a:t>
            </a:r>
            <a:endParaRPr lang="en-US" sz="3400" dirty="0"/>
          </a:p>
        </p:txBody>
      </p:sp>
      <p:sp>
        <p:nvSpPr>
          <p:cNvPr id="5" name="Shape 2"/>
          <p:cNvSpPr/>
          <p:nvPr/>
        </p:nvSpPr>
        <p:spPr>
          <a:xfrm>
            <a:off x="548640" y="1783080"/>
            <a:ext cx="5410048" cy="2743200"/>
          </a:xfrm>
          <a:prstGeom prst="roundRect">
            <a:avLst>
              <a:gd name="adj" fmla="val 4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Text 3"/>
          <p:cNvSpPr txBox="1"/>
          <p:nvPr/>
        </p:nvSpPr>
        <p:spPr>
          <a:xfrm>
            <a:off x="822960" y="1920240"/>
            <a:ext cx="4861408" cy="457200"/>
          </a:xfrm>
          <a:prstGeom prst="rect">
            <a:avLst/>
          </a:prstGeom>
          <a:noFill/>
          <a:ln/>
        </p:spPr>
        <p:txBody>
          <a:bodyPr wrap="square" lIns="0" tIns="0" rIns="0" bIns="0" rtlCol="0" anchor="t"/>
          <a:lstStyle/>
          <a:p>
            <a:pPr indent="0" marL="0">
              <a:buNone/>
            </a:pPr>
            <a:r>
              <a:rPr lang="en-US" sz="1900" b="1" dirty="0">
                <a:solidFill>
                  <a:srgbClr val="D64545"/>
                </a:solidFill>
                <a:latin typeface="Calibri" pitchFamily="34" charset="0"/>
                <a:ea typeface="Calibri" pitchFamily="34" charset="-122"/>
                <a:cs typeface="Calibri" pitchFamily="34" charset="-120"/>
              </a:rPr>
              <a:t>Today: by hand</a:t>
            </a:r>
            <a:endParaRPr lang="en-US" sz="1900" dirty="0"/>
          </a:p>
        </p:txBody>
      </p:sp>
      <p:sp>
        <p:nvSpPr>
          <p:cNvPr id="7" name="Text 4"/>
          <p:cNvSpPr txBox="1"/>
          <p:nvPr/>
        </p:nvSpPr>
        <p:spPr>
          <a:xfrm>
            <a:off x="822960" y="2468880"/>
            <a:ext cx="320040" cy="264160"/>
          </a:xfrm>
          <a:prstGeom prst="rect">
            <a:avLst/>
          </a:prstGeom>
          <a:noFill/>
          <a:ln/>
        </p:spPr>
        <p:txBody>
          <a:bodyPr wrap="square" lIns="0" tIns="0" rIns="0" bIns="0" rtlCol="0" anchor="t"/>
          <a:lstStyle/>
          <a:p>
            <a:pPr indent="0" marL="0">
              <a:buNone/>
            </a:pPr>
            <a:r>
              <a:rPr lang="en-US" sz="1600" b="1" dirty="0">
                <a:solidFill>
                  <a:srgbClr val="D64545"/>
                </a:solidFill>
                <a:latin typeface="Calibri" pitchFamily="34" charset="0"/>
                <a:ea typeface="Calibri" pitchFamily="34" charset="-122"/>
                <a:cs typeface="Calibri" pitchFamily="34" charset="-120"/>
              </a:rPr>
              <a:t>✕</a:t>
            </a:r>
            <a:endParaRPr lang="en-US" sz="1600" dirty="0"/>
          </a:p>
        </p:txBody>
      </p:sp>
      <p:sp>
        <p:nvSpPr>
          <p:cNvPr id="8" name="Text 5"/>
          <p:cNvSpPr txBox="1"/>
          <p:nvPr/>
        </p:nvSpPr>
        <p:spPr>
          <a:xfrm>
            <a:off x="1207008" y="2468880"/>
            <a:ext cx="4477360"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Open the site and check it manually</a:t>
            </a:r>
            <a:endParaRPr lang="en-US" sz="1600" dirty="0"/>
          </a:p>
        </p:txBody>
      </p:sp>
      <p:sp>
        <p:nvSpPr>
          <p:cNvPr id="9" name="Text 6"/>
          <p:cNvSpPr txBox="1"/>
          <p:nvPr/>
        </p:nvSpPr>
        <p:spPr>
          <a:xfrm>
            <a:off x="822960" y="2844800"/>
            <a:ext cx="320040" cy="264160"/>
          </a:xfrm>
          <a:prstGeom prst="rect">
            <a:avLst/>
          </a:prstGeom>
          <a:noFill/>
          <a:ln/>
        </p:spPr>
        <p:txBody>
          <a:bodyPr wrap="square" lIns="0" tIns="0" rIns="0" bIns="0" rtlCol="0" anchor="t"/>
          <a:lstStyle/>
          <a:p>
            <a:pPr indent="0" marL="0">
              <a:buNone/>
            </a:pPr>
            <a:r>
              <a:rPr lang="en-US" sz="1600" b="1" dirty="0">
                <a:solidFill>
                  <a:srgbClr val="D64545"/>
                </a:solidFill>
                <a:latin typeface="Calibri" pitchFamily="34" charset="0"/>
                <a:ea typeface="Calibri" pitchFamily="34" charset="-122"/>
                <a:cs typeface="Calibri" pitchFamily="34" charset="-120"/>
              </a:rPr>
              <a:t>✕</a:t>
            </a:r>
            <a:endParaRPr lang="en-US" sz="1600" dirty="0"/>
          </a:p>
        </p:txBody>
      </p:sp>
      <p:sp>
        <p:nvSpPr>
          <p:cNvPr id="10" name="Text 7"/>
          <p:cNvSpPr txBox="1"/>
          <p:nvPr/>
        </p:nvSpPr>
        <p:spPr>
          <a:xfrm>
            <a:off x="1207008" y="2844800"/>
            <a:ext cx="4477360"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Guess the tech stack</a:t>
            </a:r>
            <a:endParaRPr lang="en-US" sz="1600" dirty="0"/>
          </a:p>
        </p:txBody>
      </p:sp>
      <p:sp>
        <p:nvSpPr>
          <p:cNvPr id="11" name="Text 8"/>
          <p:cNvSpPr txBox="1"/>
          <p:nvPr/>
        </p:nvSpPr>
        <p:spPr>
          <a:xfrm>
            <a:off x="822960" y="3220720"/>
            <a:ext cx="320040" cy="264160"/>
          </a:xfrm>
          <a:prstGeom prst="rect">
            <a:avLst/>
          </a:prstGeom>
          <a:noFill/>
          <a:ln/>
        </p:spPr>
        <p:txBody>
          <a:bodyPr wrap="square" lIns="0" tIns="0" rIns="0" bIns="0" rtlCol="0" anchor="t"/>
          <a:lstStyle/>
          <a:p>
            <a:pPr indent="0" marL="0">
              <a:buNone/>
            </a:pPr>
            <a:r>
              <a:rPr lang="en-US" sz="1600" b="1" dirty="0">
                <a:solidFill>
                  <a:srgbClr val="D64545"/>
                </a:solidFill>
                <a:latin typeface="Calibri" pitchFamily="34" charset="0"/>
                <a:ea typeface="Calibri" pitchFamily="34" charset="-122"/>
                <a:cs typeface="Calibri" pitchFamily="34" charset="-120"/>
              </a:rPr>
              <a:t>✕</a:t>
            </a:r>
            <a:endParaRPr lang="en-US" sz="1600" dirty="0"/>
          </a:p>
        </p:txBody>
      </p:sp>
      <p:sp>
        <p:nvSpPr>
          <p:cNvPr id="12" name="Text 9"/>
          <p:cNvSpPr txBox="1"/>
          <p:nvPr/>
        </p:nvSpPr>
        <p:spPr>
          <a:xfrm>
            <a:off x="1207008" y="3220720"/>
            <a:ext cx="4477360"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Find who is free</a:t>
            </a:r>
            <a:endParaRPr lang="en-US" sz="1600" dirty="0"/>
          </a:p>
        </p:txBody>
      </p:sp>
      <p:sp>
        <p:nvSpPr>
          <p:cNvPr id="13" name="Text 10"/>
          <p:cNvSpPr txBox="1"/>
          <p:nvPr/>
        </p:nvSpPr>
        <p:spPr>
          <a:xfrm>
            <a:off x="822960" y="3596640"/>
            <a:ext cx="320040" cy="264160"/>
          </a:xfrm>
          <a:prstGeom prst="rect">
            <a:avLst/>
          </a:prstGeom>
          <a:noFill/>
          <a:ln/>
        </p:spPr>
        <p:txBody>
          <a:bodyPr wrap="square" lIns="0" tIns="0" rIns="0" bIns="0" rtlCol="0" anchor="t"/>
          <a:lstStyle/>
          <a:p>
            <a:pPr indent="0" marL="0">
              <a:buNone/>
            </a:pPr>
            <a:r>
              <a:rPr lang="en-US" sz="1600" b="1" dirty="0">
                <a:solidFill>
                  <a:srgbClr val="D64545"/>
                </a:solidFill>
                <a:latin typeface="Calibri" pitchFamily="34" charset="0"/>
                <a:ea typeface="Calibri" pitchFamily="34" charset="-122"/>
                <a:cs typeface="Calibri" pitchFamily="34" charset="-120"/>
              </a:rPr>
              <a:t>✕</a:t>
            </a:r>
            <a:endParaRPr lang="en-US" sz="1600" dirty="0"/>
          </a:p>
        </p:txBody>
      </p:sp>
      <p:sp>
        <p:nvSpPr>
          <p:cNvPr id="14" name="Text 11"/>
          <p:cNvSpPr txBox="1"/>
          <p:nvPr/>
        </p:nvSpPr>
        <p:spPr>
          <a:xfrm>
            <a:off x="1207008" y="3596640"/>
            <a:ext cx="4477360"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Write the proposal from scratch</a:t>
            </a:r>
            <a:endParaRPr lang="en-US" sz="1600" dirty="0"/>
          </a:p>
        </p:txBody>
      </p:sp>
      <p:sp>
        <p:nvSpPr>
          <p:cNvPr id="15" name="Text 12"/>
          <p:cNvSpPr txBox="1"/>
          <p:nvPr/>
        </p:nvSpPr>
        <p:spPr>
          <a:xfrm>
            <a:off x="822960" y="3972560"/>
            <a:ext cx="320040" cy="264160"/>
          </a:xfrm>
          <a:prstGeom prst="rect">
            <a:avLst/>
          </a:prstGeom>
          <a:noFill/>
          <a:ln/>
        </p:spPr>
        <p:txBody>
          <a:bodyPr wrap="square" lIns="0" tIns="0" rIns="0" bIns="0" rtlCol="0" anchor="t"/>
          <a:lstStyle/>
          <a:p>
            <a:pPr indent="0" marL="0">
              <a:buNone/>
            </a:pPr>
            <a:r>
              <a:rPr lang="en-US" sz="1600" b="1" dirty="0">
                <a:solidFill>
                  <a:srgbClr val="D64545"/>
                </a:solidFill>
                <a:latin typeface="Calibri" pitchFamily="34" charset="0"/>
                <a:ea typeface="Calibri" pitchFamily="34" charset="-122"/>
                <a:cs typeface="Calibri" pitchFamily="34" charset="-120"/>
              </a:rPr>
              <a:t>✕</a:t>
            </a:r>
            <a:endParaRPr lang="en-US" sz="1600" dirty="0"/>
          </a:p>
        </p:txBody>
      </p:sp>
      <p:sp>
        <p:nvSpPr>
          <p:cNvPr id="16" name="Text 13"/>
          <p:cNvSpPr txBox="1"/>
          <p:nvPr/>
        </p:nvSpPr>
        <p:spPr>
          <a:xfrm>
            <a:off x="1207008" y="3972560"/>
            <a:ext cx="4477360"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Takes </a:t>
            </a:r>
            <a:pPr indent="0" marL="0">
              <a:buNone/>
            </a:pPr>
            <a:r>
              <a:rPr lang="en-US" sz="1600" b="1" dirty="0">
                <a:solidFill>
                  <a:srgbClr val="1A2033"/>
                </a:solidFill>
                <a:latin typeface="Calibri" pitchFamily="34" charset="0"/>
                <a:ea typeface="Calibri" pitchFamily="34" charset="-122"/>
                <a:cs typeface="Calibri" pitchFamily="34" charset="-120"/>
              </a:rPr>
              <a:t>days</a:t>
            </a:r>
            <a:pPr indent="0" marL="0">
              <a:buNone/>
            </a:pPr>
            <a:r>
              <a:rPr lang="en-US" sz="1600" dirty="0">
                <a:solidFill>
                  <a:srgbClr val="1A2033"/>
                </a:solidFill>
                <a:latin typeface="Calibri" pitchFamily="34" charset="0"/>
                <a:ea typeface="Calibri" pitchFamily="34" charset="-122"/>
                <a:cs typeface="Calibri" pitchFamily="34" charset="-120"/>
              </a:rPr>
              <a:t> of senior time</a:t>
            </a:r>
            <a:endParaRPr lang="en-US" sz="1600" dirty="0"/>
          </a:p>
        </p:txBody>
      </p:sp>
      <p:sp>
        <p:nvSpPr>
          <p:cNvPr id="17" name="Shape 14"/>
          <p:cNvSpPr/>
          <p:nvPr/>
        </p:nvSpPr>
        <p:spPr>
          <a:xfrm>
            <a:off x="6233008" y="1783080"/>
            <a:ext cx="5410048" cy="2743200"/>
          </a:xfrm>
          <a:prstGeom prst="roundRect">
            <a:avLst>
              <a:gd name="adj" fmla="val 4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8" name="Text 15"/>
          <p:cNvSpPr txBox="1"/>
          <p:nvPr/>
        </p:nvSpPr>
        <p:spPr>
          <a:xfrm>
            <a:off x="6507328" y="1920240"/>
            <a:ext cx="4861408" cy="457200"/>
          </a:xfrm>
          <a:prstGeom prst="rect">
            <a:avLst/>
          </a:prstGeom>
          <a:noFill/>
          <a:ln/>
        </p:spPr>
        <p:txBody>
          <a:bodyPr wrap="square" lIns="0" tIns="0" rIns="0" bIns="0" rtlCol="0" anchor="t"/>
          <a:lstStyle/>
          <a:p>
            <a:pPr indent="0" marL="0">
              <a:buNone/>
            </a:pPr>
            <a:r>
              <a:rPr lang="en-US" sz="1900" b="1" dirty="0">
                <a:solidFill>
                  <a:srgbClr val="0F9D6B"/>
                </a:solidFill>
                <a:latin typeface="Calibri" pitchFamily="34" charset="0"/>
                <a:ea typeface="Calibri" pitchFamily="34" charset="-122"/>
                <a:cs typeface="Calibri" pitchFamily="34" charset="-120"/>
              </a:rPr>
              <a:t>With Nitro</a:t>
            </a:r>
            <a:endParaRPr lang="en-US" sz="1900" dirty="0"/>
          </a:p>
        </p:txBody>
      </p:sp>
      <p:sp>
        <p:nvSpPr>
          <p:cNvPr id="19" name="Text 16"/>
          <p:cNvSpPr txBox="1"/>
          <p:nvPr/>
        </p:nvSpPr>
        <p:spPr>
          <a:xfrm>
            <a:off x="6507328" y="246888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20" name="Text 17"/>
          <p:cNvSpPr txBox="1"/>
          <p:nvPr/>
        </p:nvSpPr>
        <p:spPr>
          <a:xfrm>
            <a:off x="6891376" y="2468880"/>
            <a:ext cx="4477360"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Agents measure the site with real tools</a:t>
            </a:r>
            <a:endParaRPr lang="en-US" sz="1600" dirty="0"/>
          </a:p>
        </p:txBody>
      </p:sp>
      <p:sp>
        <p:nvSpPr>
          <p:cNvPr id="21" name="Text 18"/>
          <p:cNvSpPr txBox="1"/>
          <p:nvPr/>
        </p:nvSpPr>
        <p:spPr>
          <a:xfrm>
            <a:off x="6507328" y="284480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22" name="Text 19"/>
          <p:cNvSpPr txBox="1"/>
          <p:nvPr/>
        </p:nvSpPr>
        <p:spPr>
          <a:xfrm>
            <a:off x="6891376" y="2844800"/>
            <a:ext cx="4477360"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Tech stack read from network traffic</a:t>
            </a:r>
            <a:endParaRPr lang="en-US" sz="1600" dirty="0"/>
          </a:p>
        </p:txBody>
      </p:sp>
      <p:sp>
        <p:nvSpPr>
          <p:cNvPr id="23" name="Text 20"/>
          <p:cNvSpPr txBox="1"/>
          <p:nvPr/>
        </p:nvSpPr>
        <p:spPr>
          <a:xfrm>
            <a:off x="6507328" y="322072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24" name="Text 21"/>
          <p:cNvSpPr txBox="1"/>
          <p:nvPr/>
        </p:nvSpPr>
        <p:spPr>
          <a:xfrm>
            <a:off x="6891376" y="3220720"/>
            <a:ext cx="4477360"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Available experts matched automatically</a:t>
            </a:r>
            <a:endParaRPr lang="en-US" sz="1600" dirty="0"/>
          </a:p>
        </p:txBody>
      </p:sp>
      <p:sp>
        <p:nvSpPr>
          <p:cNvPr id="25" name="Text 22"/>
          <p:cNvSpPr txBox="1"/>
          <p:nvPr/>
        </p:nvSpPr>
        <p:spPr>
          <a:xfrm>
            <a:off x="6507328" y="359664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26" name="Text 23"/>
          <p:cNvSpPr txBox="1"/>
          <p:nvPr/>
        </p:nvSpPr>
        <p:spPr>
          <a:xfrm>
            <a:off x="6891376" y="3596640"/>
            <a:ext cx="4477360"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Deck and proposal drafted</a:t>
            </a:r>
            <a:endParaRPr lang="en-US" sz="1600" dirty="0"/>
          </a:p>
        </p:txBody>
      </p:sp>
      <p:sp>
        <p:nvSpPr>
          <p:cNvPr id="27" name="Text 24"/>
          <p:cNvSpPr txBox="1"/>
          <p:nvPr/>
        </p:nvSpPr>
        <p:spPr>
          <a:xfrm>
            <a:off x="6507328" y="3972560"/>
            <a:ext cx="320040" cy="264160"/>
          </a:xfrm>
          <a:prstGeom prst="rect">
            <a:avLst/>
          </a:prstGeom>
          <a:noFill/>
          <a:ln/>
        </p:spPr>
        <p:txBody>
          <a:bodyPr wrap="square" lIns="0" tIns="0" rIns="0" bIns="0" rtlCol="0" anchor="t"/>
          <a:lstStyle/>
          <a:p>
            <a:pPr indent="0" marL="0">
              <a:buNone/>
            </a:pPr>
            <a:r>
              <a:rPr lang="en-US" sz="1600" b="1" dirty="0">
                <a:solidFill>
                  <a:srgbClr val="0F9D6B"/>
                </a:solidFill>
                <a:latin typeface="Calibri" pitchFamily="34" charset="0"/>
                <a:ea typeface="Calibri" pitchFamily="34" charset="-122"/>
                <a:cs typeface="Calibri" pitchFamily="34" charset="-120"/>
              </a:rPr>
              <a:t>✓</a:t>
            </a:r>
            <a:endParaRPr lang="en-US" sz="1600" dirty="0"/>
          </a:p>
        </p:txBody>
      </p:sp>
      <p:sp>
        <p:nvSpPr>
          <p:cNvPr id="28" name="Text 25"/>
          <p:cNvSpPr txBox="1"/>
          <p:nvPr/>
        </p:nvSpPr>
        <p:spPr>
          <a:xfrm>
            <a:off x="6891376" y="3972560"/>
            <a:ext cx="4477360" cy="264160"/>
          </a:xfrm>
          <a:prstGeom prst="rect">
            <a:avLst/>
          </a:prstGeom>
          <a:noFill/>
          <a:ln/>
        </p:spPr>
        <p:txBody>
          <a:bodyPr wrap="square" lIns="0" tIns="0" rIns="0" bIns="0" rtlCol="0" anchor="t"/>
          <a:lstStyle/>
          <a:p>
            <a:pPr indent="0" marL="0">
              <a:buNone/>
            </a:pPr>
            <a:r>
              <a:rPr lang="en-US" sz="1600" dirty="0">
                <a:solidFill>
                  <a:srgbClr val="1A2033"/>
                </a:solidFill>
                <a:latin typeface="Calibri" pitchFamily="34" charset="0"/>
                <a:ea typeface="Calibri" pitchFamily="34" charset="-122"/>
                <a:cs typeface="Calibri" pitchFamily="34" charset="-120"/>
              </a:rPr>
              <a:t>A run takes </a:t>
            </a:r>
            <a:pPr indent="0" marL="0">
              <a:buNone/>
            </a:pPr>
            <a:r>
              <a:rPr lang="en-US" sz="1600" b="1" dirty="0">
                <a:solidFill>
                  <a:srgbClr val="1A2033"/>
                </a:solidFill>
                <a:latin typeface="Calibri" pitchFamily="34" charset="0"/>
                <a:ea typeface="Calibri" pitchFamily="34" charset="-122"/>
                <a:cs typeface="Calibri" pitchFamily="34" charset="-120"/>
              </a:rPr>
              <a:t>minutes</a:t>
            </a:r>
            <a:pPr indent="0" marL="0">
              <a:buNone/>
            </a:pPr>
            <a:r>
              <a:rPr lang="en-US" sz="1600" dirty="0">
                <a:solidFill>
                  <a:srgbClr val="1A2033"/>
                </a:solidFill>
                <a:latin typeface="Calibri" pitchFamily="34" charset="0"/>
                <a:ea typeface="Calibri" pitchFamily="34" charset="-122"/>
                <a:cs typeface="Calibri" pitchFamily="34" charset="-120"/>
              </a:rPr>
              <a:t>; an expert reviews it</a:t>
            </a:r>
            <a:endParaRPr lang="en-US" sz="1600" dirty="0"/>
          </a:p>
        </p:txBody>
      </p:sp>
      <p:sp>
        <p:nvSpPr>
          <p:cNvPr id="29" name="Shape 26"/>
          <p:cNvSpPr/>
          <p:nvPr/>
        </p:nvSpPr>
        <p:spPr>
          <a:xfrm>
            <a:off x="548640" y="4754880"/>
            <a:ext cx="3545738"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0" name="Text 27"/>
          <p:cNvSpPr txBox="1"/>
          <p:nvPr/>
        </p:nvSpPr>
        <p:spPr>
          <a:xfrm>
            <a:off x="777240" y="4892040"/>
            <a:ext cx="3088538" cy="653796"/>
          </a:xfrm>
          <a:prstGeom prst="rect">
            <a:avLst/>
          </a:prstGeom>
          <a:noFill/>
          <a:ln/>
        </p:spPr>
        <p:txBody>
          <a:bodyPr wrap="square" lIns="0" tIns="0" rIns="0" bIns="0" rtlCol="0" anchor="ctr"/>
          <a:lstStyle/>
          <a:p>
            <a:pPr indent="0" marL="0">
              <a:buNone/>
            </a:pPr>
            <a:r>
              <a:rPr lang="en-US" sz="3600" b="1" dirty="0">
                <a:solidFill>
                  <a:srgbClr val="1A2033"/>
                </a:solidFill>
                <a:latin typeface="Calibri" pitchFamily="34" charset="0"/>
                <a:ea typeface="Calibri" pitchFamily="34" charset="-122"/>
                <a:cs typeface="Calibri" pitchFamily="34" charset="-120"/>
              </a:rPr>
              <a:t>1.5–3 min</a:t>
            </a:r>
            <a:endParaRPr lang="en-US" sz="3600" dirty="0"/>
          </a:p>
        </p:txBody>
      </p:sp>
      <p:sp>
        <p:nvSpPr>
          <p:cNvPr id="31" name="Text 28"/>
          <p:cNvSpPr txBox="1"/>
          <p:nvPr/>
        </p:nvSpPr>
        <p:spPr>
          <a:xfrm>
            <a:off x="777240" y="5491886"/>
            <a:ext cx="3088538" cy="39227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per run in our tests</a:t>
            </a:r>
            <a:endParaRPr lang="en-US" sz="1300" dirty="0"/>
          </a:p>
        </p:txBody>
      </p:sp>
      <p:sp>
        <p:nvSpPr>
          <p:cNvPr id="32" name="Shape 29"/>
          <p:cNvSpPr/>
          <p:nvPr/>
        </p:nvSpPr>
        <p:spPr>
          <a:xfrm>
            <a:off x="4322978" y="4754880"/>
            <a:ext cx="3545738"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3" name="Text 30"/>
          <p:cNvSpPr txBox="1"/>
          <p:nvPr/>
        </p:nvSpPr>
        <p:spPr>
          <a:xfrm>
            <a:off x="4551578" y="4892040"/>
            <a:ext cx="3088538" cy="653796"/>
          </a:xfrm>
          <a:prstGeom prst="rect">
            <a:avLst/>
          </a:prstGeom>
          <a:noFill/>
          <a:ln/>
        </p:spPr>
        <p:txBody>
          <a:bodyPr wrap="square" lIns="0" tIns="0" rIns="0" bIns="0" rtlCol="0" anchor="ctr"/>
          <a:lstStyle/>
          <a:p>
            <a:pPr indent="0" marL="0">
              <a:buNone/>
            </a:pPr>
            <a:r>
              <a:rPr lang="en-US" sz="3600" b="1" dirty="0">
                <a:solidFill>
                  <a:srgbClr val="1A2033"/>
                </a:solidFill>
                <a:latin typeface="Calibri" pitchFamily="34" charset="0"/>
                <a:ea typeface="Calibri" pitchFamily="34" charset="-122"/>
                <a:cs typeface="Calibri" pitchFamily="34" charset="-120"/>
              </a:rPr>
              <a:t>3</a:t>
            </a:r>
            <a:endParaRPr lang="en-US" sz="3600" dirty="0"/>
          </a:p>
        </p:txBody>
      </p:sp>
      <p:sp>
        <p:nvSpPr>
          <p:cNvPr id="34" name="Text 31"/>
          <p:cNvSpPr txBox="1"/>
          <p:nvPr/>
        </p:nvSpPr>
        <p:spPr>
          <a:xfrm>
            <a:off x="4551578" y="5491886"/>
            <a:ext cx="3088538" cy="39227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runs at the same time in the app</a:t>
            </a:r>
            <a:endParaRPr lang="en-US" sz="1300" dirty="0"/>
          </a:p>
        </p:txBody>
      </p:sp>
      <p:sp>
        <p:nvSpPr>
          <p:cNvPr id="35" name="Shape 32"/>
          <p:cNvSpPr/>
          <p:nvPr/>
        </p:nvSpPr>
        <p:spPr>
          <a:xfrm>
            <a:off x="8097317" y="4754880"/>
            <a:ext cx="3545738" cy="1188720"/>
          </a:xfrm>
          <a:prstGeom prst="roundRect">
            <a:avLst>
              <a:gd name="adj" fmla="val 9231"/>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6" name="Text 33"/>
          <p:cNvSpPr txBox="1"/>
          <p:nvPr/>
        </p:nvSpPr>
        <p:spPr>
          <a:xfrm>
            <a:off x="8325917" y="4892040"/>
            <a:ext cx="3088538" cy="653796"/>
          </a:xfrm>
          <a:prstGeom prst="rect">
            <a:avLst/>
          </a:prstGeom>
          <a:noFill/>
          <a:ln/>
        </p:spPr>
        <p:txBody>
          <a:bodyPr wrap="square" lIns="0" tIns="0" rIns="0" bIns="0" rtlCol="0" anchor="ctr"/>
          <a:lstStyle/>
          <a:p>
            <a:pPr indent="0" marL="0">
              <a:buNone/>
            </a:pPr>
            <a:r>
              <a:rPr lang="en-US" sz="3600" b="1" dirty="0">
                <a:solidFill>
                  <a:srgbClr val="0F9D6B"/>
                </a:solidFill>
                <a:latin typeface="Calibri" pitchFamily="34" charset="0"/>
                <a:ea typeface="Calibri" pitchFamily="34" charset="-122"/>
                <a:cs typeface="Calibri" pitchFamily="34" charset="-120"/>
              </a:rPr>
              <a:t>24x7</a:t>
            </a:r>
            <a:endParaRPr lang="en-US" sz="3600" dirty="0"/>
          </a:p>
        </p:txBody>
      </p:sp>
      <p:sp>
        <p:nvSpPr>
          <p:cNvPr id="37" name="Text 34"/>
          <p:cNvSpPr txBox="1"/>
          <p:nvPr/>
        </p:nvSpPr>
        <p:spPr>
          <a:xfrm>
            <a:off x="8325917" y="5491886"/>
            <a:ext cx="3088538" cy="392278"/>
          </a:xfrm>
          <a:prstGeom prst="rect">
            <a:avLst/>
          </a:prstGeom>
          <a:noFill/>
          <a:ln/>
        </p:spPr>
        <p:txBody>
          <a:bodyPr wrap="square" lIns="0" tIns="0" rIns="0" bIns="0" rtlCol="0" anchor="t"/>
          <a:lstStyle/>
          <a:p>
            <a:pPr indent="0" marL="0">
              <a:buNone/>
            </a:pPr>
            <a:r>
              <a:rPr lang="en-US" sz="1300" dirty="0">
                <a:solidFill>
                  <a:srgbClr val="667089"/>
                </a:solidFill>
                <a:latin typeface="Calibri" pitchFamily="34" charset="0"/>
                <a:ea typeface="Calibri" pitchFamily="34" charset="-122"/>
                <a:cs typeface="Calibri" pitchFamily="34" charset="-120"/>
              </a:rPr>
              <a:t>agents can keep running</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AGENT MARKETPLACE · BUILT IN THE APP</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A marketplace of agents to showcase across the org</a:t>
            </a:r>
            <a:endParaRPr lang="en-US" sz="3400" dirty="0"/>
          </a:p>
        </p:txBody>
      </p:sp>
      <p:sp>
        <p:nvSpPr>
          <p:cNvPr id="5" name="Shape 2"/>
          <p:cNvSpPr/>
          <p:nvPr/>
        </p:nvSpPr>
        <p:spPr>
          <a:xfrm>
            <a:off x="548640" y="1737360"/>
            <a:ext cx="1757629" cy="457200"/>
          </a:xfrm>
          <a:prstGeom prst="roundRect">
            <a:avLst>
              <a:gd name="adj" fmla="val 24000"/>
            </a:avLst>
          </a:prstGeom>
          <a:solidFill>
            <a:srgbClr val="FFFFFF"/>
          </a:solidFill>
          <a:ln w="15875">
            <a:solidFill>
              <a:srgbClr val="0F9D6B"/>
            </a:solidFill>
            <a:prstDash val="solid"/>
          </a:ln>
        </p:spPr>
      </p:sp>
      <p:pic>
        <p:nvPicPr>
          <p:cNvPr id="6" name="Image 0" descr="Coordinator agent, pixel robot">    </p:cNvPr>
          <p:cNvPicPr>
            <a:picLocks noChangeAspect="1"/>
          </p:cNvPicPr>
          <p:nvPr/>
        </p:nvPicPr>
        <p:blipFill>
          <a:blip r:embed="rId1"/>
          <a:stretch>
            <a:fillRect/>
          </a:stretch>
        </p:blipFill>
        <p:spPr>
          <a:xfrm>
            <a:off x="640080" y="1792224"/>
            <a:ext cx="256032" cy="347472"/>
          </a:xfrm>
          <a:prstGeom prst="rect">
            <a:avLst/>
          </a:prstGeom>
        </p:spPr>
      </p:pic>
      <p:sp>
        <p:nvSpPr>
          <p:cNvPr id="7" name="Text 3"/>
          <p:cNvSpPr txBox="1"/>
          <p:nvPr/>
        </p:nvSpPr>
        <p:spPr>
          <a:xfrm>
            <a:off x="978408" y="1737360"/>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Coordinator</a:t>
            </a:r>
            <a:endParaRPr lang="en-US" sz="1100" dirty="0"/>
          </a:p>
        </p:txBody>
      </p:sp>
      <p:sp>
        <p:nvSpPr>
          <p:cNvPr id="8" name="Shape 4"/>
          <p:cNvSpPr/>
          <p:nvPr/>
        </p:nvSpPr>
        <p:spPr>
          <a:xfrm>
            <a:off x="2415997" y="1737360"/>
            <a:ext cx="1757629" cy="457200"/>
          </a:xfrm>
          <a:prstGeom prst="roundRect">
            <a:avLst>
              <a:gd name="adj" fmla="val 24000"/>
            </a:avLst>
          </a:prstGeom>
          <a:solidFill>
            <a:srgbClr val="FFFFFF"/>
          </a:solidFill>
          <a:ln w="15875">
            <a:solidFill>
              <a:srgbClr val="0F9D6B"/>
            </a:solidFill>
            <a:prstDash val="solid"/>
          </a:ln>
        </p:spPr>
      </p:sp>
      <p:pic>
        <p:nvPicPr>
          <p:cNvPr id="9" name="Image 1" descr="undefined agent, pixel robot">    </p:cNvPr>
          <p:cNvPicPr>
            <a:picLocks noChangeAspect="1"/>
          </p:cNvPicPr>
          <p:nvPr/>
        </p:nvPicPr>
        <p:blipFill>
          <a:blip r:embed="rId2"/>
          <a:stretch>
            <a:fillRect/>
          </a:stretch>
        </p:blipFill>
        <p:spPr>
          <a:xfrm>
            <a:off x="2507437" y="1792224"/>
            <a:ext cx="256032" cy="347472"/>
          </a:xfrm>
          <a:prstGeom prst="rect">
            <a:avLst/>
          </a:prstGeom>
        </p:spPr>
      </p:pic>
      <p:sp>
        <p:nvSpPr>
          <p:cNvPr id="10" name="Text 5"/>
          <p:cNvSpPr txBox="1"/>
          <p:nvPr/>
        </p:nvSpPr>
        <p:spPr>
          <a:xfrm>
            <a:off x="2845765" y="1737360"/>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Market Researcher</a:t>
            </a:r>
            <a:endParaRPr lang="en-US" sz="1100" dirty="0"/>
          </a:p>
        </p:txBody>
      </p:sp>
      <p:sp>
        <p:nvSpPr>
          <p:cNvPr id="11" name="Shape 6"/>
          <p:cNvSpPr/>
          <p:nvPr/>
        </p:nvSpPr>
        <p:spPr>
          <a:xfrm>
            <a:off x="4283354" y="1737360"/>
            <a:ext cx="1757629" cy="457200"/>
          </a:xfrm>
          <a:prstGeom prst="roundRect">
            <a:avLst>
              <a:gd name="adj" fmla="val 24000"/>
            </a:avLst>
          </a:prstGeom>
          <a:solidFill>
            <a:srgbClr val="FFFFFF"/>
          </a:solidFill>
          <a:ln w="15875">
            <a:solidFill>
              <a:srgbClr val="B7791F"/>
            </a:solidFill>
            <a:prstDash val="solid"/>
          </a:ln>
        </p:spPr>
      </p:sp>
      <p:pic>
        <p:nvPicPr>
          <p:cNvPr id="12" name="Image 2" descr="gov icon">    </p:cNvPr>
          <p:cNvPicPr>
            <a:picLocks noChangeAspect="1"/>
          </p:cNvPicPr>
          <p:nvPr/>
        </p:nvPicPr>
        <p:blipFill>
          <a:blip r:embed="rId3"/>
          <a:stretch>
            <a:fillRect/>
          </a:stretch>
        </p:blipFill>
        <p:spPr>
          <a:xfrm>
            <a:off x="4356506" y="1810512"/>
            <a:ext cx="310896" cy="310896"/>
          </a:xfrm>
          <a:prstGeom prst="rect">
            <a:avLst/>
          </a:prstGeom>
        </p:spPr>
      </p:pic>
      <p:sp>
        <p:nvSpPr>
          <p:cNvPr id="13" name="Text 7"/>
          <p:cNvSpPr txBox="1"/>
          <p:nvPr/>
        </p:nvSpPr>
        <p:spPr>
          <a:xfrm>
            <a:off x="4713122" y="1737360"/>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Tender Scout</a:t>
            </a:r>
            <a:endParaRPr lang="en-US" sz="1100" dirty="0"/>
          </a:p>
        </p:txBody>
      </p:sp>
      <p:sp>
        <p:nvSpPr>
          <p:cNvPr id="14" name="Shape 8"/>
          <p:cNvSpPr/>
          <p:nvPr/>
        </p:nvSpPr>
        <p:spPr>
          <a:xfrm>
            <a:off x="6150712" y="1737360"/>
            <a:ext cx="1757629" cy="457200"/>
          </a:xfrm>
          <a:prstGeom prst="roundRect">
            <a:avLst>
              <a:gd name="adj" fmla="val 24000"/>
            </a:avLst>
          </a:prstGeom>
          <a:solidFill>
            <a:srgbClr val="FFFFFF"/>
          </a:solidFill>
          <a:ln w="15875">
            <a:solidFill>
              <a:srgbClr val="0F9D6B"/>
            </a:solidFill>
            <a:prstDash val="solid"/>
          </a:ln>
        </p:spPr>
      </p:sp>
      <p:pic>
        <p:nvPicPr>
          <p:cNvPr id="15" name="Image 3" descr="Site Auditor agent, pixel robot">    </p:cNvPr>
          <p:cNvPicPr>
            <a:picLocks noChangeAspect="1"/>
          </p:cNvPicPr>
          <p:nvPr/>
        </p:nvPicPr>
        <p:blipFill>
          <a:blip r:embed="rId4"/>
          <a:stretch>
            <a:fillRect/>
          </a:stretch>
        </p:blipFill>
        <p:spPr>
          <a:xfrm>
            <a:off x="6242152" y="1792224"/>
            <a:ext cx="256032" cy="347472"/>
          </a:xfrm>
          <a:prstGeom prst="rect">
            <a:avLst/>
          </a:prstGeom>
        </p:spPr>
      </p:pic>
      <p:sp>
        <p:nvSpPr>
          <p:cNvPr id="16" name="Text 9"/>
          <p:cNvSpPr txBox="1"/>
          <p:nvPr/>
        </p:nvSpPr>
        <p:spPr>
          <a:xfrm>
            <a:off x="6580480" y="1737360"/>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Site Auditor</a:t>
            </a:r>
            <a:endParaRPr lang="en-US" sz="1100" dirty="0"/>
          </a:p>
        </p:txBody>
      </p:sp>
      <p:sp>
        <p:nvSpPr>
          <p:cNvPr id="17" name="Shape 10"/>
          <p:cNvSpPr/>
          <p:nvPr/>
        </p:nvSpPr>
        <p:spPr>
          <a:xfrm>
            <a:off x="8018069" y="1737360"/>
            <a:ext cx="1757629" cy="457200"/>
          </a:xfrm>
          <a:prstGeom prst="roundRect">
            <a:avLst>
              <a:gd name="adj" fmla="val 24000"/>
            </a:avLst>
          </a:prstGeom>
          <a:solidFill>
            <a:srgbClr val="FFFFFF"/>
          </a:solidFill>
          <a:ln w="15875">
            <a:solidFill>
              <a:srgbClr val="0F9D6B"/>
            </a:solidFill>
            <a:prstDash val="solid"/>
          </a:ln>
        </p:spPr>
      </p:sp>
      <p:pic>
        <p:nvPicPr>
          <p:cNvPr id="18" name="Image 4" descr="Tech Detector agent, pixel robot">    </p:cNvPr>
          <p:cNvPicPr>
            <a:picLocks noChangeAspect="1"/>
          </p:cNvPicPr>
          <p:nvPr/>
        </p:nvPicPr>
        <p:blipFill>
          <a:blip r:embed="rId5"/>
          <a:stretch>
            <a:fillRect/>
          </a:stretch>
        </p:blipFill>
        <p:spPr>
          <a:xfrm>
            <a:off x="8109509" y="1792224"/>
            <a:ext cx="256032" cy="347472"/>
          </a:xfrm>
          <a:prstGeom prst="rect">
            <a:avLst/>
          </a:prstGeom>
        </p:spPr>
      </p:pic>
      <p:sp>
        <p:nvSpPr>
          <p:cNvPr id="19" name="Text 11"/>
          <p:cNvSpPr txBox="1"/>
          <p:nvPr/>
        </p:nvSpPr>
        <p:spPr>
          <a:xfrm>
            <a:off x="8447837" y="1737360"/>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Tech Detector</a:t>
            </a:r>
            <a:endParaRPr lang="en-US" sz="1100" dirty="0"/>
          </a:p>
        </p:txBody>
      </p:sp>
      <p:sp>
        <p:nvSpPr>
          <p:cNvPr id="20" name="Shape 12"/>
          <p:cNvSpPr/>
          <p:nvPr/>
        </p:nvSpPr>
        <p:spPr>
          <a:xfrm>
            <a:off x="9885426" y="1737360"/>
            <a:ext cx="1757629" cy="457200"/>
          </a:xfrm>
          <a:prstGeom prst="roundRect">
            <a:avLst>
              <a:gd name="adj" fmla="val 24000"/>
            </a:avLst>
          </a:prstGeom>
          <a:solidFill>
            <a:srgbClr val="FFFFFF"/>
          </a:solidFill>
          <a:ln w="15875">
            <a:solidFill>
              <a:srgbClr val="0F9D6B"/>
            </a:solidFill>
            <a:prstDash val="solid"/>
          </a:ln>
        </p:spPr>
      </p:sp>
      <p:pic>
        <p:nvPicPr>
          <p:cNvPr id="21" name="Image 5" descr="Speed Tester agent, pixel robot">    </p:cNvPr>
          <p:cNvPicPr>
            <a:picLocks noChangeAspect="1"/>
          </p:cNvPicPr>
          <p:nvPr/>
        </p:nvPicPr>
        <p:blipFill>
          <a:blip r:embed="rId6"/>
          <a:stretch>
            <a:fillRect/>
          </a:stretch>
        </p:blipFill>
        <p:spPr>
          <a:xfrm>
            <a:off x="9976866" y="1792224"/>
            <a:ext cx="256032" cy="347472"/>
          </a:xfrm>
          <a:prstGeom prst="rect">
            <a:avLst/>
          </a:prstGeom>
        </p:spPr>
      </p:pic>
      <p:sp>
        <p:nvSpPr>
          <p:cNvPr id="22" name="Text 13"/>
          <p:cNvSpPr txBox="1"/>
          <p:nvPr/>
        </p:nvSpPr>
        <p:spPr>
          <a:xfrm>
            <a:off x="10315194" y="1737360"/>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Speed Tester</a:t>
            </a:r>
            <a:endParaRPr lang="en-US" sz="1100" dirty="0"/>
          </a:p>
        </p:txBody>
      </p:sp>
      <p:sp>
        <p:nvSpPr>
          <p:cNvPr id="23" name="Shape 14"/>
          <p:cNvSpPr/>
          <p:nvPr/>
        </p:nvSpPr>
        <p:spPr>
          <a:xfrm>
            <a:off x="548640" y="2304288"/>
            <a:ext cx="1757629" cy="457200"/>
          </a:xfrm>
          <a:prstGeom prst="roundRect">
            <a:avLst>
              <a:gd name="adj" fmla="val 24000"/>
            </a:avLst>
          </a:prstGeom>
          <a:solidFill>
            <a:srgbClr val="FFFFFF"/>
          </a:solidFill>
          <a:ln w="15875">
            <a:solidFill>
              <a:srgbClr val="0F9D6B"/>
            </a:solidFill>
            <a:prstDash val="solid"/>
          </a:ln>
        </p:spPr>
      </p:sp>
      <p:pic>
        <p:nvPicPr>
          <p:cNvPr id="24" name="Image 6" descr="Mobile Tester agent, pixel robot">    </p:cNvPr>
          <p:cNvPicPr>
            <a:picLocks noChangeAspect="1"/>
          </p:cNvPicPr>
          <p:nvPr/>
        </p:nvPicPr>
        <p:blipFill>
          <a:blip r:embed="rId7"/>
          <a:stretch>
            <a:fillRect/>
          </a:stretch>
        </p:blipFill>
        <p:spPr>
          <a:xfrm>
            <a:off x="640080" y="2359152"/>
            <a:ext cx="256032" cy="347472"/>
          </a:xfrm>
          <a:prstGeom prst="rect">
            <a:avLst/>
          </a:prstGeom>
        </p:spPr>
      </p:pic>
      <p:sp>
        <p:nvSpPr>
          <p:cNvPr id="25" name="Text 15"/>
          <p:cNvSpPr txBox="1"/>
          <p:nvPr/>
        </p:nvSpPr>
        <p:spPr>
          <a:xfrm>
            <a:off x="978408" y="2304288"/>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Mobile Tester</a:t>
            </a:r>
            <a:endParaRPr lang="en-US" sz="1100" dirty="0"/>
          </a:p>
        </p:txBody>
      </p:sp>
      <p:sp>
        <p:nvSpPr>
          <p:cNvPr id="26" name="Shape 16"/>
          <p:cNvSpPr/>
          <p:nvPr/>
        </p:nvSpPr>
        <p:spPr>
          <a:xfrm>
            <a:off x="2415997" y="2304288"/>
            <a:ext cx="1757629" cy="457200"/>
          </a:xfrm>
          <a:prstGeom prst="roundRect">
            <a:avLst>
              <a:gd name="adj" fmla="val 24000"/>
            </a:avLst>
          </a:prstGeom>
          <a:solidFill>
            <a:srgbClr val="FFFFFF"/>
          </a:solidFill>
          <a:ln w="15875">
            <a:solidFill>
              <a:srgbClr val="0F9D6B"/>
            </a:solidFill>
            <a:prstDash val="solid"/>
          </a:ln>
        </p:spPr>
      </p:sp>
      <p:pic>
        <p:nvPicPr>
          <p:cNvPr id="27" name="Image 7" descr="Accessibility Checker agent, pixel robot">    </p:cNvPr>
          <p:cNvPicPr>
            <a:picLocks noChangeAspect="1"/>
          </p:cNvPicPr>
          <p:nvPr/>
        </p:nvPicPr>
        <p:blipFill>
          <a:blip r:embed="rId8"/>
          <a:stretch>
            <a:fillRect/>
          </a:stretch>
        </p:blipFill>
        <p:spPr>
          <a:xfrm>
            <a:off x="2507437" y="2359152"/>
            <a:ext cx="256032" cy="347472"/>
          </a:xfrm>
          <a:prstGeom prst="rect">
            <a:avLst/>
          </a:prstGeom>
        </p:spPr>
      </p:pic>
      <p:sp>
        <p:nvSpPr>
          <p:cNvPr id="28" name="Text 17"/>
          <p:cNvSpPr txBox="1"/>
          <p:nvPr/>
        </p:nvSpPr>
        <p:spPr>
          <a:xfrm>
            <a:off x="2845765" y="2304288"/>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Accessibility Checker</a:t>
            </a:r>
            <a:endParaRPr lang="en-US" sz="1100" dirty="0"/>
          </a:p>
        </p:txBody>
      </p:sp>
      <p:sp>
        <p:nvSpPr>
          <p:cNvPr id="29" name="Shape 18"/>
          <p:cNvSpPr/>
          <p:nvPr/>
        </p:nvSpPr>
        <p:spPr>
          <a:xfrm>
            <a:off x="4283354" y="2304288"/>
            <a:ext cx="1757629" cy="457200"/>
          </a:xfrm>
          <a:prstGeom prst="roundRect">
            <a:avLst>
              <a:gd name="adj" fmla="val 24000"/>
            </a:avLst>
          </a:prstGeom>
          <a:solidFill>
            <a:srgbClr val="FFFFFF"/>
          </a:solidFill>
          <a:ln w="15875">
            <a:solidFill>
              <a:srgbClr val="0F9D6B"/>
            </a:solidFill>
            <a:prstDash val="solid"/>
          </a:ln>
        </p:spPr>
      </p:sp>
      <p:pic>
        <p:nvPicPr>
          <p:cNvPr id="30" name="Image 8" descr="UX Reviewer agent, pixel robot">    </p:cNvPr>
          <p:cNvPicPr>
            <a:picLocks noChangeAspect="1"/>
          </p:cNvPicPr>
          <p:nvPr/>
        </p:nvPicPr>
        <p:blipFill>
          <a:blip r:embed="rId9"/>
          <a:stretch>
            <a:fillRect/>
          </a:stretch>
        </p:blipFill>
        <p:spPr>
          <a:xfrm>
            <a:off x="4374794" y="2359152"/>
            <a:ext cx="256032" cy="347472"/>
          </a:xfrm>
          <a:prstGeom prst="rect">
            <a:avLst/>
          </a:prstGeom>
        </p:spPr>
      </p:pic>
      <p:sp>
        <p:nvSpPr>
          <p:cNvPr id="31" name="Text 19"/>
          <p:cNvSpPr txBox="1"/>
          <p:nvPr/>
        </p:nvSpPr>
        <p:spPr>
          <a:xfrm>
            <a:off x="4713122" y="2304288"/>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UX Reviewer</a:t>
            </a:r>
            <a:endParaRPr lang="en-US" sz="1100" dirty="0"/>
          </a:p>
        </p:txBody>
      </p:sp>
      <p:sp>
        <p:nvSpPr>
          <p:cNvPr id="32" name="Shape 20"/>
          <p:cNvSpPr/>
          <p:nvPr/>
        </p:nvSpPr>
        <p:spPr>
          <a:xfrm>
            <a:off x="6150712" y="2304288"/>
            <a:ext cx="1757629" cy="457200"/>
          </a:xfrm>
          <a:prstGeom prst="roundRect">
            <a:avLst>
              <a:gd name="adj" fmla="val 24000"/>
            </a:avLst>
          </a:prstGeom>
          <a:solidFill>
            <a:srgbClr val="FFFFFF"/>
          </a:solidFill>
          <a:ln w="15875">
            <a:solidFill>
              <a:srgbClr val="0F9D6B"/>
            </a:solidFill>
            <a:prstDash val="solid"/>
          </a:ln>
        </p:spPr>
      </p:sp>
      <p:pic>
        <p:nvPicPr>
          <p:cNvPr id="33" name="Image 9" descr="AI-Search Checker agent, pixel robot">    </p:cNvPr>
          <p:cNvPicPr>
            <a:picLocks noChangeAspect="1"/>
          </p:cNvPicPr>
          <p:nvPr/>
        </p:nvPicPr>
        <p:blipFill>
          <a:blip r:embed="rId10"/>
          <a:stretch>
            <a:fillRect/>
          </a:stretch>
        </p:blipFill>
        <p:spPr>
          <a:xfrm>
            <a:off x="6242152" y="2359152"/>
            <a:ext cx="256032" cy="347472"/>
          </a:xfrm>
          <a:prstGeom prst="rect">
            <a:avLst/>
          </a:prstGeom>
        </p:spPr>
      </p:pic>
      <p:sp>
        <p:nvSpPr>
          <p:cNvPr id="34" name="Text 21"/>
          <p:cNvSpPr txBox="1"/>
          <p:nvPr/>
        </p:nvSpPr>
        <p:spPr>
          <a:xfrm>
            <a:off x="6580480" y="2304288"/>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AI-Search Checker</a:t>
            </a:r>
            <a:endParaRPr lang="en-US" sz="1100" dirty="0"/>
          </a:p>
        </p:txBody>
      </p:sp>
      <p:sp>
        <p:nvSpPr>
          <p:cNvPr id="35" name="Shape 22"/>
          <p:cNvSpPr/>
          <p:nvPr/>
        </p:nvSpPr>
        <p:spPr>
          <a:xfrm>
            <a:off x="8018069" y="2304288"/>
            <a:ext cx="1757629" cy="457200"/>
          </a:xfrm>
          <a:prstGeom prst="roundRect">
            <a:avLst>
              <a:gd name="adj" fmla="val 24000"/>
            </a:avLst>
          </a:prstGeom>
          <a:solidFill>
            <a:srgbClr val="FFFFFF"/>
          </a:solidFill>
          <a:ln w="15875">
            <a:solidFill>
              <a:srgbClr val="0F9D6B"/>
            </a:solidFill>
            <a:prstDash val="solid"/>
          </a:ln>
        </p:spPr>
      </p:sp>
      <p:pic>
        <p:nvPicPr>
          <p:cNvPr id="36" name="Image 10" descr="Designer agent, pixel robot">    </p:cNvPr>
          <p:cNvPicPr>
            <a:picLocks noChangeAspect="1"/>
          </p:cNvPicPr>
          <p:nvPr/>
        </p:nvPicPr>
        <p:blipFill>
          <a:blip r:embed="rId11"/>
          <a:stretch>
            <a:fillRect/>
          </a:stretch>
        </p:blipFill>
        <p:spPr>
          <a:xfrm>
            <a:off x="8109509" y="2359152"/>
            <a:ext cx="256032" cy="347472"/>
          </a:xfrm>
          <a:prstGeom prst="rect">
            <a:avLst/>
          </a:prstGeom>
        </p:spPr>
      </p:pic>
      <p:sp>
        <p:nvSpPr>
          <p:cNvPr id="37" name="Text 23"/>
          <p:cNvSpPr txBox="1"/>
          <p:nvPr/>
        </p:nvSpPr>
        <p:spPr>
          <a:xfrm>
            <a:off x="8447837" y="2304288"/>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Designer</a:t>
            </a:r>
            <a:endParaRPr lang="en-US" sz="1100" dirty="0"/>
          </a:p>
        </p:txBody>
      </p:sp>
      <p:sp>
        <p:nvSpPr>
          <p:cNvPr id="38" name="Shape 24"/>
          <p:cNvSpPr/>
          <p:nvPr/>
        </p:nvSpPr>
        <p:spPr>
          <a:xfrm>
            <a:off x="9885426" y="2304288"/>
            <a:ext cx="1757629" cy="457200"/>
          </a:xfrm>
          <a:prstGeom prst="roundRect">
            <a:avLst>
              <a:gd name="adj" fmla="val 24000"/>
            </a:avLst>
          </a:prstGeom>
          <a:solidFill>
            <a:srgbClr val="FFFFFF"/>
          </a:solidFill>
          <a:ln w="15875">
            <a:solidFill>
              <a:srgbClr val="0F9D6B"/>
            </a:solidFill>
            <a:prstDash val="solid"/>
          </a:ln>
        </p:spPr>
      </p:sp>
      <p:pic>
        <p:nvPicPr>
          <p:cNvPr id="39" name="Image 11" descr="Team Matcher agent, pixel robot">    </p:cNvPr>
          <p:cNvPicPr>
            <a:picLocks noChangeAspect="1"/>
          </p:cNvPicPr>
          <p:nvPr/>
        </p:nvPicPr>
        <p:blipFill>
          <a:blip r:embed="rId12"/>
          <a:stretch>
            <a:fillRect/>
          </a:stretch>
        </p:blipFill>
        <p:spPr>
          <a:xfrm>
            <a:off x="9976866" y="2359152"/>
            <a:ext cx="256032" cy="347472"/>
          </a:xfrm>
          <a:prstGeom prst="rect">
            <a:avLst/>
          </a:prstGeom>
        </p:spPr>
      </p:pic>
      <p:sp>
        <p:nvSpPr>
          <p:cNvPr id="40" name="Text 25"/>
          <p:cNvSpPr txBox="1"/>
          <p:nvPr/>
        </p:nvSpPr>
        <p:spPr>
          <a:xfrm>
            <a:off x="10315194" y="2304288"/>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Team Matcher</a:t>
            </a:r>
            <a:endParaRPr lang="en-US" sz="1100" dirty="0"/>
          </a:p>
        </p:txBody>
      </p:sp>
      <p:sp>
        <p:nvSpPr>
          <p:cNvPr id="41" name="Shape 26"/>
          <p:cNvSpPr/>
          <p:nvPr/>
        </p:nvSpPr>
        <p:spPr>
          <a:xfrm>
            <a:off x="548640" y="2871216"/>
            <a:ext cx="1757629" cy="457200"/>
          </a:xfrm>
          <a:prstGeom prst="roundRect">
            <a:avLst>
              <a:gd name="adj" fmla="val 24000"/>
            </a:avLst>
          </a:prstGeom>
          <a:solidFill>
            <a:srgbClr val="FFFFFF"/>
          </a:solidFill>
          <a:ln w="15875">
            <a:solidFill>
              <a:srgbClr val="0F9D6B"/>
            </a:solidFill>
            <a:prstDash val="solid"/>
          </a:ln>
        </p:spPr>
      </p:sp>
      <p:pic>
        <p:nvPicPr>
          <p:cNvPr id="42" name="Image 12" descr="Deck Writer agent, pixel robot">    </p:cNvPr>
          <p:cNvPicPr>
            <a:picLocks noChangeAspect="1"/>
          </p:cNvPicPr>
          <p:nvPr/>
        </p:nvPicPr>
        <p:blipFill>
          <a:blip r:embed="rId13"/>
          <a:stretch>
            <a:fillRect/>
          </a:stretch>
        </p:blipFill>
        <p:spPr>
          <a:xfrm>
            <a:off x="640080" y="2926080"/>
            <a:ext cx="256032" cy="347472"/>
          </a:xfrm>
          <a:prstGeom prst="rect">
            <a:avLst/>
          </a:prstGeom>
        </p:spPr>
      </p:pic>
      <p:sp>
        <p:nvSpPr>
          <p:cNvPr id="43" name="Text 27"/>
          <p:cNvSpPr txBox="1"/>
          <p:nvPr/>
        </p:nvSpPr>
        <p:spPr>
          <a:xfrm>
            <a:off x="978408" y="2871216"/>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Deck Writer</a:t>
            </a:r>
            <a:endParaRPr lang="en-US" sz="1100" dirty="0"/>
          </a:p>
        </p:txBody>
      </p:sp>
      <p:sp>
        <p:nvSpPr>
          <p:cNvPr id="44" name="Shape 28"/>
          <p:cNvSpPr/>
          <p:nvPr/>
        </p:nvSpPr>
        <p:spPr>
          <a:xfrm>
            <a:off x="2415997" y="2871216"/>
            <a:ext cx="1757629" cy="457200"/>
          </a:xfrm>
          <a:prstGeom prst="roundRect">
            <a:avLst>
              <a:gd name="adj" fmla="val 24000"/>
            </a:avLst>
          </a:prstGeom>
          <a:solidFill>
            <a:srgbClr val="FFFFFF"/>
          </a:solidFill>
          <a:ln w="15875">
            <a:solidFill>
              <a:srgbClr val="B7791F"/>
            </a:solidFill>
            <a:prstDash val="solid"/>
          </a:ln>
        </p:spPr>
      </p:sp>
      <p:pic>
        <p:nvPicPr>
          <p:cNvPr id="45" name="Image 13" descr="scale icon">    </p:cNvPr>
          <p:cNvPicPr>
            <a:picLocks noChangeAspect="1"/>
          </p:cNvPicPr>
          <p:nvPr/>
        </p:nvPicPr>
        <p:blipFill>
          <a:blip r:embed="rId14"/>
          <a:stretch>
            <a:fillRect/>
          </a:stretch>
        </p:blipFill>
        <p:spPr>
          <a:xfrm>
            <a:off x="2489149" y="2944368"/>
            <a:ext cx="310896" cy="310896"/>
          </a:xfrm>
          <a:prstGeom prst="rect">
            <a:avLst/>
          </a:prstGeom>
        </p:spPr>
      </p:pic>
      <p:sp>
        <p:nvSpPr>
          <p:cNvPr id="46" name="Text 29"/>
          <p:cNvSpPr txBox="1"/>
          <p:nvPr/>
        </p:nvSpPr>
        <p:spPr>
          <a:xfrm>
            <a:off x="2845765" y="2871216"/>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LLM Scorer</a:t>
            </a:r>
            <a:endParaRPr lang="en-US" sz="1100" dirty="0"/>
          </a:p>
        </p:txBody>
      </p:sp>
      <p:sp>
        <p:nvSpPr>
          <p:cNvPr id="47" name="Shape 30"/>
          <p:cNvSpPr/>
          <p:nvPr/>
        </p:nvSpPr>
        <p:spPr>
          <a:xfrm>
            <a:off x="4283354" y="2871216"/>
            <a:ext cx="1757629" cy="457200"/>
          </a:xfrm>
          <a:prstGeom prst="roundRect">
            <a:avLst>
              <a:gd name="adj" fmla="val 24000"/>
            </a:avLst>
          </a:prstGeom>
          <a:solidFill>
            <a:srgbClr val="FFFFFF"/>
          </a:solidFill>
          <a:ln w="15875">
            <a:solidFill>
              <a:srgbClr val="DFE3EE"/>
            </a:solidFill>
            <a:prstDash val="dash"/>
          </a:ln>
        </p:spPr>
      </p:sp>
      <p:pic>
        <p:nvPicPr>
          <p:cNvPr id="48" name="Image 14" descr="walk icon">    </p:cNvPr>
          <p:cNvPicPr>
            <a:picLocks noChangeAspect="1"/>
          </p:cNvPicPr>
          <p:nvPr/>
        </p:nvPicPr>
        <p:blipFill>
          <a:blip r:embed="rId15"/>
          <a:stretch>
            <a:fillRect/>
          </a:stretch>
        </p:blipFill>
        <p:spPr>
          <a:xfrm>
            <a:off x="4356506" y="2944368"/>
            <a:ext cx="310896" cy="310896"/>
          </a:xfrm>
          <a:prstGeom prst="rect">
            <a:avLst/>
          </a:prstGeom>
        </p:spPr>
      </p:pic>
      <p:sp>
        <p:nvSpPr>
          <p:cNvPr id="49" name="Text 31"/>
          <p:cNvSpPr txBox="1"/>
          <p:nvPr/>
        </p:nvSpPr>
        <p:spPr>
          <a:xfrm>
            <a:off x="4713122" y="2871216"/>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Journey Runner</a:t>
            </a:r>
            <a:endParaRPr lang="en-US" sz="1100" dirty="0"/>
          </a:p>
        </p:txBody>
      </p:sp>
      <p:sp>
        <p:nvSpPr>
          <p:cNvPr id="50" name="Shape 32"/>
          <p:cNvSpPr/>
          <p:nvPr/>
        </p:nvSpPr>
        <p:spPr>
          <a:xfrm>
            <a:off x="6150712" y="2871216"/>
            <a:ext cx="1757629" cy="457200"/>
          </a:xfrm>
          <a:prstGeom prst="roundRect">
            <a:avLst>
              <a:gd name="adj" fmla="val 24000"/>
            </a:avLst>
          </a:prstGeom>
          <a:solidFill>
            <a:srgbClr val="FFFFFF"/>
          </a:solidFill>
          <a:ln w="15875">
            <a:solidFill>
              <a:srgbClr val="DFE3EE"/>
            </a:solidFill>
            <a:prstDash val="dash"/>
          </a:ln>
        </p:spPr>
      </p:sp>
      <p:pic>
        <p:nvPicPr>
          <p:cNvPr id="51" name="Image 15" descr="test icon">    </p:cNvPr>
          <p:cNvPicPr>
            <a:picLocks noChangeAspect="1"/>
          </p:cNvPicPr>
          <p:nvPr/>
        </p:nvPicPr>
        <p:blipFill>
          <a:blip r:embed="rId16"/>
          <a:stretch>
            <a:fillRect/>
          </a:stretch>
        </p:blipFill>
        <p:spPr>
          <a:xfrm>
            <a:off x="6223864" y="2944368"/>
            <a:ext cx="310896" cy="310896"/>
          </a:xfrm>
          <a:prstGeom prst="rect">
            <a:avLst/>
          </a:prstGeom>
        </p:spPr>
      </p:pic>
      <p:sp>
        <p:nvSpPr>
          <p:cNvPr id="52" name="Text 33"/>
          <p:cNvSpPr txBox="1"/>
          <p:nvPr/>
        </p:nvSpPr>
        <p:spPr>
          <a:xfrm>
            <a:off x="6580480" y="2871216"/>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Test Writer</a:t>
            </a:r>
            <a:endParaRPr lang="en-US" sz="1100" dirty="0"/>
          </a:p>
        </p:txBody>
      </p:sp>
      <p:sp>
        <p:nvSpPr>
          <p:cNvPr id="53" name="Shape 34"/>
          <p:cNvSpPr/>
          <p:nvPr/>
        </p:nvSpPr>
        <p:spPr>
          <a:xfrm>
            <a:off x="8018069" y="2871216"/>
            <a:ext cx="1757629" cy="457200"/>
          </a:xfrm>
          <a:prstGeom prst="roundRect">
            <a:avLst>
              <a:gd name="adj" fmla="val 24000"/>
            </a:avLst>
          </a:prstGeom>
          <a:solidFill>
            <a:srgbClr val="FFFFFF"/>
          </a:solidFill>
          <a:ln w="15875">
            <a:solidFill>
              <a:srgbClr val="DFE3EE"/>
            </a:solidFill>
            <a:prstDash val="dash"/>
          </a:ln>
        </p:spPr>
      </p:sp>
      <p:pic>
        <p:nvPicPr>
          <p:cNvPr id="54" name="Image 16" descr="globe2 icon">    </p:cNvPr>
          <p:cNvPicPr>
            <a:picLocks noChangeAspect="1"/>
          </p:cNvPicPr>
          <p:nvPr/>
        </p:nvPicPr>
        <p:blipFill>
          <a:blip r:embed="rId17"/>
          <a:stretch>
            <a:fillRect/>
          </a:stretch>
        </p:blipFill>
        <p:spPr>
          <a:xfrm>
            <a:off x="8091221" y="2944368"/>
            <a:ext cx="310896" cy="310896"/>
          </a:xfrm>
          <a:prstGeom prst="rect">
            <a:avLst/>
          </a:prstGeom>
        </p:spPr>
      </p:pic>
      <p:sp>
        <p:nvSpPr>
          <p:cNvPr id="55" name="Text 35"/>
          <p:cNvSpPr txBox="1"/>
          <p:nvPr/>
        </p:nvSpPr>
        <p:spPr>
          <a:xfrm>
            <a:off x="8447837" y="2871216"/>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Locale Tester</a:t>
            </a:r>
            <a:endParaRPr lang="en-US" sz="1100" dirty="0"/>
          </a:p>
        </p:txBody>
      </p:sp>
      <p:sp>
        <p:nvSpPr>
          <p:cNvPr id="56" name="Shape 36"/>
          <p:cNvSpPr/>
          <p:nvPr/>
        </p:nvSpPr>
        <p:spPr>
          <a:xfrm>
            <a:off x="9885426" y="2871216"/>
            <a:ext cx="1757629" cy="457200"/>
          </a:xfrm>
          <a:prstGeom prst="roundRect">
            <a:avLst>
              <a:gd name="adj" fmla="val 24000"/>
            </a:avLst>
          </a:prstGeom>
          <a:solidFill>
            <a:srgbClr val="FFFFFF"/>
          </a:solidFill>
          <a:ln w="15875">
            <a:solidFill>
              <a:srgbClr val="DFE3EE"/>
            </a:solidFill>
            <a:prstDash val="dash"/>
          </a:ln>
        </p:spPr>
      </p:sp>
      <p:pic>
        <p:nvPicPr>
          <p:cNvPr id="57" name="Image 17" descr="db icon">    </p:cNvPr>
          <p:cNvPicPr>
            <a:picLocks noChangeAspect="1"/>
          </p:cNvPicPr>
          <p:nvPr/>
        </p:nvPicPr>
        <p:blipFill>
          <a:blip r:embed="rId18"/>
          <a:stretch>
            <a:fillRect/>
          </a:stretch>
        </p:blipFill>
        <p:spPr>
          <a:xfrm>
            <a:off x="9958578" y="2944368"/>
            <a:ext cx="310896" cy="310896"/>
          </a:xfrm>
          <a:prstGeom prst="rect">
            <a:avLst/>
          </a:prstGeom>
        </p:spPr>
      </p:pic>
      <p:sp>
        <p:nvSpPr>
          <p:cNvPr id="58" name="Text 37"/>
          <p:cNvSpPr txBox="1"/>
          <p:nvPr/>
        </p:nvSpPr>
        <p:spPr>
          <a:xfrm>
            <a:off x="10315194" y="2871216"/>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Backend &amp; API Inspector</a:t>
            </a:r>
            <a:endParaRPr lang="en-US" sz="1100" dirty="0"/>
          </a:p>
        </p:txBody>
      </p:sp>
      <p:sp>
        <p:nvSpPr>
          <p:cNvPr id="59" name="Shape 38"/>
          <p:cNvSpPr/>
          <p:nvPr/>
        </p:nvSpPr>
        <p:spPr>
          <a:xfrm>
            <a:off x="548640" y="3438144"/>
            <a:ext cx="1757629" cy="457200"/>
          </a:xfrm>
          <a:prstGeom prst="roundRect">
            <a:avLst>
              <a:gd name="adj" fmla="val 24000"/>
            </a:avLst>
          </a:prstGeom>
          <a:solidFill>
            <a:srgbClr val="FFFFFF"/>
          </a:solidFill>
          <a:ln w="15875">
            <a:solidFill>
              <a:srgbClr val="DFE3EE"/>
            </a:solidFill>
            <a:prstDash val="dash"/>
          </a:ln>
        </p:spPr>
      </p:sp>
      <p:pic>
        <p:nvPicPr>
          <p:cNvPr id="60" name="Image 18" descr="cloud icon">    </p:cNvPr>
          <p:cNvPicPr>
            <a:picLocks noChangeAspect="1"/>
          </p:cNvPicPr>
          <p:nvPr/>
        </p:nvPicPr>
        <p:blipFill>
          <a:blip r:embed="rId19"/>
          <a:stretch>
            <a:fillRect/>
          </a:stretch>
        </p:blipFill>
        <p:spPr>
          <a:xfrm>
            <a:off x="621792" y="3511296"/>
            <a:ext cx="310896" cy="310896"/>
          </a:xfrm>
          <a:prstGeom prst="rect">
            <a:avLst/>
          </a:prstGeom>
        </p:spPr>
      </p:pic>
      <p:sp>
        <p:nvSpPr>
          <p:cNvPr id="61" name="Text 39"/>
          <p:cNvSpPr txBox="1"/>
          <p:nvPr/>
        </p:nvSpPr>
        <p:spPr>
          <a:xfrm>
            <a:off x="978408" y="3438144"/>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DevOps &amp; Cloud Inspector</a:t>
            </a:r>
            <a:endParaRPr lang="en-US" sz="1100" dirty="0"/>
          </a:p>
        </p:txBody>
      </p:sp>
      <p:sp>
        <p:nvSpPr>
          <p:cNvPr id="62" name="Shape 40"/>
          <p:cNvSpPr/>
          <p:nvPr/>
        </p:nvSpPr>
        <p:spPr>
          <a:xfrm>
            <a:off x="2415997" y="3438144"/>
            <a:ext cx="1757629" cy="457200"/>
          </a:xfrm>
          <a:prstGeom prst="roundRect">
            <a:avLst>
              <a:gd name="adj" fmla="val 24000"/>
            </a:avLst>
          </a:prstGeom>
          <a:solidFill>
            <a:srgbClr val="FFFFFF"/>
          </a:solidFill>
          <a:ln w="15875">
            <a:solidFill>
              <a:srgbClr val="DFE3EE"/>
            </a:solidFill>
            <a:prstDash val="dash"/>
          </a:ln>
        </p:spPr>
      </p:sp>
      <p:pic>
        <p:nvPicPr>
          <p:cNvPr id="63" name="Image 19" descr="tools icon">    </p:cNvPr>
          <p:cNvPicPr>
            <a:picLocks noChangeAspect="1"/>
          </p:cNvPicPr>
          <p:nvPr/>
        </p:nvPicPr>
        <p:blipFill>
          <a:blip r:embed="rId20"/>
          <a:stretch>
            <a:fillRect/>
          </a:stretch>
        </p:blipFill>
        <p:spPr>
          <a:xfrm>
            <a:off x="2489149" y="3511296"/>
            <a:ext cx="310896" cy="310896"/>
          </a:xfrm>
          <a:prstGeom prst="rect">
            <a:avLst/>
          </a:prstGeom>
        </p:spPr>
      </p:pic>
      <p:sp>
        <p:nvSpPr>
          <p:cNvPr id="64" name="Text 41"/>
          <p:cNvSpPr txBox="1"/>
          <p:nvPr/>
        </p:nvSpPr>
        <p:spPr>
          <a:xfrm>
            <a:off x="2845765" y="3438144"/>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HTML Fixer</a:t>
            </a:r>
            <a:endParaRPr lang="en-US" sz="1100" dirty="0"/>
          </a:p>
        </p:txBody>
      </p:sp>
      <p:sp>
        <p:nvSpPr>
          <p:cNvPr id="65" name="Shape 42"/>
          <p:cNvSpPr/>
          <p:nvPr/>
        </p:nvSpPr>
        <p:spPr>
          <a:xfrm>
            <a:off x="4283354" y="3438144"/>
            <a:ext cx="1757629" cy="457200"/>
          </a:xfrm>
          <a:prstGeom prst="roundRect">
            <a:avLst>
              <a:gd name="adj" fmla="val 24000"/>
            </a:avLst>
          </a:prstGeom>
          <a:solidFill>
            <a:srgbClr val="FFFFFF"/>
          </a:solidFill>
          <a:ln w="15875">
            <a:solidFill>
              <a:srgbClr val="DFE3EE"/>
            </a:solidFill>
            <a:prstDash val="dash"/>
          </a:ln>
        </p:spPr>
      </p:sp>
      <p:pic>
        <p:nvPicPr>
          <p:cNvPr id="66" name="Image 20" descr="chat icon">    </p:cNvPr>
          <p:cNvPicPr>
            <a:picLocks noChangeAspect="1"/>
          </p:cNvPicPr>
          <p:nvPr/>
        </p:nvPicPr>
        <p:blipFill>
          <a:blip r:embed="rId21"/>
          <a:stretch>
            <a:fillRect/>
          </a:stretch>
        </p:blipFill>
        <p:spPr>
          <a:xfrm>
            <a:off x="4356506" y="3511296"/>
            <a:ext cx="310896" cy="310896"/>
          </a:xfrm>
          <a:prstGeom prst="rect">
            <a:avLst/>
          </a:prstGeom>
        </p:spPr>
      </p:pic>
      <p:sp>
        <p:nvSpPr>
          <p:cNvPr id="67" name="Text 43"/>
          <p:cNvSpPr txBox="1"/>
          <p:nvPr/>
        </p:nvSpPr>
        <p:spPr>
          <a:xfrm>
            <a:off x="4713122" y="3438144"/>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Chat Builder</a:t>
            </a:r>
            <a:endParaRPr lang="en-US" sz="1100" dirty="0"/>
          </a:p>
        </p:txBody>
      </p:sp>
      <p:sp>
        <p:nvSpPr>
          <p:cNvPr id="68" name="Shape 44"/>
          <p:cNvSpPr/>
          <p:nvPr/>
        </p:nvSpPr>
        <p:spPr>
          <a:xfrm>
            <a:off x="6150712" y="3438144"/>
            <a:ext cx="1757629" cy="457200"/>
          </a:xfrm>
          <a:prstGeom prst="roundRect">
            <a:avLst>
              <a:gd name="adj" fmla="val 24000"/>
            </a:avLst>
          </a:prstGeom>
          <a:solidFill>
            <a:srgbClr val="FFFFFF"/>
          </a:solidFill>
          <a:ln w="15875">
            <a:solidFill>
              <a:srgbClr val="DFE3EE"/>
            </a:solidFill>
            <a:prstDash val="dash"/>
          </a:ln>
        </p:spPr>
      </p:sp>
      <p:pic>
        <p:nvPicPr>
          <p:cNvPr id="69" name="Image 21" descr="mic icon">    </p:cNvPr>
          <p:cNvPicPr>
            <a:picLocks noChangeAspect="1"/>
          </p:cNvPicPr>
          <p:nvPr/>
        </p:nvPicPr>
        <p:blipFill>
          <a:blip r:embed="rId22"/>
          <a:stretch>
            <a:fillRect/>
          </a:stretch>
        </p:blipFill>
        <p:spPr>
          <a:xfrm>
            <a:off x="6223864" y="3511296"/>
            <a:ext cx="310896" cy="310896"/>
          </a:xfrm>
          <a:prstGeom prst="rect">
            <a:avLst/>
          </a:prstGeom>
        </p:spPr>
      </p:pic>
      <p:sp>
        <p:nvSpPr>
          <p:cNvPr id="70" name="Text 45"/>
          <p:cNvSpPr txBox="1"/>
          <p:nvPr/>
        </p:nvSpPr>
        <p:spPr>
          <a:xfrm>
            <a:off x="6580480" y="3438144"/>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Meeting Assistant</a:t>
            </a:r>
            <a:endParaRPr lang="en-US" sz="1100" dirty="0"/>
          </a:p>
        </p:txBody>
      </p:sp>
      <p:sp>
        <p:nvSpPr>
          <p:cNvPr id="71" name="Shape 46"/>
          <p:cNvSpPr/>
          <p:nvPr/>
        </p:nvSpPr>
        <p:spPr>
          <a:xfrm>
            <a:off x="8018069" y="3438144"/>
            <a:ext cx="1757629" cy="457200"/>
          </a:xfrm>
          <a:prstGeom prst="roundRect">
            <a:avLst>
              <a:gd name="adj" fmla="val 24000"/>
            </a:avLst>
          </a:prstGeom>
          <a:solidFill>
            <a:srgbClr val="FFFFFF"/>
          </a:solidFill>
          <a:ln w="15875">
            <a:solidFill>
              <a:srgbClr val="DFE3EE"/>
            </a:solidFill>
            <a:prstDash val="dash"/>
          </a:ln>
        </p:spPr>
      </p:sp>
      <p:pic>
        <p:nvPicPr>
          <p:cNvPr id="72" name="Image 22" descr="mail icon">    </p:cNvPr>
          <p:cNvPicPr>
            <a:picLocks noChangeAspect="1"/>
          </p:cNvPicPr>
          <p:nvPr/>
        </p:nvPicPr>
        <p:blipFill>
          <a:blip r:embed="rId23"/>
          <a:stretch>
            <a:fillRect/>
          </a:stretch>
        </p:blipFill>
        <p:spPr>
          <a:xfrm>
            <a:off x="8091221" y="3511296"/>
            <a:ext cx="310896" cy="310896"/>
          </a:xfrm>
          <a:prstGeom prst="rect">
            <a:avLst/>
          </a:prstGeom>
        </p:spPr>
      </p:pic>
      <p:sp>
        <p:nvSpPr>
          <p:cNvPr id="73" name="Text 47"/>
          <p:cNvSpPr txBox="1"/>
          <p:nvPr/>
        </p:nvSpPr>
        <p:spPr>
          <a:xfrm>
            <a:off x="8447837" y="3438144"/>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Outreach Writer</a:t>
            </a:r>
            <a:endParaRPr lang="en-US" sz="1100" dirty="0"/>
          </a:p>
        </p:txBody>
      </p:sp>
      <p:sp>
        <p:nvSpPr>
          <p:cNvPr id="74" name="Shape 48"/>
          <p:cNvSpPr/>
          <p:nvPr/>
        </p:nvSpPr>
        <p:spPr>
          <a:xfrm>
            <a:off x="9885426" y="3438144"/>
            <a:ext cx="1757629" cy="457200"/>
          </a:xfrm>
          <a:prstGeom prst="roundRect">
            <a:avLst>
              <a:gd name="adj" fmla="val 24000"/>
            </a:avLst>
          </a:prstGeom>
          <a:solidFill>
            <a:srgbClr val="FFFFFF"/>
          </a:solidFill>
          <a:ln w="15875">
            <a:solidFill>
              <a:srgbClr val="DFE3EE"/>
            </a:solidFill>
            <a:prstDash val="dash"/>
          </a:ln>
        </p:spPr>
      </p:sp>
      <p:pic>
        <p:nvPicPr>
          <p:cNvPr id="75" name="Image 23" descr="moon icon">    </p:cNvPr>
          <p:cNvPicPr>
            <a:picLocks noChangeAspect="1"/>
          </p:cNvPicPr>
          <p:nvPr/>
        </p:nvPicPr>
        <p:blipFill>
          <a:blip r:embed="rId24"/>
          <a:stretch>
            <a:fillRect/>
          </a:stretch>
        </p:blipFill>
        <p:spPr>
          <a:xfrm>
            <a:off x="9958578" y="3511296"/>
            <a:ext cx="310896" cy="310896"/>
          </a:xfrm>
          <a:prstGeom prst="rect">
            <a:avLst/>
          </a:prstGeom>
        </p:spPr>
      </p:pic>
      <p:sp>
        <p:nvSpPr>
          <p:cNvPr id="76" name="Text 49"/>
          <p:cNvSpPr txBox="1"/>
          <p:nvPr/>
        </p:nvSpPr>
        <p:spPr>
          <a:xfrm>
            <a:off x="10315194" y="3438144"/>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Night Watch</a:t>
            </a:r>
            <a:endParaRPr lang="en-US" sz="1100" dirty="0"/>
          </a:p>
        </p:txBody>
      </p:sp>
      <p:sp>
        <p:nvSpPr>
          <p:cNvPr id="77" name="Shape 50"/>
          <p:cNvSpPr/>
          <p:nvPr/>
        </p:nvSpPr>
        <p:spPr>
          <a:xfrm>
            <a:off x="548640" y="4005072"/>
            <a:ext cx="1757629" cy="457200"/>
          </a:xfrm>
          <a:prstGeom prst="roundRect">
            <a:avLst>
              <a:gd name="adj" fmla="val 24000"/>
            </a:avLst>
          </a:prstGeom>
          <a:solidFill>
            <a:srgbClr val="FFFFFF"/>
          </a:solidFill>
          <a:ln w="15875">
            <a:solidFill>
              <a:srgbClr val="DFE3EE"/>
            </a:solidFill>
            <a:prstDash val="dash"/>
          </a:ln>
        </p:spPr>
      </p:sp>
      <p:pic>
        <p:nvPicPr>
          <p:cNvPr id="78" name="Image 24" descr="raise icon">    </p:cNvPr>
          <p:cNvPicPr>
            <a:picLocks noChangeAspect="1"/>
          </p:cNvPicPr>
          <p:nvPr/>
        </p:nvPicPr>
        <p:blipFill>
          <a:blip r:embed="rId25"/>
          <a:stretch>
            <a:fillRect/>
          </a:stretch>
        </p:blipFill>
        <p:spPr>
          <a:xfrm>
            <a:off x="621792" y="4078224"/>
            <a:ext cx="310896" cy="310896"/>
          </a:xfrm>
          <a:prstGeom prst="rect">
            <a:avLst/>
          </a:prstGeom>
        </p:spPr>
      </p:pic>
      <p:sp>
        <p:nvSpPr>
          <p:cNvPr id="79" name="Text 51"/>
          <p:cNvSpPr txBox="1"/>
          <p:nvPr/>
        </p:nvSpPr>
        <p:spPr>
          <a:xfrm>
            <a:off x="978408" y="4005072"/>
            <a:ext cx="1282141" cy="457200"/>
          </a:xfrm>
          <a:prstGeom prst="rect">
            <a:avLst/>
          </a:prstGeom>
          <a:noFill/>
          <a:ln/>
        </p:spPr>
        <p:txBody>
          <a:bodyPr wrap="square" lIns="0" tIns="0" rIns="0" bIns="0" rtlCol="0" anchor="ctr"/>
          <a:lstStyle/>
          <a:p>
            <a:pPr indent="0" marL="0">
              <a:buNone/>
            </a:pPr>
            <a:r>
              <a:rPr lang="en-US" sz="1100" b="1" dirty="0">
                <a:solidFill>
                  <a:srgbClr val="1A2033"/>
                </a:solidFill>
                <a:latin typeface="Calibri" pitchFamily="34" charset="0"/>
                <a:ea typeface="Calibri" pitchFamily="34" charset="-122"/>
                <a:cs typeface="Calibri" pitchFamily="34" charset="-120"/>
              </a:rPr>
              <a:t>Review Assigner</a:t>
            </a:r>
            <a:endParaRPr lang="en-US" sz="1100" dirty="0"/>
          </a:p>
        </p:txBody>
      </p:sp>
      <p:sp>
        <p:nvSpPr>
          <p:cNvPr id="80" name="Text 52"/>
          <p:cNvSpPr txBox="1"/>
          <p:nvPr/>
        </p:nvSpPr>
        <p:spPr>
          <a:xfrm>
            <a:off x="548640" y="4709160"/>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81" name="Text 53"/>
          <p:cNvSpPr txBox="1"/>
          <p:nvPr/>
        </p:nvSpPr>
        <p:spPr>
          <a:xfrm>
            <a:off x="932688" y="4709160"/>
            <a:ext cx="6291072" cy="49530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One catalogue of </a:t>
            </a:r>
            <a:pPr indent="0" marL="0">
              <a:buNone/>
            </a:pPr>
            <a:r>
              <a:rPr lang="en-US" sz="1500" b="1" dirty="0">
                <a:solidFill>
                  <a:srgbClr val="1A2033"/>
                </a:solidFill>
                <a:latin typeface="Calibri" pitchFamily="34" charset="0"/>
                <a:ea typeface="Calibri" pitchFamily="34" charset="-122"/>
                <a:cs typeface="Calibri" pitchFamily="34" charset="-120"/>
              </a:rPr>
              <a:t>every agent</a:t>
            </a:r>
            <a:pPr indent="0" marL="0">
              <a:buNone/>
            </a:pPr>
            <a:r>
              <a:rPr lang="en-US" sz="1500" dirty="0">
                <a:solidFill>
                  <a:srgbClr val="1A2033"/>
                </a:solidFill>
                <a:latin typeface="Calibri" pitchFamily="34" charset="0"/>
                <a:ea typeface="Calibri" pitchFamily="34" charset="-122"/>
                <a:cs typeface="Calibri" pitchFamily="34" charset="-120"/>
              </a:rPr>
              <a:t>: what it takes in, produces, how to showcase it</a:t>
            </a:r>
            <a:endParaRPr lang="en-US" sz="1500" dirty="0"/>
          </a:p>
        </p:txBody>
      </p:sp>
      <p:sp>
        <p:nvSpPr>
          <p:cNvPr id="82" name="Text 54"/>
          <p:cNvSpPr txBox="1"/>
          <p:nvPr/>
        </p:nvSpPr>
        <p:spPr>
          <a:xfrm>
            <a:off x="548640" y="5309235"/>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83" name="Text 55"/>
          <p:cNvSpPr txBox="1"/>
          <p:nvPr/>
        </p:nvSpPr>
        <p:spPr>
          <a:xfrm>
            <a:off x="932688" y="5309235"/>
            <a:ext cx="6291072" cy="49530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Teams </a:t>
            </a:r>
            <a:pPr indent="0" marL="0">
              <a:buNone/>
            </a:pPr>
            <a:r>
              <a:rPr lang="en-US" sz="1500" b="1" dirty="0">
                <a:solidFill>
                  <a:srgbClr val="1A2033"/>
                </a:solidFill>
                <a:latin typeface="Calibri" pitchFamily="34" charset="0"/>
                <a:ea typeface="Calibri" pitchFamily="34" charset="-122"/>
                <a:cs typeface="Calibri" pitchFamily="34" charset="-120"/>
              </a:rPr>
              <a:t>reuse agents</a:t>
            </a:r>
            <a:pPr indent="0" marL="0">
              <a:buNone/>
            </a:pPr>
            <a:r>
              <a:rPr lang="en-US" sz="1500" dirty="0">
                <a:solidFill>
                  <a:srgbClr val="1A2033"/>
                </a:solidFill>
                <a:latin typeface="Calibri" pitchFamily="34" charset="0"/>
                <a:ea typeface="Calibri" pitchFamily="34" charset="-122"/>
                <a:cs typeface="Calibri" pitchFamily="34" charset="-120"/>
              </a:rPr>
              <a:t> instead of rebuilding: </a:t>
            </a:r>
            <a:pPr indent="0" marL="0">
              <a:buNone/>
            </a:pPr>
            <a:r>
              <a:rPr lang="en-US" sz="1500" b="1" dirty="0">
                <a:solidFill>
                  <a:srgbClr val="1A2033"/>
                </a:solidFill>
                <a:latin typeface="Calibri" pitchFamily="34" charset="0"/>
                <a:ea typeface="Calibri" pitchFamily="34" charset="-122"/>
                <a:cs typeface="Calibri" pitchFamily="34" charset="-120"/>
              </a:rPr>
              <a:t>Connect</a:t>
            </a:r>
            <a:pPr indent="0" marL="0">
              <a:buNone/>
            </a:pPr>
            <a:r>
              <a:rPr lang="en-US" sz="1500" dirty="0">
                <a:solidFill>
                  <a:srgbClr val="1A2033"/>
                </a:solidFill>
                <a:latin typeface="Calibri" pitchFamily="34" charset="0"/>
                <a:ea typeface="Calibri" pitchFamily="34" charset="-122"/>
                <a:cs typeface="Calibri" pitchFamily="34" charset="-120"/>
              </a:rPr>
              <a:t> links any agent over MCP</a:t>
            </a:r>
            <a:endParaRPr lang="en-US" sz="1500" dirty="0"/>
          </a:p>
        </p:txBody>
      </p:sp>
      <p:sp>
        <p:nvSpPr>
          <p:cNvPr id="84" name="Text 56"/>
          <p:cNvSpPr txBox="1"/>
          <p:nvPr/>
        </p:nvSpPr>
        <p:spPr>
          <a:xfrm>
            <a:off x="548640" y="5909310"/>
            <a:ext cx="320040" cy="247650"/>
          </a:xfrm>
          <a:prstGeom prst="rect">
            <a:avLst/>
          </a:prstGeom>
          <a:noFill/>
          <a:ln/>
        </p:spPr>
        <p:txBody>
          <a:bodyPr wrap="square" lIns="0" tIns="0" rIns="0" bIns="0" rtlCol="0" anchor="t"/>
          <a:lstStyle/>
          <a:p>
            <a:pPr indent="0" marL="0">
              <a:buNone/>
            </a:pPr>
            <a:r>
              <a:rPr lang="en-US" sz="1500" b="1" dirty="0">
                <a:solidFill>
                  <a:srgbClr val="0F9D6B"/>
                </a:solidFill>
                <a:latin typeface="Calibri" pitchFamily="34" charset="0"/>
                <a:ea typeface="Calibri" pitchFamily="34" charset="-122"/>
                <a:cs typeface="Calibri" pitchFamily="34" charset="-120"/>
              </a:rPr>
              <a:t>✓</a:t>
            </a:r>
            <a:endParaRPr lang="en-US" sz="1500" dirty="0"/>
          </a:p>
        </p:txBody>
      </p:sp>
      <p:sp>
        <p:nvSpPr>
          <p:cNvPr id="85" name="Text 57"/>
          <p:cNvSpPr txBox="1"/>
          <p:nvPr/>
        </p:nvSpPr>
        <p:spPr>
          <a:xfrm>
            <a:off x="932688" y="5909310"/>
            <a:ext cx="6291072" cy="49530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Sales shows clients the agents by category: audit, test, build, people, sell, always on</a:t>
            </a:r>
            <a:endParaRPr lang="en-US" sz="1500" dirty="0"/>
          </a:p>
        </p:txBody>
      </p:sp>
      <p:sp>
        <p:nvSpPr>
          <p:cNvPr id="86" name="Shape 58"/>
          <p:cNvSpPr/>
          <p:nvPr/>
        </p:nvSpPr>
        <p:spPr>
          <a:xfrm>
            <a:off x="7498080" y="4709160"/>
            <a:ext cx="4142232" cy="1463040"/>
          </a:xfrm>
          <a:prstGeom prst="roundRect">
            <a:avLst>
              <a:gd name="adj" fmla="val 75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87" name="Text 59"/>
          <p:cNvSpPr txBox="1"/>
          <p:nvPr/>
        </p:nvSpPr>
        <p:spPr>
          <a:xfrm>
            <a:off x="7726680" y="4846320"/>
            <a:ext cx="3657600" cy="365760"/>
          </a:xfrm>
          <a:prstGeom prst="rect">
            <a:avLst/>
          </a:prstGeom>
          <a:noFill/>
          <a:ln/>
        </p:spPr>
        <p:txBody>
          <a:bodyPr wrap="square" lIns="0" tIns="0" rIns="0" bIns="0" rtlCol="0" anchor="t"/>
          <a:lstStyle/>
          <a:p>
            <a:pPr indent="0" marL="0">
              <a:buNone/>
            </a:pPr>
            <a:r>
              <a:rPr lang="en-US" sz="1700" b="1" dirty="0">
                <a:solidFill>
                  <a:srgbClr val="1A2033"/>
                </a:solidFill>
                <a:latin typeface="Calibri" pitchFamily="34" charset="0"/>
                <a:ea typeface="Calibri" pitchFamily="34" charset="-122"/>
                <a:cs typeface="Calibri" pitchFamily="34" charset="-120"/>
              </a:rPr>
              <a:t>In the code</a:t>
            </a:r>
            <a:endParaRPr lang="en-US" sz="1700" dirty="0"/>
          </a:p>
        </p:txBody>
      </p:sp>
      <p:sp>
        <p:nvSpPr>
          <p:cNvPr id="88" name="Text 60"/>
          <p:cNvSpPr txBox="1"/>
          <p:nvPr/>
        </p:nvSpPr>
        <p:spPr>
          <a:xfrm>
            <a:off x="7726680" y="5257800"/>
            <a:ext cx="3703320" cy="777240"/>
          </a:xfrm>
          <a:prstGeom prst="rect">
            <a:avLst/>
          </a:prstGeom>
          <a:noFill/>
          <a:ln/>
        </p:spPr>
        <p:txBody>
          <a:bodyPr wrap="square" lIns="0" tIns="0" rIns="0" bIns="0" rtlCol="0" anchor="t"/>
          <a:lstStyle/>
          <a:p>
            <a:pPr indent="0" marL="0">
              <a:buNone/>
            </a:pPr>
            <a:r>
              <a:rPr lang="en-US" sz="1300" dirty="0">
                <a:solidFill>
                  <a:srgbClr val="44506B"/>
                </a:solidFill>
                <a:latin typeface="Calibri" pitchFamily="34" charset="0"/>
                <a:ea typeface="Calibri" pitchFamily="34" charset="-122"/>
                <a:cs typeface="Calibri" pitchFamily="34" charset="-120"/>
              </a:rPr>
              <a:t>config/marketplace.json → /api/marketplace → /marketplace.html, with search and filters. Tests check every running agent is listed as live.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UNDER THE HOOD</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Small, honest, and no build step</a:t>
            </a:r>
            <a:endParaRPr lang="en-US" sz="3400" dirty="0"/>
          </a:p>
        </p:txBody>
      </p:sp>
      <p:sp>
        <p:nvSpPr>
          <p:cNvPr id="5" name="Shape 2"/>
          <p:cNvSpPr/>
          <p:nvPr/>
        </p:nvSpPr>
        <p:spPr>
          <a:xfrm>
            <a:off x="548640" y="1737360"/>
            <a:ext cx="3545738" cy="1325880"/>
          </a:xfrm>
          <a:prstGeom prst="roundRect">
            <a:avLst>
              <a:gd name="adj" fmla="val 827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Text 3"/>
          <p:cNvSpPr txBox="1"/>
          <p:nvPr/>
        </p:nvSpPr>
        <p:spPr>
          <a:xfrm>
            <a:off x="777240" y="1920240"/>
            <a:ext cx="313425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Runtime</a:t>
            </a:r>
            <a:endParaRPr lang="en-US" sz="1700" dirty="0"/>
          </a:p>
        </p:txBody>
      </p:sp>
      <p:sp>
        <p:nvSpPr>
          <p:cNvPr id="7" name="Text 4"/>
          <p:cNvSpPr txBox="1"/>
          <p:nvPr/>
        </p:nvSpPr>
        <p:spPr>
          <a:xfrm>
            <a:off x="777240" y="2450592"/>
            <a:ext cx="3088538" cy="50292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TypeScript · Node.js 20 · tsx · Server-Sent Events</a:t>
            </a:r>
            <a:endParaRPr lang="en-US" sz="1400" dirty="0"/>
          </a:p>
        </p:txBody>
      </p:sp>
      <p:sp>
        <p:nvSpPr>
          <p:cNvPr id="8" name="Shape 5"/>
          <p:cNvSpPr/>
          <p:nvPr/>
        </p:nvSpPr>
        <p:spPr>
          <a:xfrm>
            <a:off x="4322978" y="1737360"/>
            <a:ext cx="3545738" cy="1325880"/>
          </a:xfrm>
          <a:prstGeom prst="roundRect">
            <a:avLst>
              <a:gd name="adj" fmla="val 827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9" name="Text 6"/>
          <p:cNvSpPr txBox="1"/>
          <p:nvPr/>
        </p:nvSpPr>
        <p:spPr>
          <a:xfrm>
            <a:off x="4551578" y="1920240"/>
            <a:ext cx="313425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Measuring the web</a:t>
            </a:r>
            <a:endParaRPr lang="en-US" sz="1700" dirty="0"/>
          </a:p>
        </p:txBody>
      </p:sp>
      <p:sp>
        <p:nvSpPr>
          <p:cNvPr id="10" name="Text 7"/>
          <p:cNvSpPr txBox="1"/>
          <p:nvPr/>
        </p:nvSpPr>
        <p:spPr>
          <a:xfrm>
            <a:off x="4551578" y="2450592"/>
            <a:ext cx="3088538" cy="50292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Playwright · Lighthouse 12 · axe-core · Chrome DevTools Protocol</a:t>
            </a:r>
            <a:endParaRPr lang="en-US" sz="1400" dirty="0"/>
          </a:p>
        </p:txBody>
      </p:sp>
      <p:sp>
        <p:nvSpPr>
          <p:cNvPr id="11" name="Shape 8"/>
          <p:cNvSpPr/>
          <p:nvPr/>
        </p:nvSpPr>
        <p:spPr>
          <a:xfrm>
            <a:off x="8097317" y="1737360"/>
            <a:ext cx="3545738" cy="1325880"/>
          </a:xfrm>
          <a:prstGeom prst="roundRect">
            <a:avLst>
              <a:gd name="adj" fmla="val 827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2" name="Text 9"/>
          <p:cNvSpPr txBox="1"/>
          <p:nvPr/>
        </p:nvSpPr>
        <p:spPr>
          <a:xfrm>
            <a:off x="8325917" y="1920240"/>
            <a:ext cx="313425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The model</a:t>
            </a:r>
            <a:endParaRPr lang="en-US" sz="1700" dirty="0"/>
          </a:p>
        </p:txBody>
      </p:sp>
      <p:sp>
        <p:nvSpPr>
          <p:cNvPr id="13" name="Text 10"/>
          <p:cNvSpPr txBox="1"/>
          <p:nvPr/>
        </p:nvSpPr>
        <p:spPr>
          <a:xfrm>
            <a:off x="8325917" y="2450592"/>
            <a:ext cx="3088538" cy="50292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Claude Sonnet 5.5 · Anthropic Messages API · streaming · vision</a:t>
            </a:r>
            <a:endParaRPr lang="en-US" sz="1400" dirty="0"/>
          </a:p>
        </p:txBody>
      </p:sp>
      <p:sp>
        <p:nvSpPr>
          <p:cNvPr id="14" name="Shape 11"/>
          <p:cNvSpPr/>
          <p:nvPr/>
        </p:nvSpPr>
        <p:spPr>
          <a:xfrm>
            <a:off x="548640" y="3291840"/>
            <a:ext cx="3545738" cy="1325880"/>
          </a:xfrm>
          <a:prstGeom prst="roundRect">
            <a:avLst>
              <a:gd name="adj" fmla="val 827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5" name="Text 12"/>
          <p:cNvSpPr txBox="1"/>
          <p:nvPr/>
        </p:nvSpPr>
        <p:spPr>
          <a:xfrm>
            <a:off x="777240" y="3474720"/>
            <a:ext cx="313425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Output</a:t>
            </a:r>
            <a:endParaRPr lang="en-US" sz="1700" dirty="0"/>
          </a:p>
        </p:txBody>
      </p:sp>
      <p:sp>
        <p:nvSpPr>
          <p:cNvPr id="16" name="Text 13"/>
          <p:cNvSpPr txBox="1"/>
          <p:nvPr/>
        </p:nvSpPr>
        <p:spPr>
          <a:xfrm>
            <a:off x="777240" y="4005072"/>
            <a:ext cx="3088538" cy="50292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pptxgenjs (PPTX) · Markdown proposal · files in runs/</a:t>
            </a:r>
            <a:endParaRPr lang="en-US" sz="1400" dirty="0"/>
          </a:p>
        </p:txBody>
      </p:sp>
      <p:sp>
        <p:nvSpPr>
          <p:cNvPr id="17" name="Shape 14"/>
          <p:cNvSpPr/>
          <p:nvPr/>
        </p:nvSpPr>
        <p:spPr>
          <a:xfrm>
            <a:off x="4322978" y="3291840"/>
            <a:ext cx="3545738" cy="1325880"/>
          </a:xfrm>
          <a:prstGeom prst="roundRect">
            <a:avLst>
              <a:gd name="adj" fmla="val 827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8" name="Text 15"/>
          <p:cNvSpPr txBox="1"/>
          <p:nvPr/>
        </p:nvSpPr>
        <p:spPr>
          <a:xfrm>
            <a:off x="4551578" y="3474720"/>
            <a:ext cx="313425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Interface</a:t>
            </a:r>
            <a:endParaRPr lang="en-US" sz="1700" dirty="0"/>
          </a:p>
        </p:txBody>
      </p:sp>
      <p:sp>
        <p:nvSpPr>
          <p:cNvPr id="19" name="Text 16"/>
          <p:cNvSpPr txBox="1"/>
          <p:nvPr/>
        </p:nvSpPr>
        <p:spPr>
          <a:xfrm>
            <a:off x="4551578" y="4005072"/>
            <a:ext cx="3088538" cy="50292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Vanilla HTML/CSS/JS · canvas pixel art · light and dark themes</a:t>
            </a:r>
            <a:endParaRPr lang="en-US" sz="1400" dirty="0"/>
          </a:p>
        </p:txBody>
      </p:sp>
      <p:sp>
        <p:nvSpPr>
          <p:cNvPr id="20" name="Shape 17"/>
          <p:cNvSpPr/>
          <p:nvPr/>
        </p:nvSpPr>
        <p:spPr>
          <a:xfrm>
            <a:off x="8097317" y="3291840"/>
            <a:ext cx="3545738" cy="1325880"/>
          </a:xfrm>
          <a:prstGeom prst="roundRect">
            <a:avLst>
              <a:gd name="adj" fmla="val 827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1" name="Text 18"/>
          <p:cNvSpPr txBox="1"/>
          <p:nvPr/>
        </p:nvSpPr>
        <p:spPr>
          <a:xfrm>
            <a:off x="8325917" y="3474720"/>
            <a:ext cx="313425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Quality</a:t>
            </a:r>
            <a:endParaRPr lang="en-US" sz="1700" dirty="0"/>
          </a:p>
        </p:txBody>
      </p:sp>
      <p:sp>
        <p:nvSpPr>
          <p:cNvPr id="22" name="Text 19"/>
          <p:cNvSpPr txBox="1"/>
          <p:nvPr/>
        </p:nvSpPr>
        <p:spPr>
          <a:xfrm>
            <a:off x="8325917" y="4005072"/>
            <a:ext cx="3088538" cy="50292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Node test runner · guardrailed planner · offline fallbacks</a:t>
            </a:r>
            <a:endParaRPr lang="en-US" sz="1400" dirty="0"/>
          </a:p>
        </p:txBody>
      </p:sp>
      <p:sp>
        <p:nvSpPr>
          <p:cNvPr id="23" name="Shape 20"/>
          <p:cNvSpPr/>
          <p:nvPr/>
        </p:nvSpPr>
        <p:spPr>
          <a:xfrm>
            <a:off x="548640" y="4800600"/>
            <a:ext cx="1696669" cy="1143000"/>
          </a:xfrm>
          <a:prstGeom prst="roundRect">
            <a:avLst>
              <a:gd name="adj" fmla="val 96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4" name="Text 21"/>
          <p:cNvSpPr txBox="1"/>
          <p:nvPr/>
        </p:nvSpPr>
        <p:spPr>
          <a:xfrm>
            <a:off x="548640" y="4892040"/>
            <a:ext cx="1696669" cy="594360"/>
          </a:xfrm>
          <a:prstGeom prst="rect">
            <a:avLst/>
          </a:prstGeom>
          <a:noFill/>
          <a:ln/>
        </p:spPr>
        <p:txBody>
          <a:bodyPr wrap="square" lIns="0" tIns="0" rIns="0" bIns="0" rtlCol="0" anchor="ctr"/>
          <a:lstStyle/>
          <a:p>
            <a:pPr algn="ctr" indent="0" marL="0">
              <a:buNone/>
            </a:pPr>
            <a:r>
              <a:rPr lang="en-US" sz="3000" b="1" dirty="0">
                <a:solidFill>
                  <a:srgbClr val="1A2033"/>
                </a:solidFill>
                <a:latin typeface="Calibri" pitchFamily="34" charset="0"/>
                <a:ea typeface="Calibri" pitchFamily="34" charset="-122"/>
                <a:cs typeface="Calibri" pitchFamily="34" charset="-120"/>
              </a:rPr>
              <a:t>13</a:t>
            </a:r>
            <a:endParaRPr lang="en-US" sz="3000" dirty="0"/>
          </a:p>
        </p:txBody>
      </p:sp>
      <p:sp>
        <p:nvSpPr>
          <p:cNvPr id="25" name="Text 22"/>
          <p:cNvSpPr txBox="1"/>
          <p:nvPr/>
        </p:nvSpPr>
        <p:spPr>
          <a:xfrm>
            <a:off x="548640" y="5486400"/>
            <a:ext cx="1696669" cy="36576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agents</a:t>
            </a:r>
            <a:endParaRPr lang="en-US" sz="1200" dirty="0"/>
          </a:p>
        </p:txBody>
      </p:sp>
      <p:sp>
        <p:nvSpPr>
          <p:cNvPr id="26" name="Shape 23"/>
          <p:cNvSpPr/>
          <p:nvPr/>
        </p:nvSpPr>
        <p:spPr>
          <a:xfrm>
            <a:off x="2428189" y="4800600"/>
            <a:ext cx="1696669" cy="1143000"/>
          </a:xfrm>
          <a:prstGeom prst="roundRect">
            <a:avLst>
              <a:gd name="adj" fmla="val 96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27" name="Text 24"/>
          <p:cNvSpPr txBox="1"/>
          <p:nvPr/>
        </p:nvSpPr>
        <p:spPr>
          <a:xfrm>
            <a:off x="2428189" y="4892040"/>
            <a:ext cx="1696669" cy="594360"/>
          </a:xfrm>
          <a:prstGeom prst="rect">
            <a:avLst/>
          </a:prstGeom>
          <a:noFill/>
          <a:ln/>
        </p:spPr>
        <p:txBody>
          <a:bodyPr wrap="square" lIns="0" tIns="0" rIns="0" bIns="0" rtlCol="0" anchor="ctr"/>
          <a:lstStyle/>
          <a:p>
            <a:pPr algn="ctr" indent="0" marL="0">
              <a:buNone/>
            </a:pPr>
            <a:r>
              <a:rPr lang="en-US" sz="3000" b="1" dirty="0">
                <a:solidFill>
                  <a:srgbClr val="1A2033"/>
                </a:solidFill>
                <a:latin typeface="Calibri" pitchFamily="34" charset="0"/>
                <a:ea typeface="Calibri" pitchFamily="34" charset="-122"/>
                <a:cs typeface="Calibri" pitchFamily="34" charset="-120"/>
              </a:rPr>
              <a:t>25</a:t>
            </a:r>
            <a:endParaRPr lang="en-US" sz="3000" dirty="0"/>
          </a:p>
        </p:txBody>
      </p:sp>
      <p:sp>
        <p:nvSpPr>
          <p:cNvPr id="28" name="Text 25"/>
          <p:cNvSpPr txBox="1"/>
          <p:nvPr/>
        </p:nvSpPr>
        <p:spPr>
          <a:xfrm>
            <a:off x="2428189" y="5486400"/>
            <a:ext cx="1696669" cy="36576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in marketplace</a:t>
            </a:r>
            <a:endParaRPr lang="en-US" sz="1200" dirty="0"/>
          </a:p>
        </p:txBody>
      </p:sp>
      <p:sp>
        <p:nvSpPr>
          <p:cNvPr id="29" name="Shape 26"/>
          <p:cNvSpPr/>
          <p:nvPr/>
        </p:nvSpPr>
        <p:spPr>
          <a:xfrm>
            <a:off x="4307738" y="4800600"/>
            <a:ext cx="1696669" cy="1143000"/>
          </a:xfrm>
          <a:prstGeom prst="roundRect">
            <a:avLst>
              <a:gd name="adj" fmla="val 96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0" name="Text 27"/>
          <p:cNvSpPr txBox="1"/>
          <p:nvPr/>
        </p:nvSpPr>
        <p:spPr>
          <a:xfrm>
            <a:off x="4307738" y="4892040"/>
            <a:ext cx="1696669" cy="594360"/>
          </a:xfrm>
          <a:prstGeom prst="rect">
            <a:avLst/>
          </a:prstGeom>
          <a:noFill/>
          <a:ln/>
        </p:spPr>
        <p:txBody>
          <a:bodyPr wrap="square" lIns="0" tIns="0" rIns="0" bIns="0" rtlCol="0" anchor="ctr"/>
          <a:lstStyle/>
          <a:p>
            <a:pPr algn="ctr" indent="0" marL="0">
              <a:buNone/>
            </a:pPr>
            <a:r>
              <a:rPr lang="en-US" sz="3000" b="1" dirty="0">
                <a:solidFill>
                  <a:srgbClr val="1A2033"/>
                </a:solidFill>
                <a:latin typeface="Calibri" pitchFamily="34" charset="0"/>
                <a:ea typeface="Calibri" pitchFamily="34" charset="-122"/>
                <a:cs typeface="Calibri" pitchFamily="34" charset="-120"/>
              </a:rPr>
              <a:t>12</a:t>
            </a:r>
            <a:endParaRPr lang="en-US" sz="3000" dirty="0"/>
          </a:p>
        </p:txBody>
      </p:sp>
      <p:sp>
        <p:nvSpPr>
          <p:cNvPr id="31" name="Text 28"/>
          <p:cNvSpPr txBox="1"/>
          <p:nvPr/>
        </p:nvSpPr>
        <p:spPr>
          <a:xfrm>
            <a:off x="4307738" y="5486400"/>
            <a:ext cx="1696669" cy="36576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skills</a:t>
            </a:r>
            <a:endParaRPr lang="en-US" sz="1200" dirty="0"/>
          </a:p>
        </p:txBody>
      </p:sp>
      <p:sp>
        <p:nvSpPr>
          <p:cNvPr id="32" name="Shape 29"/>
          <p:cNvSpPr/>
          <p:nvPr/>
        </p:nvSpPr>
        <p:spPr>
          <a:xfrm>
            <a:off x="6187288" y="4800600"/>
            <a:ext cx="1696669" cy="1143000"/>
          </a:xfrm>
          <a:prstGeom prst="roundRect">
            <a:avLst>
              <a:gd name="adj" fmla="val 96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3" name="Text 30"/>
          <p:cNvSpPr txBox="1"/>
          <p:nvPr/>
        </p:nvSpPr>
        <p:spPr>
          <a:xfrm>
            <a:off x="6187288" y="4892040"/>
            <a:ext cx="1696669" cy="594360"/>
          </a:xfrm>
          <a:prstGeom prst="rect">
            <a:avLst/>
          </a:prstGeom>
          <a:noFill/>
          <a:ln/>
        </p:spPr>
        <p:txBody>
          <a:bodyPr wrap="square" lIns="0" tIns="0" rIns="0" bIns="0" rtlCol="0" anchor="ctr"/>
          <a:lstStyle/>
          <a:p>
            <a:pPr algn="ctr" indent="0" marL="0">
              <a:buNone/>
            </a:pPr>
            <a:r>
              <a:rPr lang="en-US" sz="3000" b="1" dirty="0">
                <a:solidFill>
                  <a:srgbClr val="1A2033"/>
                </a:solidFill>
                <a:latin typeface="Calibri" pitchFamily="34" charset="0"/>
                <a:ea typeface="Calibri" pitchFamily="34" charset="-122"/>
                <a:cs typeface="Calibri" pitchFamily="34" charset="-120"/>
              </a:rPr>
              <a:t>132</a:t>
            </a:r>
            <a:endParaRPr lang="en-US" sz="3000" dirty="0"/>
          </a:p>
        </p:txBody>
      </p:sp>
      <p:sp>
        <p:nvSpPr>
          <p:cNvPr id="34" name="Text 31"/>
          <p:cNvSpPr txBox="1"/>
          <p:nvPr/>
        </p:nvSpPr>
        <p:spPr>
          <a:xfrm>
            <a:off x="6187288" y="5486400"/>
            <a:ext cx="1696669" cy="36576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tech signatures</a:t>
            </a:r>
            <a:endParaRPr lang="en-US" sz="1200" dirty="0"/>
          </a:p>
        </p:txBody>
      </p:sp>
      <p:sp>
        <p:nvSpPr>
          <p:cNvPr id="35" name="Shape 32"/>
          <p:cNvSpPr/>
          <p:nvPr/>
        </p:nvSpPr>
        <p:spPr>
          <a:xfrm>
            <a:off x="8066837" y="4800600"/>
            <a:ext cx="1696669" cy="1143000"/>
          </a:xfrm>
          <a:prstGeom prst="roundRect">
            <a:avLst>
              <a:gd name="adj" fmla="val 96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6" name="Text 33"/>
          <p:cNvSpPr txBox="1"/>
          <p:nvPr/>
        </p:nvSpPr>
        <p:spPr>
          <a:xfrm>
            <a:off x="8066837" y="4892040"/>
            <a:ext cx="1696669" cy="594360"/>
          </a:xfrm>
          <a:prstGeom prst="rect">
            <a:avLst/>
          </a:prstGeom>
          <a:noFill/>
          <a:ln/>
        </p:spPr>
        <p:txBody>
          <a:bodyPr wrap="square" lIns="0" tIns="0" rIns="0" bIns="0" rtlCol="0" anchor="ctr"/>
          <a:lstStyle/>
          <a:p>
            <a:pPr algn="ctr" indent="0" marL="0">
              <a:buNone/>
            </a:pPr>
            <a:r>
              <a:rPr lang="en-US" sz="3000" b="1" dirty="0">
                <a:solidFill>
                  <a:srgbClr val="1A2033"/>
                </a:solidFill>
                <a:latin typeface="Calibri" pitchFamily="34" charset="0"/>
                <a:ea typeface="Calibri" pitchFamily="34" charset="-122"/>
                <a:cs typeface="Calibri" pitchFamily="34" charset="-120"/>
              </a:rPr>
              <a:t>43</a:t>
            </a:r>
            <a:endParaRPr lang="en-US" sz="3000" dirty="0"/>
          </a:p>
        </p:txBody>
      </p:sp>
      <p:sp>
        <p:nvSpPr>
          <p:cNvPr id="37" name="Text 34"/>
          <p:cNvSpPr txBox="1"/>
          <p:nvPr/>
        </p:nvSpPr>
        <p:spPr>
          <a:xfrm>
            <a:off x="8066837" y="5486400"/>
            <a:ext cx="1696669" cy="36576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logged decisions</a:t>
            </a:r>
            <a:endParaRPr lang="en-US" sz="1200" dirty="0"/>
          </a:p>
        </p:txBody>
      </p:sp>
      <p:sp>
        <p:nvSpPr>
          <p:cNvPr id="38" name="Shape 35"/>
          <p:cNvSpPr/>
          <p:nvPr/>
        </p:nvSpPr>
        <p:spPr>
          <a:xfrm>
            <a:off x="9946386" y="4800600"/>
            <a:ext cx="1696669" cy="1143000"/>
          </a:xfrm>
          <a:prstGeom prst="roundRect">
            <a:avLst>
              <a:gd name="adj" fmla="val 96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39" name="Text 36"/>
          <p:cNvSpPr txBox="1"/>
          <p:nvPr/>
        </p:nvSpPr>
        <p:spPr>
          <a:xfrm>
            <a:off x="9946386" y="4892040"/>
            <a:ext cx="1696669" cy="594360"/>
          </a:xfrm>
          <a:prstGeom prst="rect">
            <a:avLst/>
          </a:prstGeom>
          <a:noFill/>
          <a:ln/>
        </p:spPr>
        <p:txBody>
          <a:bodyPr wrap="square" lIns="0" tIns="0" rIns="0" bIns="0" rtlCol="0" anchor="ctr"/>
          <a:lstStyle/>
          <a:p>
            <a:pPr algn="ctr" indent="0" marL="0">
              <a:buNone/>
            </a:pPr>
            <a:r>
              <a:rPr lang="en-US" sz="3000" b="1" dirty="0">
                <a:solidFill>
                  <a:srgbClr val="1A2033"/>
                </a:solidFill>
                <a:latin typeface="Calibri" pitchFamily="34" charset="0"/>
                <a:ea typeface="Calibri" pitchFamily="34" charset="-122"/>
                <a:cs typeface="Calibri" pitchFamily="34" charset="-120"/>
              </a:rPr>
              <a:t>49</a:t>
            </a:r>
            <a:endParaRPr lang="en-US" sz="3000" dirty="0"/>
          </a:p>
        </p:txBody>
      </p:sp>
      <p:sp>
        <p:nvSpPr>
          <p:cNvPr id="40" name="Text 37"/>
          <p:cNvSpPr txBox="1"/>
          <p:nvPr/>
        </p:nvSpPr>
        <p:spPr>
          <a:xfrm>
            <a:off x="9946386" y="5486400"/>
            <a:ext cx="1696669" cy="365760"/>
          </a:xfrm>
          <a:prstGeom prst="rect">
            <a:avLst/>
          </a:prstGeom>
          <a:noFill/>
          <a:ln/>
        </p:spPr>
        <p:txBody>
          <a:bodyPr wrap="square" lIns="0" tIns="0" rIns="0" bIns="0" rtlCol="0" anchor="t"/>
          <a:lstStyle/>
          <a:p>
            <a:pPr algn="ctr" indent="0" marL="0">
              <a:buNone/>
            </a:pPr>
            <a:r>
              <a:rPr lang="en-US" sz="1200" dirty="0">
                <a:solidFill>
                  <a:srgbClr val="667089"/>
                </a:solidFill>
                <a:latin typeface="Calibri" pitchFamily="34" charset="0"/>
                <a:ea typeface="Calibri" pitchFamily="34" charset="-122"/>
                <a:cs typeface="Calibri" pitchFamily="34" charset="-120"/>
              </a:rPr>
              <a:t>tests</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WHY YOU CAN TRUST IT</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Models judge. Tools measure. Humans decide.</a:t>
            </a:r>
            <a:endParaRPr lang="en-US" sz="3400" dirty="0"/>
          </a:p>
        </p:txBody>
      </p:sp>
      <p:sp>
        <p:nvSpPr>
          <p:cNvPr id="5" name="Shape 2"/>
          <p:cNvSpPr/>
          <p:nvPr/>
        </p:nvSpPr>
        <p:spPr>
          <a:xfrm>
            <a:off x="548640" y="1783080"/>
            <a:ext cx="2622728" cy="2240280"/>
          </a:xfrm>
          <a:prstGeom prst="roundRect">
            <a:avLst>
              <a:gd name="adj" fmla="val 489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check icon">    </p:cNvPr>
          <p:cNvPicPr>
            <a:picLocks noChangeAspect="1"/>
          </p:cNvPicPr>
          <p:nvPr/>
        </p:nvPicPr>
        <p:blipFill>
          <a:blip r:embed="rId1"/>
          <a:stretch>
            <a:fillRect/>
          </a:stretch>
        </p:blipFill>
        <p:spPr>
          <a:xfrm>
            <a:off x="777240" y="1984248"/>
            <a:ext cx="384048" cy="384048"/>
          </a:xfrm>
          <a:prstGeom prst="rect">
            <a:avLst/>
          </a:prstGeom>
        </p:spPr>
      </p:pic>
      <p:sp>
        <p:nvSpPr>
          <p:cNvPr id="7" name="Text 3"/>
          <p:cNvSpPr txBox="1"/>
          <p:nvPr/>
        </p:nvSpPr>
        <p:spPr>
          <a:xfrm>
            <a:off x="1280160" y="1965960"/>
            <a:ext cx="170832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Real numbers</a:t>
            </a:r>
            <a:endParaRPr lang="en-US" sz="1700" dirty="0"/>
          </a:p>
        </p:txBody>
      </p:sp>
      <p:sp>
        <p:nvSpPr>
          <p:cNvPr id="8" name="Text 4"/>
          <p:cNvSpPr txBox="1"/>
          <p:nvPr/>
        </p:nvSpPr>
        <p:spPr>
          <a:xfrm>
            <a:off x="777240" y="2496312"/>
            <a:ext cx="2165528" cy="141732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Speed, accessibility, traffic and technologies are measured by tools. Models only judge design and clarity. Findings carry evidence.</a:t>
            </a:r>
            <a:endParaRPr lang="en-US" sz="1400" dirty="0"/>
          </a:p>
        </p:txBody>
      </p:sp>
      <p:sp>
        <p:nvSpPr>
          <p:cNvPr id="9" name="Shape 5"/>
          <p:cNvSpPr/>
          <p:nvPr/>
        </p:nvSpPr>
        <p:spPr>
          <a:xfrm>
            <a:off x="3372536" y="1783080"/>
            <a:ext cx="2622728" cy="2240280"/>
          </a:xfrm>
          <a:prstGeom prst="roundRect">
            <a:avLst>
              <a:gd name="adj" fmla="val 489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0" name="Image 1" descr="tools icon">    </p:cNvPr>
          <p:cNvPicPr>
            <a:picLocks noChangeAspect="1"/>
          </p:cNvPicPr>
          <p:nvPr/>
        </p:nvPicPr>
        <p:blipFill>
          <a:blip r:embed="rId2"/>
          <a:stretch>
            <a:fillRect/>
          </a:stretch>
        </p:blipFill>
        <p:spPr>
          <a:xfrm>
            <a:off x="3601136" y="1984248"/>
            <a:ext cx="384048" cy="384048"/>
          </a:xfrm>
          <a:prstGeom prst="rect">
            <a:avLst/>
          </a:prstGeom>
        </p:spPr>
      </p:pic>
      <p:sp>
        <p:nvSpPr>
          <p:cNvPr id="11" name="Text 6"/>
          <p:cNvSpPr txBox="1"/>
          <p:nvPr/>
        </p:nvSpPr>
        <p:spPr>
          <a:xfrm>
            <a:off x="4104056" y="1965960"/>
            <a:ext cx="170832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Guardrails</a:t>
            </a:r>
            <a:endParaRPr lang="en-US" sz="1700" dirty="0"/>
          </a:p>
        </p:txBody>
      </p:sp>
      <p:sp>
        <p:nvSpPr>
          <p:cNvPr id="12" name="Text 7"/>
          <p:cNvSpPr txBox="1"/>
          <p:nvPr/>
        </p:nvSpPr>
        <p:spPr>
          <a:xfrm>
            <a:off x="3601136" y="2496312"/>
            <a:ext cx="2165528" cy="141732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The planning model chooses the next step, but code enforces order, retry limits and a step budget. A bad answer falls back to rules.</a:t>
            </a:r>
            <a:endParaRPr lang="en-US" sz="1400" dirty="0"/>
          </a:p>
        </p:txBody>
      </p:sp>
      <p:sp>
        <p:nvSpPr>
          <p:cNvPr id="13" name="Shape 8"/>
          <p:cNvSpPr/>
          <p:nvPr/>
        </p:nvSpPr>
        <p:spPr>
          <a:xfrm>
            <a:off x="6196432" y="1783080"/>
            <a:ext cx="2622728" cy="2240280"/>
          </a:xfrm>
          <a:prstGeom prst="roundRect">
            <a:avLst>
              <a:gd name="adj" fmla="val 489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4" name="Image 2" descr="bolt icon">    </p:cNvPr>
          <p:cNvPicPr>
            <a:picLocks noChangeAspect="1"/>
          </p:cNvPicPr>
          <p:nvPr/>
        </p:nvPicPr>
        <p:blipFill>
          <a:blip r:embed="rId3"/>
          <a:stretch>
            <a:fillRect/>
          </a:stretch>
        </p:blipFill>
        <p:spPr>
          <a:xfrm>
            <a:off x="6425032" y="1984248"/>
            <a:ext cx="384048" cy="384048"/>
          </a:xfrm>
          <a:prstGeom prst="rect">
            <a:avLst/>
          </a:prstGeom>
        </p:spPr>
      </p:pic>
      <p:sp>
        <p:nvSpPr>
          <p:cNvPr id="15" name="Text 9"/>
          <p:cNvSpPr txBox="1"/>
          <p:nvPr/>
        </p:nvSpPr>
        <p:spPr>
          <a:xfrm>
            <a:off x="6927952" y="1965960"/>
            <a:ext cx="170832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Always works</a:t>
            </a:r>
            <a:endParaRPr lang="en-US" sz="1700" dirty="0"/>
          </a:p>
        </p:txBody>
      </p:sp>
      <p:sp>
        <p:nvSpPr>
          <p:cNvPr id="16" name="Text 10"/>
          <p:cNvSpPr txBox="1"/>
          <p:nvPr/>
        </p:nvSpPr>
        <p:spPr>
          <a:xfrm>
            <a:off x="6425032" y="2496312"/>
            <a:ext cx="2165528" cy="141732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No model key or network? Offline mode still runs end to end. Any past run replays for free.</a:t>
            </a:r>
            <a:endParaRPr lang="en-US" sz="1400" dirty="0"/>
          </a:p>
        </p:txBody>
      </p:sp>
      <p:sp>
        <p:nvSpPr>
          <p:cNvPr id="17" name="Shape 11"/>
          <p:cNvSpPr/>
          <p:nvPr/>
        </p:nvSpPr>
        <p:spPr>
          <a:xfrm>
            <a:off x="9020327" y="1783080"/>
            <a:ext cx="2622728" cy="2240280"/>
          </a:xfrm>
          <a:prstGeom prst="roundRect">
            <a:avLst>
              <a:gd name="adj" fmla="val 4898"/>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8" name="Image 3" descr="doc icon">    </p:cNvPr>
          <p:cNvPicPr>
            <a:picLocks noChangeAspect="1"/>
          </p:cNvPicPr>
          <p:nvPr/>
        </p:nvPicPr>
        <p:blipFill>
          <a:blip r:embed="rId4"/>
          <a:stretch>
            <a:fillRect/>
          </a:stretch>
        </p:blipFill>
        <p:spPr>
          <a:xfrm>
            <a:off x="9248927" y="1984248"/>
            <a:ext cx="384048" cy="384048"/>
          </a:xfrm>
          <a:prstGeom prst="rect">
            <a:avLst/>
          </a:prstGeom>
        </p:spPr>
      </p:pic>
      <p:sp>
        <p:nvSpPr>
          <p:cNvPr id="19" name="Text 12"/>
          <p:cNvSpPr txBox="1"/>
          <p:nvPr/>
        </p:nvSpPr>
        <p:spPr>
          <a:xfrm>
            <a:off x="9751847" y="1965960"/>
            <a:ext cx="170832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Fully documented</a:t>
            </a:r>
            <a:endParaRPr lang="en-US" sz="1700" dirty="0"/>
          </a:p>
        </p:txBody>
      </p:sp>
      <p:sp>
        <p:nvSpPr>
          <p:cNvPr id="20" name="Text 13"/>
          <p:cNvSpPr txBox="1"/>
          <p:nvPr/>
        </p:nvSpPr>
        <p:spPr>
          <a:xfrm>
            <a:off x="9248927" y="2496312"/>
            <a:ext cx="2165528" cy="141732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43 logged decisions, 49 tests, and tagged releases to fall back to: v0.1.0, v0.2.0, v0.2.1.</a:t>
            </a:r>
            <a:endParaRPr lang="en-US" sz="1400" dirty="0"/>
          </a:p>
        </p:txBody>
      </p:sp>
      <p:sp>
        <p:nvSpPr>
          <p:cNvPr id="21" name="Shape 14"/>
          <p:cNvSpPr/>
          <p:nvPr/>
        </p:nvSpPr>
        <p:spPr>
          <a:xfrm>
            <a:off x="548640" y="4343400"/>
            <a:ext cx="11094415" cy="502920"/>
          </a:xfrm>
          <a:prstGeom prst="roundRect">
            <a:avLst>
              <a:gd name="adj" fmla="val 18182"/>
            </a:avLst>
          </a:prstGeom>
          <a:solidFill>
            <a:srgbClr val="EEF2FF"/>
          </a:solidFill>
          <a:ln w="12700">
            <a:solidFill>
              <a:srgbClr val="EEF2FF"/>
            </a:solidFill>
            <a:prstDash val="solid"/>
          </a:ln>
        </p:spPr>
      </p:sp>
      <p:sp>
        <p:nvSpPr>
          <p:cNvPr id="22" name="Text 15"/>
          <p:cNvSpPr txBox="1"/>
          <p:nvPr/>
        </p:nvSpPr>
        <p:spPr>
          <a:xfrm>
            <a:off x="822960" y="4343400"/>
            <a:ext cx="10545775" cy="502920"/>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Talent roster, org skills and pricing constants are labelled sample data until real data is connected.</a:t>
            </a:r>
            <a:endParaRPr lang="en-US" sz="17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THE BUSINESS CASE</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From very few proposals to a pipeline</a:t>
            </a:r>
            <a:endParaRPr lang="en-US" sz="3400" dirty="0"/>
          </a:p>
        </p:txBody>
      </p:sp>
      <p:sp>
        <p:nvSpPr>
          <p:cNvPr id="5" name="Shape 2"/>
          <p:cNvSpPr/>
          <p:nvPr/>
        </p:nvSpPr>
        <p:spPr>
          <a:xfrm>
            <a:off x="548640" y="1783080"/>
            <a:ext cx="3545738" cy="1737360"/>
          </a:xfrm>
          <a:prstGeom prst="roundRect">
            <a:avLst>
              <a:gd name="adj" fmla="val 631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growth icon">    </p:cNvPr>
          <p:cNvPicPr>
            <a:picLocks noChangeAspect="1"/>
          </p:cNvPicPr>
          <p:nvPr/>
        </p:nvPicPr>
        <p:blipFill>
          <a:blip r:embed="rId1"/>
          <a:stretch>
            <a:fillRect/>
          </a:stretch>
        </p:blipFill>
        <p:spPr>
          <a:xfrm>
            <a:off x="777240" y="1984248"/>
            <a:ext cx="384048" cy="384048"/>
          </a:xfrm>
          <a:prstGeom prst="rect">
            <a:avLst/>
          </a:prstGeom>
        </p:spPr>
      </p:pic>
      <p:sp>
        <p:nvSpPr>
          <p:cNvPr id="7" name="Text 3"/>
          <p:cNvSpPr txBox="1"/>
          <p:nvPr/>
        </p:nvSpPr>
        <p:spPr>
          <a:xfrm>
            <a:off x="1280160" y="19659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More reach</a:t>
            </a:r>
            <a:endParaRPr lang="en-US" sz="1700" dirty="0"/>
          </a:p>
        </p:txBody>
      </p:sp>
      <p:sp>
        <p:nvSpPr>
          <p:cNvPr id="8" name="Text 4"/>
          <p:cNvSpPr txBox="1"/>
          <p:nvPr/>
        </p:nvSpPr>
        <p:spPr>
          <a:xfrm>
            <a:off x="777240" y="2496312"/>
            <a:ext cx="3088538" cy="91440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Many more prospects analysed and contacted, each with a pitch about their own site.</a:t>
            </a:r>
            <a:endParaRPr lang="en-US" sz="1400" dirty="0"/>
          </a:p>
        </p:txBody>
      </p:sp>
      <p:sp>
        <p:nvSpPr>
          <p:cNvPr id="9" name="Shape 5"/>
          <p:cNvSpPr/>
          <p:nvPr/>
        </p:nvSpPr>
        <p:spPr>
          <a:xfrm>
            <a:off x="4322978" y="1783080"/>
            <a:ext cx="3545738" cy="1737360"/>
          </a:xfrm>
          <a:prstGeom prst="roundRect">
            <a:avLst>
              <a:gd name="adj" fmla="val 631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0" name="Image 1" descr="target icon">    </p:cNvPr>
          <p:cNvPicPr>
            <a:picLocks noChangeAspect="1"/>
          </p:cNvPicPr>
          <p:nvPr/>
        </p:nvPicPr>
        <p:blipFill>
          <a:blip r:embed="rId2"/>
          <a:stretch>
            <a:fillRect/>
          </a:stretch>
        </p:blipFill>
        <p:spPr>
          <a:xfrm>
            <a:off x="4551578" y="1984248"/>
            <a:ext cx="384048" cy="384048"/>
          </a:xfrm>
          <a:prstGeom prst="rect">
            <a:avLst/>
          </a:prstGeom>
        </p:spPr>
      </p:pic>
      <p:sp>
        <p:nvSpPr>
          <p:cNvPr id="11" name="Text 6"/>
          <p:cNvSpPr txBox="1"/>
          <p:nvPr/>
        </p:nvSpPr>
        <p:spPr>
          <a:xfrm>
            <a:off x="5054498" y="19659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Better pitches</a:t>
            </a:r>
            <a:endParaRPr lang="en-US" sz="1700" dirty="0"/>
          </a:p>
        </p:txBody>
      </p:sp>
      <p:sp>
        <p:nvSpPr>
          <p:cNvPr id="12" name="Text 7"/>
          <p:cNvSpPr txBox="1"/>
          <p:nvPr/>
        </p:nvSpPr>
        <p:spPr>
          <a:xfrm>
            <a:off x="4551578" y="2496312"/>
            <a:ext cx="3088538" cy="91440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Real findings, a redesign and a named team instead of a generic proposal.</a:t>
            </a:r>
            <a:endParaRPr lang="en-US" sz="1400" dirty="0"/>
          </a:p>
        </p:txBody>
      </p:sp>
      <p:sp>
        <p:nvSpPr>
          <p:cNvPr id="13" name="Shape 8"/>
          <p:cNvSpPr/>
          <p:nvPr/>
        </p:nvSpPr>
        <p:spPr>
          <a:xfrm>
            <a:off x="8097317" y="1783080"/>
            <a:ext cx="3545738" cy="1737360"/>
          </a:xfrm>
          <a:prstGeom prst="roundRect">
            <a:avLst>
              <a:gd name="adj" fmla="val 631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4" name="Image 2" descr="dev icon">    </p:cNvPr>
          <p:cNvPicPr>
            <a:picLocks noChangeAspect="1"/>
          </p:cNvPicPr>
          <p:nvPr/>
        </p:nvPicPr>
        <p:blipFill>
          <a:blip r:embed="rId3"/>
          <a:stretch>
            <a:fillRect/>
          </a:stretch>
        </p:blipFill>
        <p:spPr>
          <a:xfrm>
            <a:off x="8325917" y="1984248"/>
            <a:ext cx="384048" cy="384048"/>
          </a:xfrm>
          <a:prstGeom prst="rect">
            <a:avLst/>
          </a:prstGeom>
        </p:spPr>
      </p:pic>
      <p:sp>
        <p:nvSpPr>
          <p:cNvPr id="15" name="Text 9"/>
          <p:cNvSpPr txBox="1"/>
          <p:nvPr/>
        </p:nvSpPr>
        <p:spPr>
          <a:xfrm>
            <a:off x="8828837" y="19659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Talent put to work</a:t>
            </a:r>
            <a:endParaRPr lang="en-US" sz="1700" dirty="0"/>
          </a:p>
        </p:txBody>
      </p:sp>
      <p:sp>
        <p:nvSpPr>
          <p:cNvPr id="16" name="Text 10"/>
          <p:cNvSpPr txBox="1"/>
          <p:nvPr/>
        </p:nvSpPr>
        <p:spPr>
          <a:xfrm>
            <a:off x="8325917" y="2496312"/>
            <a:ext cx="3088538" cy="91440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Developers between projects review, fine-tune and get matched to new work.</a:t>
            </a:r>
            <a:endParaRPr lang="en-US" sz="1400" dirty="0"/>
          </a:p>
        </p:txBody>
      </p:sp>
      <p:sp>
        <p:nvSpPr>
          <p:cNvPr id="17" name="Shape 11"/>
          <p:cNvSpPr/>
          <p:nvPr/>
        </p:nvSpPr>
        <p:spPr>
          <a:xfrm>
            <a:off x="548640" y="3794760"/>
            <a:ext cx="11094415" cy="2148840"/>
          </a:xfrm>
          <a:prstGeom prst="roundRect">
            <a:avLst>
              <a:gd name="adj" fmla="val 5106"/>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8" name="Text 12"/>
          <p:cNvSpPr txBox="1"/>
          <p:nvPr/>
        </p:nvSpPr>
        <p:spPr>
          <a:xfrm>
            <a:off x="822960" y="3931920"/>
            <a:ext cx="10545775" cy="411480"/>
          </a:xfrm>
          <a:prstGeom prst="rect">
            <a:avLst/>
          </a:prstGeom>
          <a:noFill/>
          <a:ln/>
        </p:spPr>
        <p:txBody>
          <a:bodyPr wrap="square" lIns="0" tIns="0" rIns="0" bIns="0" rtlCol="0" anchor="t"/>
          <a:lstStyle/>
          <a:p>
            <a:pPr indent="0" marL="0">
              <a:buNone/>
            </a:pPr>
            <a:r>
              <a:rPr lang="en-US" sz="1900" b="1" dirty="0">
                <a:solidFill>
                  <a:srgbClr val="1A2033"/>
                </a:solidFill>
                <a:latin typeface="Calibri" pitchFamily="34" charset="0"/>
                <a:ea typeface="Calibri" pitchFamily="34" charset="-122"/>
                <a:cs typeface="Calibri" pitchFamily="34" charset="-120"/>
              </a:rPr>
              <a:t>What we will measure</a:t>
            </a:r>
            <a:endParaRPr lang="en-US" sz="1900" dirty="0"/>
          </a:p>
        </p:txBody>
      </p:sp>
      <p:sp>
        <p:nvSpPr>
          <p:cNvPr id="19" name="Shape 13"/>
          <p:cNvSpPr/>
          <p:nvPr/>
        </p:nvSpPr>
        <p:spPr>
          <a:xfrm>
            <a:off x="822960" y="4526280"/>
            <a:ext cx="2439985" cy="365760"/>
          </a:xfrm>
          <a:prstGeom prst="roundRect">
            <a:avLst>
              <a:gd name="adj" fmla="val 50000"/>
            </a:avLst>
          </a:prstGeom>
          <a:solidFill>
            <a:srgbClr val="FFFFFF"/>
          </a:solidFill>
          <a:ln w="12700">
            <a:solidFill>
              <a:srgbClr val="DFE3EE"/>
            </a:solidFill>
            <a:prstDash val="solid"/>
          </a:ln>
        </p:spPr>
      </p:sp>
      <p:sp>
        <p:nvSpPr>
          <p:cNvPr id="20" name="Text 14"/>
          <p:cNvSpPr txBox="1"/>
          <p:nvPr/>
        </p:nvSpPr>
        <p:spPr>
          <a:xfrm>
            <a:off x="822960" y="4526280"/>
            <a:ext cx="2439985"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Proposals sent per week</a:t>
            </a:r>
            <a:endParaRPr lang="en-US" sz="1400" dirty="0"/>
          </a:p>
        </p:txBody>
      </p:sp>
      <p:sp>
        <p:nvSpPr>
          <p:cNvPr id="21" name="Shape 15"/>
          <p:cNvSpPr/>
          <p:nvPr/>
        </p:nvSpPr>
        <p:spPr>
          <a:xfrm>
            <a:off x="3372673" y="4526280"/>
            <a:ext cx="1886956" cy="365760"/>
          </a:xfrm>
          <a:prstGeom prst="roundRect">
            <a:avLst>
              <a:gd name="adj" fmla="val 50000"/>
            </a:avLst>
          </a:prstGeom>
          <a:solidFill>
            <a:srgbClr val="FFFFFF"/>
          </a:solidFill>
          <a:ln w="12700">
            <a:solidFill>
              <a:srgbClr val="DFE3EE"/>
            </a:solidFill>
            <a:prstDash val="solid"/>
          </a:ln>
        </p:spPr>
      </p:sp>
      <p:sp>
        <p:nvSpPr>
          <p:cNvPr id="22" name="Text 16"/>
          <p:cNvSpPr txBox="1"/>
          <p:nvPr/>
        </p:nvSpPr>
        <p:spPr>
          <a:xfrm>
            <a:off x="3372673" y="4526280"/>
            <a:ext cx="1886956"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Replies from CTOs</a:t>
            </a:r>
            <a:endParaRPr lang="en-US" sz="1400" dirty="0"/>
          </a:p>
        </p:txBody>
      </p:sp>
      <p:sp>
        <p:nvSpPr>
          <p:cNvPr id="23" name="Shape 17"/>
          <p:cNvSpPr/>
          <p:nvPr/>
        </p:nvSpPr>
        <p:spPr>
          <a:xfrm>
            <a:off x="5369357" y="4526280"/>
            <a:ext cx="1333927" cy="365760"/>
          </a:xfrm>
          <a:prstGeom prst="roundRect">
            <a:avLst>
              <a:gd name="adj" fmla="val 50000"/>
            </a:avLst>
          </a:prstGeom>
          <a:solidFill>
            <a:srgbClr val="FFFFFF"/>
          </a:solidFill>
          <a:ln w="12700">
            <a:solidFill>
              <a:srgbClr val="DFE3EE"/>
            </a:solidFill>
            <a:prstDash val="solid"/>
          </a:ln>
        </p:spPr>
      </p:sp>
      <p:sp>
        <p:nvSpPr>
          <p:cNvPr id="24" name="Text 18"/>
          <p:cNvSpPr txBox="1"/>
          <p:nvPr/>
        </p:nvSpPr>
        <p:spPr>
          <a:xfrm>
            <a:off x="5369357" y="4526280"/>
            <a:ext cx="1333927"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Conversions</a:t>
            </a:r>
            <a:endParaRPr lang="en-US" sz="1400" dirty="0"/>
          </a:p>
        </p:txBody>
      </p:sp>
      <p:sp>
        <p:nvSpPr>
          <p:cNvPr id="25" name="Shape 19"/>
          <p:cNvSpPr/>
          <p:nvPr/>
        </p:nvSpPr>
        <p:spPr>
          <a:xfrm>
            <a:off x="6813012" y="4526280"/>
            <a:ext cx="2532156" cy="365760"/>
          </a:xfrm>
          <a:prstGeom prst="roundRect">
            <a:avLst>
              <a:gd name="adj" fmla="val 50000"/>
            </a:avLst>
          </a:prstGeom>
          <a:solidFill>
            <a:srgbClr val="FFFFFF"/>
          </a:solidFill>
          <a:ln w="12700">
            <a:solidFill>
              <a:srgbClr val="DFE3EE"/>
            </a:solidFill>
            <a:prstDash val="solid"/>
          </a:ln>
        </p:spPr>
      </p:sp>
      <p:sp>
        <p:nvSpPr>
          <p:cNvPr id="26" name="Text 20"/>
          <p:cNvSpPr txBox="1"/>
          <p:nvPr/>
        </p:nvSpPr>
        <p:spPr>
          <a:xfrm>
            <a:off x="6813012" y="4526280"/>
            <a:ext cx="2532156"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Revenue from new clients</a:t>
            </a:r>
            <a:endParaRPr lang="en-US" sz="1400" dirty="0"/>
          </a:p>
        </p:txBody>
      </p:sp>
      <p:sp>
        <p:nvSpPr>
          <p:cNvPr id="27" name="Shape 21"/>
          <p:cNvSpPr/>
          <p:nvPr/>
        </p:nvSpPr>
        <p:spPr>
          <a:xfrm>
            <a:off x="822960" y="5001768"/>
            <a:ext cx="1979127" cy="365760"/>
          </a:xfrm>
          <a:prstGeom prst="roundRect">
            <a:avLst>
              <a:gd name="adj" fmla="val 50000"/>
            </a:avLst>
          </a:prstGeom>
          <a:solidFill>
            <a:srgbClr val="FFFFFF"/>
          </a:solidFill>
          <a:ln w="12700">
            <a:solidFill>
              <a:srgbClr val="DFE3EE"/>
            </a:solidFill>
            <a:prstDash val="solid"/>
          </a:ln>
        </p:spPr>
      </p:sp>
      <p:sp>
        <p:nvSpPr>
          <p:cNvPr id="28" name="Text 22"/>
          <p:cNvSpPr txBox="1"/>
          <p:nvPr/>
        </p:nvSpPr>
        <p:spPr>
          <a:xfrm>
            <a:off x="822960" y="5001768"/>
            <a:ext cx="1979127"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Talent utilisation</a:t>
            </a:r>
            <a:endParaRPr lang="en-US" sz="1400" dirty="0"/>
          </a:p>
        </p:txBody>
      </p:sp>
      <p:sp>
        <p:nvSpPr>
          <p:cNvPr id="29" name="Shape 23"/>
          <p:cNvSpPr/>
          <p:nvPr/>
        </p:nvSpPr>
        <p:spPr>
          <a:xfrm>
            <a:off x="2911815" y="5001768"/>
            <a:ext cx="4006901" cy="365760"/>
          </a:xfrm>
          <a:prstGeom prst="roundRect">
            <a:avLst>
              <a:gd name="adj" fmla="val 50000"/>
            </a:avLst>
          </a:prstGeom>
          <a:solidFill>
            <a:srgbClr val="FFFFFF"/>
          </a:solidFill>
          <a:ln w="12700">
            <a:solidFill>
              <a:srgbClr val="DFE3EE"/>
            </a:solidFill>
            <a:prstDash val="solid"/>
          </a:ln>
        </p:spPr>
      </p:sp>
      <p:sp>
        <p:nvSpPr>
          <p:cNvPr id="30" name="Text 24"/>
          <p:cNvSpPr txBox="1"/>
          <p:nvPr/>
        </p:nvSpPr>
        <p:spPr>
          <a:xfrm>
            <a:off x="2911815" y="5001768"/>
            <a:ext cx="4006901" cy="365760"/>
          </a:xfrm>
          <a:prstGeom prst="rect">
            <a:avLst/>
          </a:prstGeom>
          <a:noFill/>
          <a:ln/>
        </p:spPr>
        <p:txBody>
          <a:bodyPr wrap="square" lIns="0" tIns="0" rIns="0" bIns="0" rtlCol="0" anchor="ctr"/>
          <a:lstStyle/>
          <a:p>
            <a:pPr algn="ctr" indent="0" marL="0">
              <a:buNone/>
            </a:pPr>
            <a:r>
              <a:rPr lang="en-US" sz="1400" b="1" dirty="0">
                <a:solidFill>
                  <a:srgbClr val="1A2033"/>
                </a:solidFill>
                <a:latin typeface="Calibri" pitchFamily="34" charset="0"/>
                <a:ea typeface="Calibri" pitchFamily="34" charset="-122"/>
                <a:cs typeface="Calibri" pitchFamily="34" charset="-120"/>
              </a:rPr>
              <a:t>Time from first contact to project start</a:t>
            </a:r>
            <a:endParaRPr lang="en-US" sz="1400" dirty="0"/>
          </a:p>
        </p:txBody>
      </p:sp>
      <p:sp>
        <p:nvSpPr>
          <p:cNvPr id="31" name="Text 25"/>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100" i="1" dirty="0">
                <a:solidFill>
                  <a:srgbClr val="667089"/>
                </a:solidFill>
                <a:latin typeface="Calibri" pitchFamily="34" charset="0"/>
                <a:ea typeface="Calibri" pitchFamily="34" charset="-122"/>
                <a:cs typeface="Calibri" pitchFamily="34" charset="-120"/>
              </a:rPr>
              <a:t>We do not claim numbers we have not measured yet. The app's ROI panel takes real figures once they are available.</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WHO WINS</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Good for everyone involved</a:t>
            </a:r>
            <a:endParaRPr lang="en-US" sz="3400" dirty="0"/>
          </a:p>
        </p:txBody>
      </p:sp>
      <p:sp>
        <p:nvSpPr>
          <p:cNvPr id="5" name="Shape 2"/>
          <p:cNvSpPr/>
          <p:nvPr/>
        </p:nvSpPr>
        <p:spPr>
          <a:xfrm>
            <a:off x="548640" y="1783080"/>
            <a:ext cx="3545738" cy="1828800"/>
          </a:xfrm>
          <a:prstGeom prst="roundRect">
            <a:avLst>
              <a:gd name="adj" fmla="val 6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growth icon">    </p:cNvPr>
          <p:cNvPicPr>
            <a:picLocks noChangeAspect="1"/>
          </p:cNvPicPr>
          <p:nvPr/>
        </p:nvPicPr>
        <p:blipFill>
          <a:blip r:embed="rId1"/>
          <a:stretch>
            <a:fillRect/>
          </a:stretch>
        </p:blipFill>
        <p:spPr>
          <a:xfrm>
            <a:off x="777240" y="1984248"/>
            <a:ext cx="384048" cy="384048"/>
          </a:xfrm>
          <a:prstGeom prst="rect">
            <a:avLst/>
          </a:prstGeom>
        </p:spPr>
      </p:pic>
      <p:sp>
        <p:nvSpPr>
          <p:cNvPr id="7" name="Text 3"/>
          <p:cNvSpPr txBox="1"/>
          <p:nvPr/>
        </p:nvSpPr>
        <p:spPr>
          <a:xfrm>
            <a:off x="1280160" y="19659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Sales and pre-sales</a:t>
            </a:r>
            <a:endParaRPr lang="en-US" sz="1700" dirty="0"/>
          </a:p>
        </p:txBody>
      </p:sp>
      <p:sp>
        <p:nvSpPr>
          <p:cNvPr id="8" name="Text 4"/>
          <p:cNvSpPr txBox="1"/>
          <p:nvPr/>
        </p:nvSpPr>
        <p:spPr>
          <a:xfrm>
            <a:off x="777240" y="2496312"/>
            <a:ext cx="3088538" cy="100584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More pitches, faster, each one personal. Better meetings with CTOs.</a:t>
            </a:r>
            <a:endParaRPr lang="en-US" sz="1400" dirty="0"/>
          </a:p>
        </p:txBody>
      </p:sp>
      <p:sp>
        <p:nvSpPr>
          <p:cNvPr id="9" name="Shape 5"/>
          <p:cNvSpPr/>
          <p:nvPr/>
        </p:nvSpPr>
        <p:spPr>
          <a:xfrm>
            <a:off x="4322978" y="1783080"/>
            <a:ext cx="3545738" cy="1828800"/>
          </a:xfrm>
          <a:prstGeom prst="roundRect">
            <a:avLst>
              <a:gd name="adj" fmla="val 6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0" name="Image 1" descr="dev icon">    </p:cNvPr>
          <p:cNvPicPr>
            <a:picLocks noChangeAspect="1"/>
          </p:cNvPicPr>
          <p:nvPr/>
        </p:nvPicPr>
        <p:blipFill>
          <a:blip r:embed="rId2"/>
          <a:stretch>
            <a:fillRect/>
          </a:stretch>
        </p:blipFill>
        <p:spPr>
          <a:xfrm>
            <a:off x="4551578" y="1984248"/>
            <a:ext cx="384048" cy="384048"/>
          </a:xfrm>
          <a:prstGeom prst="rect">
            <a:avLst/>
          </a:prstGeom>
        </p:spPr>
      </p:pic>
      <p:sp>
        <p:nvSpPr>
          <p:cNvPr id="11" name="Text 6"/>
          <p:cNvSpPr txBox="1"/>
          <p:nvPr/>
        </p:nvSpPr>
        <p:spPr>
          <a:xfrm>
            <a:off x="5054498" y="19659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Developers between projects</a:t>
            </a:r>
            <a:endParaRPr lang="en-US" sz="1700" dirty="0"/>
          </a:p>
        </p:txBody>
      </p:sp>
      <p:sp>
        <p:nvSpPr>
          <p:cNvPr id="12" name="Text 7"/>
          <p:cNvSpPr txBox="1"/>
          <p:nvPr/>
        </p:nvSpPr>
        <p:spPr>
          <a:xfrm>
            <a:off x="4551578" y="2496312"/>
            <a:ext cx="3088538" cy="100584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Real work, new skills and their name on the pitch.</a:t>
            </a:r>
            <a:endParaRPr lang="en-US" sz="1400" dirty="0"/>
          </a:p>
        </p:txBody>
      </p:sp>
      <p:sp>
        <p:nvSpPr>
          <p:cNvPr id="13" name="Shape 8"/>
          <p:cNvSpPr/>
          <p:nvPr/>
        </p:nvSpPr>
        <p:spPr>
          <a:xfrm>
            <a:off x="8097317" y="1783080"/>
            <a:ext cx="3545738" cy="1828800"/>
          </a:xfrm>
          <a:prstGeom prst="roundRect">
            <a:avLst>
              <a:gd name="adj" fmla="val 6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4" name="Image 2" descr="build icon">    </p:cNvPr>
          <p:cNvPicPr>
            <a:picLocks noChangeAspect="1"/>
          </p:cNvPicPr>
          <p:nvPr/>
        </p:nvPicPr>
        <p:blipFill>
          <a:blip r:embed="rId3"/>
          <a:stretch>
            <a:fillRect/>
          </a:stretch>
        </p:blipFill>
        <p:spPr>
          <a:xfrm>
            <a:off x="8325917" y="1984248"/>
            <a:ext cx="384048" cy="384048"/>
          </a:xfrm>
          <a:prstGeom prst="rect">
            <a:avLst/>
          </a:prstGeom>
        </p:spPr>
      </p:pic>
      <p:sp>
        <p:nvSpPr>
          <p:cNvPr id="15" name="Text 9"/>
          <p:cNvSpPr txBox="1"/>
          <p:nvPr/>
        </p:nvSpPr>
        <p:spPr>
          <a:xfrm>
            <a:off x="8828837" y="19659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Delivery heads</a:t>
            </a:r>
            <a:endParaRPr lang="en-US" sz="1700" dirty="0"/>
          </a:p>
        </p:txBody>
      </p:sp>
      <p:sp>
        <p:nvSpPr>
          <p:cNvPr id="16" name="Text 10"/>
          <p:cNvSpPr txBox="1"/>
          <p:nvPr/>
        </p:nvSpPr>
        <p:spPr>
          <a:xfrm>
            <a:off x="8325917" y="2496312"/>
            <a:ext cx="3088538" cy="100584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Projects scoped from real data, with a team that is free now.</a:t>
            </a:r>
            <a:endParaRPr lang="en-US" sz="1400" dirty="0"/>
          </a:p>
        </p:txBody>
      </p:sp>
      <p:sp>
        <p:nvSpPr>
          <p:cNvPr id="17" name="Shape 11"/>
          <p:cNvSpPr/>
          <p:nvPr/>
        </p:nvSpPr>
        <p:spPr>
          <a:xfrm>
            <a:off x="548640" y="3840480"/>
            <a:ext cx="3545738" cy="1828800"/>
          </a:xfrm>
          <a:prstGeom prst="roundRect">
            <a:avLst>
              <a:gd name="adj" fmla="val 6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8" name="Image 3" descr="brief icon">    </p:cNvPr>
          <p:cNvPicPr>
            <a:picLocks noChangeAspect="1"/>
          </p:cNvPicPr>
          <p:nvPr/>
        </p:nvPicPr>
        <p:blipFill>
          <a:blip r:embed="rId4"/>
          <a:stretch>
            <a:fillRect/>
          </a:stretch>
        </p:blipFill>
        <p:spPr>
          <a:xfrm>
            <a:off x="777240" y="4041648"/>
            <a:ext cx="384048" cy="384048"/>
          </a:xfrm>
          <a:prstGeom prst="rect">
            <a:avLst/>
          </a:prstGeom>
        </p:spPr>
      </p:pic>
      <p:sp>
        <p:nvSpPr>
          <p:cNvPr id="19" name="Text 12"/>
          <p:cNvSpPr txBox="1"/>
          <p:nvPr/>
        </p:nvSpPr>
        <p:spPr>
          <a:xfrm>
            <a:off x="1280160" y="40233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Leadership and finance</a:t>
            </a:r>
            <a:endParaRPr lang="en-US" sz="1700" dirty="0"/>
          </a:p>
        </p:txBody>
      </p:sp>
      <p:sp>
        <p:nvSpPr>
          <p:cNvPr id="20" name="Text 13"/>
          <p:cNvSpPr txBox="1"/>
          <p:nvPr/>
        </p:nvSpPr>
        <p:spPr>
          <a:xfrm>
            <a:off x="777240" y="4553712"/>
            <a:ext cx="3088538" cy="100584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Lower unallocated cost, higher win rate, a measurable pipeline.</a:t>
            </a:r>
            <a:endParaRPr lang="en-US" sz="1400" dirty="0"/>
          </a:p>
        </p:txBody>
      </p:sp>
      <p:sp>
        <p:nvSpPr>
          <p:cNvPr id="21" name="Shape 14"/>
          <p:cNvSpPr/>
          <p:nvPr/>
        </p:nvSpPr>
        <p:spPr>
          <a:xfrm>
            <a:off x="4322978" y="3840480"/>
            <a:ext cx="3545738" cy="1828800"/>
          </a:xfrm>
          <a:prstGeom prst="roundRect">
            <a:avLst>
              <a:gd name="adj" fmla="val 6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2" name="Image 4" descr="target icon">    </p:cNvPr>
          <p:cNvPicPr>
            <a:picLocks noChangeAspect="1"/>
          </p:cNvPicPr>
          <p:nvPr/>
        </p:nvPicPr>
        <p:blipFill>
          <a:blip r:embed="rId5"/>
          <a:stretch>
            <a:fillRect/>
          </a:stretch>
        </p:blipFill>
        <p:spPr>
          <a:xfrm>
            <a:off x="4551578" y="4041648"/>
            <a:ext cx="384048" cy="384048"/>
          </a:xfrm>
          <a:prstGeom prst="rect">
            <a:avLst/>
          </a:prstGeom>
        </p:spPr>
      </p:pic>
      <p:sp>
        <p:nvSpPr>
          <p:cNvPr id="23" name="Text 15"/>
          <p:cNvSpPr txBox="1"/>
          <p:nvPr/>
        </p:nvSpPr>
        <p:spPr>
          <a:xfrm>
            <a:off x="5054498" y="40233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The client's CTO</a:t>
            </a:r>
            <a:endParaRPr lang="en-US" sz="1700" dirty="0"/>
          </a:p>
        </p:txBody>
      </p:sp>
      <p:sp>
        <p:nvSpPr>
          <p:cNvPr id="24" name="Text 16"/>
          <p:cNvSpPr txBox="1"/>
          <p:nvPr/>
        </p:nvSpPr>
        <p:spPr>
          <a:xfrm>
            <a:off x="4551578" y="4553712"/>
            <a:ext cx="3088538" cy="100584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Free, useful insight on their own site, before signing anything.</a:t>
            </a:r>
            <a:endParaRPr lang="en-US" sz="1400" dirty="0"/>
          </a:p>
        </p:txBody>
      </p:sp>
      <p:sp>
        <p:nvSpPr>
          <p:cNvPr id="25" name="Shape 17"/>
          <p:cNvSpPr/>
          <p:nvPr/>
        </p:nvSpPr>
        <p:spPr>
          <a:xfrm>
            <a:off x="8097317" y="3840480"/>
            <a:ext cx="3545738" cy="1828800"/>
          </a:xfrm>
          <a:prstGeom prst="roundRect">
            <a:avLst>
              <a:gd name="adj" fmla="val 6000"/>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26" name="Image 5" descr="office icon">    </p:cNvPr>
          <p:cNvPicPr>
            <a:picLocks noChangeAspect="1"/>
          </p:cNvPicPr>
          <p:nvPr/>
        </p:nvPicPr>
        <p:blipFill>
          <a:blip r:embed="rId6"/>
          <a:stretch>
            <a:fillRect/>
          </a:stretch>
        </p:blipFill>
        <p:spPr>
          <a:xfrm>
            <a:off x="8325917" y="4041648"/>
            <a:ext cx="384048" cy="384048"/>
          </a:xfrm>
          <a:prstGeom prst="rect">
            <a:avLst/>
          </a:prstGeom>
        </p:spPr>
      </p:pic>
      <p:sp>
        <p:nvSpPr>
          <p:cNvPr id="27" name="Text 18"/>
          <p:cNvSpPr txBox="1"/>
          <p:nvPr/>
        </p:nvSpPr>
        <p:spPr>
          <a:xfrm>
            <a:off x="8828837" y="4023360"/>
            <a:ext cx="2631338"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The organisation</a:t>
            </a:r>
            <a:endParaRPr lang="en-US" sz="1700" dirty="0"/>
          </a:p>
        </p:txBody>
      </p:sp>
      <p:sp>
        <p:nvSpPr>
          <p:cNvPr id="28" name="Text 19"/>
          <p:cNvSpPr txBox="1"/>
          <p:nvPr/>
        </p:nvSpPr>
        <p:spPr>
          <a:xfrm>
            <a:off x="8325917" y="4553712"/>
            <a:ext cx="3088538" cy="100584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Shows our AI and engineering skill in every single pitch.</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WHAT'S NEXT</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Built in a hackathon. Ready to grow.</a:t>
            </a:r>
            <a:endParaRPr lang="en-US" sz="3400" dirty="0"/>
          </a:p>
        </p:txBody>
      </p:sp>
      <p:sp>
        <p:nvSpPr>
          <p:cNvPr id="5" name="Shape 2"/>
          <p:cNvSpPr/>
          <p:nvPr/>
        </p:nvSpPr>
        <p:spPr>
          <a:xfrm>
            <a:off x="548640" y="1783080"/>
            <a:ext cx="3545738" cy="4206240"/>
          </a:xfrm>
          <a:prstGeom prst="roundRect">
            <a:avLst>
              <a:gd name="adj" fmla="val 3095"/>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6" name="Shape 3"/>
          <p:cNvSpPr/>
          <p:nvPr/>
        </p:nvSpPr>
        <p:spPr>
          <a:xfrm>
            <a:off x="822960" y="2011680"/>
            <a:ext cx="274320" cy="274320"/>
          </a:xfrm>
          <a:prstGeom prst="ellipse">
            <a:avLst/>
          </a:prstGeom>
          <a:solidFill>
            <a:srgbClr val="0F9D6B"/>
          </a:solidFill>
          <a:ln w="12700">
            <a:solidFill>
              <a:srgbClr val="0F9D6B"/>
            </a:solidFill>
            <a:prstDash val="solid"/>
          </a:ln>
        </p:spPr>
      </p:sp>
      <p:sp>
        <p:nvSpPr>
          <p:cNvPr id="7" name="Text 4"/>
          <p:cNvSpPr txBox="1"/>
          <p:nvPr/>
        </p:nvSpPr>
        <p:spPr>
          <a:xfrm>
            <a:off x="1234440" y="1938528"/>
            <a:ext cx="2631338" cy="411480"/>
          </a:xfrm>
          <a:prstGeom prst="rect">
            <a:avLst/>
          </a:prstGeom>
          <a:noFill/>
          <a:ln/>
        </p:spPr>
        <p:txBody>
          <a:bodyPr wrap="square" lIns="0" tIns="0" rIns="0" bIns="0" rtlCol="0" anchor="ctr"/>
          <a:lstStyle/>
          <a:p>
            <a:pPr indent="0" marL="0">
              <a:buNone/>
            </a:pPr>
            <a:r>
              <a:rPr lang="en-US" sz="1900" b="1" dirty="0">
                <a:solidFill>
                  <a:srgbClr val="0F9D6B"/>
                </a:solidFill>
                <a:latin typeface="Calibri" pitchFamily="34" charset="0"/>
                <a:ea typeface="Calibri" pitchFamily="34" charset="-122"/>
                <a:cs typeface="Calibri" pitchFamily="34" charset="-120"/>
              </a:rPr>
              <a:t>Now · v0.2.1</a:t>
            </a:r>
            <a:endParaRPr lang="en-US" sz="1900" dirty="0"/>
          </a:p>
        </p:txBody>
      </p:sp>
      <p:sp>
        <p:nvSpPr>
          <p:cNvPr id="8" name="Text 5"/>
          <p:cNvSpPr txBox="1"/>
          <p:nvPr/>
        </p:nvSpPr>
        <p:spPr>
          <a:xfrm>
            <a:off x="822960" y="2514600"/>
            <a:ext cx="3042818" cy="3291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URL to audit, stack, redesign, team, deck</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Planner-driven lead agent</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Live feed, office and free replay</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Review window</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Agent marketplace</a:t>
            </a:r>
            <a:endParaRPr lang="en-US" sz="1500" dirty="0"/>
          </a:p>
        </p:txBody>
      </p:sp>
      <p:sp>
        <p:nvSpPr>
          <p:cNvPr id="9" name="Shape 6"/>
          <p:cNvSpPr/>
          <p:nvPr/>
        </p:nvSpPr>
        <p:spPr>
          <a:xfrm>
            <a:off x="4322978" y="1783080"/>
            <a:ext cx="3545738" cy="4206240"/>
          </a:xfrm>
          <a:prstGeom prst="roundRect">
            <a:avLst>
              <a:gd name="adj" fmla="val 3095"/>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0" name="Shape 7"/>
          <p:cNvSpPr/>
          <p:nvPr/>
        </p:nvSpPr>
        <p:spPr>
          <a:xfrm>
            <a:off x="4597298" y="2011680"/>
            <a:ext cx="274320" cy="274320"/>
          </a:xfrm>
          <a:prstGeom prst="ellipse">
            <a:avLst/>
          </a:prstGeom>
          <a:solidFill>
            <a:srgbClr val="4F6BFF"/>
          </a:solidFill>
          <a:ln w="12700">
            <a:solidFill>
              <a:srgbClr val="4F6BFF"/>
            </a:solidFill>
            <a:prstDash val="solid"/>
          </a:ln>
        </p:spPr>
      </p:sp>
      <p:sp>
        <p:nvSpPr>
          <p:cNvPr id="11" name="Text 8"/>
          <p:cNvSpPr txBox="1"/>
          <p:nvPr/>
        </p:nvSpPr>
        <p:spPr>
          <a:xfrm>
            <a:off x="5008778" y="1938528"/>
            <a:ext cx="2631338" cy="411480"/>
          </a:xfrm>
          <a:prstGeom prst="rect">
            <a:avLst/>
          </a:prstGeom>
          <a:noFill/>
          <a:ln/>
        </p:spPr>
        <p:txBody>
          <a:bodyPr wrap="square" lIns="0" tIns="0" rIns="0" bIns="0" rtlCol="0" anchor="ctr"/>
          <a:lstStyle/>
          <a:p>
            <a:pPr indent="0" marL="0">
              <a:buNone/>
            </a:pPr>
            <a:r>
              <a:rPr lang="en-US" sz="1900" b="1" dirty="0">
                <a:solidFill>
                  <a:srgbClr val="4F6BFF"/>
                </a:solidFill>
                <a:latin typeface="Calibri" pitchFamily="34" charset="0"/>
                <a:ea typeface="Calibri" pitchFamily="34" charset="-122"/>
                <a:cs typeface="Calibri" pitchFamily="34" charset="-120"/>
              </a:rPr>
              <a:t>Next</a:t>
            </a:r>
            <a:endParaRPr lang="en-US" sz="1900" dirty="0"/>
          </a:p>
        </p:txBody>
      </p:sp>
      <p:sp>
        <p:nvSpPr>
          <p:cNvPr id="12" name="Text 9"/>
          <p:cNvSpPr txBox="1"/>
          <p:nvPr/>
        </p:nvSpPr>
        <p:spPr>
          <a:xfrm>
            <a:off x="4597298" y="2514600"/>
            <a:ext cx="3042818" cy="3291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Agent-driven journeys and automated tests</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Locale testing</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LLM scores and HTML fixes for every finding</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Back-end and DevOps inspectors</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Real talent and skills data (HR adapter)</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Review assignment and notifications</a:t>
            </a:r>
            <a:endParaRPr lang="en-US" sz="1500" dirty="0"/>
          </a:p>
        </p:txBody>
      </p:sp>
      <p:sp>
        <p:nvSpPr>
          <p:cNvPr id="13" name="Shape 10"/>
          <p:cNvSpPr/>
          <p:nvPr/>
        </p:nvSpPr>
        <p:spPr>
          <a:xfrm>
            <a:off x="8097317" y="1783080"/>
            <a:ext cx="3545738" cy="4206240"/>
          </a:xfrm>
          <a:prstGeom prst="roundRect">
            <a:avLst>
              <a:gd name="adj" fmla="val 3095"/>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sp>
        <p:nvSpPr>
          <p:cNvPr id="14" name="Shape 11"/>
          <p:cNvSpPr/>
          <p:nvPr/>
        </p:nvSpPr>
        <p:spPr>
          <a:xfrm>
            <a:off x="8371637" y="2011680"/>
            <a:ext cx="274320" cy="274320"/>
          </a:xfrm>
          <a:prstGeom prst="ellipse">
            <a:avLst/>
          </a:prstGeom>
          <a:solidFill>
            <a:srgbClr val="667089"/>
          </a:solidFill>
          <a:ln w="12700">
            <a:solidFill>
              <a:srgbClr val="667089"/>
            </a:solidFill>
            <a:prstDash val="solid"/>
          </a:ln>
        </p:spPr>
      </p:sp>
      <p:sp>
        <p:nvSpPr>
          <p:cNvPr id="15" name="Text 12"/>
          <p:cNvSpPr txBox="1"/>
          <p:nvPr/>
        </p:nvSpPr>
        <p:spPr>
          <a:xfrm>
            <a:off x="8783117" y="1938528"/>
            <a:ext cx="2631338" cy="411480"/>
          </a:xfrm>
          <a:prstGeom prst="rect">
            <a:avLst/>
          </a:prstGeom>
          <a:noFill/>
          <a:ln/>
        </p:spPr>
        <p:txBody>
          <a:bodyPr wrap="square" lIns="0" tIns="0" rIns="0" bIns="0" rtlCol="0" anchor="ctr"/>
          <a:lstStyle/>
          <a:p>
            <a:pPr indent="0" marL="0">
              <a:buNone/>
            </a:pPr>
            <a:r>
              <a:rPr lang="en-US" sz="1900" b="1" dirty="0">
                <a:solidFill>
                  <a:srgbClr val="667089"/>
                </a:solidFill>
                <a:latin typeface="Calibri" pitchFamily="34" charset="0"/>
                <a:ea typeface="Calibri" pitchFamily="34" charset="-122"/>
                <a:cs typeface="Calibri" pitchFamily="34" charset="-120"/>
              </a:rPr>
              <a:t>Later</a:t>
            </a:r>
            <a:endParaRPr lang="en-US" sz="1900" dirty="0"/>
          </a:p>
        </p:txBody>
      </p:sp>
      <p:sp>
        <p:nvSpPr>
          <p:cNvPr id="16" name="Text 13"/>
          <p:cNvSpPr txBox="1"/>
          <p:nvPr/>
        </p:nvSpPr>
        <p:spPr>
          <a:xfrm>
            <a:off x="8371637" y="2514600"/>
            <a:ext cx="3042818" cy="3291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24x7 background agents and watchlists</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Simple RAG chat generator</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Live-meeting assistant</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CRM, approved send and win/loss loop</a:t>
            </a:r>
            <a:endParaRPr lang="en-US" sz="1500" dirty="0"/>
          </a:p>
          <a:p>
            <a:pPr marL="342900" indent="-342900">
              <a:spcAft>
                <a:spcPts val="600"/>
              </a:spcAft>
              <a:buSzPct val="100000"/>
              <a:buChar char="•"/>
            </a:pPr>
            <a:r>
              <a:rPr lang="en-US" sz="1500" dirty="0">
                <a:solidFill>
                  <a:srgbClr val="1A2033"/>
                </a:solidFill>
                <a:latin typeface="Calibri" pitchFamily="34" charset="0"/>
                <a:ea typeface="Calibri" pitchFamily="34" charset="-122"/>
                <a:cs typeface="Calibri" pitchFamily="34" charset="-120"/>
              </a:rPr>
              <a:t>Multi-page redesign</a:t>
            </a:r>
            <a:endParaRPr lang="en-US" sz="15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NITRO IN ONE SLIDE</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The whole idea, in short</a:t>
            </a:r>
            <a:endParaRPr lang="en-US" sz="3400" dirty="0"/>
          </a:p>
        </p:txBody>
      </p:sp>
      <p:sp>
        <p:nvSpPr>
          <p:cNvPr id="5" name="Text 2"/>
          <p:cNvSpPr txBox="1"/>
          <p:nvPr/>
        </p:nvSpPr>
        <p:spPr>
          <a:xfrm>
            <a:off x="548640" y="1691640"/>
            <a:ext cx="1463040" cy="502920"/>
          </a:xfrm>
          <a:prstGeom prst="rect">
            <a:avLst/>
          </a:prstGeom>
          <a:noFill/>
          <a:ln/>
        </p:spPr>
        <p:txBody>
          <a:bodyPr wrap="square" lIns="0" tIns="0" rIns="0" bIns="0" rtlCol="0" anchor="t"/>
          <a:lstStyle/>
          <a:p>
            <a:pPr indent="0" marL="0">
              <a:buNone/>
            </a:pPr>
            <a:r>
              <a:rPr lang="en-US" sz="1600" b="1" dirty="0">
                <a:solidFill>
                  <a:srgbClr val="4F6BFF"/>
                </a:solidFill>
                <a:latin typeface="Calibri" pitchFamily="34" charset="0"/>
                <a:ea typeface="Calibri" pitchFamily="34" charset="-122"/>
                <a:cs typeface="Calibri" pitchFamily="34" charset="-120"/>
              </a:rPr>
              <a:t>Problem</a:t>
            </a:r>
            <a:endParaRPr lang="en-US" sz="1600" dirty="0"/>
          </a:p>
        </p:txBody>
      </p:sp>
      <p:sp>
        <p:nvSpPr>
          <p:cNvPr id="6" name="Text 3"/>
          <p:cNvSpPr txBox="1"/>
          <p:nvPr/>
        </p:nvSpPr>
        <p:spPr>
          <a:xfrm>
            <a:off x="2103120" y="1691640"/>
            <a:ext cx="9539935" cy="50292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Pre-sales is slow, expensive and generic, while skilled developers wait between projects.</a:t>
            </a:r>
            <a:endParaRPr lang="en-US" sz="1500" dirty="0"/>
          </a:p>
        </p:txBody>
      </p:sp>
      <p:sp>
        <p:nvSpPr>
          <p:cNvPr id="7" name="Text 4"/>
          <p:cNvSpPr txBox="1"/>
          <p:nvPr/>
        </p:nvSpPr>
        <p:spPr>
          <a:xfrm>
            <a:off x="548640" y="2240280"/>
            <a:ext cx="1463040" cy="502920"/>
          </a:xfrm>
          <a:prstGeom prst="rect">
            <a:avLst/>
          </a:prstGeom>
          <a:noFill/>
          <a:ln/>
        </p:spPr>
        <p:txBody>
          <a:bodyPr wrap="square" lIns="0" tIns="0" rIns="0" bIns="0" rtlCol="0" anchor="t"/>
          <a:lstStyle/>
          <a:p>
            <a:pPr indent="0" marL="0">
              <a:buNone/>
            </a:pPr>
            <a:r>
              <a:rPr lang="en-US" sz="1600" b="1" dirty="0">
                <a:solidFill>
                  <a:srgbClr val="4F6BFF"/>
                </a:solidFill>
                <a:latin typeface="Calibri" pitchFamily="34" charset="0"/>
                <a:ea typeface="Calibri" pitchFamily="34" charset="-122"/>
                <a:cs typeface="Calibri" pitchFamily="34" charset="-120"/>
              </a:rPr>
              <a:t>Solution</a:t>
            </a:r>
            <a:endParaRPr lang="en-US" sz="1600" dirty="0"/>
          </a:p>
        </p:txBody>
      </p:sp>
      <p:sp>
        <p:nvSpPr>
          <p:cNvPr id="8" name="Text 5"/>
          <p:cNvSpPr txBox="1"/>
          <p:nvPr/>
        </p:nvSpPr>
        <p:spPr>
          <a:xfrm>
            <a:off x="2103120" y="2240280"/>
            <a:ext cx="9539935" cy="50292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Paste a URL. AI agents audit the site, read the tech stack, redesign the homepage, match our available experts and write the pitch.</a:t>
            </a:r>
            <a:endParaRPr lang="en-US" sz="1500" dirty="0"/>
          </a:p>
        </p:txBody>
      </p:sp>
      <p:sp>
        <p:nvSpPr>
          <p:cNvPr id="9" name="Text 6"/>
          <p:cNvSpPr txBox="1"/>
          <p:nvPr/>
        </p:nvSpPr>
        <p:spPr>
          <a:xfrm>
            <a:off x="548640" y="2788920"/>
            <a:ext cx="1463040" cy="502920"/>
          </a:xfrm>
          <a:prstGeom prst="rect">
            <a:avLst/>
          </a:prstGeom>
          <a:noFill/>
          <a:ln/>
        </p:spPr>
        <p:txBody>
          <a:bodyPr wrap="square" lIns="0" tIns="0" rIns="0" bIns="0" rtlCol="0" anchor="t"/>
          <a:lstStyle/>
          <a:p>
            <a:pPr indent="0" marL="0">
              <a:buNone/>
            </a:pPr>
            <a:r>
              <a:rPr lang="en-US" sz="1600" b="1" dirty="0">
                <a:solidFill>
                  <a:srgbClr val="4F6BFF"/>
                </a:solidFill>
                <a:latin typeface="Calibri" pitchFamily="34" charset="0"/>
                <a:ea typeface="Calibri" pitchFamily="34" charset="-122"/>
                <a:cs typeface="Calibri" pitchFamily="34" charset="-120"/>
              </a:rPr>
              <a:t>How</a:t>
            </a:r>
            <a:endParaRPr lang="en-US" sz="1600" dirty="0"/>
          </a:p>
        </p:txBody>
      </p:sp>
      <p:sp>
        <p:nvSpPr>
          <p:cNvPr id="10" name="Text 7"/>
          <p:cNvSpPr txBox="1"/>
          <p:nvPr/>
        </p:nvSpPr>
        <p:spPr>
          <a:xfrm>
            <a:off x="2103120" y="2788920"/>
            <a:ext cx="9539935" cy="50292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A coordinator agent plans the work. Tools measure (Lighthouse, axe-core, Playwright). The model judges and designs. A human approves.</a:t>
            </a:r>
            <a:endParaRPr lang="en-US" sz="1500" dirty="0"/>
          </a:p>
        </p:txBody>
      </p:sp>
      <p:sp>
        <p:nvSpPr>
          <p:cNvPr id="11" name="Text 8"/>
          <p:cNvSpPr txBox="1"/>
          <p:nvPr/>
        </p:nvSpPr>
        <p:spPr>
          <a:xfrm>
            <a:off x="548640" y="3337560"/>
            <a:ext cx="1463040" cy="502920"/>
          </a:xfrm>
          <a:prstGeom prst="rect">
            <a:avLst/>
          </a:prstGeom>
          <a:noFill/>
          <a:ln/>
        </p:spPr>
        <p:txBody>
          <a:bodyPr wrap="square" lIns="0" tIns="0" rIns="0" bIns="0" rtlCol="0" anchor="t"/>
          <a:lstStyle/>
          <a:p>
            <a:pPr indent="0" marL="0">
              <a:buNone/>
            </a:pPr>
            <a:r>
              <a:rPr lang="en-US" sz="1600" b="1" dirty="0">
                <a:solidFill>
                  <a:srgbClr val="4F6BFF"/>
                </a:solidFill>
                <a:latin typeface="Calibri" pitchFamily="34" charset="0"/>
                <a:ea typeface="Calibri" pitchFamily="34" charset="-122"/>
                <a:cs typeface="Calibri" pitchFamily="34" charset="-120"/>
              </a:rPr>
              <a:t>Proof</a:t>
            </a:r>
            <a:endParaRPr lang="en-US" sz="1600" dirty="0"/>
          </a:p>
        </p:txBody>
      </p:sp>
      <p:sp>
        <p:nvSpPr>
          <p:cNvPr id="12" name="Text 9"/>
          <p:cNvSpPr txBox="1"/>
          <p:nvPr/>
        </p:nvSpPr>
        <p:spPr>
          <a:xfrm>
            <a:off x="2103120" y="3337560"/>
            <a:ext cx="9539935" cy="50292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Real runs on allbirds.com, stripe.com and Samsung India. Live feed, office view, free replay, review window.</a:t>
            </a:r>
            <a:endParaRPr lang="en-US" sz="1500" dirty="0"/>
          </a:p>
        </p:txBody>
      </p:sp>
      <p:sp>
        <p:nvSpPr>
          <p:cNvPr id="13" name="Text 10"/>
          <p:cNvSpPr txBox="1"/>
          <p:nvPr/>
        </p:nvSpPr>
        <p:spPr>
          <a:xfrm>
            <a:off x="548640" y="3886200"/>
            <a:ext cx="1463040" cy="502920"/>
          </a:xfrm>
          <a:prstGeom prst="rect">
            <a:avLst/>
          </a:prstGeom>
          <a:noFill/>
          <a:ln/>
        </p:spPr>
        <p:txBody>
          <a:bodyPr wrap="square" lIns="0" tIns="0" rIns="0" bIns="0" rtlCol="0" anchor="t"/>
          <a:lstStyle/>
          <a:p>
            <a:pPr indent="0" marL="0">
              <a:buNone/>
            </a:pPr>
            <a:r>
              <a:rPr lang="en-US" sz="1600" b="1" dirty="0">
                <a:solidFill>
                  <a:srgbClr val="4F6BFF"/>
                </a:solidFill>
                <a:latin typeface="Calibri" pitchFamily="34" charset="0"/>
                <a:ea typeface="Calibri" pitchFamily="34" charset="-122"/>
                <a:cs typeface="Calibri" pitchFamily="34" charset="-120"/>
              </a:rPr>
              <a:t>Impact</a:t>
            </a:r>
            <a:endParaRPr lang="en-US" sz="1600" dirty="0"/>
          </a:p>
        </p:txBody>
      </p:sp>
      <p:sp>
        <p:nvSpPr>
          <p:cNvPr id="14" name="Text 11"/>
          <p:cNvSpPr txBox="1"/>
          <p:nvPr/>
        </p:nvSpPr>
        <p:spPr>
          <a:xfrm>
            <a:off x="2103120" y="3886200"/>
            <a:ext cx="9539935" cy="50292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Many more prospects analysed, personalised outreach to CTOs, better use of our talent, engaged employees.</a:t>
            </a:r>
            <a:endParaRPr lang="en-US" sz="1500" dirty="0"/>
          </a:p>
        </p:txBody>
      </p:sp>
      <p:sp>
        <p:nvSpPr>
          <p:cNvPr id="15" name="Text 12"/>
          <p:cNvSpPr txBox="1"/>
          <p:nvPr/>
        </p:nvSpPr>
        <p:spPr>
          <a:xfrm>
            <a:off x="548640" y="4434840"/>
            <a:ext cx="1463040" cy="502920"/>
          </a:xfrm>
          <a:prstGeom prst="rect">
            <a:avLst/>
          </a:prstGeom>
          <a:noFill/>
          <a:ln/>
        </p:spPr>
        <p:txBody>
          <a:bodyPr wrap="square" lIns="0" tIns="0" rIns="0" bIns="0" rtlCol="0" anchor="t"/>
          <a:lstStyle/>
          <a:p>
            <a:pPr indent="0" marL="0">
              <a:buNone/>
            </a:pPr>
            <a:r>
              <a:rPr lang="en-US" sz="1600" b="1" dirty="0">
                <a:solidFill>
                  <a:srgbClr val="4F6BFF"/>
                </a:solidFill>
                <a:latin typeface="Calibri" pitchFamily="34" charset="0"/>
                <a:ea typeface="Calibri" pitchFamily="34" charset="-122"/>
                <a:cs typeface="Calibri" pitchFamily="34" charset="-120"/>
              </a:rPr>
              <a:t>Next</a:t>
            </a:r>
            <a:endParaRPr lang="en-US" sz="1600" dirty="0"/>
          </a:p>
        </p:txBody>
      </p:sp>
      <p:sp>
        <p:nvSpPr>
          <p:cNvPr id="16" name="Text 13"/>
          <p:cNvSpPr txBox="1"/>
          <p:nvPr/>
        </p:nvSpPr>
        <p:spPr>
          <a:xfrm>
            <a:off x="2103120" y="4434840"/>
            <a:ext cx="9539935" cy="502920"/>
          </a:xfrm>
          <a:prstGeom prst="rect">
            <a:avLst/>
          </a:prstGeom>
          <a:noFill/>
          <a:ln/>
        </p:spPr>
        <p:txBody>
          <a:bodyPr wrap="square" lIns="0" tIns="0" rIns="0" bIns="0" rtlCol="0" anchor="t"/>
          <a:lstStyle/>
          <a:p>
            <a:pPr indent="0" marL="0">
              <a:buNone/>
            </a:pPr>
            <a:r>
              <a:rPr lang="en-US" sz="1500" dirty="0">
                <a:solidFill>
                  <a:srgbClr val="1A2033"/>
                </a:solidFill>
                <a:latin typeface="Calibri" pitchFamily="34" charset="0"/>
                <a:ea typeface="Calibri" pitchFamily="34" charset="-122"/>
                <a:cs typeface="Calibri" pitchFamily="34" charset="-120"/>
              </a:rPr>
              <a:t>Agent journeys, automated tests, locale testing, HTML fixes, RAG chat, 24x7 agents, all in the agent marketplace.</a:t>
            </a:r>
            <a:endParaRPr lang="en-US" sz="1500" dirty="0"/>
          </a:p>
        </p:txBody>
      </p:sp>
      <p:sp>
        <p:nvSpPr>
          <p:cNvPr id="17" name="Shape 14"/>
          <p:cNvSpPr/>
          <p:nvPr/>
        </p:nvSpPr>
        <p:spPr>
          <a:xfrm>
            <a:off x="548640" y="5120640"/>
            <a:ext cx="1900123" cy="365760"/>
          </a:xfrm>
          <a:prstGeom prst="roundRect">
            <a:avLst>
              <a:gd name="adj" fmla="val 50000"/>
            </a:avLst>
          </a:prstGeom>
          <a:solidFill>
            <a:srgbClr val="FFFFFF"/>
          </a:solidFill>
          <a:ln w="12700">
            <a:solidFill>
              <a:srgbClr val="DFE3EE"/>
            </a:solidFill>
            <a:prstDash val="solid"/>
          </a:ln>
        </p:spPr>
      </p:sp>
      <p:sp>
        <p:nvSpPr>
          <p:cNvPr id="18" name="Text 15"/>
          <p:cNvSpPr txBox="1"/>
          <p:nvPr/>
        </p:nvSpPr>
        <p:spPr>
          <a:xfrm>
            <a:off x="548640" y="5120640"/>
            <a:ext cx="1900123"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Pre-sales automation</a:t>
            </a:r>
            <a:endParaRPr lang="en-US" sz="1200" dirty="0"/>
          </a:p>
        </p:txBody>
      </p:sp>
      <p:sp>
        <p:nvSpPr>
          <p:cNvPr id="19" name="Shape 16"/>
          <p:cNvSpPr/>
          <p:nvPr/>
        </p:nvSpPr>
        <p:spPr>
          <a:xfrm>
            <a:off x="2558491" y="5120640"/>
            <a:ext cx="1426098" cy="365760"/>
          </a:xfrm>
          <a:prstGeom prst="roundRect">
            <a:avLst>
              <a:gd name="adj" fmla="val 50000"/>
            </a:avLst>
          </a:prstGeom>
          <a:solidFill>
            <a:srgbClr val="FFFFFF"/>
          </a:solidFill>
          <a:ln w="12700">
            <a:solidFill>
              <a:srgbClr val="DFE3EE"/>
            </a:solidFill>
            <a:prstDash val="solid"/>
          </a:ln>
        </p:spPr>
      </p:sp>
      <p:sp>
        <p:nvSpPr>
          <p:cNvPr id="20" name="Text 17"/>
          <p:cNvSpPr txBox="1"/>
          <p:nvPr/>
        </p:nvSpPr>
        <p:spPr>
          <a:xfrm>
            <a:off x="2558491" y="5120640"/>
            <a:ext cx="1426098"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Multi-agent AI</a:t>
            </a:r>
            <a:endParaRPr lang="en-US" sz="1200" dirty="0"/>
          </a:p>
        </p:txBody>
      </p:sp>
      <p:sp>
        <p:nvSpPr>
          <p:cNvPr id="21" name="Shape 18"/>
          <p:cNvSpPr/>
          <p:nvPr/>
        </p:nvSpPr>
        <p:spPr>
          <a:xfrm>
            <a:off x="4094317" y="5120640"/>
            <a:ext cx="1742115" cy="365760"/>
          </a:xfrm>
          <a:prstGeom prst="roundRect">
            <a:avLst>
              <a:gd name="adj" fmla="val 50000"/>
            </a:avLst>
          </a:prstGeom>
          <a:solidFill>
            <a:srgbClr val="FFFFFF"/>
          </a:solidFill>
          <a:ln w="12700">
            <a:solidFill>
              <a:srgbClr val="DFE3EE"/>
            </a:solidFill>
            <a:prstDash val="solid"/>
          </a:ln>
        </p:spPr>
      </p:sp>
      <p:sp>
        <p:nvSpPr>
          <p:cNvPr id="22" name="Text 19"/>
          <p:cNvSpPr txBox="1"/>
          <p:nvPr/>
        </p:nvSpPr>
        <p:spPr>
          <a:xfrm>
            <a:off x="4094317" y="5120640"/>
            <a:ext cx="1742115"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Talent utilisation</a:t>
            </a:r>
            <a:endParaRPr lang="en-US" sz="1200" dirty="0"/>
          </a:p>
        </p:txBody>
      </p:sp>
      <p:sp>
        <p:nvSpPr>
          <p:cNvPr id="23" name="Shape 20"/>
          <p:cNvSpPr/>
          <p:nvPr/>
        </p:nvSpPr>
        <p:spPr>
          <a:xfrm>
            <a:off x="5946160" y="5120640"/>
            <a:ext cx="1900123" cy="365760"/>
          </a:xfrm>
          <a:prstGeom prst="roundRect">
            <a:avLst>
              <a:gd name="adj" fmla="val 50000"/>
            </a:avLst>
          </a:prstGeom>
          <a:solidFill>
            <a:srgbClr val="FFFFFF"/>
          </a:solidFill>
          <a:ln w="12700">
            <a:solidFill>
              <a:srgbClr val="DFE3EE"/>
            </a:solidFill>
            <a:prstDash val="solid"/>
          </a:ln>
        </p:spPr>
      </p:sp>
      <p:sp>
        <p:nvSpPr>
          <p:cNvPr id="24" name="Text 21"/>
          <p:cNvSpPr txBox="1"/>
          <p:nvPr/>
        </p:nvSpPr>
        <p:spPr>
          <a:xfrm>
            <a:off x="5946160" y="5120640"/>
            <a:ext cx="1900123"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Personalised pitches</a:t>
            </a:r>
            <a:endParaRPr lang="en-US" sz="1200" dirty="0"/>
          </a:p>
        </p:txBody>
      </p:sp>
      <p:sp>
        <p:nvSpPr>
          <p:cNvPr id="25" name="Shape 22"/>
          <p:cNvSpPr/>
          <p:nvPr/>
        </p:nvSpPr>
        <p:spPr>
          <a:xfrm>
            <a:off x="7956012" y="5120640"/>
            <a:ext cx="2611161" cy="365760"/>
          </a:xfrm>
          <a:prstGeom prst="roundRect">
            <a:avLst>
              <a:gd name="adj" fmla="val 50000"/>
            </a:avLst>
          </a:prstGeom>
          <a:solidFill>
            <a:srgbClr val="FFFFFF"/>
          </a:solidFill>
          <a:ln w="12700">
            <a:solidFill>
              <a:srgbClr val="DFE3EE"/>
            </a:solidFill>
            <a:prstDash val="solid"/>
          </a:ln>
        </p:spPr>
      </p:sp>
      <p:sp>
        <p:nvSpPr>
          <p:cNvPr id="26" name="Text 23"/>
          <p:cNvSpPr txBox="1"/>
          <p:nvPr/>
        </p:nvSpPr>
        <p:spPr>
          <a:xfrm>
            <a:off x="7956012" y="5120640"/>
            <a:ext cx="2611161"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Front end · back end · DevOps</a:t>
            </a:r>
            <a:endParaRPr lang="en-US" sz="1200" dirty="0"/>
          </a:p>
        </p:txBody>
      </p:sp>
      <p:sp>
        <p:nvSpPr>
          <p:cNvPr id="27" name="Shape 24"/>
          <p:cNvSpPr/>
          <p:nvPr/>
        </p:nvSpPr>
        <p:spPr>
          <a:xfrm>
            <a:off x="548640" y="5596128"/>
            <a:ext cx="1189086" cy="365760"/>
          </a:xfrm>
          <a:prstGeom prst="roundRect">
            <a:avLst>
              <a:gd name="adj" fmla="val 50000"/>
            </a:avLst>
          </a:prstGeom>
          <a:solidFill>
            <a:srgbClr val="FFFFFF"/>
          </a:solidFill>
          <a:ln w="12700">
            <a:solidFill>
              <a:srgbClr val="DFE3EE"/>
            </a:solidFill>
            <a:prstDash val="solid"/>
          </a:ln>
        </p:spPr>
      </p:sp>
      <p:sp>
        <p:nvSpPr>
          <p:cNvPr id="28" name="Text 25"/>
          <p:cNvSpPr txBox="1"/>
          <p:nvPr/>
        </p:nvSpPr>
        <p:spPr>
          <a:xfrm>
            <a:off x="548640" y="5596128"/>
            <a:ext cx="1189086"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Performance</a:t>
            </a:r>
            <a:endParaRPr lang="en-US" sz="1200" dirty="0"/>
          </a:p>
        </p:txBody>
      </p:sp>
      <p:sp>
        <p:nvSpPr>
          <p:cNvPr id="29" name="Shape 26"/>
          <p:cNvSpPr/>
          <p:nvPr/>
        </p:nvSpPr>
        <p:spPr>
          <a:xfrm>
            <a:off x="1847454" y="5596128"/>
            <a:ext cx="1110082" cy="365760"/>
          </a:xfrm>
          <a:prstGeom prst="roundRect">
            <a:avLst>
              <a:gd name="adj" fmla="val 50000"/>
            </a:avLst>
          </a:prstGeom>
          <a:solidFill>
            <a:srgbClr val="FFFFFF"/>
          </a:solidFill>
          <a:ln w="12700">
            <a:solidFill>
              <a:srgbClr val="DFE3EE"/>
            </a:solidFill>
            <a:prstDash val="solid"/>
          </a:ln>
        </p:spPr>
      </p:sp>
      <p:sp>
        <p:nvSpPr>
          <p:cNvPr id="30" name="Text 27"/>
          <p:cNvSpPr txBox="1"/>
          <p:nvPr/>
        </p:nvSpPr>
        <p:spPr>
          <a:xfrm>
            <a:off x="1847454" y="5596128"/>
            <a:ext cx="1110082"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LLM scores</a:t>
            </a:r>
            <a:endParaRPr lang="en-US" sz="1200" dirty="0"/>
          </a:p>
        </p:txBody>
      </p:sp>
      <p:sp>
        <p:nvSpPr>
          <p:cNvPr id="31" name="Shape 28"/>
          <p:cNvSpPr/>
          <p:nvPr/>
        </p:nvSpPr>
        <p:spPr>
          <a:xfrm>
            <a:off x="3067263" y="5596128"/>
            <a:ext cx="1505102" cy="365760"/>
          </a:xfrm>
          <a:prstGeom prst="roundRect">
            <a:avLst>
              <a:gd name="adj" fmla="val 50000"/>
            </a:avLst>
          </a:prstGeom>
          <a:solidFill>
            <a:srgbClr val="FFFFFF"/>
          </a:solidFill>
          <a:ln w="12700">
            <a:solidFill>
              <a:srgbClr val="DFE3EE"/>
            </a:solidFill>
            <a:prstDash val="solid"/>
          </a:ln>
        </p:spPr>
      </p:sp>
      <p:sp>
        <p:nvSpPr>
          <p:cNvPr id="32" name="Text 29"/>
          <p:cNvSpPr txBox="1"/>
          <p:nvPr/>
        </p:nvSpPr>
        <p:spPr>
          <a:xfrm>
            <a:off x="3067263" y="5596128"/>
            <a:ext cx="1505102"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Automated tests</a:t>
            </a:r>
            <a:endParaRPr lang="en-US" sz="1200" dirty="0"/>
          </a:p>
        </p:txBody>
      </p:sp>
      <p:sp>
        <p:nvSpPr>
          <p:cNvPr id="33" name="Shape 30"/>
          <p:cNvSpPr/>
          <p:nvPr/>
        </p:nvSpPr>
        <p:spPr>
          <a:xfrm>
            <a:off x="4682094" y="5596128"/>
            <a:ext cx="1426098" cy="365760"/>
          </a:xfrm>
          <a:prstGeom prst="roundRect">
            <a:avLst>
              <a:gd name="adj" fmla="val 50000"/>
            </a:avLst>
          </a:prstGeom>
          <a:solidFill>
            <a:srgbClr val="FFFFFF"/>
          </a:solidFill>
          <a:ln w="12700">
            <a:solidFill>
              <a:srgbClr val="DFE3EE"/>
            </a:solidFill>
            <a:prstDash val="solid"/>
          </a:ln>
        </p:spPr>
      </p:sp>
      <p:sp>
        <p:nvSpPr>
          <p:cNvPr id="34" name="Text 31"/>
          <p:cNvSpPr txBox="1"/>
          <p:nvPr/>
        </p:nvSpPr>
        <p:spPr>
          <a:xfrm>
            <a:off x="4682094" y="5596128"/>
            <a:ext cx="1426098"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Agent journeys</a:t>
            </a:r>
            <a:endParaRPr lang="en-US" sz="1200" dirty="0"/>
          </a:p>
        </p:txBody>
      </p:sp>
      <p:sp>
        <p:nvSpPr>
          <p:cNvPr id="35" name="Shape 32"/>
          <p:cNvSpPr/>
          <p:nvPr/>
        </p:nvSpPr>
        <p:spPr>
          <a:xfrm>
            <a:off x="6217920" y="5596128"/>
            <a:ext cx="873069" cy="365760"/>
          </a:xfrm>
          <a:prstGeom prst="roundRect">
            <a:avLst>
              <a:gd name="adj" fmla="val 50000"/>
            </a:avLst>
          </a:prstGeom>
          <a:solidFill>
            <a:srgbClr val="FFFFFF"/>
          </a:solidFill>
          <a:ln w="12700">
            <a:solidFill>
              <a:srgbClr val="DFE3EE"/>
            </a:solidFill>
            <a:prstDash val="solid"/>
          </a:ln>
        </p:spPr>
      </p:sp>
      <p:sp>
        <p:nvSpPr>
          <p:cNvPr id="36" name="Text 33"/>
          <p:cNvSpPr txBox="1"/>
          <p:nvPr/>
        </p:nvSpPr>
        <p:spPr>
          <a:xfrm>
            <a:off x="6217920" y="5596128"/>
            <a:ext cx="873069"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Locales</a:t>
            </a:r>
            <a:endParaRPr lang="en-US" sz="1200" dirty="0"/>
          </a:p>
        </p:txBody>
      </p:sp>
      <p:sp>
        <p:nvSpPr>
          <p:cNvPr id="37" name="Shape 34"/>
          <p:cNvSpPr/>
          <p:nvPr/>
        </p:nvSpPr>
        <p:spPr>
          <a:xfrm>
            <a:off x="7200717" y="5596128"/>
            <a:ext cx="1663111" cy="365760"/>
          </a:xfrm>
          <a:prstGeom prst="roundRect">
            <a:avLst>
              <a:gd name="adj" fmla="val 50000"/>
            </a:avLst>
          </a:prstGeom>
          <a:solidFill>
            <a:srgbClr val="FFFFFF"/>
          </a:solidFill>
          <a:ln w="12700">
            <a:solidFill>
              <a:srgbClr val="DFE3EE"/>
            </a:solidFill>
            <a:prstDash val="solid"/>
          </a:ln>
        </p:spPr>
      </p:sp>
      <p:sp>
        <p:nvSpPr>
          <p:cNvPr id="38" name="Text 35"/>
          <p:cNvSpPr txBox="1"/>
          <p:nvPr/>
        </p:nvSpPr>
        <p:spPr>
          <a:xfrm>
            <a:off x="7200717" y="5596128"/>
            <a:ext cx="1663111"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HTML improvements</a:t>
            </a:r>
            <a:endParaRPr lang="en-US" sz="1200" dirty="0"/>
          </a:p>
        </p:txBody>
      </p:sp>
      <p:sp>
        <p:nvSpPr>
          <p:cNvPr id="39" name="Shape 36"/>
          <p:cNvSpPr/>
          <p:nvPr/>
        </p:nvSpPr>
        <p:spPr>
          <a:xfrm>
            <a:off x="8973556" y="5596128"/>
            <a:ext cx="952073" cy="365760"/>
          </a:xfrm>
          <a:prstGeom prst="roundRect">
            <a:avLst>
              <a:gd name="adj" fmla="val 50000"/>
            </a:avLst>
          </a:prstGeom>
          <a:solidFill>
            <a:srgbClr val="FFFFFF"/>
          </a:solidFill>
          <a:ln w="12700">
            <a:solidFill>
              <a:srgbClr val="DFE3EE"/>
            </a:solidFill>
            <a:prstDash val="solid"/>
          </a:ln>
        </p:spPr>
      </p:sp>
      <p:sp>
        <p:nvSpPr>
          <p:cNvPr id="40" name="Text 37"/>
          <p:cNvSpPr txBox="1"/>
          <p:nvPr/>
        </p:nvSpPr>
        <p:spPr>
          <a:xfrm>
            <a:off x="8973556" y="5596128"/>
            <a:ext cx="952073"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RAG chat</a:t>
            </a:r>
            <a:endParaRPr lang="en-US" sz="1200" dirty="0"/>
          </a:p>
        </p:txBody>
      </p:sp>
      <p:sp>
        <p:nvSpPr>
          <p:cNvPr id="41" name="Shape 38"/>
          <p:cNvSpPr/>
          <p:nvPr/>
        </p:nvSpPr>
        <p:spPr>
          <a:xfrm>
            <a:off x="10035357" y="5596128"/>
            <a:ext cx="1189086" cy="365760"/>
          </a:xfrm>
          <a:prstGeom prst="roundRect">
            <a:avLst>
              <a:gd name="adj" fmla="val 50000"/>
            </a:avLst>
          </a:prstGeom>
          <a:solidFill>
            <a:srgbClr val="FFFFFF"/>
          </a:solidFill>
          <a:ln w="12700">
            <a:solidFill>
              <a:srgbClr val="DFE3EE"/>
            </a:solidFill>
            <a:prstDash val="solid"/>
          </a:ln>
        </p:spPr>
      </p:sp>
      <p:sp>
        <p:nvSpPr>
          <p:cNvPr id="42" name="Text 39"/>
          <p:cNvSpPr txBox="1"/>
          <p:nvPr/>
        </p:nvSpPr>
        <p:spPr>
          <a:xfrm>
            <a:off x="10035357" y="5596128"/>
            <a:ext cx="1189086"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24x7 agents</a:t>
            </a:r>
            <a:endParaRPr lang="en-US" sz="1200" dirty="0"/>
          </a:p>
        </p:txBody>
      </p:sp>
      <p:sp>
        <p:nvSpPr>
          <p:cNvPr id="43" name="Shape 40"/>
          <p:cNvSpPr/>
          <p:nvPr/>
        </p:nvSpPr>
        <p:spPr>
          <a:xfrm>
            <a:off x="548640" y="6071616"/>
            <a:ext cx="1663111" cy="365760"/>
          </a:xfrm>
          <a:prstGeom prst="roundRect">
            <a:avLst>
              <a:gd name="adj" fmla="val 50000"/>
            </a:avLst>
          </a:prstGeom>
          <a:solidFill>
            <a:srgbClr val="FFFFFF"/>
          </a:solidFill>
          <a:ln w="12700">
            <a:solidFill>
              <a:srgbClr val="DFE3EE"/>
            </a:solidFill>
            <a:prstDash val="solid"/>
          </a:ln>
        </p:spPr>
      </p:sp>
      <p:sp>
        <p:nvSpPr>
          <p:cNvPr id="44" name="Text 41"/>
          <p:cNvSpPr txBox="1"/>
          <p:nvPr/>
        </p:nvSpPr>
        <p:spPr>
          <a:xfrm>
            <a:off x="548640" y="6071616"/>
            <a:ext cx="1663111"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Agent marketplace</a:t>
            </a:r>
            <a:endParaRPr lang="en-US" sz="1200" dirty="0"/>
          </a:p>
        </p:txBody>
      </p:sp>
      <p:sp>
        <p:nvSpPr>
          <p:cNvPr id="45" name="Shape 42"/>
          <p:cNvSpPr/>
          <p:nvPr/>
        </p:nvSpPr>
        <p:spPr>
          <a:xfrm>
            <a:off x="2321479" y="6071616"/>
            <a:ext cx="1663111" cy="365760"/>
          </a:xfrm>
          <a:prstGeom prst="roundRect">
            <a:avLst>
              <a:gd name="adj" fmla="val 50000"/>
            </a:avLst>
          </a:prstGeom>
          <a:solidFill>
            <a:srgbClr val="FFFFFF"/>
          </a:solidFill>
          <a:ln w="12700">
            <a:solidFill>
              <a:srgbClr val="DFE3EE"/>
            </a:solidFill>
            <a:prstDash val="solid"/>
          </a:ln>
        </p:spPr>
      </p:sp>
      <p:sp>
        <p:nvSpPr>
          <p:cNvPr id="46" name="Text 43"/>
          <p:cNvSpPr txBox="1"/>
          <p:nvPr/>
        </p:nvSpPr>
        <p:spPr>
          <a:xfrm>
            <a:off x="2321479" y="6071616"/>
            <a:ext cx="1663111" cy="365760"/>
          </a:xfrm>
          <a:prstGeom prst="rect">
            <a:avLst/>
          </a:prstGeom>
          <a:noFill/>
          <a:ln/>
        </p:spPr>
        <p:txBody>
          <a:bodyPr wrap="square" lIns="0" tIns="0" rIns="0" bIns="0" rtlCol="0" anchor="ctr"/>
          <a:lstStyle/>
          <a:p>
            <a:pPr algn="ctr" indent="0" marL="0">
              <a:buNone/>
            </a:pPr>
            <a:r>
              <a:rPr lang="en-US" sz="1200" b="1" dirty="0">
                <a:solidFill>
                  <a:srgbClr val="1A2033"/>
                </a:solidFill>
                <a:latin typeface="Calibri" pitchFamily="34" charset="0"/>
                <a:ea typeface="Calibri" pitchFamily="34" charset="-122"/>
                <a:cs typeface="Calibri" pitchFamily="34" charset="-120"/>
              </a:rPr>
              <a:t>Human in the loop</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9184"/>
          </a:xfrm>
          <a:prstGeom prst="rect">
            <a:avLst/>
          </a:prstGeom>
          <a:noFill/>
          <a:ln/>
        </p:spPr>
        <p:txBody>
          <a:bodyPr wrap="square" lIns="0" tIns="0" rIns="0" bIns="0" rtlCol="0"/>
          <a:lstStyle/>
          <a:p>
            <a:pPr indent="0" marL="0">
              <a:buNone/>
            </a:pPr>
            <a:r>
              <a:rPr lang="en-US" sz="1200" b="1" spc="300" kern="0" dirty="0">
                <a:solidFill>
                  <a:srgbClr val="4F6BFF"/>
                </a:solidFill>
                <a:latin typeface="Calibri" pitchFamily="34" charset="0"/>
                <a:ea typeface="Calibri" pitchFamily="34" charset="-122"/>
                <a:cs typeface="Calibri" pitchFamily="34" charset="-120"/>
              </a:rPr>
              <a:t>WHAT THIS LEADS TO</a:t>
            </a:r>
            <a:endParaRPr lang="en-US" sz="12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ctr"/>
          <a:lstStyle/>
          <a:p>
            <a:pPr algn="l" indent="0" marL="0">
              <a:buNone/>
            </a:pPr>
            <a:r>
              <a:rPr lang="en-US" sz="3400" b="1" dirty="0">
                <a:solidFill>
                  <a:srgbClr val="1A2033"/>
                </a:solidFill>
                <a:latin typeface="Calibri" pitchFamily="34" charset="0"/>
                <a:ea typeface="Calibri" pitchFamily="34" charset="-122"/>
                <a:cs typeface="Calibri" pitchFamily="34" charset="-120"/>
              </a:rPr>
              <a:t>From a few generic pitches to a pipeline of personal ones</a:t>
            </a:r>
            <a:endParaRPr lang="en-US" sz="3400" dirty="0"/>
          </a:p>
        </p:txBody>
      </p:sp>
      <p:sp>
        <p:nvSpPr>
          <p:cNvPr id="5" name="Shape 2"/>
          <p:cNvSpPr/>
          <p:nvPr/>
        </p:nvSpPr>
        <p:spPr>
          <a:xfrm>
            <a:off x="548640" y="1828800"/>
            <a:ext cx="2602154" cy="1920240"/>
          </a:xfrm>
          <a:prstGeom prst="roundRect">
            <a:avLst>
              <a:gd name="adj" fmla="val 571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6" name="Image 0" descr="growth icon">    </p:cNvPr>
          <p:cNvPicPr>
            <a:picLocks noChangeAspect="1"/>
          </p:cNvPicPr>
          <p:nvPr/>
        </p:nvPicPr>
        <p:blipFill>
          <a:blip r:embed="rId1"/>
          <a:stretch>
            <a:fillRect/>
          </a:stretch>
        </p:blipFill>
        <p:spPr>
          <a:xfrm>
            <a:off x="777240" y="2029968"/>
            <a:ext cx="384048" cy="384048"/>
          </a:xfrm>
          <a:prstGeom prst="rect">
            <a:avLst/>
          </a:prstGeom>
        </p:spPr>
      </p:pic>
      <p:sp>
        <p:nvSpPr>
          <p:cNvPr id="7" name="Text 3"/>
          <p:cNvSpPr txBox="1"/>
          <p:nvPr/>
        </p:nvSpPr>
        <p:spPr>
          <a:xfrm>
            <a:off x="1280160" y="2011680"/>
            <a:ext cx="1687754"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Reach many more</a:t>
            </a:r>
            <a:endParaRPr lang="en-US" sz="1700" dirty="0"/>
          </a:p>
        </p:txBody>
      </p:sp>
      <p:sp>
        <p:nvSpPr>
          <p:cNvPr id="8" name="Text 4"/>
          <p:cNvSpPr txBox="1"/>
          <p:nvPr/>
        </p:nvSpPr>
        <p:spPr>
          <a:xfrm>
            <a:off x="777240" y="2542032"/>
            <a:ext cx="2144954" cy="10972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Analyse and contact many more prospects, each with proof about their own site.</a:t>
            </a:r>
            <a:endParaRPr lang="en-US" sz="1400" dirty="0"/>
          </a:p>
        </p:txBody>
      </p:sp>
      <p:sp>
        <p:nvSpPr>
          <p:cNvPr id="9" name="Shape 5"/>
          <p:cNvSpPr/>
          <p:nvPr/>
        </p:nvSpPr>
        <p:spPr>
          <a:xfrm>
            <a:off x="3379394" y="1828800"/>
            <a:ext cx="2602154" cy="1920240"/>
          </a:xfrm>
          <a:prstGeom prst="roundRect">
            <a:avLst>
              <a:gd name="adj" fmla="val 571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0" name="Image 1" descr="target icon">    </p:cNvPr>
          <p:cNvPicPr>
            <a:picLocks noChangeAspect="1"/>
          </p:cNvPicPr>
          <p:nvPr/>
        </p:nvPicPr>
        <p:blipFill>
          <a:blip r:embed="rId2"/>
          <a:stretch>
            <a:fillRect/>
          </a:stretch>
        </p:blipFill>
        <p:spPr>
          <a:xfrm>
            <a:off x="3607994" y="2029968"/>
            <a:ext cx="384048" cy="384048"/>
          </a:xfrm>
          <a:prstGeom prst="rect">
            <a:avLst/>
          </a:prstGeom>
        </p:spPr>
      </p:pic>
      <p:sp>
        <p:nvSpPr>
          <p:cNvPr id="11" name="Text 6"/>
          <p:cNvSpPr txBox="1"/>
          <p:nvPr/>
        </p:nvSpPr>
        <p:spPr>
          <a:xfrm>
            <a:off x="4110914" y="2011680"/>
            <a:ext cx="1687754"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Better conversion</a:t>
            </a:r>
            <a:endParaRPr lang="en-US" sz="1700" dirty="0"/>
          </a:p>
        </p:txBody>
      </p:sp>
      <p:sp>
        <p:nvSpPr>
          <p:cNvPr id="12" name="Text 7"/>
          <p:cNvSpPr txBox="1"/>
          <p:nvPr/>
        </p:nvSpPr>
        <p:spPr>
          <a:xfrm>
            <a:off x="3607994" y="2542032"/>
            <a:ext cx="2144954" cy="10972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Personal findings, a redesign and a named team instead of a generic deck.</a:t>
            </a:r>
            <a:endParaRPr lang="en-US" sz="1400" dirty="0"/>
          </a:p>
        </p:txBody>
      </p:sp>
      <p:sp>
        <p:nvSpPr>
          <p:cNvPr id="13" name="Shape 8"/>
          <p:cNvSpPr/>
          <p:nvPr/>
        </p:nvSpPr>
        <p:spPr>
          <a:xfrm>
            <a:off x="6210148" y="1828800"/>
            <a:ext cx="2602154" cy="1920240"/>
          </a:xfrm>
          <a:prstGeom prst="roundRect">
            <a:avLst>
              <a:gd name="adj" fmla="val 571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4" name="Image 2" descr="dev icon">    </p:cNvPr>
          <p:cNvPicPr>
            <a:picLocks noChangeAspect="1"/>
          </p:cNvPicPr>
          <p:nvPr/>
        </p:nvPicPr>
        <p:blipFill>
          <a:blip r:embed="rId3"/>
          <a:stretch>
            <a:fillRect/>
          </a:stretch>
        </p:blipFill>
        <p:spPr>
          <a:xfrm>
            <a:off x="6438748" y="2029968"/>
            <a:ext cx="384048" cy="384048"/>
          </a:xfrm>
          <a:prstGeom prst="rect">
            <a:avLst/>
          </a:prstGeom>
        </p:spPr>
      </p:pic>
      <p:sp>
        <p:nvSpPr>
          <p:cNvPr id="15" name="Text 9"/>
          <p:cNvSpPr txBox="1"/>
          <p:nvPr/>
        </p:nvSpPr>
        <p:spPr>
          <a:xfrm>
            <a:off x="6941668" y="2011680"/>
            <a:ext cx="1687754"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Talent at work</a:t>
            </a:r>
            <a:endParaRPr lang="en-US" sz="1700" dirty="0"/>
          </a:p>
        </p:txBody>
      </p:sp>
      <p:sp>
        <p:nvSpPr>
          <p:cNvPr id="16" name="Text 10"/>
          <p:cNvSpPr txBox="1"/>
          <p:nvPr/>
        </p:nvSpPr>
        <p:spPr>
          <a:xfrm>
            <a:off x="6438748" y="2542032"/>
            <a:ext cx="2144954" cy="10972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Available experts review, fine-tune and get matched to new projects.</a:t>
            </a:r>
            <a:endParaRPr lang="en-US" sz="1400" dirty="0"/>
          </a:p>
        </p:txBody>
      </p:sp>
      <p:sp>
        <p:nvSpPr>
          <p:cNvPr id="17" name="Shape 11"/>
          <p:cNvSpPr/>
          <p:nvPr/>
        </p:nvSpPr>
        <p:spPr>
          <a:xfrm>
            <a:off x="9040901" y="1828800"/>
            <a:ext cx="2602154" cy="1920240"/>
          </a:xfrm>
          <a:prstGeom prst="roundRect">
            <a:avLst>
              <a:gd name="adj" fmla="val 5714"/>
            </a:avLst>
          </a:prstGeom>
          <a:solidFill>
            <a:srgbClr val="FFFFFF"/>
          </a:solidFill>
          <a:ln w="12700">
            <a:solidFill>
              <a:srgbClr val="DFE3EE"/>
            </a:solidFill>
            <a:prstDash val="solid"/>
          </a:ln>
          <a:effectLst>
            <a:outerShdw sx="100000" sy="100000" kx="0" ky="0" algn="bl" rotWithShape="0" blurRad="101600" dist="25400" dir="5400000">
              <a:srgbClr val="1E2850">
                <a:alpha val="8000"/>
              </a:srgbClr>
            </a:outerShdw>
          </a:effectLst>
        </p:spPr>
      </p:sp>
      <p:pic>
        <p:nvPicPr>
          <p:cNvPr id="18" name="Image 3" descr="robot icon">    </p:cNvPr>
          <p:cNvPicPr>
            <a:picLocks noChangeAspect="1"/>
          </p:cNvPicPr>
          <p:nvPr/>
        </p:nvPicPr>
        <p:blipFill>
          <a:blip r:embed="rId4"/>
          <a:stretch>
            <a:fillRect/>
          </a:stretch>
        </p:blipFill>
        <p:spPr>
          <a:xfrm>
            <a:off x="9269501" y="2029968"/>
            <a:ext cx="384048" cy="384048"/>
          </a:xfrm>
          <a:prstGeom prst="rect">
            <a:avLst/>
          </a:prstGeom>
        </p:spPr>
      </p:pic>
      <p:sp>
        <p:nvSpPr>
          <p:cNvPr id="19" name="Text 12"/>
          <p:cNvSpPr txBox="1"/>
          <p:nvPr/>
        </p:nvSpPr>
        <p:spPr>
          <a:xfrm>
            <a:off x="9772421" y="2011680"/>
            <a:ext cx="1687754" cy="438912"/>
          </a:xfrm>
          <a:prstGeom prst="rect">
            <a:avLst/>
          </a:prstGeom>
          <a:noFill/>
          <a:ln/>
        </p:spPr>
        <p:txBody>
          <a:bodyPr wrap="square" lIns="0" tIns="0" rIns="0" bIns="0" rtlCol="0" anchor="ctr"/>
          <a:lstStyle/>
          <a:p>
            <a:pPr indent="0" marL="0">
              <a:buNone/>
            </a:pPr>
            <a:r>
              <a:rPr lang="en-US" sz="1700" b="1" dirty="0">
                <a:solidFill>
                  <a:srgbClr val="1A2033"/>
                </a:solidFill>
                <a:latin typeface="Calibri" pitchFamily="34" charset="0"/>
                <a:ea typeface="Calibri" pitchFamily="34" charset="-122"/>
                <a:cs typeface="Calibri" pitchFamily="34" charset="-120"/>
              </a:rPr>
              <a:t>Agents that scale</a:t>
            </a:r>
            <a:endParaRPr lang="en-US" sz="1700" dirty="0"/>
          </a:p>
        </p:txBody>
      </p:sp>
      <p:sp>
        <p:nvSpPr>
          <p:cNvPr id="20" name="Text 13"/>
          <p:cNvSpPr txBox="1"/>
          <p:nvPr/>
        </p:nvSpPr>
        <p:spPr>
          <a:xfrm>
            <a:off x="9269501" y="2542032"/>
            <a:ext cx="2144954" cy="1097280"/>
          </a:xfrm>
          <a:prstGeom prst="rect">
            <a:avLst/>
          </a:prstGeom>
          <a:noFill/>
          <a:ln/>
        </p:spPr>
        <p:txBody>
          <a:bodyPr wrap="square" lIns="0" tIns="0" rIns="0" bIns="0" rtlCol="0" anchor="t"/>
          <a:lstStyle/>
          <a:p>
            <a:pPr indent="0" marL="0">
              <a:buNone/>
            </a:pPr>
            <a:r>
              <a:rPr lang="en-US" sz="1400" dirty="0">
                <a:solidFill>
                  <a:srgbClr val="44506B"/>
                </a:solidFill>
                <a:latin typeface="Calibri" pitchFamily="34" charset="0"/>
                <a:ea typeface="Calibri" pitchFamily="34" charset="-122"/>
                <a:cs typeface="Calibri" pitchFamily="34" charset="-120"/>
              </a:rPr>
              <a:t>An agent marketplace, and agents that can run 24x7 in the background.</a:t>
            </a:r>
            <a:endParaRPr lang="en-US" sz="1400" dirty="0"/>
          </a:p>
        </p:txBody>
      </p:sp>
      <p:sp>
        <p:nvSpPr>
          <p:cNvPr id="21" name="Shape 14"/>
          <p:cNvSpPr/>
          <p:nvPr/>
        </p:nvSpPr>
        <p:spPr>
          <a:xfrm>
            <a:off x="3840480" y="4343400"/>
            <a:ext cx="4507992" cy="822960"/>
          </a:xfrm>
          <a:prstGeom prst="roundRect">
            <a:avLst>
              <a:gd name="adj" fmla="val 50000"/>
            </a:avLst>
          </a:prstGeom>
          <a:solidFill>
            <a:srgbClr val="4F6BFF"/>
          </a:solidFill>
          <a:ln w="12700">
            <a:solidFill>
              <a:srgbClr val="4F6BFF"/>
            </a:solidFill>
            <a:prstDash val="solid"/>
          </a:ln>
          <a:effectLst>
            <a:outerShdw sx="100000" sy="100000" kx="0" ky="0" algn="bl" rotWithShape="0" blurRad="101600" dist="25400" dir="5400000">
              <a:srgbClr val="1E2850">
                <a:alpha val="8000"/>
              </a:srgbClr>
            </a:outerShdw>
          </a:effectLst>
        </p:spPr>
      </p:sp>
      <p:sp>
        <p:nvSpPr>
          <p:cNvPr id="22" name="Text 15"/>
          <p:cNvSpPr txBox="1"/>
          <p:nvPr/>
        </p:nvSpPr>
        <p:spPr>
          <a:xfrm>
            <a:off x="3840480" y="4343400"/>
            <a:ext cx="4507992"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  Live demo: one real run</a:t>
            </a:r>
            <a:endParaRPr lang="en-US" sz="2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89"/>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Nitro: Digithon 2026</dc:title>
  <dc:subject>AI pre-sales agents that turn available talent into new clients</dc:subject>
  <dc:creator>Nitro team</dc:creator>
  <cp:lastModifiedBy>Nitro team</cp:lastModifiedBy>
  <cp:revision>1</cp:revision>
  <dcterms:created xsi:type="dcterms:W3CDTF">2026-10-27T10:59:00Z</dcterms:created>
  <dcterms:modified xsi:type="dcterms:W3CDTF">2026-10-27T10:59:00Z</dcterms:modified>
</cp:coreProperties>
</file>